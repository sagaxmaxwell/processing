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handoutMasterIdLst>
    <p:handoutMasterId r:id="rId95"/>
  </p:handoutMasterIdLst>
  <p:sldIdLst>
    <p:sldId id="256" r:id="rId3"/>
    <p:sldId id="309" r:id="rId4"/>
    <p:sldId id="860" r:id="rId5"/>
    <p:sldId id="583" r:id="rId6"/>
    <p:sldId id="858" r:id="rId7"/>
    <p:sldId id="586" r:id="rId8"/>
    <p:sldId id="587" r:id="rId9"/>
    <p:sldId id="588" r:id="rId10"/>
    <p:sldId id="861" r:id="rId11"/>
    <p:sldId id="785" r:id="rId12"/>
    <p:sldId id="786" r:id="rId13"/>
    <p:sldId id="591" r:id="rId14"/>
    <p:sldId id="719" r:id="rId15"/>
    <p:sldId id="593" r:id="rId17"/>
    <p:sldId id="595" r:id="rId18"/>
    <p:sldId id="596" r:id="rId19"/>
    <p:sldId id="789" r:id="rId20"/>
    <p:sldId id="722" r:id="rId21"/>
    <p:sldId id="607" r:id="rId22"/>
    <p:sldId id="723" r:id="rId23"/>
    <p:sldId id="608" r:id="rId24"/>
    <p:sldId id="609" r:id="rId25"/>
    <p:sldId id="610" r:id="rId26"/>
    <p:sldId id="611" r:id="rId27"/>
    <p:sldId id="612" r:id="rId28"/>
    <p:sldId id="791" r:id="rId29"/>
    <p:sldId id="792" r:id="rId30"/>
    <p:sldId id="849" r:id="rId31"/>
    <p:sldId id="794" r:id="rId32"/>
    <p:sldId id="795" r:id="rId33"/>
    <p:sldId id="796" r:id="rId34"/>
    <p:sldId id="797" r:id="rId35"/>
    <p:sldId id="798" r:id="rId36"/>
    <p:sldId id="799" r:id="rId37"/>
    <p:sldId id="800" r:id="rId38"/>
    <p:sldId id="802" r:id="rId39"/>
    <p:sldId id="803" r:id="rId40"/>
    <p:sldId id="804" r:id="rId41"/>
    <p:sldId id="805" r:id="rId42"/>
    <p:sldId id="806" r:id="rId43"/>
    <p:sldId id="850" r:id="rId44"/>
    <p:sldId id="809" r:id="rId45"/>
    <p:sldId id="810" r:id="rId46"/>
    <p:sldId id="811" r:id="rId47"/>
    <p:sldId id="812" r:id="rId48"/>
    <p:sldId id="815" r:id="rId49"/>
    <p:sldId id="817" r:id="rId50"/>
    <p:sldId id="851" r:id="rId51"/>
    <p:sldId id="822" r:id="rId52"/>
    <p:sldId id="823" r:id="rId53"/>
    <p:sldId id="824" r:id="rId54"/>
    <p:sldId id="826" r:id="rId55"/>
    <p:sldId id="827" r:id="rId56"/>
    <p:sldId id="852" r:id="rId57"/>
    <p:sldId id="830" r:id="rId58"/>
    <p:sldId id="831" r:id="rId59"/>
    <p:sldId id="832" r:id="rId60"/>
    <p:sldId id="833" r:id="rId61"/>
    <p:sldId id="835" r:id="rId62"/>
    <p:sldId id="853" r:id="rId63"/>
    <p:sldId id="838" r:id="rId64"/>
    <p:sldId id="839" r:id="rId65"/>
    <p:sldId id="840" r:id="rId66"/>
    <p:sldId id="841" r:id="rId67"/>
    <p:sldId id="842" r:id="rId68"/>
    <p:sldId id="843" r:id="rId69"/>
    <p:sldId id="844" r:id="rId70"/>
    <p:sldId id="855" r:id="rId71"/>
    <p:sldId id="856" r:id="rId72"/>
    <p:sldId id="768" r:id="rId73"/>
    <p:sldId id="770" r:id="rId74"/>
    <p:sldId id="771" r:id="rId75"/>
    <p:sldId id="773" r:id="rId76"/>
    <p:sldId id="774" r:id="rId77"/>
    <p:sldId id="772" r:id="rId78"/>
    <p:sldId id="775" r:id="rId79"/>
    <p:sldId id="688" r:id="rId80"/>
    <p:sldId id="689" r:id="rId81"/>
    <p:sldId id="690" r:id="rId82"/>
    <p:sldId id="857" r:id="rId83"/>
    <p:sldId id="694" r:id="rId84"/>
    <p:sldId id="695" r:id="rId85"/>
    <p:sldId id="696" r:id="rId86"/>
    <p:sldId id="697" r:id="rId87"/>
    <p:sldId id="698" r:id="rId88"/>
    <p:sldId id="700" r:id="rId89"/>
    <p:sldId id="701" r:id="rId90"/>
    <p:sldId id="702" r:id="rId91"/>
    <p:sldId id="703" r:id="rId92"/>
    <p:sldId id="704" r:id="rId93"/>
    <p:sldId id="276" r:id="rId9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5" autoAdjust="0"/>
    <p:restoredTop sz="94660" autoAdjust="0"/>
  </p:normalViewPr>
  <p:slideViewPr>
    <p:cSldViewPr>
      <p:cViewPr varScale="1">
        <p:scale>
          <a:sx n="102" d="100"/>
          <a:sy n="102" d="100"/>
        </p:scale>
        <p:origin x="1926" y="10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handoutMaster" Target="handoutMasters/handoutMaster1.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63790A-1AF8-41FD-8613-F98BEDF9DBB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B559C9-FBFA-44CB-8D4D-CA6FFD5A7E2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DAADD5-90F8-4BC9-AC30-6195DA8BE94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4D408B-9088-4E1B-998F-9D60A79664C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p:cNvSpPr>
            <a:spLocks noGrp="1" noRot="1" noChangeAspect="1" noTextEdit="1"/>
          </p:cNvSpPr>
          <p:nvPr>
            <p:ph type="sldImg"/>
          </p:nvPr>
        </p:nvSpPr>
        <p:spPr/>
      </p:sp>
      <p:sp>
        <p:nvSpPr>
          <p:cNvPr id="177155" name="备注占位符 2"/>
          <p:cNvSpPr>
            <a:spLocks noGrp="1"/>
          </p:cNvSpPr>
          <p:nvPr>
            <p:ph type="body"/>
          </p:nvPr>
        </p:nvSpPr>
        <p:spPr/>
        <p:txBody>
          <a:bodyPr wrap="square" lIns="91440" tIns="45720" rIns="91440" bIns="45720" anchor="ctr"/>
          <a:lstStyle/>
          <a:p>
            <a:pPr lvl="0"/>
            <a:endParaRPr lang="zh-CN" altLang="en-US" dirty="0"/>
          </a:p>
        </p:txBody>
      </p:sp>
      <p:sp>
        <p:nvSpPr>
          <p:cNvPr id="177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Tx/>
            </a:pPr>
            <a:fld id="{9A0DB2DC-4C9A-4742-B13C-FB6460FD3503}" type="slidenum">
              <a:rPr lang="en-US" altLang="zh-CN" sz="1200" dirty="0"/>
            </a:fld>
            <a:endParaRPr lang="en-US" altLang="zh-CN"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p:sp>
      <p:sp>
        <p:nvSpPr>
          <p:cNvPr id="178179" name="备注占位符 2"/>
          <p:cNvSpPr>
            <a:spLocks noGrp="1"/>
          </p:cNvSpPr>
          <p:nvPr>
            <p:ph type="body"/>
          </p:nvPr>
        </p:nvSpPr>
        <p:spPr/>
        <p:txBody>
          <a:bodyPr wrap="square" lIns="91440" tIns="45720" rIns="91440" bIns="45720" anchor="ctr"/>
          <a:lstStyle/>
          <a:p>
            <a:pPr lvl="0"/>
            <a:endParaRPr lang="zh-CN" altLang="en-US" dirty="0"/>
          </a:p>
        </p:txBody>
      </p:sp>
      <p:sp>
        <p:nvSpPr>
          <p:cNvPr id="17818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Tx/>
            </a:pPr>
            <a:fld id="{9A0DB2DC-4C9A-4742-B13C-FB6460FD3503}" type="slidenum">
              <a:rPr lang="en-US" altLang="zh-CN" sz="1200" dirty="0"/>
            </a:fld>
            <a:endParaRPr lang="en-US" altLang="zh-CN"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p:cNvSpPr>
            <a:spLocks noGrp="1" noRot="1" noChangeAspect="1" noTextEdit="1"/>
          </p:cNvSpPr>
          <p:nvPr>
            <p:ph type="sldImg"/>
          </p:nvPr>
        </p:nvSpPr>
        <p:spPr/>
      </p:sp>
      <p:sp>
        <p:nvSpPr>
          <p:cNvPr id="181251" name="备注占位符 2"/>
          <p:cNvSpPr>
            <a:spLocks noGrp="1"/>
          </p:cNvSpPr>
          <p:nvPr>
            <p:ph type="body" idx="1"/>
          </p:nvPr>
        </p:nvSpPr>
        <p:spPr/>
        <p:txBody>
          <a:bodyPr wrap="square" lIns="91440" tIns="45720" rIns="91440" bIns="45720" anchor="ctr"/>
          <a:lstStyle/>
          <a:p>
            <a:pPr lvl="0"/>
            <a:endParaRPr lang="zh-CN" altLang="en-US" dirty="0"/>
          </a:p>
        </p:txBody>
      </p:sp>
      <p:sp>
        <p:nvSpPr>
          <p:cNvPr id="181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p:sp>
      <p:sp>
        <p:nvSpPr>
          <p:cNvPr id="182275" name="文本占位符 2"/>
          <p:cNvSpPr>
            <a:spLocks noGrp="1"/>
          </p:cNvSpPr>
          <p:nvPr>
            <p:ph type="body"/>
          </p:nvPr>
        </p:nvSpPr>
        <p:spPr/>
        <p:txBody>
          <a:bodyPr wrap="square" lIns="91440" tIns="45720" rIns="91440" bIns="45720" anchor="ctr"/>
          <a:lstStyle/>
          <a:p>
            <a:pPr lvl="0"/>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p:cNvSpPr>
            <a:spLocks noGrp="1" noRot="1" noChangeAspect="1" noTextEdit="1"/>
          </p:cNvSpPr>
          <p:nvPr>
            <p:ph type="sldImg"/>
          </p:nvPr>
        </p:nvSpPr>
        <p:spPr/>
      </p:sp>
      <p:sp>
        <p:nvSpPr>
          <p:cNvPr id="199683" name="备注占位符 2"/>
          <p:cNvSpPr>
            <a:spLocks noGrp="1"/>
          </p:cNvSpPr>
          <p:nvPr>
            <p:ph type="body"/>
          </p:nvPr>
        </p:nvSpPr>
        <p:spPr/>
        <p:txBody>
          <a:bodyPr wrap="square" lIns="91440" tIns="45720" rIns="91440" bIns="45720" anchor="ctr"/>
          <a:lstStyle/>
          <a:p>
            <a:pPr lvl="0"/>
            <a:endParaRPr lang="zh-CN" altLang="en-US" dirty="0"/>
          </a:p>
        </p:txBody>
      </p:sp>
      <p:sp>
        <p:nvSpPr>
          <p:cNvPr id="199684"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Tx/>
              <a:buChar char="•"/>
            </a:pPr>
            <a:fld id="{9A0DB2DC-4C9A-4742-B13C-FB6460FD3503}" type="slidenum">
              <a:rPr lang="en-US" altLang="zh-CN" sz="1200" dirty="0"/>
            </a:fld>
            <a:endParaRPr lang="en-US" altLang="zh-C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p:sp>
      <p:sp>
        <p:nvSpPr>
          <p:cNvPr id="200707" name="备注占位符 2"/>
          <p:cNvSpPr>
            <a:spLocks noGrp="1"/>
          </p:cNvSpPr>
          <p:nvPr>
            <p:ph type="body"/>
          </p:nvPr>
        </p:nvSpPr>
        <p:spPr/>
        <p:txBody>
          <a:bodyPr wrap="square" lIns="91440" tIns="45720" rIns="91440" bIns="45720" anchor="ctr"/>
          <a:lstStyle/>
          <a:p>
            <a:pPr lvl="0"/>
            <a:endParaRPr lang="zh-CN" altLang="en-US" dirty="0"/>
          </a:p>
        </p:txBody>
      </p:sp>
      <p:sp>
        <p:nvSpPr>
          <p:cNvPr id="20070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Tx/>
              <a:buChar char="•"/>
            </a:pPr>
            <a:fld id="{9A0DB2DC-4C9A-4742-B13C-FB6460FD3503}" type="slidenum">
              <a:rPr lang="en-US" altLang="zh-CN" sz="1200" dirty="0"/>
            </a:fld>
            <a:endParaRPr lang="en-US" altLang="zh-C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幻灯片图像占位符 1"/>
          <p:cNvSpPr>
            <a:spLocks noGrp="1" noRot="1" noChangeAspect="1" noTextEdit="1"/>
          </p:cNvSpPr>
          <p:nvPr>
            <p:ph type="sldImg"/>
          </p:nvPr>
        </p:nvSpPr>
        <p:spPr/>
      </p:sp>
      <p:sp>
        <p:nvSpPr>
          <p:cNvPr id="201731" name="备注占位符 2"/>
          <p:cNvSpPr>
            <a:spLocks noGrp="1"/>
          </p:cNvSpPr>
          <p:nvPr>
            <p:ph type="body"/>
          </p:nvPr>
        </p:nvSpPr>
        <p:spPr/>
        <p:txBody>
          <a:bodyPr wrap="square" lIns="91440" tIns="45720" rIns="91440" bIns="45720" anchor="ctr"/>
          <a:lstStyle/>
          <a:p>
            <a:pPr lvl="0"/>
            <a:endParaRPr lang="zh-CN" altLang="en-US" dirty="0"/>
          </a:p>
        </p:txBody>
      </p:sp>
      <p:sp>
        <p:nvSpPr>
          <p:cNvPr id="201732"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Tx/>
              <a:buChar char="•"/>
            </a:pPr>
            <a:fld id="{9A0DB2DC-4C9A-4742-B13C-FB6460FD3503}" type="slidenum">
              <a:rPr lang="en-US" altLang="zh-CN" sz="1200" dirty="0"/>
            </a:fld>
            <a:endParaRPr lang="en-US" altLang="zh-CN"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p:sp>
      <p:sp>
        <p:nvSpPr>
          <p:cNvPr id="202755" name="备注占位符 2"/>
          <p:cNvSpPr>
            <a:spLocks noGrp="1"/>
          </p:cNvSpPr>
          <p:nvPr>
            <p:ph type="body"/>
          </p:nvPr>
        </p:nvSpPr>
        <p:spPr/>
        <p:txBody>
          <a:bodyPr wrap="square" lIns="91440" tIns="45720" rIns="91440" bIns="45720" anchor="ctr"/>
          <a:lstStyle/>
          <a:p>
            <a:pPr lvl="0"/>
            <a:endParaRPr lang="zh-CN" altLang="en-US" dirty="0"/>
          </a:p>
        </p:txBody>
      </p:sp>
      <p:sp>
        <p:nvSpPr>
          <p:cNvPr id="202756"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Tx/>
              <a:buChar char="•"/>
            </a:pPr>
            <a:fld id="{9A0DB2DC-4C9A-4742-B13C-FB6460FD3503}" type="slidenum">
              <a:rPr lang="en-US" altLang="zh-CN" sz="1200" dirty="0"/>
            </a:fld>
            <a:endParaRPr lang="en-US" altLang="zh-CN"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幻灯片图像占位符 1"/>
          <p:cNvSpPr>
            <a:spLocks noGrp="1" noRot="1" noChangeAspect="1" noTextEdit="1"/>
          </p:cNvSpPr>
          <p:nvPr>
            <p:ph type="sldImg"/>
          </p:nvPr>
        </p:nvSpPr>
        <p:spPr/>
      </p:sp>
      <p:sp>
        <p:nvSpPr>
          <p:cNvPr id="203779" name="备注占位符 2"/>
          <p:cNvSpPr>
            <a:spLocks noGrp="1"/>
          </p:cNvSpPr>
          <p:nvPr>
            <p:ph type="body" idx="1"/>
          </p:nvPr>
        </p:nvSpPr>
        <p:spPr/>
        <p:txBody>
          <a:bodyPr wrap="square" lIns="91440" tIns="45720" rIns="91440" bIns="45720" anchor="ctr"/>
          <a:lstStyle/>
          <a:p>
            <a:pPr lvl="0"/>
            <a:endParaRPr lang="zh-CN" altLang="en-US" dirty="0"/>
          </a:p>
        </p:txBody>
      </p:sp>
      <p:sp>
        <p:nvSpPr>
          <p:cNvPr id="20378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幻灯片图像占位符 1"/>
          <p:cNvSpPr>
            <a:spLocks noGrp="1" noRot="1" noChangeAspect="1" noTextEdit="1"/>
          </p:cNvSpPr>
          <p:nvPr>
            <p:ph type="sldImg"/>
          </p:nvPr>
        </p:nvSpPr>
        <p:spPr/>
      </p:sp>
      <p:sp>
        <p:nvSpPr>
          <p:cNvPr id="205827" name="备注占位符 2"/>
          <p:cNvSpPr>
            <a:spLocks noGrp="1"/>
          </p:cNvSpPr>
          <p:nvPr>
            <p:ph type="body" idx="1"/>
          </p:nvPr>
        </p:nvSpPr>
        <p:spPr/>
        <p:txBody>
          <a:bodyPr wrap="square" lIns="91440" tIns="45720" rIns="91440" bIns="45720" anchor="ctr"/>
          <a:lstStyle/>
          <a:p>
            <a:pPr lvl="0"/>
            <a:endParaRPr lang="zh-CN" altLang="en-US" dirty="0"/>
          </a:p>
        </p:txBody>
      </p:sp>
      <p:sp>
        <p:nvSpPr>
          <p:cNvPr id="20582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p:cNvSpPr>
            <a:spLocks noGrp="1" noRot="1" noChangeAspect="1" noTextEdit="1"/>
          </p:cNvSpPr>
          <p:nvPr>
            <p:ph type="sldImg"/>
          </p:nvPr>
        </p:nvSpPr>
        <p:spPr/>
      </p:sp>
      <p:sp>
        <p:nvSpPr>
          <p:cNvPr id="206851" name="备注占位符 2"/>
          <p:cNvSpPr>
            <a:spLocks noGrp="1"/>
          </p:cNvSpPr>
          <p:nvPr>
            <p:ph type="body" idx="1"/>
          </p:nvPr>
        </p:nvSpPr>
        <p:spPr/>
        <p:txBody>
          <a:bodyPr wrap="square" lIns="91440" tIns="45720" rIns="91440" bIns="45720" anchor="ctr"/>
          <a:lstStyle/>
          <a:p>
            <a:pPr lvl="0"/>
            <a:endParaRPr lang="zh-CN" altLang="en-US" dirty="0"/>
          </a:p>
        </p:txBody>
      </p:sp>
      <p:sp>
        <p:nvSpPr>
          <p:cNvPr id="206852"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089" name="Rectangle 17"/>
          <p:cNvSpPr>
            <a:spLocks noChangeArrowheads="1"/>
          </p:cNvSpPr>
          <p:nvPr/>
        </p:nvSpPr>
        <p:spPr bwMode="gray">
          <a:xfrm>
            <a:off x="0" y="0"/>
            <a:ext cx="9144000" cy="609600"/>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 name="Rectangle 2"/>
          <p:cNvSpPr>
            <a:spLocks noGrp="1" noChangeArrowheads="1"/>
          </p:cNvSpPr>
          <p:nvPr>
            <p:ph type="ctrTitle"/>
          </p:nvPr>
        </p:nvSpPr>
        <p:spPr bwMode="gray">
          <a:xfrm>
            <a:off x="457200" y="4114800"/>
            <a:ext cx="8229600" cy="762000"/>
          </a:xfrm>
        </p:spPr>
        <p:txBody>
          <a:bodyPr/>
          <a:lstStyle>
            <a:lvl1pPr>
              <a:defRPr>
                <a:solidFill>
                  <a:schemeClr val="tx1"/>
                </a:solidFill>
              </a:defRPr>
            </a:lvl1pPr>
          </a:lstStyle>
          <a:p>
            <a:pPr lvl="0"/>
            <a:r>
              <a:rPr lang="zh-CN" altLang="en-US" noProof="0" dirty="0"/>
              <a:t>单击此处编辑母版标题样式</a:t>
            </a:r>
            <a:endParaRPr lang="en-US" altLang="zh-CN" noProof="0" dirty="0"/>
          </a:p>
        </p:txBody>
      </p:sp>
      <p:sp>
        <p:nvSpPr>
          <p:cNvPr id="3075" name="Rectangle 3"/>
          <p:cNvSpPr>
            <a:spLocks noGrp="1" noChangeArrowheads="1"/>
          </p:cNvSpPr>
          <p:nvPr>
            <p:ph type="subTitle" idx="1"/>
          </p:nvPr>
        </p:nvSpPr>
        <p:spPr bwMode="gray">
          <a:xfrm>
            <a:off x="1524000" y="4948238"/>
            <a:ext cx="5943600" cy="609600"/>
          </a:xfrm>
        </p:spPr>
        <p:txBody>
          <a:bodyPr/>
          <a:lstStyle>
            <a:lvl1pPr marL="0" indent="0" algn="ctr">
              <a:buFont typeface="Wingdings" panose="05000000000000000000" pitchFamily="2" charset="2"/>
              <a:buNone/>
              <a:defRPr sz="2000" b="0">
                <a:solidFill>
                  <a:schemeClr val="tx1"/>
                </a:solidFill>
              </a:defRPr>
            </a:lvl1pPr>
          </a:lstStyle>
          <a:p>
            <a:pPr lvl="0"/>
            <a:r>
              <a:rPr lang="zh-CN" altLang="en-US" noProof="0"/>
              <a:t>单击此处编辑母版副标题样式</a:t>
            </a:r>
            <a:endParaRPr lang="en-US" altLang="zh-CN" noProof="0"/>
          </a:p>
        </p:txBody>
      </p:sp>
      <p:sp>
        <p:nvSpPr>
          <p:cNvPr id="3076" name="Rectangle 4"/>
          <p:cNvSpPr>
            <a:spLocks noGrp="1" noChangeArrowheads="1"/>
          </p:cNvSpPr>
          <p:nvPr>
            <p:ph type="dt" sz="half" idx="2"/>
          </p:nvPr>
        </p:nvSpPr>
        <p:spPr>
          <a:xfrm>
            <a:off x="457200" y="6553200"/>
            <a:ext cx="2133600" cy="168275"/>
          </a:xfrm>
          <a:prstGeom prst="rect">
            <a:avLst/>
          </a:prstGeom>
        </p:spPr>
        <p:txBody>
          <a:bodyPr/>
          <a:lstStyle>
            <a:lvl1pPr>
              <a:defRPr sz="1400">
                <a:latin typeface="Times New Roman" panose="02020603050405020304" pitchFamily="18" charset="0"/>
              </a:defRPr>
            </a:lvl1pPr>
          </a:lstStyle>
          <a:p>
            <a:endParaRPr lang="en-US" altLang="zh-CN"/>
          </a:p>
        </p:txBody>
      </p:sp>
      <p:sp>
        <p:nvSpPr>
          <p:cNvPr id="3077" name="Rectangle 5"/>
          <p:cNvSpPr>
            <a:spLocks noGrp="1" noChangeArrowheads="1"/>
          </p:cNvSpPr>
          <p:nvPr>
            <p:ph type="ftr" sz="quarter" idx="3"/>
          </p:nvPr>
        </p:nvSpPr>
        <p:spPr>
          <a:xfrm>
            <a:off x="3124200" y="6551613"/>
            <a:ext cx="2895600" cy="169862"/>
          </a:xfrm>
          <a:prstGeom prst="rect">
            <a:avLst/>
          </a:prstGeom>
        </p:spPr>
        <p:txBody>
          <a:bodyPr/>
          <a:lstStyle>
            <a:lvl1pPr algn="ctr">
              <a:defRPr sz="1400">
                <a:latin typeface="Times New Roman" panose="02020603050405020304" pitchFamily="18" charset="0"/>
              </a:defRPr>
            </a:lvl1pPr>
          </a:lstStyle>
          <a:p>
            <a:endParaRPr lang="en-US" altLang="zh-CN"/>
          </a:p>
        </p:txBody>
      </p:sp>
      <p:sp>
        <p:nvSpPr>
          <p:cNvPr id="3078" name="Rectangle 6"/>
          <p:cNvSpPr>
            <a:spLocks noGrp="1" noChangeArrowheads="1"/>
          </p:cNvSpPr>
          <p:nvPr>
            <p:ph type="sldNum" sz="quarter" idx="4"/>
          </p:nvPr>
        </p:nvSpPr>
        <p:spPr>
          <a:xfrm>
            <a:off x="6553200" y="6553200"/>
            <a:ext cx="2133600" cy="168275"/>
          </a:xfrm>
        </p:spPr>
        <p:txBody>
          <a:bodyPr/>
          <a:lstStyle>
            <a:lvl1pPr algn="r">
              <a:defRPr sz="1400">
                <a:latin typeface="Times New Roman" panose="02020603050405020304" pitchFamily="18" charset="0"/>
              </a:defRPr>
            </a:lvl1pPr>
          </a:lstStyle>
          <a:p>
            <a:fld id="{18BA97A7-D52C-4F62-9E2B-2E1482E68D18}" type="slidenum">
              <a:rPr lang="en-US" altLang="zh-CN"/>
            </a:fld>
            <a:endParaRPr lang="en-US" altLang="zh-CN"/>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000" y="609600"/>
            <a:ext cx="8128000" cy="339546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2pPr>
              <a:defRPr sz="2400"/>
            </a:lvl2pPr>
            <a:lvl3pPr>
              <a:defRPr sz="20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7033426" y="6550908"/>
            <a:ext cx="1282990" cy="320675"/>
          </a:xfrm>
        </p:spPr>
        <p:txBody>
          <a:bodyPr/>
          <a:lstStyle>
            <a:lvl1pPr>
              <a:defRPr/>
            </a:lvl1pPr>
          </a:lstStyle>
          <a:p>
            <a:fld id="{C1C4B0C5-5BE3-40C4-8F17-4C7632BBC379}" type="slidenum">
              <a:rPr lang="en-US" altLang="zh-CN"/>
            </a:fld>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C1FD71B-C5BD-44C5-88B5-B9FC0532CD1E}"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762A2FB-1A22-4885-8807-38E2257E939D}"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8" name="页脚占位符 7"/>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4C3F31E5-079D-4AFE-8F69-467FDA11ECA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7AB19AB6-2D3D-436B-9E78-64B2C249B45E}"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3" name="页脚占位符 2"/>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50B39E09-CF7B-4C88-85E0-A8CE0F5F92B0}"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D1FB353-AD44-4DB0-AD58-7E72BC63F76E}"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C2EE334-34F5-4D9E-B1DF-4BE72B082B0C}"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74B2DF3-AE52-4E11-B0CF-C14697DFC2D4}"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19088"/>
            <a:ext cx="2057400" cy="60055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319088"/>
            <a:ext cx="6019800" cy="60055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4B4B3D2-56CB-4388-9D8C-8B1C0741F73C}"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319088"/>
            <a:ext cx="6172200" cy="563562"/>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457200" y="1371600"/>
            <a:ext cx="8229600" cy="4953000"/>
          </a:xfrm>
        </p:spPr>
        <p:txBody>
          <a:bodyPr/>
          <a:lstStyle/>
          <a:p>
            <a:r>
              <a:rPr lang="zh-CN" altLang="en-US"/>
              <a:t>单击图标添加表格</a:t>
            </a:r>
            <a:endParaRPr lang="zh-CN" altLang="en-US"/>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3200400" y="6480175"/>
            <a:ext cx="2133600" cy="320675"/>
          </a:xfrm>
        </p:spPr>
        <p:txBody>
          <a:bodyPr/>
          <a:lstStyle>
            <a:lvl1pPr>
              <a:defRPr/>
            </a:lvl1pPr>
          </a:lstStyle>
          <a:p>
            <a:fld id="{581F0AB5-730F-41FD-B2B7-C4E08C420F30}"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143000" y="76200"/>
            <a:ext cx="8001000" cy="914400"/>
          </a:xfrm>
          <a:prstGeom prst="rect">
            <a:avLst/>
          </a:prstGeom>
          <a:noFill/>
          <a:ln w="9525">
            <a:noFill/>
            <a:miter lim="800000"/>
          </a:ln>
        </p:spPr>
        <p:txBody>
          <a:bodyPr/>
          <a:lstStyle/>
          <a:p>
            <a:pPr lvl="0"/>
            <a:r>
              <a:rPr lang="zh-CN"/>
              <a:t>单击此处编辑母版标题样式</a:t>
            </a:r>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8356600" y="981075"/>
            <a:ext cx="787400" cy="587692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21"/>
          <p:cNvSpPr>
            <a:spLocks noChangeShapeType="1"/>
          </p:cNvSpPr>
          <p:nvPr/>
        </p:nvSpPr>
        <p:spPr bwMode="auto">
          <a:xfrm>
            <a:off x="425450" y="6524625"/>
            <a:ext cx="83534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 name="Rectangle 16"/>
          <p:cNvSpPr>
            <a:spLocks noChangeArrowheads="1"/>
          </p:cNvSpPr>
          <p:nvPr/>
        </p:nvSpPr>
        <p:spPr bwMode="gray">
          <a:xfrm>
            <a:off x="0" y="0"/>
            <a:ext cx="9144000" cy="981075"/>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371600"/>
            <a:ext cx="7899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200400" y="648017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effectLst>
                  <a:outerShdw blurRad="38100" dist="38100" dir="2700000" algn="tl">
                    <a:srgbClr val="C0C0C0"/>
                  </a:outerShdw>
                </a:effectLst>
                <a:latin typeface="+mn-lt"/>
                <a:ea typeface="宋体" panose="02010600030101010101" pitchFamily="2" charset="-122"/>
              </a:defRPr>
            </a:lvl1pPr>
          </a:lstStyle>
          <a:p>
            <a:fld id="{F2D526F6-2200-4386-AD27-E628E3B61413}" type="slidenum">
              <a:rPr lang="en-US" altLang="zh-CN"/>
            </a:fld>
            <a:endParaRPr lang="en-US" altLang="zh-CN"/>
          </a:p>
        </p:txBody>
      </p:sp>
      <p:sp>
        <p:nvSpPr>
          <p:cNvPr id="1026" name="Rectangle 2"/>
          <p:cNvSpPr>
            <a:spLocks noGrp="1" noChangeArrowheads="1"/>
          </p:cNvSpPr>
          <p:nvPr>
            <p:ph type="title"/>
          </p:nvPr>
        </p:nvSpPr>
        <p:spPr bwMode="white">
          <a:xfrm>
            <a:off x="457200" y="319088"/>
            <a:ext cx="7899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a:t>Click to edit Master title style</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hyperlink" Target="http://www.scala-lang.org/"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scala-lang.or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57200" y="4267200"/>
            <a:ext cx="8229600" cy="762000"/>
          </a:xfrm>
        </p:spPr>
        <p:txBody>
          <a:bodyPr/>
          <a:lstStyle/>
          <a:p>
            <a:pPr algn="ctr"/>
            <a:r>
              <a:rPr lang="zh-CN" altLang="en-US" sz="3600" dirty="0">
                <a:solidFill>
                  <a:schemeClr val="tx2"/>
                </a:solidFill>
                <a:ea typeface="宋体" panose="02010600030101010101" pitchFamily="2" charset="-122"/>
              </a:rPr>
              <a:t>第</a:t>
            </a:r>
            <a:r>
              <a:rPr lang="en-US" altLang="zh-CN" sz="3600" dirty="0">
                <a:solidFill>
                  <a:schemeClr val="tx2"/>
                </a:solidFill>
                <a:ea typeface="宋体" panose="02010600030101010101" pitchFamily="2" charset="-122"/>
              </a:rPr>
              <a:t>8</a:t>
            </a:r>
            <a:r>
              <a:rPr lang="zh-CN" altLang="en-US" sz="3600" dirty="0">
                <a:solidFill>
                  <a:schemeClr val="tx2"/>
                </a:solidFill>
                <a:ea typeface="宋体" panose="02010600030101010101" pitchFamily="2" charset="-122"/>
              </a:rPr>
              <a:t>章 </a:t>
            </a:r>
            <a:r>
              <a:rPr lang="en-US" altLang="zh-CN" sz="3600" dirty="0">
                <a:solidFill>
                  <a:schemeClr val="tx2"/>
                </a:solidFill>
                <a:ea typeface="宋体" panose="02010600030101010101" pitchFamily="2" charset="-122"/>
              </a:rPr>
              <a:t>Scala</a:t>
            </a:r>
            <a:r>
              <a:rPr lang="zh-CN" altLang="en-US" sz="3600" dirty="0">
                <a:solidFill>
                  <a:schemeClr val="tx2"/>
                </a:solidFill>
                <a:ea typeface="宋体" panose="02010600030101010101" pitchFamily="2" charset="-122"/>
              </a:rPr>
              <a:t>语言</a:t>
            </a:r>
            <a:endParaRPr lang="en-US" altLang="zh-CN" sz="3600" dirty="0">
              <a:solidFill>
                <a:schemeClr val="tx2"/>
              </a:solidFill>
              <a:ea typeface="宋体" panose="02010600030101010101" pitchFamily="2" charset="-122"/>
            </a:endParaRPr>
          </a:p>
        </p:txBody>
      </p:sp>
      <p:sp>
        <p:nvSpPr>
          <p:cNvPr id="2051" name="Rectangle 3"/>
          <p:cNvSpPr>
            <a:spLocks noGrp="1" noChangeArrowheads="1"/>
          </p:cNvSpPr>
          <p:nvPr>
            <p:ph type="subTitle" idx="1"/>
          </p:nvPr>
        </p:nvSpPr>
        <p:spPr>
          <a:xfrm>
            <a:off x="1752600" y="5091113"/>
            <a:ext cx="5943600" cy="609600"/>
          </a:xfrm>
        </p:spPr>
        <p:txBody>
          <a:bodyPr/>
          <a:lstStyle/>
          <a:p>
            <a:endParaRPr lang="en-US" altLang="zh-CN" dirty="0">
              <a:ea typeface="宋体" panose="02010600030101010101" pitchFamily="2" charset="-122"/>
            </a:endParaRPr>
          </a:p>
        </p:txBody>
      </p:sp>
      <p:sp>
        <p:nvSpPr>
          <p:cNvPr id="2052" name="Line 4"/>
          <p:cNvSpPr>
            <a:spLocks noChangeShapeType="1"/>
          </p:cNvSpPr>
          <p:nvPr/>
        </p:nvSpPr>
        <p:spPr bwMode="auto">
          <a:xfrm flipV="1">
            <a:off x="179705" y="4642486"/>
            <a:ext cx="791895" cy="5080"/>
          </a:xfrm>
          <a:prstGeom prst="line">
            <a:avLst/>
          </a:prstGeom>
          <a:noFill/>
          <a:ln w="762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 name="Line 5"/>
          <p:cNvSpPr>
            <a:spLocks noChangeShapeType="1"/>
          </p:cNvSpPr>
          <p:nvPr/>
        </p:nvSpPr>
        <p:spPr bwMode="auto">
          <a:xfrm>
            <a:off x="8244408" y="4645026"/>
            <a:ext cx="701472" cy="5080"/>
          </a:xfrm>
          <a:prstGeom prst="line">
            <a:avLst/>
          </a:prstGeom>
          <a:noFill/>
          <a:ln w="76200"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endParaRPr lang="zh-CN" altLang="en-US" dirty="0"/>
          </a:p>
        </p:txBody>
      </p:sp>
      <p:sp>
        <p:nvSpPr>
          <p:cNvPr id="3" name="内容占位符 2"/>
          <p:cNvSpPr>
            <a:spLocks noGrp="1"/>
          </p:cNvSpPr>
          <p:nvPr>
            <p:ph idx="1"/>
          </p:nvPr>
        </p:nvSpPr>
        <p:spPr/>
        <p:txBody>
          <a:bodyPr/>
          <a:lstStyle/>
          <a:p>
            <a:pPr marL="0" indent="0">
              <a:buNone/>
            </a:pPr>
            <a:r>
              <a:rPr lang="en-US" altLang="zh-CN" dirty="0">
                <a:solidFill>
                  <a:srgbClr val="FF0000"/>
                </a:solidFill>
              </a:rPr>
              <a:t>8.1 Scala</a:t>
            </a:r>
            <a:r>
              <a:rPr lang="zh-CN" altLang="en-US" dirty="0">
                <a:solidFill>
                  <a:srgbClr val="FF0000"/>
                </a:solidFill>
              </a:rPr>
              <a:t>语言概述</a:t>
            </a:r>
            <a:endParaRPr lang="en-US" altLang="zh-CN" dirty="0">
              <a:solidFill>
                <a:srgbClr val="FF0000"/>
              </a:solidFill>
            </a:endParaRPr>
          </a:p>
          <a:p>
            <a:pPr marL="0" indent="0">
              <a:buNone/>
            </a:pPr>
            <a:r>
              <a:rPr lang="en-US" altLang="zh-CN" dirty="0"/>
              <a:t>8.2 Scala</a:t>
            </a:r>
            <a:r>
              <a:rPr lang="zh-CN" altLang="en-US" dirty="0"/>
              <a:t>语言基础</a:t>
            </a:r>
            <a:endParaRPr lang="zh-CN" altLang="en-US" dirty="0"/>
          </a:p>
          <a:p>
            <a:pPr marL="0" indent="0">
              <a:buNone/>
            </a:pPr>
            <a:r>
              <a:rPr lang="en-US" altLang="zh-CN" dirty="0"/>
              <a:t>8.3 </a:t>
            </a:r>
            <a:r>
              <a:rPr lang="zh-CN" altLang="en-US" dirty="0"/>
              <a:t>面向对象编程</a:t>
            </a:r>
            <a:endParaRPr lang="en-US" altLang="zh-CN" dirty="0"/>
          </a:p>
          <a:p>
            <a:pPr marL="0" indent="0">
              <a:buNone/>
            </a:pPr>
            <a:r>
              <a:rPr lang="en-US" altLang="zh-CN" dirty="0">
                <a:sym typeface="+mn-ea"/>
              </a:rPr>
              <a:t>8.4 </a:t>
            </a:r>
            <a:r>
              <a:rPr lang="zh-CN" altLang="en-US" dirty="0"/>
              <a:t>函数式编程</a:t>
            </a:r>
            <a:endParaRPr lang="zh-CN" altLang="en-US" dirty="0"/>
          </a:p>
          <a:p>
            <a:pPr marL="0" indent="0">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Scala</a:t>
            </a:r>
            <a:r>
              <a:rPr lang="zh-CN" altLang="en-US" dirty="0"/>
              <a:t>语言概述</a:t>
            </a:r>
            <a:endParaRPr lang="zh-CN" altLang="en-US" dirty="0"/>
          </a:p>
        </p:txBody>
      </p:sp>
      <p:sp>
        <p:nvSpPr>
          <p:cNvPr id="3" name="内容占位符 2"/>
          <p:cNvSpPr>
            <a:spLocks noGrp="1"/>
          </p:cNvSpPr>
          <p:nvPr>
            <p:ph idx="1"/>
          </p:nvPr>
        </p:nvSpPr>
        <p:spPr/>
        <p:txBody>
          <a:bodyPr/>
          <a:lstStyle/>
          <a:p>
            <a:r>
              <a:rPr lang="en-US" altLang="zh-CN" dirty="0"/>
              <a:t>8.1.1 </a:t>
            </a:r>
            <a:r>
              <a:rPr lang="zh-CN" altLang="en-US" dirty="0"/>
              <a:t>什么是</a:t>
            </a:r>
            <a:r>
              <a:rPr lang="en-US" altLang="zh-CN" dirty="0"/>
              <a:t>Scala</a:t>
            </a:r>
            <a:endParaRPr lang="en-US" altLang="zh-CN" dirty="0"/>
          </a:p>
          <a:p>
            <a:r>
              <a:rPr lang="en-US" altLang="zh-CN" dirty="0"/>
              <a:t>8.1.2 </a:t>
            </a:r>
            <a:r>
              <a:rPr lang="zh-CN" altLang="en-US" dirty="0"/>
              <a:t>安装</a:t>
            </a:r>
            <a:r>
              <a:rPr lang="en-US" altLang="zh-CN" dirty="0"/>
              <a:t>Scala</a:t>
            </a:r>
            <a:endParaRPr lang="en-US" altLang="zh-CN" dirty="0"/>
          </a:p>
          <a:p>
            <a:r>
              <a:rPr lang="en-US" altLang="zh-CN" dirty="0"/>
              <a:t>8.1.3 </a:t>
            </a:r>
            <a:r>
              <a:rPr lang="zh-CN" altLang="en-US" dirty="0"/>
              <a:t>使用</a:t>
            </a:r>
            <a:r>
              <a:rPr lang="en-US" altLang="zh-CN" dirty="0"/>
              <a:t>Scala</a:t>
            </a:r>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8.1.1 </a:t>
            </a:r>
            <a:r>
              <a:rPr lang="zh-CN" altLang="en-US" dirty="0"/>
              <a:t>什么是</a:t>
            </a:r>
            <a:r>
              <a:rPr lang="en-US" altLang="zh-CN" dirty="0"/>
              <a:t>Scala</a:t>
            </a:r>
            <a:endParaRPr lang="zh-CN" altLang="en-US" dirty="0"/>
          </a:p>
        </p:txBody>
      </p:sp>
      <p:sp>
        <p:nvSpPr>
          <p:cNvPr id="3" name="内容占位符 2"/>
          <p:cNvSpPr>
            <a:spLocks noGrp="1"/>
          </p:cNvSpPr>
          <p:nvPr>
            <p:ph idx="1"/>
          </p:nvPr>
        </p:nvSpPr>
        <p:spPr/>
        <p:txBody>
          <a:bodyPr/>
          <a:lstStyle/>
          <a:p>
            <a:r>
              <a:rPr lang="en-US" altLang="zh-CN" dirty="0">
                <a:latin typeface="Arial" panose="020B0604020202020204" pitchFamily="34" charset="0"/>
              </a:rPr>
              <a:t>Scala</a:t>
            </a:r>
            <a:r>
              <a:rPr lang="zh-CN" altLang="zh-CN" dirty="0">
                <a:latin typeface="Arial" panose="020B0604020202020204" pitchFamily="34" charset="0"/>
              </a:rPr>
              <a:t>是一</a:t>
            </a:r>
            <a:r>
              <a:rPr lang="zh-CN" altLang="en-US" dirty="0">
                <a:latin typeface="Arial" panose="020B0604020202020204" pitchFamily="34" charset="0"/>
              </a:rPr>
              <a:t>将</a:t>
            </a:r>
            <a:r>
              <a:rPr lang="zh-CN" altLang="zh-CN" dirty="0">
                <a:latin typeface="Arial" panose="020B0604020202020204" pitchFamily="34" charset="0"/>
              </a:rPr>
              <a:t>面向对象编程和函数式编程</a:t>
            </a:r>
            <a:r>
              <a:rPr lang="zh-CN" altLang="en-US" dirty="0">
                <a:latin typeface="Arial" panose="020B0604020202020204" pitchFamily="34" charset="0"/>
              </a:rPr>
              <a:t>结合在一起的高级语言。</a:t>
            </a:r>
            <a:endParaRPr lang="en-US" altLang="zh-CN" dirty="0">
              <a:latin typeface="Arial" panose="020B0604020202020204" pitchFamily="34" charset="0"/>
            </a:endParaRPr>
          </a:p>
          <a:p>
            <a:pPr lvl="1"/>
            <a:r>
              <a:rPr lang="zh-CN" altLang="en-US" dirty="0">
                <a:latin typeface="Arial" panose="020B0604020202020204" pitchFamily="34" charset="0"/>
              </a:rPr>
              <a:t>功能强大，不仅可以编写脚本，也可以构建大型系统</a:t>
            </a:r>
            <a:endParaRPr lang="en-US" altLang="zh-CN" dirty="0">
              <a:latin typeface="Arial" panose="020B0604020202020204" pitchFamily="34" charset="0"/>
            </a:endParaRPr>
          </a:p>
          <a:p>
            <a:r>
              <a:rPr lang="en-US" altLang="zh-CN" dirty="0">
                <a:latin typeface="Arial" panose="020B0604020202020204" pitchFamily="34" charset="0"/>
              </a:rPr>
              <a:t>Scala</a:t>
            </a:r>
            <a:r>
              <a:rPr lang="zh-CN" altLang="en-US" dirty="0">
                <a:latin typeface="Arial" panose="020B0604020202020204" pitchFamily="34" charset="0"/>
              </a:rPr>
              <a:t>运行于</a:t>
            </a:r>
            <a:r>
              <a:rPr lang="en-US" altLang="zh-CN" dirty="0">
                <a:latin typeface="Arial" panose="020B0604020202020204" pitchFamily="34" charset="0"/>
              </a:rPr>
              <a:t>Java</a:t>
            </a:r>
            <a:r>
              <a:rPr lang="zh-CN" altLang="en-US" dirty="0">
                <a:latin typeface="Arial" panose="020B0604020202020204" pitchFamily="34" charset="0"/>
              </a:rPr>
              <a:t>平台</a:t>
            </a:r>
            <a:endParaRPr lang="en-US" altLang="zh-CN" dirty="0">
              <a:latin typeface="Arial" panose="020B0604020202020204" pitchFamily="34" charset="0"/>
            </a:endParaRPr>
          </a:p>
          <a:p>
            <a:pPr lvl="1"/>
            <a:r>
              <a:rPr lang="en-US" altLang="zh-CN" dirty="0">
                <a:latin typeface="Arial" panose="020B0604020202020204" pitchFamily="34" charset="0"/>
              </a:rPr>
              <a:t>Scala</a:t>
            </a:r>
            <a:r>
              <a:rPr lang="zh-CN" altLang="en-US" dirty="0">
                <a:latin typeface="Arial" panose="020B0604020202020204" pitchFamily="34" charset="0"/>
              </a:rPr>
              <a:t>程序会通过</a:t>
            </a:r>
            <a:r>
              <a:rPr lang="en-US" altLang="zh-CN" dirty="0">
                <a:latin typeface="Arial" panose="020B0604020202020204" pitchFamily="34" charset="0"/>
              </a:rPr>
              <a:t>JVM</a:t>
            </a:r>
            <a:r>
              <a:rPr lang="zh-CN" altLang="en-US" dirty="0">
                <a:latin typeface="Arial" panose="020B0604020202020204" pitchFamily="34" charset="0"/>
              </a:rPr>
              <a:t>被编译成</a:t>
            </a:r>
            <a:r>
              <a:rPr lang="en-US" altLang="zh-CN" dirty="0">
                <a:latin typeface="Arial" panose="020B0604020202020204" pitchFamily="34" charset="0"/>
              </a:rPr>
              <a:t>class</a:t>
            </a:r>
            <a:r>
              <a:rPr lang="zh-CN" altLang="en-US" dirty="0">
                <a:latin typeface="Arial" panose="020B0604020202020204" pitchFamily="34" charset="0"/>
              </a:rPr>
              <a:t>字节码</a:t>
            </a:r>
            <a:endParaRPr lang="en-US" altLang="zh-CN" dirty="0">
              <a:latin typeface="Arial" panose="020B0604020202020204" pitchFamily="34" charset="0"/>
            </a:endParaRPr>
          </a:p>
          <a:p>
            <a:pPr lvl="1"/>
            <a:r>
              <a:rPr lang="en-US" altLang="zh-CN" dirty="0">
                <a:latin typeface="Arial" panose="020B0604020202020204" pitchFamily="34" charset="0"/>
              </a:rPr>
              <a:t>Scala</a:t>
            </a:r>
            <a:r>
              <a:rPr lang="zh-CN" altLang="en-US" dirty="0">
                <a:latin typeface="Arial" panose="020B0604020202020204" pitchFamily="34" charset="0"/>
              </a:rPr>
              <a:t>代码可以调用</a:t>
            </a:r>
            <a:r>
              <a:rPr lang="en-US" altLang="zh-CN" dirty="0">
                <a:latin typeface="Arial" panose="020B0604020202020204" pitchFamily="34" charset="0"/>
              </a:rPr>
              <a:t>Java</a:t>
            </a:r>
            <a:r>
              <a:rPr lang="zh-CN" altLang="en-US" dirty="0">
                <a:latin typeface="Arial" panose="020B0604020202020204" pitchFamily="34" charset="0"/>
              </a:rPr>
              <a:t>方法、继承</a:t>
            </a:r>
            <a:r>
              <a:rPr lang="en-US" altLang="zh-CN" dirty="0">
                <a:latin typeface="Arial" panose="020B0604020202020204" pitchFamily="34" charset="0"/>
              </a:rPr>
              <a:t>Java</a:t>
            </a:r>
            <a:r>
              <a:rPr lang="zh-CN" altLang="en-US" dirty="0">
                <a:latin typeface="Arial" panose="020B0604020202020204" pitchFamily="34" charset="0"/>
              </a:rPr>
              <a:t>类、实现</a:t>
            </a:r>
            <a:r>
              <a:rPr lang="en-US" altLang="zh-CN" dirty="0">
                <a:latin typeface="Arial" panose="020B0604020202020204" pitchFamily="34" charset="0"/>
              </a:rPr>
              <a:t>Java</a:t>
            </a:r>
            <a:r>
              <a:rPr lang="zh-CN" altLang="en-US" dirty="0">
                <a:latin typeface="Arial" panose="020B0604020202020204" pitchFamily="34" charset="0"/>
              </a:rPr>
              <a:t>接口</a:t>
            </a:r>
            <a:endParaRPr lang="en-US" altLang="zh-CN" dirty="0">
              <a:latin typeface="Arial" panose="020B0604020202020204" pitchFamily="34" charset="0"/>
            </a:endParaRPr>
          </a:p>
          <a:p>
            <a:r>
              <a:rPr lang="en-US" altLang="zh-CN" dirty="0">
                <a:latin typeface="Arial" panose="020B0604020202020204" pitchFamily="34" charset="0"/>
              </a:rPr>
              <a:t>Spark</a:t>
            </a:r>
            <a:r>
              <a:rPr lang="zh-CN" altLang="en-US" dirty="0">
                <a:latin typeface="Arial" panose="020B0604020202020204" pitchFamily="34" charset="0"/>
              </a:rPr>
              <a:t>主要由</a:t>
            </a:r>
            <a:r>
              <a:rPr lang="en-US" altLang="zh-CN" dirty="0">
                <a:latin typeface="Arial" panose="020B0604020202020204" pitchFamily="34" charset="0"/>
              </a:rPr>
              <a:t>Scala</a:t>
            </a:r>
            <a:r>
              <a:rPr lang="zh-CN" altLang="en-US" dirty="0">
                <a:latin typeface="Arial" panose="020B0604020202020204" pitchFamily="34" charset="0"/>
              </a:rPr>
              <a:t>语言编写</a:t>
            </a:r>
            <a:endParaRPr lang="en-US" altLang="zh-CN" dirty="0">
              <a:latin typeface="Arial" panose="020B0604020202020204" pitchFamily="34" charset="0"/>
            </a:endParaRPr>
          </a:p>
          <a:p>
            <a:pPr lvl="1"/>
            <a:r>
              <a:rPr lang="zh-CN" altLang="en-US" dirty="0">
                <a:latin typeface="Arial" panose="020B0604020202020204" pitchFamily="34" charset="0"/>
              </a:rPr>
              <a:t>学习</a:t>
            </a:r>
            <a:r>
              <a:rPr lang="en-US" altLang="zh-CN" dirty="0">
                <a:latin typeface="Arial" panose="020B0604020202020204" pitchFamily="34" charset="0"/>
              </a:rPr>
              <a:t>Spark</a:t>
            </a:r>
            <a:r>
              <a:rPr lang="zh-CN" altLang="en-US" dirty="0">
                <a:latin typeface="Arial" panose="020B0604020202020204" pitchFamily="34" charset="0"/>
              </a:rPr>
              <a:t>，需要先学习</a:t>
            </a:r>
            <a:r>
              <a:rPr lang="en-US" altLang="zh-CN" dirty="0">
                <a:latin typeface="Arial" panose="020B0604020202020204" pitchFamily="34" charset="0"/>
              </a:rPr>
              <a:t>Scala</a:t>
            </a:r>
            <a:endParaRPr lang="zh-CN" altLang="zh-CN" dirty="0">
              <a:latin typeface="Arial" panose="020B0604020202020204" pitchFamily="34" charset="0"/>
            </a:endParaRPr>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8.1.2 </a:t>
            </a:r>
            <a:r>
              <a:rPr lang="zh-CN" altLang="en-US" dirty="0"/>
              <a:t>安装</a:t>
            </a:r>
            <a:r>
              <a:rPr lang="en-US" altLang="zh-CN" dirty="0"/>
              <a:t>Scala</a:t>
            </a:r>
            <a:endParaRPr lang="zh-CN" altLang="en-US" dirty="0"/>
          </a:p>
        </p:txBody>
      </p:sp>
      <p:sp>
        <p:nvSpPr>
          <p:cNvPr id="3" name="内容占位符 2"/>
          <p:cNvSpPr>
            <a:spLocks noGrp="1"/>
          </p:cNvSpPr>
          <p:nvPr>
            <p:ph idx="1"/>
          </p:nvPr>
        </p:nvSpPr>
        <p:spPr/>
        <p:txBody>
          <a:bodyPr/>
          <a:lstStyle/>
          <a:p>
            <a:r>
              <a:rPr lang="zh-CN" altLang="en-US" dirty="0">
                <a:latin typeface="Arial" panose="020B0604020202020204" pitchFamily="34" charset="0"/>
              </a:rPr>
              <a:t>前提</a:t>
            </a:r>
            <a:endParaRPr lang="en-US" altLang="zh-CN" dirty="0">
              <a:latin typeface="Arial" panose="020B0604020202020204" pitchFamily="34" charset="0"/>
            </a:endParaRPr>
          </a:p>
          <a:p>
            <a:pPr lvl="1"/>
            <a:r>
              <a:rPr lang="en-US" altLang="zh-CN" dirty="0">
                <a:latin typeface="Arial" panose="020B0604020202020204" pitchFamily="34" charset="0"/>
              </a:rPr>
              <a:t>Java</a:t>
            </a:r>
            <a:r>
              <a:rPr lang="zh-CN" altLang="en-US" dirty="0">
                <a:latin typeface="Arial" panose="020B0604020202020204" pitchFamily="34" charset="0"/>
              </a:rPr>
              <a:t>环境（</a:t>
            </a:r>
            <a:r>
              <a:rPr lang="en-US" altLang="zh-CN" dirty="0">
                <a:latin typeface="Arial" panose="020B0604020202020204" pitchFamily="34" charset="0"/>
              </a:rPr>
              <a:t>1.8</a:t>
            </a:r>
            <a:r>
              <a:rPr lang="zh-CN" altLang="en-US" dirty="0">
                <a:latin typeface="Arial" panose="020B0604020202020204" pitchFamily="34" charset="0"/>
              </a:rPr>
              <a:t>以上版本）</a:t>
            </a:r>
            <a:endParaRPr lang="en-US" altLang="zh-CN" dirty="0">
              <a:latin typeface="Arial" panose="020B0604020202020204" pitchFamily="34" charset="0"/>
            </a:endParaRPr>
          </a:p>
          <a:p>
            <a:r>
              <a:rPr lang="en-US" altLang="zh-CN" dirty="0">
                <a:latin typeface="Arial" panose="020B0604020202020204" pitchFamily="34" charset="0"/>
              </a:rPr>
              <a:t>Scala</a:t>
            </a:r>
            <a:r>
              <a:rPr lang="zh-CN" altLang="en-US" dirty="0">
                <a:latin typeface="Arial" panose="020B0604020202020204" pitchFamily="34" charset="0"/>
              </a:rPr>
              <a:t>安装</a:t>
            </a:r>
            <a:endParaRPr lang="en-US" altLang="zh-CN" dirty="0">
              <a:latin typeface="Arial" panose="020B0604020202020204" pitchFamily="34" charset="0"/>
            </a:endParaRPr>
          </a:p>
          <a:p>
            <a:pPr lvl="1"/>
            <a:r>
              <a:rPr lang="zh-CN" altLang="en-US" dirty="0"/>
              <a:t>下载安装</a:t>
            </a:r>
            <a:endParaRPr lang="en-US" altLang="zh-CN" dirty="0"/>
          </a:p>
          <a:p>
            <a:pPr lvl="2"/>
            <a:r>
              <a:rPr lang="zh-CN" altLang="en-US" dirty="0"/>
              <a:t>官方网站：</a:t>
            </a:r>
            <a:r>
              <a:rPr lang="en-US" altLang="zh-CN" dirty="0">
                <a:hlinkClick r:id="rId1"/>
              </a:rPr>
              <a:t>www.</a:t>
            </a:r>
            <a:r>
              <a:rPr lang="en-US" altLang="zh-CN" b="1" dirty="0">
                <a:hlinkClick r:id="rId1"/>
              </a:rPr>
              <a:t>scala</a:t>
            </a:r>
            <a:r>
              <a:rPr lang="en-US" altLang="zh-CN" dirty="0">
                <a:hlinkClick r:id="rId1"/>
              </a:rPr>
              <a:t>-lang.org/</a:t>
            </a:r>
            <a:endParaRPr lang="en-US" altLang="zh-CN" dirty="0"/>
          </a:p>
          <a:p>
            <a:pPr lvl="2"/>
            <a:r>
              <a:rPr lang="zh-CN" altLang="en-US" dirty="0"/>
              <a:t>解压缩至安装目录</a:t>
            </a:r>
            <a:r>
              <a:rPr lang="en-US" altLang="zh-CN" dirty="0"/>
              <a:t>(/opt/modules)</a:t>
            </a:r>
            <a:endParaRPr lang="en-US" altLang="zh-CN" dirty="0"/>
          </a:p>
          <a:p>
            <a:pPr lvl="1"/>
            <a:r>
              <a:rPr lang="zh-CN" altLang="en-US" dirty="0"/>
              <a:t>配置环境变量</a:t>
            </a:r>
            <a:endParaRPr lang="en-US" altLang="zh-CN" dirty="0"/>
          </a:p>
          <a:p>
            <a:pPr lvl="2"/>
            <a:r>
              <a:rPr lang="zh-CN" altLang="en-US" dirty="0"/>
              <a:t>修改</a:t>
            </a:r>
            <a:r>
              <a:rPr lang="en-US" altLang="zh-CN" dirty="0"/>
              <a:t>/</a:t>
            </a:r>
            <a:r>
              <a:rPr lang="en-US" altLang="zh-CN" dirty="0" err="1"/>
              <a:t>etc</a:t>
            </a:r>
            <a:r>
              <a:rPr lang="en-US" altLang="zh-CN" dirty="0"/>
              <a:t>/profile</a:t>
            </a:r>
            <a:r>
              <a:rPr lang="zh-CN" altLang="en-US" dirty="0"/>
              <a:t>文件，增加如下两行：</a:t>
            </a:r>
            <a:endParaRPr lang="en-US" altLang="zh-CN" dirty="0"/>
          </a:p>
          <a:p>
            <a:pPr lvl="2"/>
            <a:endParaRPr lang="en-US" altLang="zh-CN" dirty="0"/>
          </a:p>
          <a:p>
            <a:pPr lvl="2"/>
            <a:r>
              <a:rPr lang="zh-CN" altLang="en-US" dirty="0"/>
              <a:t>使环境变量生效</a:t>
            </a:r>
            <a:endParaRPr lang="en-US" altLang="zh-CN" dirty="0"/>
          </a:p>
          <a:p>
            <a:pPr lvl="1"/>
            <a:r>
              <a:rPr lang="zh-CN" altLang="en-US" dirty="0"/>
              <a:t>测试</a:t>
            </a:r>
            <a:endParaRPr lang="en-US" altLang="zh-CN" dirty="0"/>
          </a:p>
          <a:p>
            <a:pPr lvl="2"/>
            <a:r>
              <a:rPr lang="zh-CN" altLang="en-US" dirty="0"/>
              <a:t>在任意目录下，输入</a:t>
            </a:r>
            <a:r>
              <a:rPr lang="en-US" altLang="zh-CN" dirty="0" err="1"/>
              <a:t>scala</a:t>
            </a:r>
            <a:r>
              <a:rPr lang="en-US" altLang="zh-CN" dirty="0"/>
              <a:t> -version</a:t>
            </a:r>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4725144"/>
            <a:ext cx="4010585" cy="5001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8.1.3 使用Scala</a:t>
            </a:r>
            <a:endParaRPr lang="zh-CN" altLang="en-US"/>
          </a:p>
        </p:txBody>
      </p:sp>
      <p:sp>
        <p:nvSpPr>
          <p:cNvPr id="3" name="矩形 2"/>
          <p:cNvSpPr/>
          <p:nvPr/>
        </p:nvSpPr>
        <p:spPr>
          <a:xfrm>
            <a:off x="457200" y="1600200"/>
            <a:ext cx="8229600" cy="368300"/>
          </a:xfrm>
          <a:prstGeom prst="rect">
            <a:avLst/>
          </a:prstGeom>
          <a:noFill/>
          <a:ln w="9525">
            <a:noFill/>
          </a:ln>
        </p:spPr>
        <p:txBody>
          <a:bodyPr>
            <a:spAutoFit/>
          </a:bodyPr>
          <a:lstStyle/>
          <a:p>
            <a:r>
              <a:rPr lang="zh-CN" altLang="en-US" dirty="0">
                <a:latin typeface="Arial" panose="020B0604020202020204" pitchFamily="34" charset="0"/>
              </a:rPr>
              <a:t>在</a:t>
            </a:r>
            <a:r>
              <a:rPr lang="en-US" altLang="zh-CN" dirty="0">
                <a:latin typeface="Arial" panose="020B0604020202020204" pitchFamily="34" charset="0"/>
              </a:rPr>
              <a:t>Shell</a:t>
            </a:r>
            <a:r>
              <a:rPr lang="zh-CN" altLang="en-US" dirty="0">
                <a:latin typeface="Arial" panose="020B0604020202020204" pitchFamily="34" charset="0"/>
              </a:rPr>
              <a:t>命令提示符界面中输入“</a:t>
            </a:r>
            <a:r>
              <a:rPr lang="en-US" altLang="zh-CN" dirty="0">
                <a:latin typeface="Arial" panose="020B0604020202020204" pitchFamily="34" charset="0"/>
              </a:rPr>
              <a:t>scala”</a:t>
            </a:r>
            <a:r>
              <a:rPr lang="zh-CN" altLang="en-US" dirty="0">
                <a:latin typeface="Arial" panose="020B0604020202020204" pitchFamily="34" charset="0"/>
              </a:rPr>
              <a:t>命令后，会进入</a:t>
            </a:r>
            <a:r>
              <a:rPr lang="en-US" altLang="zh-CN" dirty="0">
                <a:latin typeface="Arial" panose="020B0604020202020204" pitchFamily="34" charset="0"/>
              </a:rPr>
              <a:t>scala</a:t>
            </a:r>
            <a:r>
              <a:rPr lang="zh-CN" altLang="en-US" dirty="0">
                <a:latin typeface="Arial" panose="020B0604020202020204" pitchFamily="34" charset="0"/>
              </a:rPr>
              <a:t>命令行提示符状态：</a:t>
            </a:r>
            <a:endParaRPr lang="zh-CN" altLang="en-US" dirty="0">
              <a:latin typeface="Arial" panose="020B0604020202020204" pitchFamily="34" charset="0"/>
            </a:endParaRPr>
          </a:p>
        </p:txBody>
      </p:sp>
      <p:sp>
        <p:nvSpPr>
          <p:cNvPr id="6" name="矩形 5"/>
          <p:cNvSpPr/>
          <p:nvPr/>
        </p:nvSpPr>
        <p:spPr>
          <a:xfrm>
            <a:off x="323528" y="4169569"/>
            <a:ext cx="7467600" cy="368300"/>
          </a:xfrm>
          <a:prstGeom prst="rect">
            <a:avLst/>
          </a:prstGeom>
          <a:noFill/>
          <a:ln w="9525">
            <a:noFill/>
          </a:ln>
        </p:spPr>
        <p:txBody>
          <a:bodyPr>
            <a:spAutoFit/>
          </a:bodyPr>
          <a:lstStyle/>
          <a:p>
            <a:r>
              <a:rPr lang="zh-CN" altLang="en-US" dirty="0">
                <a:latin typeface="Arial" panose="020B0604020202020204" pitchFamily="34" charset="0"/>
              </a:rPr>
              <a:t>可以使用命令“</a:t>
            </a:r>
            <a:r>
              <a:rPr lang="en-US" altLang="zh-CN" dirty="0">
                <a:latin typeface="Arial" panose="020B0604020202020204" pitchFamily="34" charset="0"/>
              </a:rPr>
              <a:t>:quit”</a:t>
            </a:r>
            <a:r>
              <a:rPr lang="zh-CN" altLang="en-US" dirty="0">
                <a:latin typeface="Arial" panose="020B0604020202020204" pitchFamily="34" charset="0"/>
              </a:rPr>
              <a:t>退出</a:t>
            </a:r>
            <a:r>
              <a:rPr lang="en-US" altLang="zh-CN" dirty="0">
                <a:latin typeface="Arial" panose="020B0604020202020204" pitchFamily="34" charset="0"/>
              </a:rPr>
              <a:t>Scala</a:t>
            </a:r>
            <a:r>
              <a:rPr lang="zh-CN" altLang="en-US" dirty="0">
                <a:latin typeface="Arial" panose="020B0604020202020204" pitchFamily="34" charset="0"/>
              </a:rPr>
              <a:t>解释器，如下所示：</a:t>
            </a:r>
            <a:endParaRPr lang="zh-CN" altLang="en-US" dirty="0">
              <a:latin typeface="Arial" panose="020B0604020202020204" pitchFamily="34" charset="0"/>
            </a:endParaRPr>
          </a:p>
        </p:txBody>
      </p:sp>
      <p:pic>
        <p:nvPicPr>
          <p:cNvPr id="8" name="图片 7"/>
          <p:cNvPicPr>
            <a:picLocks noChangeAspect="1"/>
          </p:cNvPicPr>
          <p:nvPr/>
        </p:nvPicPr>
        <p:blipFill rotWithShape="1">
          <a:blip r:embed="rId1"/>
          <a:srcRect b="53388"/>
          <a:stretch>
            <a:fillRect/>
          </a:stretch>
        </p:blipFill>
        <p:spPr>
          <a:xfrm>
            <a:off x="533400" y="2743200"/>
            <a:ext cx="4191000" cy="1198737"/>
          </a:xfrm>
          <a:prstGeom prst="rect">
            <a:avLst/>
          </a:prstGeom>
          <a:noFill/>
          <a:ln w="9525">
            <a:noFill/>
          </a:ln>
        </p:spPr>
      </p:pic>
      <p:sp>
        <p:nvSpPr>
          <p:cNvPr id="18438" name="TextBox 8"/>
          <p:cNvSpPr txBox="1"/>
          <p:nvPr/>
        </p:nvSpPr>
        <p:spPr>
          <a:xfrm>
            <a:off x="611505" y="1139825"/>
            <a:ext cx="3291205" cy="460375"/>
          </a:xfrm>
          <a:prstGeom prst="rect">
            <a:avLst/>
          </a:prstGeom>
          <a:noFill/>
          <a:ln w="9525">
            <a:noFill/>
          </a:ln>
        </p:spPr>
        <p:txBody>
          <a:bodyPr wrap="none">
            <a:spAutoFit/>
          </a:bodyPr>
          <a:lstStyle/>
          <a:p>
            <a:r>
              <a:rPr lang="zh-CN" altLang="en-US" sz="2400" b="1" dirty="0">
                <a:latin typeface="Arial" panose="020B0604020202020204" pitchFamily="34" charset="0"/>
              </a:rPr>
              <a:t>（</a:t>
            </a:r>
            <a:r>
              <a:rPr lang="en-US" altLang="zh-CN" sz="2400" b="1" dirty="0">
                <a:latin typeface="Arial" panose="020B0604020202020204" pitchFamily="34" charset="0"/>
              </a:rPr>
              <a:t>1</a:t>
            </a:r>
            <a:r>
              <a:rPr lang="zh-CN" altLang="en-US" sz="2400" b="1" dirty="0">
                <a:latin typeface="Arial" panose="020B0604020202020204" pitchFamily="34" charset="0"/>
              </a:rPr>
              <a:t>）使用</a:t>
            </a:r>
            <a:r>
              <a:rPr lang="en-US" altLang="zh-CN" sz="2400" b="1" dirty="0">
                <a:latin typeface="Arial" panose="020B0604020202020204" pitchFamily="34" charset="0"/>
              </a:rPr>
              <a:t>Scala</a:t>
            </a:r>
            <a:r>
              <a:rPr lang="zh-CN" altLang="en-US" sz="2400" b="1" dirty="0">
                <a:latin typeface="Arial" panose="020B0604020202020204" pitchFamily="34" charset="0"/>
              </a:rPr>
              <a:t>解释器</a:t>
            </a:r>
            <a:endParaRPr lang="zh-CN" altLang="en-US" sz="2400" b="1" dirty="0">
              <a:latin typeface="Arial" panose="020B0604020202020204" pitchFamily="34" charset="0"/>
            </a:endParaRPr>
          </a:p>
        </p:txBody>
      </p:sp>
      <p:sp>
        <p:nvSpPr>
          <p:cNvPr id="18439" name="TextBox 9"/>
          <p:cNvSpPr txBox="1"/>
          <p:nvPr/>
        </p:nvSpPr>
        <p:spPr>
          <a:xfrm>
            <a:off x="533400" y="2133600"/>
            <a:ext cx="6477000" cy="368300"/>
          </a:xfrm>
          <a:prstGeom prst="rect">
            <a:avLst/>
          </a:prstGeom>
          <a:solidFill>
            <a:schemeClr val="tx1"/>
          </a:solidFill>
          <a:ln w="9525">
            <a:noFill/>
          </a:ln>
        </p:spPr>
        <p:txBody>
          <a:bodyPr>
            <a:spAutoFit/>
          </a:bodyPr>
          <a:lstStyle/>
          <a:p>
            <a:r>
              <a:rPr lang="en-US" altLang="zh-CN" dirty="0">
                <a:solidFill>
                  <a:schemeClr val="bg1"/>
                </a:solidFill>
                <a:latin typeface="Arial" panose="020B0604020202020204" pitchFamily="34" charset="0"/>
              </a:rPr>
              <a:t>scala&gt;   //</a:t>
            </a:r>
            <a:r>
              <a:rPr lang="zh-CN" altLang="en-US" dirty="0">
                <a:solidFill>
                  <a:schemeClr val="bg1"/>
                </a:solidFill>
                <a:latin typeface="Arial" panose="020B0604020202020204" pitchFamily="34" charset="0"/>
              </a:rPr>
              <a:t>可以在命令提示符后面输入命令</a:t>
            </a:r>
            <a:endParaRPr lang="zh-CN" altLang="en-US" dirty="0">
              <a:solidFill>
                <a:schemeClr val="bg1"/>
              </a:solidFill>
              <a:latin typeface="Arial" panose="020B0604020202020204" pitchFamily="34" charset="0"/>
            </a:endParaRPr>
          </a:p>
        </p:txBody>
      </p:sp>
      <p:sp>
        <p:nvSpPr>
          <p:cNvPr id="18440" name="TextBox 10"/>
          <p:cNvSpPr txBox="1"/>
          <p:nvPr/>
        </p:nvSpPr>
        <p:spPr>
          <a:xfrm>
            <a:off x="457200" y="4581128"/>
            <a:ext cx="6477000" cy="368300"/>
          </a:xfrm>
          <a:prstGeom prst="rect">
            <a:avLst/>
          </a:prstGeom>
          <a:solidFill>
            <a:schemeClr val="tx1"/>
          </a:solidFill>
          <a:ln w="9525">
            <a:noFill/>
          </a:ln>
        </p:spPr>
        <p:txBody>
          <a:bodyPr>
            <a:spAutoFit/>
          </a:bodyPr>
          <a:lstStyle/>
          <a:p>
            <a:r>
              <a:rPr lang="en-US" altLang="zh-CN" dirty="0">
                <a:solidFill>
                  <a:schemeClr val="bg1"/>
                </a:solidFill>
                <a:latin typeface="Arial" panose="020B0604020202020204" pitchFamily="34" charset="0"/>
              </a:rPr>
              <a:t>scala&gt; :quit</a:t>
            </a:r>
            <a:endParaRPr lang="zh-CN" altLang="en-US" dirty="0">
              <a:solidFill>
                <a:schemeClr val="bg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438"/>
                                        </p:tgtEl>
                                        <p:attrNameLst>
                                          <p:attrName>style.visibility</p:attrName>
                                        </p:attrNameLst>
                                      </p:cBhvr>
                                      <p:to>
                                        <p:strVal val="visible"/>
                                      </p:to>
                                    </p:set>
                                    <p:animEffect transition="in" filter="blinds(horizontal)">
                                      <p:cBhvr>
                                        <p:cTn id="10" dur="500"/>
                                        <p:tgtEl>
                                          <p:spTgt spid="1843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439"/>
                                        </p:tgtEl>
                                        <p:attrNameLst>
                                          <p:attrName>style.visibility</p:attrName>
                                        </p:attrNameLst>
                                      </p:cBhvr>
                                      <p:to>
                                        <p:strVal val="visible"/>
                                      </p:to>
                                    </p:set>
                                    <p:animEffect transition="in" filter="blinds(horizontal)">
                                      <p:cBhvr>
                                        <p:cTn id="13" dur="500"/>
                                        <p:tgtEl>
                                          <p:spTgt spid="1843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8440"/>
                                        </p:tgtEl>
                                        <p:attrNameLst>
                                          <p:attrName>style.visibility</p:attrName>
                                        </p:attrNameLst>
                                      </p:cBhvr>
                                      <p:to>
                                        <p:strVal val="visible"/>
                                      </p:to>
                                    </p:set>
                                    <p:animEffect transition="in" filter="blinds(horizontal)">
                                      <p:cBhvr>
                                        <p:cTn id="26" dur="500"/>
                                        <p:tgtEl>
                                          <p:spTgt spid="18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8438" grpId="0"/>
      <p:bldP spid="18439" grpId="0" bldLvl="0" animBg="1"/>
      <p:bldP spid="1844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p>
            <a:r>
              <a:rPr lang="zh-CN" altLang="en-US"/>
              <a:t>8.1.3 使用Scala</a:t>
            </a:r>
            <a:endParaRPr lang="zh-CN" altLang="en-US"/>
          </a:p>
        </p:txBody>
      </p:sp>
      <p:sp>
        <p:nvSpPr>
          <p:cNvPr id="3" name="矩形 2"/>
          <p:cNvSpPr/>
          <p:nvPr/>
        </p:nvSpPr>
        <p:spPr>
          <a:xfrm>
            <a:off x="457200" y="1535113"/>
            <a:ext cx="8229600" cy="368300"/>
          </a:xfrm>
          <a:prstGeom prst="rect">
            <a:avLst/>
          </a:prstGeom>
          <a:noFill/>
          <a:ln w="9525">
            <a:noFill/>
          </a:ln>
        </p:spPr>
        <p:txBody>
          <a:bodyPr>
            <a:spAutoFit/>
          </a:bodyPr>
          <a:lstStyle/>
          <a:p>
            <a:r>
              <a:rPr lang="zh-CN" altLang="zh-CN" dirty="0">
                <a:latin typeface="Arial" panose="020B0604020202020204" pitchFamily="34" charset="0"/>
              </a:rPr>
              <a:t>用</a:t>
            </a:r>
            <a:r>
              <a:rPr lang="zh-CN" altLang="en-US" dirty="0">
                <a:latin typeface="Arial" panose="020B0604020202020204" pitchFamily="34" charset="0"/>
              </a:rPr>
              <a:t>“</a:t>
            </a:r>
            <a:r>
              <a:rPr lang="en-US" altLang="zh-CN" dirty="0">
                <a:latin typeface="Arial" panose="020B0604020202020204" pitchFamily="34" charset="0"/>
              </a:rPr>
              <a:t>:load</a:t>
            </a:r>
            <a:r>
              <a:rPr lang="zh-CN" altLang="en-US" dirty="0">
                <a:latin typeface="Arial" panose="020B0604020202020204" pitchFamily="34" charset="0"/>
              </a:rPr>
              <a:t>”命令导入脚本，一次</a:t>
            </a:r>
            <a:r>
              <a:rPr lang="zh-CN" altLang="zh-CN" dirty="0">
                <a:latin typeface="Arial" panose="020B0604020202020204" pitchFamily="34" charset="0"/>
              </a:rPr>
              <a:t>运行</a:t>
            </a:r>
            <a:r>
              <a:rPr lang="zh-CN" altLang="en-US" dirty="0">
                <a:latin typeface="Arial" panose="020B0604020202020204" pitchFamily="34" charset="0"/>
              </a:rPr>
              <a:t>多行程序：</a:t>
            </a:r>
            <a:endParaRPr lang="zh-CN" altLang="en-US" dirty="0">
              <a:latin typeface="Arial" panose="020B0604020202020204" pitchFamily="34" charset="0"/>
            </a:endParaRPr>
          </a:p>
        </p:txBody>
      </p:sp>
      <p:sp>
        <p:nvSpPr>
          <p:cNvPr id="6" name="矩形 5"/>
          <p:cNvSpPr/>
          <p:nvPr/>
        </p:nvSpPr>
        <p:spPr>
          <a:xfrm>
            <a:off x="457200" y="1905000"/>
            <a:ext cx="7467600" cy="368300"/>
          </a:xfrm>
          <a:prstGeom prst="rect">
            <a:avLst/>
          </a:prstGeom>
          <a:noFill/>
          <a:ln w="9525">
            <a:noFill/>
          </a:ln>
        </p:spPr>
        <p:txBody>
          <a:bodyPr>
            <a:spAutoFit/>
          </a:bodyPr>
          <a:lstStyle/>
          <a:p>
            <a:r>
              <a:rPr lang="zh-CN" altLang="zh-CN" dirty="0">
                <a:latin typeface="Arial" panose="020B0604020202020204" pitchFamily="34" charset="0"/>
              </a:rPr>
              <a:t>使用文本编辑器（比如</a:t>
            </a:r>
            <a:r>
              <a:rPr lang="en-US" altLang="zh-CN" dirty="0">
                <a:latin typeface="Arial" panose="020B0604020202020204" pitchFamily="34" charset="0"/>
              </a:rPr>
              <a:t>vim</a:t>
            </a:r>
            <a:r>
              <a:rPr lang="zh-CN" altLang="zh-CN" dirty="0">
                <a:latin typeface="Arial" panose="020B0604020202020204" pitchFamily="34" charset="0"/>
              </a:rPr>
              <a:t>）创建一个代码文件</a:t>
            </a:r>
            <a:r>
              <a:rPr lang="en-US" altLang="zh-CN" dirty="0">
                <a:latin typeface="Arial" panose="020B0604020202020204" pitchFamily="34" charset="0"/>
              </a:rPr>
              <a:t>Test.scala</a:t>
            </a:r>
            <a:endParaRPr lang="zh-CN" altLang="en-US" dirty="0">
              <a:latin typeface="Arial" panose="020B0604020202020204" pitchFamily="34" charset="0"/>
            </a:endParaRPr>
          </a:p>
        </p:txBody>
      </p:sp>
      <p:sp>
        <p:nvSpPr>
          <p:cNvPr id="9" name="矩形 8"/>
          <p:cNvSpPr/>
          <p:nvPr/>
        </p:nvSpPr>
        <p:spPr>
          <a:xfrm>
            <a:off x="457200" y="4038600"/>
            <a:ext cx="7467600" cy="368300"/>
          </a:xfrm>
          <a:prstGeom prst="rect">
            <a:avLst/>
          </a:prstGeom>
          <a:noFill/>
          <a:ln w="9525">
            <a:noFill/>
          </a:ln>
        </p:spPr>
        <p:txBody>
          <a:bodyPr>
            <a:spAutoFit/>
          </a:bodyPr>
          <a:lstStyle/>
          <a:p>
            <a:r>
              <a:rPr lang="zh-CN" altLang="zh-CN" dirty="0">
                <a:latin typeface="Arial" panose="020B0604020202020204" pitchFamily="34" charset="0"/>
              </a:rPr>
              <a:t>执行如下命令运行该代码文件：</a:t>
            </a:r>
            <a:endParaRPr lang="zh-CN" altLang="en-US" dirty="0">
              <a:latin typeface="Arial" panose="020B0604020202020204" pitchFamily="34" charset="0"/>
            </a:endParaRPr>
          </a:p>
        </p:txBody>
      </p:sp>
      <p:sp>
        <p:nvSpPr>
          <p:cNvPr id="19462" name="TextBox 7"/>
          <p:cNvSpPr txBox="1"/>
          <p:nvPr/>
        </p:nvSpPr>
        <p:spPr>
          <a:xfrm>
            <a:off x="395605" y="1124585"/>
            <a:ext cx="5127625" cy="460375"/>
          </a:xfrm>
          <a:prstGeom prst="rect">
            <a:avLst/>
          </a:prstGeom>
          <a:noFill/>
          <a:ln w="9525">
            <a:noFill/>
          </a:ln>
        </p:spPr>
        <p:txBody>
          <a:bodyPr wrap="none">
            <a:spAutoFit/>
          </a:bodyPr>
          <a:lstStyle/>
          <a:p>
            <a:r>
              <a:rPr lang="zh-CN" altLang="en-US" sz="2400" b="1" dirty="0">
                <a:latin typeface="Arial" panose="020B0604020202020204" pitchFamily="34" charset="0"/>
              </a:rPr>
              <a:t>（</a:t>
            </a:r>
            <a:r>
              <a:rPr lang="en-US" altLang="zh-CN" sz="2400" b="1" dirty="0">
                <a:latin typeface="Arial" panose="020B0604020202020204" pitchFamily="34" charset="0"/>
              </a:rPr>
              <a:t>2</a:t>
            </a:r>
            <a:r>
              <a:rPr lang="zh-CN" altLang="en-US" sz="2400" b="1" dirty="0">
                <a:latin typeface="Arial" panose="020B0604020202020204" pitchFamily="34" charset="0"/>
              </a:rPr>
              <a:t>）在</a:t>
            </a:r>
            <a:r>
              <a:rPr lang="en-US" altLang="zh-CN" sz="2400" b="1" dirty="0">
                <a:latin typeface="Arial" panose="020B0604020202020204" pitchFamily="34" charset="0"/>
              </a:rPr>
              <a:t>Scala</a:t>
            </a:r>
            <a:r>
              <a:rPr lang="zh-CN" altLang="en-US" sz="2400" b="1" dirty="0">
                <a:latin typeface="Arial" panose="020B0604020202020204" pitchFamily="34" charset="0"/>
              </a:rPr>
              <a:t>解释器中运行脚本文件</a:t>
            </a:r>
            <a:endParaRPr lang="zh-CN" altLang="en-US" sz="2400" b="1" dirty="0">
              <a:latin typeface="Arial" panose="020B0604020202020204" pitchFamily="34" charset="0"/>
            </a:endParaRPr>
          </a:p>
        </p:txBody>
      </p:sp>
      <p:sp>
        <p:nvSpPr>
          <p:cNvPr id="10" name="TextBox 9"/>
          <p:cNvSpPr txBox="1"/>
          <p:nvPr/>
        </p:nvSpPr>
        <p:spPr>
          <a:xfrm>
            <a:off x="609600" y="2514600"/>
            <a:ext cx="6400800" cy="1198880"/>
          </a:xfrm>
          <a:prstGeom prst="rect">
            <a:avLst/>
          </a:prstGeom>
          <a:solidFill>
            <a:schemeClr val="bg1">
              <a:lumMod val="85000"/>
            </a:schemeClr>
          </a:solidFill>
        </p:spPr>
        <p:txBody>
          <a:bodyPr>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en-US"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usr</a:t>
            </a:r>
            <a:r>
              <a:rPr kumimoji="0" lang="en-US" altLang="zh-CN" kern="1200" cap="none" spc="0" normalizeH="0" baseline="0" noProof="0" dirty="0">
                <a:latin typeface="Arial" panose="020B0604020202020204" pitchFamily="34" charset="0"/>
                <a:ea typeface="宋体" panose="02010600030101010101" pitchFamily="2" charset="-122"/>
                <a:cs typeface="+mn-cs"/>
              </a:rPr>
              <a:t>/local/</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Test.scala</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("This is the first line")</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("This is the second line")</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("This is the third line")</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p:txBody>
      </p:sp>
      <p:sp>
        <p:nvSpPr>
          <p:cNvPr id="11" name="TextBox 10"/>
          <p:cNvSpPr txBox="1"/>
          <p:nvPr/>
        </p:nvSpPr>
        <p:spPr>
          <a:xfrm>
            <a:off x="609600" y="4572000"/>
            <a:ext cx="6400800" cy="1476375"/>
          </a:xfrm>
          <a:prstGeom prst="rect">
            <a:avLst/>
          </a:prstGeom>
          <a:solidFill>
            <a:schemeClr val="tx1"/>
          </a:solidFill>
          <a:ln w="9525">
            <a:noFill/>
          </a:ln>
        </p:spPr>
        <p:txBody>
          <a:bodyPr>
            <a:spAutoFit/>
          </a:bodyPr>
          <a:lstStyle/>
          <a:p>
            <a:r>
              <a:rPr lang="en-US" altLang="zh-CN" dirty="0">
                <a:solidFill>
                  <a:schemeClr val="bg1"/>
                </a:solidFill>
                <a:latin typeface="Arial" panose="020B0604020202020204" pitchFamily="34" charset="0"/>
              </a:rPr>
              <a:t>scala&gt; :load  /usr/local/scala/mycode/Test.scala</a:t>
            </a:r>
            <a:endParaRPr lang="en-US"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Loading /usr/local/scala/mycode/Test.scala…</a:t>
            </a:r>
            <a:endParaRPr lang="en-US"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This is the first line</a:t>
            </a:r>
            <a:endParaRPr lang="en-US"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This is the second line</a:t>
            </a:r>
            <a:endParaRPr lang="en-US"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This is the third line</a:t>
            </a:r>
            <a:endParaRPr lang="en-US" altLang="zh-CN" dirty="0">
              <a:solidFill>
                <a:schemeClr val="bg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animEffect transition="in" filter="blinds(horizontal)">
                                      <p:cBhvr>
                                        <p:cTn id="7" dur="500"/>
                                        <p:tgtEl>
                                          <p:spTgt spid="1946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9462" grpId="0"/>
      <p:bldP spid="10" grpId="0" bldLvl="0" animBg="1"/>
      <p:bldP spid="11"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a:t>8.1.3 使用Scala</a:t>
            </a:r>
            <a:endParaRPr lang="zh-CN" altLang="en-US"/>
          </a:p>
        </p:txBody>
      </p:sp>
      <p:sp>
        <p:nvSpPr>
          <p:cNvPr id="20483" name="矩形 7"/>
          <p:cNvSpPr/>
          <p:nvPr/>
        </p:nvSpPr>
        <p:spPr>
          <a:xfrm>
            <a:off x="533400" y="1051878"/>
            <a:ext cx="8229600" cy="460375"/>
          </a:xfrm>
          <a:prstGeom prst="rect">
            <a:avLst/>
          </a:prstGeom>
          <a:noFill/>
          <a:ln w="9525">
            <a:noFill/>
          </a:ln>
        </p:spPr>
        <p:txBody>
          <a:bodyPr>
            <a:spAutoFit/>
          </a:bodyPr>
          <a:lstStyle/>
          <a:p>
            <a:r>
              <a:rPr lang="zh-CN" altLang="en-US" sz="2400" b="1" dirty="0">
                <a:latin typeface="Arial" panose="020B0604020202020204" pitchFamily="34" charset="0"/>
              </a:rPr>
              <a:t>（</a:t>
            </a:r>
            <a:r>
              <a:rPr lang="en-US" altLang="zh-CN" sz="2400" b="1" dirty="0">
                <a:latin typeface="Arial" panose="020B0604020202020204" pitchFamily="34" charset="0"/>
              </a:rPr>
              <a:t>3</a:t>
            </a:r>
            <a:r>
              <a:rPr lang="zh-CN" altLang="en-US" sz="2400" b="1" dirty="0">
                <a:latin typeface="Arial" panose="020B0604020202020204" pitchFamily="34" charset="0"/>
              </a:rPr>
              <a:t>）</a:t>
            </a:r>
            <a:r>
              <a:rPr lang="zh-CN" altLang="zh-CN" sz="2400" b="1" dirty="0">
                <a:latin typeface="Arial" panose="020B0604020202020204" pitchFamily="34" charset="0"/>
              </a:rPr>
              <a:t>通过编译打包的方式运行</a:t>
            </a:r>
            <a:r>
              <a:rPr lang="en-US" altLang="zh-CN" sz="2400" b="1" dirty="0">
                <a:latin typeface="Arial" panose="020B0604020202020204" pitchFamily="34" charset="0"/>
              </a:rPr>
              <a:t>Scala</a:t>
            </a:r>
            <a:r>
              <a:rPr lang="zh-CN" altLang="zh-CN" sz="2400" b="1" dirty="0">
                <a:latin typeface="Arial" panose="020B0604020202020204" pitchFamily="34" charset="0"/>
              </a:rPr>
              <a:t>程序</a:t>
            </a:r>
            <a:endParaRPr lang="zh-CN" altLang="zh-CN" sz="2400" b="1" dirty="0">
              <a:latin typeface="Arial" panose="020B0604020202020204" pitchFamily="34" charset="0"/>
            </a:endParaRPr>
          </a:p>
        </p:txBody>
      </p:sp>
      <p:sp>
        <p:nvSpPr>
          <p:cNvPr id="10" name="矩形 9"/>
          <p:cNvSpPr/>
          <p:nvPr/>
        </p:nvSpPr>
        <p:spPr>
          <a:xfrm>
            <a:off x="490538" y="3384550"/>
            <a:ext cx="7358062" cy="368300"/>
          </a:xfrm>
          <a:prstGeom prst="rect">
            <a:avLst/>
          </a:prstGeom>
          <a:noFill/>
          <a:ln w="9525">
            <a:noFill/>
          </a:ln>
        </p:spPr>
        <p:txBody>
          <a:bodyPr>
            <a:spAutoFit/>
          </a:bodyPr>
          <a:lstStyle/>
          <a:p>
            <a:r>
              <a:rPr lang="zh-CN" altLang="en-US" dirty="0">
                <a:latin typeface="Arial" panose="020B0604020202020204" pitchFamily="34" charset="0"/>
              </a:rPr>
              <a:t>使用</a:t>
            </a:r>
            <a:r>
              <a:rPr lang="en-US" altLang="zh-CN" dirty="0">
                <a:latin typeface="Arial" panose="020B0604020202020204" pitchFamily="34" charset="0"/>
              </a:rPr>
              <a:t>scalac</a:t>
            </a:r>
            <a:r>
              <a:rPr lang="zh-CN" altLang="en-US" dirty="0">
                <a:latin typeface="Arial" panose="020B0604020202020204" pitchFamily="34" charset="0"/>
              </a:rPr>
              <a:t>命令进行编译（编译的结果为</a:t>
            </a:r>
            <a:r>
              <a:rPr lang="en-US" altLang="zh-CN" dirty="0">
                <a:latin typeface="Arial" panose="020B0604020202020204" pitchFamily="34" charset="0"/>
              </a:rPr>
              <a:t>Java</a:t>
            </a:r>
            <a:r>
              <a:rPr lang="zh-CN" altLang="en-US" dirty="0">
                <a:latin typeface="Arial" panose="020B0604020202020204" pitchFamily="34" charset="0"/>
              </a:rPr>
              <a:t>字节码）</a:t>
            </a:r>
            <a:endParaRPr lang="zh-CN" altLang="en-US" dirty="0">
              <a:latin typeface="Arial" panose="020B0604020202020204" pitchFamily="34" charset="0"/>
            </a:endParaRPr>
          </a:p>
        </p:txBody>
      </p:sp>
      <p:sp>
        <p:nvSpPr>
          <p:cNvPr id="12" name="矩形 11"/>
          <p:cNvSpPr/>
          <p:nvPr/>
        </p:nvSpPr>
        <p:spPr>
          <a:xfrm>
            <a:off x="533400" y="4572000"/>
            <a:ext cx="7620000" cy="368300"/>
          </a:xfrm>
          <a:prstGeom prst="rect">
            <a:avLst/>
          </a:prstGeom>
          <a:noFill/>
          <a:ln w="9525">
            <a:noFill/>
          </a:ln>
        </p:spPr>
        <p:txBody>
          <a:bodyPr>
            <a:spAutoFit/>
          </a:bodyPr>
          <a:lstStyle/>
          <a:p>
            <a:r>
              <a:rPr lang="zh-CN" altLang="en-US" dirty="0">
                <a:latin typeface="Arial" panose="020B0604020202020204" pitchFamily="34" charset="0"/>
              </a:rPr>
              <a:t>使用</a:t>
            </a:r>
            <a:r>
              <a:rPr lang="en-US" altLang="zh-CN" dirty="0">
                <a:latin typeface="Arial" panose="020B0604020202020204" pitchFamily="34" charset="0"/>
              </a:rPr>
              <a:t>scala</a:t>
            </a:r>
            <a:r>
              <a:rPr lang="zh-CN" altLang="en-US" dirty="0">
                <a:latin typeface="Arial" panose="020B0604020202020204" pitchFamily="34" charset="0"/>
              </a:rPr>
              <a:t>或者</a:t>
            </a:r>
            <a:r>
              <a:rPr lang="en-US" altLang="zh-CN" dirty="0">
                <a:latin typeface="Arial" panose="020B0604020202020204" pitchFamily="34" charset="0"/>
              </a:rPr>
              <a:t>java</a:t>
            </a:r>
            <a:r>
              <a:rPr lang="zh-CN" altLang="en-US" dirty="0">
                <a:latin typeface="Arial" panose="020B0604020202020204" pitchFamily="34" charset="0"/>
              </a:rPr>
              <a:t>命令运行字节码文件</a:t>
            </a:r>
            <a:endParaRPr lang="zh-CN" altLang="en-US" dirty="0">
              <a:latin typeface="Arial" panose="020B0604020202020204" pitchFamily="34" charset="0"/>
            </a:endParaRPr>
          </a:p>
        </p:txBody>
      </p:sp>
      <p:sp>
        <p:nvSpPr>
          <p:cNvPr id="11" name="TextBox 10"/>
          <p:cNvSpPr txBox="1"/>
          <p:nvPr/>
        </p:nvSpPr>
        <p:spPr>
          <a:xfrm>
            <a:off x="609600" y="1600200"/>
            <a:ext cx="7162800" cy="1753235"/>
          </a:xfrm>
          <a:prstGeom prst="rect">
            <a:avLst/>
          </a:prstGeom>
          <a:solidFill>
            <a:schemeClr val="bg1">
              <a:lumMod val="85000"/>
            </a:schemeClr>
          </a:solidFill>
        </p:spPr>
        <p:txBody>
          <a:bodyPr>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en-US"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usr</a:t>
            </a:r>
            <a:r>
              <a:rPr kumimoji="0" lang="en-US" altLang="zh-CN" kern="1200" cap="none" spc="0" normalizeH="0" baseline="0" noProof="0" dirty="0">
                <a:latin typeface="Arial" panose="020B0604020202020204" pitchFamily="34" charset="0"/>
                <a:ea typeface="宋体" panose="02010600030101010101" pitchFamily="2" charset="-122"/>
                <a:cs typeface="+mn-cs"/>
              </a:rPr>
              <a:t>/local/</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HelloWorld.scala</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object </a:t>
            </a:r>
            <a:r>
              <a:rPr kumimoji="0" lang="en-US" altLang="zh-CN" kern="1200" cap="none" spc="0" normalizeH="0" baseline="0" noProof="0" dirty="0" err="1">
                <a:latin typeface="Arial" panose="020B0604020202020204" pitchFamily="34" charset="0"/>
                <a:ea typeface="宋体" panose="02010600030101010101" pitchFamily="2" charset="-122"/>
                <a:cs typeface="+mn-cs"/>
              </a:rPr>
              <a:t>HelloWorld</a:t>
            </a: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main(</a:t>
            </a:r>
            <a:r>
              <a:rPr kumimoji="0" lang="en-US" altLang="zh-CN" kern="1200" cap="none" spc="0" normalizeH="0" baseline="0" noProof="0" dirty="0" err="1">
                <a:latin typeface="Arial" panose="020B0604020202020204" pitchFamily="34" charset="0"/>
                <a:ea typeface="宋体" panose="02010600030101010101" pitchFamily="2" charset="-122"/>
                <a:cs typeface="+mn-cs"/>
              </a:rPr>
              <a:t>args</a:t>
            </a:r>
            <a:r>
              <a:rPr kumimoji="0" lang="en-US" altLang="zh-CN" kern="1200" cap="none" spc="0" normalizeH="0" baseline="0" noProof="0" dirty="0">
                <a:latin typeface="Arial" panose="020B0604020202020204" pitchFamily="34" charset="0"/>
                <a:ea typeface="宋体" panose="02010600030101010101" pitchFamily="2" charset="-122"/>
                <a:cs typeface="+mn-cs"/>
              </a:rPr>
              <a:t>: Array[String]) {</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("Hello, world!");</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p:txBody>
      </p:sp>
      <p:sp>
        <p:nvSpPr>
          <p:cNvPr id="20487" name="TextBox 12"/>
          <p:cNvSpPr txBox="1"/>
          <p:nvPr/>
        </p:nvSpPr>
        <p:spPr>
          <a:xfrm>
            <a:off x="609600" y="3849688"/>
            <a:ext cx="7086600" cy="645160"/>
          </a:xfrm>
          <a:prstGeom prst="rect">
            <a:avLst/>
          </a:prstGeom>
          <a:solidFill>
            <a:schemeClr val="tx1"/>
          </a:solidFill>
          <a:ln w="9525">
            <a:noFill/>
          </a:ln>
        </p:spPr>
        <p:txBody>
          <a:bodyPr>
            <a:spAutoFit/>
          </a:bodyPr>
          <a:lstStyle/>
          <a:p>
            <a:r>
              <a:rPr lang="en-US" altLang="zh-CN" dirty="0">
                <a:solidFill>
                  <a:schemeClr val="bg1"/>
                </a:solidFill>
                <a:latin typeface="Arial" panose="020B0604020202020204" pitchFamily="34" charset="0"/>
              </a:rPr>
              <a:t>$ cd /usr/local/scala/mycode</a:t>
            </a:r>
            <a:endParaRPr lang="en-US"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scalac  HelloWorld.scala</a:t>
            </a:r>
            <a:endParaRPr lang="en-US" altLang="zh-CN" dirty="0">
              <a:solidFill>
                <a:schemeClr val="bg1"/>
              </a:solidFill>
              <a:latin typeface="Arial" panose="020B0604020202020204" pitchFamily="34" charset="0"/>
            </a:endParaRPr>
          </a:p>
        </p:txBody>
      </p:sp>
      <p:sp>
        <p:nvSpPr>
          <p:cNvPr id="20488" name="TextBox 13"/>
          <p:cNvSpPr txBox="1"/>
          <p:nvPr/>
        </p:nvSpPr>
        <p:spPr>
          <a:xfrm>
            <a:off x="609600" y="5068888"/>
            <a:ext cx="7162800" cy="368300"/>
          </a:xfrm>
          <a:prstGeom prst="rect">
            <a:avLst/>
          </a:prstGeom>
          <a:solidFill>
            <a:schemeClr val="tx1"/>
          </a:solidFill>
          <a:ln w="9525">
            <a:noFill/>
          </a:ln>
        </p:spPr>
        <p:txBody>
          <a:bodyPr>
            <a:spAutoFit/>
          </a:bodyPr>
          <a:lstStyle/>
          <a:p>
            <a:r>
              <a:rPr lang="en-US" altLang="zh-CN" dirty="0">
                <a:solidFill>
                  <a:schemeClr val="bg1"/>
                </a:solidFill>
                <a:latin typeface="Arial" panose="020B0604020202020204" pitchFamily="34" charset="0"/>
              </a:rPr>
              <a:t>$ scala -classpath . HelloWorld</a:t>
            </a:r>
            <a:endParaRPr lang="en-US" altLang="zh-CN" dirty="0">
              <a:solidFill>
                <a:schemeClr val="bg1"/>
              </a:solidFill>
              <a:latin typeface="Arial" panose="020B0604020202020204" pitchFamily="34" charset="0"/>
            </a:endParaRPr>
          </a:p>
        </p:txBody>
      </p:sp>
      <p:sp>
        <p:nvSpPr>
          <p:cNvPr id="20489" name="TextBox 14"/>
          <p:cNvSpPr txBox="1"/>
          <p:nvPr/>
        </p:nvSpPr>
        <p:spPr>
          <a:xfrm>
            <a:off x="609600" y="5638800"/>
            <a:ext cx="7162800" cy="368300"/>
          </a:xfrm>
          <a:prstGeom prst="rect">
            <a:avLst/>
          </a:prstGeom>
          <a:solidFill>
            <a:schemeClr val="tx1"/>
          </a:solidFill>
          <a:ln w="9525">
            <a:noFill/>
          </a:ln>
        </p:spPr>
        <p:txBody>
          <a:bodyPr>
            <a:spAutoFit/>
          </a:bodyPr>
          <a:lstStyle/>
          <a:p>
            <a:r>
              <a:rPr lang="en-US" altLang="zh-CN" dirty="0">
                <a:solidFill>
                  <a:schemeClr val="bg1"/>
                </a:solidFill>
                <a:latin typeface="Arial" panose="020B0604020202020204" pitchFamily="34" charset="0"/>
              </a:rPr>
              <a:t>$ java  -classpath  .:/usr/local/scala/lib/scala-library.jar  HelloWorld</a:t>
            </a:r>
            <a:endParaRPr lang="en-US" altLang="zh-CN" dirty="0">
              <a:solidFill>
                <a:schemeClr val="bg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blinds(horizontal)">
                                      <p:cBhvr>
                                        <p:cTn id="7" dur="500"/>
                                        <p:tgtEl>
                                          <p:spTgt spid="2048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0487"/>
                                        </p:tgtEl>
                                        <p:attrNameLst>
                                          <p:attrName>style.visibility</p:attrName>
                                        </p:attrNameLst>
                                      </p:cBhvr>
                                      <p:to>
                                        <p:strVal val="visible"/>
                                      </p:to>
                                    </p:set>
                                    <p:animEffect transition="in" filter="blinds(horizontal)">
                                      <p:cBhvr>
                                        <p:cTn id="18" dur="500"/>
                                        <p:tgtEl>
                                          <p:spTgt spid="2048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0488"/>
                                        </p:tgtEl>
                                        <p:attrNameLst>
                                          <p:attrName>style.visibility</p:attrName>
                                        </p:attrNameLst>
                                      </p:cBhvr>
                                      <p:to>
                                        <p:strVal val="visible"/>
                                      </p:to>
                                    </p:set>
                                    <p:animEffect transition="in" filter="blinds(horizontal)">
                                      <p:cBhvr>
                                        <p:cTn id="26" dur="500"/>
                                        <p:tgtEl>
                                          <p:spTgt spid="20488"/>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0489"/>
                                        </p:tgtEl>
                                        <p:attrNameLst>
                                          <p:attrName>style.visibility</p:attrName>
                                        </p:attrNameLst>
                                      </p:cBhvr>
                                      <p:to>
                                        <p:strVal val="visible"/>
                                      </p:to>
                                    </p:set>
                                    <p:animEffect transition="in" filter="blinds(horizontal)">
                                      <p:cBhvr>
                                        <p:cTn id="29" dur="500"/>
                                        <p:tgtEl>
                                          <p:spTgt spid="20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10" grpId="0"/>
      <p:bldP spid="12" grpId="0"/>
      <p:bldP spid="11" grpId="0" bldLvl="0" animBg="1"/>
      <p:bldP spid="20487" grpId="0" bldLvl="0" animBg="1"/>
      <p:bldP spid="20488" grpId="0" animBg="1"/>
      <p:bldP spid="20489"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dirty="0"/>
              <a:t>也可使用</a:t>
            </a:r>
            <a:r>
              <a:rPr lang="en-US" altLang="zh-CN" dirty="0"/>
              <a:t>IDE</a:t>
            </a:r>
            <a:r>
              <a:rPr lang="zh-CN" altLang="en-US" dirty="0"/>
              <a:t>（如</a:t>
            </a:r>
            <a:r>
              <a:rPr lang="en-US" altLang="zh-CN" dirty="0"/>
              <a:t>Eclipse</a:t>
            </a:r>
            <a:r>
              <a:rPr lang="zh-CN" altLang="en-US" dirty="0"/>
              <a:t>）编写</a:t>
            </a:r>
            <a:r>
              <a:rPr lang="en-US" altLang="zh-CN" dirty="0"/>
              <a:t>Scala</a:t>
            </a:r>
            <a:r>
              <a:rPr lang="zh-CN" altLang="en-US" dirty="0"/>
              <a:t>程序</a:t>
            </a:r>
            <a:endParaRPr lang="en-US" altLang="zh-CN" dirty="0"/>
          </a:p>
          <a:p>
            <a:pPr lvl="1"/>
            <a:r>
              <a:rPr lang="zh-CN" altLang="en-US" dirty="0"/>
              <a:t>进入</a:t>
            </a:r>
            <a:r>
              <a:rPr lang="en-US" altLang="zh-CN" dirty="0"/>
              <a:t>Eclipse-&gt;Help-&gt;Eclipse </a:t>
            </a:r>
            <a:r>
              <a:rPr lang="en-US" altLang="zh-CN" dirty="0" err="1"/>
              <a:t>MarketPlace</a:t>
            </a:r>
            <a:r>
              <a:rPr lang="zh-CN" altLang="en-US" dirty="0"/>
              <a:t>，搜索</a:t>
            </a:r>
            <a:r>
              <a:rPr lang="en-US" altLang="zh-CN"/>
              <a:t>Scala IDE</a:t>
            </a:r>
            <a:r>
              <a:rPr lang="zh-CN" altLang="en-US"/>
              <a:t>在线</a:t>
            </a:r>
            <a:r>
              <a:rPr lang="zh-CN" altLang="en-US" dirty="0"/>
              <a:t>安装</a:t>
            </a:r>
            <a:r>
              <a:rPr lang="en-US" altLang="zh-CN" dirty="0"/>
              <a:t>Scala</a:t>
            </a:r>
            <a:r>
              <a:rPr lang="zh-CN" altLang="en-US" dirty="0"/>
              <a:t>插件</a:t>
            </a:r>
            <a:endParaRPr lang="en-US" altLang="zh-CN" dirty="0"/>
          </a:p>
          <a:p>
            <a:pPr lvl="1"/>
            <a:r>
              <a:rPr lang="zh-CN" altLang="en-US" dirty="0"/>
              <a:t>访问官网：</a:t>
            </a:r>
            <a:r>
              <a:rPr lang="en-US" altLang="zh-CN" dirty="0">
                <a:hlinkClick r:id="rId1"/>
              </a:rPr>
              <a:t>www.</a:t>
            </a:r>
            <a:r>
              <a:rPr lang="en-US" altLang="zh-CN" b="1" dirty="0">
                <a:hlinkClick r:id="rId1"/>
              </a:rPr>
              <a:t>scala</a:t>
            </a:r>
            <a:r>
              <a:rPr lang="en-US" altLang="zh-CN" dirty="0">
                <a:hlinkClick r:id="rId1"/>
              </a:rPr>
              <a:t>-lang.org/</a:t>
            </a:r>
            <a:r>
              <a:rPr lang="en-US" altLang="zh-CN" dirty="0"/>
              <a:t>,</a:t>
            </a:r>
            <a:r>
              <a:rPr lang="zh-CN" altLang="en-US" dirty="0"/>
              <a:t>下载</a:t>
            </a:r>
            <a:r>
              <a:rPr lang="en-US" altLang="zh-CN" dirty="0"/>
              <a:t>Scala for Eclipse IDE</a:t>
            </a:r>
            <a:endParaRPr lang="en-US" altLang="zh-CN" dirty="0"/>
          </a:p>
          <a:p>
            <a:pPr lvl="1"/>
            <a:endParaRPr lang="en-US" altLang="zh-CN" dirty="0"/>
          </a:p>
          <a:p>
            <a:pPr lvl="1"/>
            <a:endParaRPr lang="zh-CN" altLang="en-US" dirty="0"/>
          </a:p>
        </p:txBody>
      </p:sp>
      <p:sp>
        <p:nvSpPr>
          <p:cNvPr id="5" name="标题 4"/>
          <p:cNvSpPr/>
          <p:nvPr>
            <p:ph type="title"/>
          </p:nvPr>
        </p:nvSpPr>
        <p:spPr/>
        <p:txBody>
          <a:bodyPr/>
          <a:p>
            <a:r>
              <a:rPr lang="zh-CN" altLang="en-US"/>
              <a:t>8.1.3 使用Scala</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endParaRPr lang="zh-CN" altLang="en-US" dirty="0"/>
          </a:p>
        </p:txBody>
      </p:sp>
      <p:sp>
        <p:nvSpPr>
          <p:cNvPr id="3" name="内容占位符 2"/>
          <p:cNvSpPr>
            <a:spLocks noGrp="1"/>
          </p:cNvSpPr>
          <p:nvPr>
            <p:ph idx="1"/>
          </p:nvPr>
        </p:nvSpPr>
        <p:spPr/>
        <p:txBody>
          <a:bodyPr/>
          <a:lstStyle/>
          <a:p>
            <a:pPr marL="0" indent="0">
              <a:buNone/>
            </a:pPr>
            <a:r>
              <a:rPr lang="en-US" altLang="zh-CN" dirty="0"/>
              <a:t>8.1 Scala</a:t>
            </a:r>
            <a:r>
              <a:rPr lang="zh-CN" altLang="en-US" dirty="0"/>
              <a:t>语言概述</a:t>
            </a:r>
            <a:endParaRPr lang="en-US" altLang="zh-CN" dirty="0"/>
          </a:p>
          <a:p>
            <a:pPr marL="0" indent="0">
              <a:buNone/>
            </a:pPr>
            <a:r>
              <a:rPr lang="en-US" altLang="zh-CN" dirty="0">
                <a:solidFill>
                  <a:srgbClr val="FF0000"/>
                </a:solidFill>
              </a:rPr>
              <a:t>8.2 Scala</a:t>
            </a:r>
            <a:r>
              <a:rPr lang="zh-CN" altLang="en-US" dirty="0">
                <a:solidFill>
                  <a:srgbClr val="FF0000"/>
                </a:solidFill>
              </a:rPr>
              <a:t>语言基础</a:t>
            </a:r>
            <a:endParaRPr lang="zh-CN" altLang="en-US" dirty="0">
              <a:solidFill>
                <a:srgbClr val="FF0000"/>
              </a:solidFill>
            </a:endParaRPr>
          </a:p>
          <a:p>
            <a:pPr marL="0" indent="0">
              <a:buNone/>
            </a:pPr>
            <a:r>
              <a:rPr lang="en-US" altLang="zh-CN" dirty="0"/>
              <a:t>8.3 </a:t>
            </a:r>
            <a:r>
              <a:rPr lang="zh-CN" altLang="en-US" dirty="0"/>
              <a:t>面向对象编程</a:t>
            </a:r>
            <a:endParaRPr lang="en-US" altLang="zh-CN" dirty="0"/>
          </a:p>
          <a:p>
            <a:pPr marL="0" indent="0">
              <a:buNone/>
            </a:pPr>
            <a:r>
              <a:rPr lang="en-US" altLang="zh-CN" dirty="0">
                <a:sym typeface="+mn-ea"/>
              </a:rPr>
              <a:t>8.4 </a:t>
            </a:r>
            <a:r>
              <a:rPr lang="zh-CN" altLang="en-US" dirty="0"/>
              <a:t>函数式编程</a:t>
            </a:r>
            <a:endParaRPr lang="zh-CN" altLang="en-US" dirty="0"/>
          </a:p>
          <a:p>
            <a:pPr marL="0" indent="0">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 Scala</a:t>
            </a:r>
            <a:r>
              <a:rPr lang="zh-CN" altLang="en-US" dirty="0"/>
              <a:t>语言基础</a:t>
            </a:r>
            <a:endParaRPr lang="zh-CN" altLang="en-US" dirty="0"/>
          </a:p>
        </p:txBody>
      </p:sp>
      <p:sp>
        <p:nvSpPr>
          <p:cNvPr id="3" name="内容占位符 2"/>
          <p:cNvSpPr>
            <a:spLocks noGrp="1"/>
          </p:cNvSpPr>
          <p:nvPr>
            <p:ph idx="1"/>
          </p:nvPr>
        </p:nvSpPr>
        <p:spPr/>
        <p:txBody>
          <a:bodyPr/>
          <a:lstStyle/>
          <a:p>
            <a:pPr>
              <a:lnSpc>
                <a:spcPct val="150000"/>
              </a:lnSpc>
            </a:pPr>
            <a:r>
              <a:rPr lang="en-US" altLang="zh-CN" dirty="0" smtClean="0">
                <a:latin typeface="Arial" panose="020B0604020202020204" pitchFamily="34" charset="0"/>
                <a:sym typeface="+mn-ea"/>
              </a:rPr>
              <a:t>8.2.1 </a:t>
            </a:r>
            <a:r>
              <a:rPr lang="zh-CN" altLang="zh-CN" dirty="0" smtClean="0">
                <a:latin typeface="Calibri" panose="020F0502020204030204" charset="0"/>
                <a:sym typeface="+mn-ea"/>
              </a:rPr>
              <a:t>基本</a:t>
            </a:r>
            <a:r>
              <a:rPr lang="zh-CN" altLang="zh-CN" dirty="0">
                <a:latin typeface="Calibri" panose="020F0502020204030204" charset="0"/>
                <a:sym typeface="+mn-ea"/>
              </a:rPr>
              <a:t>数据类型</a:t>
            </a:r>
            <a:endParaRPr lang="zh-CN" altLang="zh-CN" dirty="0">
              <a:latin typeface="Calibri" panose="020F0502020204030204" charset="0"/>
              <a:sym typeface="+mn-ea"/>
            </a:endParaRPr>
          </a:p>
          <a:p>
            <a:pPr>
              <a:lnSpc>
                <a:spcPct val="150000"/>
              </a:lnSpc>
            </a:pPr>
            <a:r>
              <a:rPr lang="en-US" altLang="zh-CN" dirty="0">
                <a:latin typeface="Calibri" panose="020F0502020204030204" charset="0"/>
                <a:sym typeface="+mn-ea"/>
              </a:rPr>
              <a:t>8.2.2  </a:t>
            </a:r>
            <a:r>
              <a:rPr lang="zh-CN" altLang="zh-CN" dirty="0">
                <a:latin typeface="Calibri" panose="020F0502020204030204" charset="0"/>
                <a:sym typeface="+mn-ea"/>
              </a:rPr>
              <a:t>操作符</a:t>
            </a:r>
            <a:endParaRPr lang="zh-CN" altLang="zh-CN" dirty="0">
              <a:latin typeface="Calibri" panose="020F0502020204030204" charset="0"/>
              <a:sym typeface="+mn-ea"/>
            </a:endParaRPr>
          </a:p>
          <a:p>
            <a:pPr>
              <a:lnSpc>
                <a:spcPct val="150000"/>
              </a:lnSpc>
            </a:pPr>
            <a:r>
              <a:rPr lang="en-US" altLang="zh-CN" dirty="0">
                <a:latin typeface="Calibri" panose="020F0502020204030204" charset="0"/>
                <a:sym typeface="+mn-ea"/>
              </a:rPr>
              <a:t>8.2.3  </a:t>
            </a:r>
            <a:r>
              <a:rPr lang="zh-CN" altLang="en-US" dirty="0">
                <a:latin typeface="Calibri" panose="020F0502020204030204" charset="0"/>
                <a:ea typeface="宋体" panose="02010600030101010101" pitchFamily="2" charset="-122"/>
                <a:sym typeface="+mn-ea"/>
              </a:rPr>
              <a:t>变量</a:t>
            </a:r>
            <a:endParaRPr lang="en-US" altLang="zh-CN" dirty="0">
              <a:latin typeface="Calibri" panose="020F0502020204030204" charset="0"/>
              <a:sym typeface="+mn-ea"/>
            </a:endParaRPr>
          </a:p>
          <a:p>
            <a:pPr>
              <a:lnSpc>
                <a:spcPct val="150000"/>
              </a:lnSpc>
            </a:pPr>
            <a:r>
              <a:rPr lang="en-US" altLang="zh-CN" dirty="0" smtClean="0">
                <a:latin typeface="Arial" panose="020B0604020202020204" pitchFamily="34" charset="0"/>
                <a:sym typeface="+mn-ea"/>
              </a:rPr>
              <a:t>8.2.4 控制结构</a:t>
            </a:r>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图片 2"/>
          <p:cNvPicPr>
            <a:picLocks noChangeAspect="1"/>
          </p:cNvPicPr>
          <p:nvPr/>
        </p:nvPicPr>
        <p:blipFill>
          <a:blip r:embed="rId1"/>
          <a:stretch>
            <a:fillRect/>
          </a:stretch>
        </p:blipFill>
        <p:spPr>
          <a:xfrm>
            <a:off x="1371600" y="2621915"/>
            <a:ext cx="7010400" cy="3505200"/>
          </a:xfrm>
          <a:prstGeom prst="rect">
            <a:avLst/>
          </a:prstGeom>
          <a:noFill/>
          <a:ln w="9525">
            <a:noFill/>
          </a:ln>
        </p:spPr>
      </p:pic>
      <p:sp>
        <p:nvSpPr>
          <p:cNvPr id="24580" name="矩形 3"/>
          <p:cNvSpPr/>
          <p:nvPr/>
        </p:nvSpPr>
        <p:spPr>
          <a:xfrm>
            <a:off x="304800" y="1066165"/>
            <a:ext cx="8051800" cy="1630045"/>
          </a:xfrm>
          <a:prstGeom prst="rect">
            <a:avLst/>
          </a:prstGeom>
          <a:noFill/>
          <a:ln w="9525">
            <a:noFill/>
          </a:ln>
        </p:spPr>
        <p:txBody>
          <a:bodyPr wrap="square">
            <a:spAutoFit/>
          </a:bodyPr>
          <a:lstStyle/>
          <a:p>
            <a:pPr>
              <a:buFontTx/>
              <a:buChar char="•"/>
            </a:pPr>
            <a:r>
              <a:rPr lang="en-US" altLang="zh-CN" sz="2000" dirty="0">
                <a:latin typeface="Arial" panose="020B0604020202020204" pitchFamily="34" charset="0"/>
              </a:rPr>
              <a:t>Scala</a:t>
            </a:r>
            <a:r>
              <a:rPr lang="zh-CN" altLang="en-US" sz="2000" dirty="0">
                <a:latin typeface="Arial" panose="020B0604020202020204" pitchFamily="34" charset="0"/>
              </a:rPr>
              <a:t>的数据类型包括：</a:t>
            </a:r>
            <a:r>
              <a:rPr lang="en-US" altLang="zh-CN" sz="2000" dirty="0">
                <a:latin typeface="Arial" panose="020B0604020202020204" pitchFamily="34" charset="0"/>
              </a:rPr>
              <a:t>Byte</a:t>
            </a:r>
            <a:r>
              <a:rPr lang="zh-CN" altLang="en-US" sz="2000" dirty="0">
                <a:latin typeface="Arial" panose="020B0604020202020204" pitchFamily="34" charset="0"/>
              </a:rPr>
              <a:t>、</a:t>
            </a:r>
            <a:r>
              <a:rPr lang="en-US" altLang="zh-CN" sz="2000" dirty="0">
                <a:latin typeface="Arial" panose="020B0604020202020204" pitchFamily="34" charset="0"/>
              </a:rPr>
              <a:t>Char</a:t>
            </a:r>
            <a:r>
              <a:rPr lang="zh-CN" altLang="en-US" sz="2000" dirty="0">
                <a:latin typeface="Arial" panose="020B0604020202020204" pitchFamily="34" charset="0"/>
              </a:rPr>
              <a:t>、</a:t>
            </a:r>
            <a:r>
              <a:rPr lang="en-US" altLang="zh-CN" sz="2000" dirty="0">
                <a:latin typeface="Arial" panose="020B0604020202020204" pitchFamily="34" charset="0"/>
              </a:rPr>
              <a:t>Short</a:t>
            </a:r>
            <a:r>
              <a:rPr lang="zh-CN" altLang="en-US" sz="2000" dirty="0">
                <a:latin typeface="Arial" panose="020B0604020202020204" pitchFamily="34" charset="0"/>
              </a:rPr>
              <a:t>、</a:t>
            </a:r>
            <a:r>
              <a:rPr lang="en-US" altLang="zh-CN" sz="2000" dirty="0">
                <a:latin typeface="Arial" panose="020B0604020202020204" pitchFamily="34" charset="0"/>
              </a:rPr>
              <a:t>Int</a:t>
            </a:r>
            <a:r>
              <a:rPr lang="zh-CN" altLang="en-US" sz="2000" dirty="0">
                <a:latin typeface="Arial" panose="020B0604020202020204" pitchFamily="34" charset="0"/>
              </a:rPr>
              <a:t>、</a:t>
            </a:r>
            <a:r>
              <a:rPr lang="en-US" altLang="zh-CN" sz="2000" dirty="0">
                <a:latin typeface="Arial" panose="020B0604020202020204" pitchFamily="34" charset="0"/>
              </a:rPr>
              <a:t>Long</a:t>
            </a:r>
            <a:r>
              <a:rPr lang="zh-CN" altLang="en-US" sz="2000" dirty="0">
                <a:latin typeface="Arial" panose="020B0604020202020204" pitchFamily="34" charset="0"/>
              </a:rPr>
              <a:t>、</a:t>
            </a:r>
            <a:r>
              <a:rPr lang="en-US" altLang="zh-CN" sz="2000" dirty="0">
                <a:latin typeface="Arial" panose="020B0604020202020204" pitchFamily="34" charset="0"/>
              </a:rPr>
              <a:t>Float</a:t>
            </a:r>
            <a:r>
              <a:rPr lang="zh-CN" altLang="en-US" sz="2000" dirty="0">
                <a:latin typeface="Arial" panose="020B0604020202020204" pitchFamily="34" charset="0"/>
              </a:rPr>
              <a:t>、</a:t>
            </a:r>
            <a:r>
              <a:rPr lang="en-US" altLang="zh-CN" sz="2000" dirty="0">
                <a:latin typeface="Arial" panose="020B0604020202020204" pitchFamily="34" charset="0"/>
              </a:rPr>
              <a:t>Double</a:t>
            </a:r>
            <a:r>
              <a:rPr lang="zh-CN" altLang="en-US" sz="2000" dirty="0">
                <a:latin typeface="Arial" panose="020B0604020202020204" pitchFamily="34" charset="0"/>
              </a:rPr>
              <a:t>和</a:t>
            </a:r>
            <a:r>
              <a:rPr lang="en-US" altLang="zh-CN" sz="2000" dirty="0">
                <a:latin typeface="Arial" panose="020B0604020202020204" pitchFamily="34" charset="0"/>
              </a:rPr>
              <a:t>Boolean</a:t>
            </a:r>
            <a:r>
              <a:rPr lang="zh-CN" altLang="en-US" sz="2000" dirty="0">
                <a:latin typeface="Arial" panose="020B0604020202020204" pitchFamily="34" charset="0"/>
              </a:rPr>
              <a:t>（注意首字母大写）</a:t>
            </a:r>
            <a:endParaRPr lang="en-US" altLang="zh-CN" sz="2000" dirty="0">
              <a:latin typeface="Arial" panose="020B0604020202020204" pitchFamily="34" charset="0"/>
            </a:endParaRPr>
          </a:p>
          <a:p>
            <a:pPr>
              <a:buFontTx/>
              <a:buChar char="•"/>
            </a:pPr>
            <a:r>
              <a:rPr lang="zh-CN" altLang="en-US" sz="2000" dirty="0">
                <a:latin typeface="Arial" panose="020B0604020202020204" pitchFamily="34" charset="0"/>
              </a:rPr>
              <a:t>和</a:t>
            </a:r>
            <a:r>
              <a:rPr lang="en-US" altLang="zh-CN" sz="2000" dirty="0">
                <a:latin typeface="Arial" panose="020B0604020202020204" pitchFamily="34" charset="0"/>
              </a:rPr>
              <a:t>Java</a:t>
            </a:r>
            <a:r>
              <a:rPr lang="zh-CN" altLang="en-US" sz="2000" dirty="0">
                <a:latin typeface="Arial" panose="020B0604020202020204" pitchFamily="34" charset="0"/>
              </a:rPr>
              <a:t>不同的是</a:t>
            </a:r>
            <a:r>
              <a:rPr lang="zh-CN" altLang="en-US" sz="2000" dirty="0">
                <a:solidFill>
                  <a:srgbClr val="FF0000"/>
                </a:solidFill>
                <a:latin typeface="Arial" panose="020B0604020202020204" pitchFamily="34" charset="0"/>
              </a:rPr>
              <a:t>，在</a:t>
            </a:r>
            <a:r>
              <a:rPr lang="en-US" altLang="zh-CN" sz="2000" dirty="0">
                <a:solidFill>
                  <a:srgbClr val="FF0000"/>
                </a:solidFill>
                <a:latin typeface="Arial" panose="020B0604020202020204" pitchFamily="34" charset="0"/>
              </a:rPr>
              <a:t>Scala</a:t>
            </a:r>
            <a:r>
              <a:rPr lang="zh-CN" altLang="en-US" sz="2000" dirty="0">
                <a:solidFill>
                  <a:srgbClr val="FF0000"/>
                </a:solidFill>
                <a:latin typeface="Arial" panose="020B0604020202020204" pitchFamily="34" charset="0"/>
              </a:rPr>
              <a:t>中，这些类型都是“类”</a:t>
            </a:r>
            <a:r>
              <a:rPr lang="zh-CN" altLang="en-US" sz="2000" dirty="0">
                <a:latin typeface="Arial" panose="020B0604020202020204" pitchFamily="34" charset="0"/>
              </a:rPr>
              <a:t>，并且都是包</a:t>
            </a:r>
            <a:r>
              <a:rPr lang="en-US" altLang="zh-CN" sz="2000" dirty="0">
                <a:latin typeface="Arial" panose="020B0604020202020204" pitchFamily="34" charset="0"/>
              </a:rPr>
              <a:t>scala</a:t>
            </a:r>
            <a:r>
              <a:rPr lang="zh-CN" altLang="en-US" sz="2000" dirty="0">
                <a:latin typeface="Arial" panose="020B0604020202020204" pitchFamily="34" charset="0"/>
              </a:rPr>
              <a:t>的成员，比如，</a:t>
            </a:r>
            <a:r>
              <a:rPr lang="en-US" altLang="zh-CN" sz="2000" dirty="0">
                <a:latin typeface="Arial" panose="020B0604020202020204" pitchFamily="34" charset="0"/>
              </a:rPr>
              <a:t>Int</a:t>
            </a:r>
            <a:r>
              <a:rPr lang="zh-CN" altLang="en-US" sz="2000" dirty="0">
                <a:latin typeface="Arial" panose="020B0604020202020204" pitchFamily="34" charset="0"/>
              </a:rPr>
              <a:t>的全名是</a:t>
            </a:r>
            <a:r>
              <a:rPr lang="en-US" altLang="zh-CN" sz="2000" dirty="0">
                <a:latin typeface="Arial" panose="020B0604020202020204" pitchFamily="34" charset="0"/>
              </a:rPr>
              <a:t>scala.Int</a:t>
            </a:r>
            <a:r>
              <a:rPr lang="zh-CN" altLang="en-US" sz="2000" dirty="0">
                <a:latin typeface="Arial" panose="020B0604020202020204" pitchFamily="34" charset="0"/>
              </a:rPr>
              <a:t>。对于字符串，</a:t>
            </a:r>
            <a:r>
              <a:rPr lang="en-US" altLang="zh-CN" sz="2000" dirty="0">
                <a:latin typeface="Arial" panose="020B0604020202020204" pitchFamily="34" charset="0"/>
              </a:rPr>
              <a:t>Scala</a:t>
            </a:r>
            <a:r>
              <a:rPr lang="zh-CN" altLang="en-US" sz="2000" dirty="0">
                <a:latin typeface="Arial" panose="020B0604020202020204" pitchFamily="34" charset="0"/>
              </a:rPr>
              <a:t>用</a:t>
            </a:r>
            <a:r>
              <a:rPr lang="en-US" altLang="zh-CN" sz="2000" dirty="0">
                <a:latin typeface="Arial" panose="020B0604020202020204" pitchFamily="34" charset="0"/>
              </a:rPr>
              <a:t>java.lang.String</a:t>
            </a:r>
            <a:r>
              <a:rPr lang="zh-CN" altLang="en-US" sz="2000" dirty="0">
                <a:latin typeface="Arial" panose="020B0604020202020204" pitchFamily="34" charset="0"/>
              </a:rPr>
              <a:t>类来表示字符串</a:t>
            </a:r>
            <a:endParaRPr lang="zh-CN" altLang="en-US" sz="2000" dirty="0">
              <a:latin typeface="Arial" panose="020B0604020202020204" pitchFamily="34" charset="0"/>
            </a:endParaRPr>
          </a:p>
        </p:txBody>
      </p:sp>
      <p:sp>
        <p:nvSpPr>
          <p:cNvPr id="3" name="标题 2"/>
          <p:cNvSpPr/>
          <p:nvPr>
            <p:ph type="title"/>
          </p:nvPr>
        </p:nvSpPr>
        <p:spPr/>
        <p:txBody>
          <a:bodyPr/>
          <a:p>
            <a:r>
              <a:rPr lang="en-US" altLang="zh-CN"/>
              <a:t>8.2.1 </a:t>
            </a:r>
            <a:r>
              <a:rPr lang="zh-CN" altLang="en-US">
                <a:ea typeface="宋体" panose="02010600030101010101" pitchFamily="2" charset="-122"/>
              </a:rPr>
              <a:t>基本数据类型</a:t>
            </a:r>
            <a:endParaRPr lang="zh-CN" altLang="en-US">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矩形 2"/>
          <p:cNvSpPr/>
          <p:nvPr/>
        </p:nvSpPr>
        <p:spPr>
          <a:xfrm>
            <a:off x="537845" y="1116013"/>
            <a:ext cx="7772400" cy="3324225"/>
          </a:xfrm>
          <a:prstGeom prst="rect">
            <a:avLst/>
          </a:prstGeom>
          <a:noFill/>
          <a:ln w="9525">
            <a:noFill/>
          </a:ln>
        </p:spPr>
        <p:txBody>
          <a:bodyPr>
            <a:spAutoFit/>
          </a:bodyPr>
          <a:lstStyle/>
          <a:p>
            <a:pPr marL="285750" indent="-285750">
              <a:lnSpc>
                <a:spcPct val="150000"/>
              </a:lnSpc>
              <a:buFontTx/>
              <a:buChar char="•"/>
            </a:pPr>
            <a:r>
              <a:rPr lang="zh-CN" altLang="zh-CN" sz="2000" dirty="0">
                <a:solidFill>
                  <a:srgbClr val="FF0000"/>
                </a:solidFill>
                <a:latin typeface="Arial" panose="020B0604020202020204" pitchFamily="34" charset="0"/>
              </a:rPr>
              <a:t>算术运算符</a:t>
            </a:r>
            <a:r>
              <a:rPr lang="zh-CN" altLang="zh-CN" sz="2000" dirty="0">
                <a:latin typeface="Arial" panose="020B0604020202020204" pitchFamily="34" charset="0"/>
              </a:rPr>
              <a:t>：加</a:t>
            </a:r>
            <a:r>
              <a:rPr lang="en-US" altLang="zh-CN" sz="2000" dirty="0">
                <a:latin typeface="Arial" panose="020B0604020202020204" pitchFamily="34" charset="0"/>
              </a:rPr>
              <a:t>(+)</a:t>
            </a:r>
            <a:r>
              <a:rPr lang="zh-CN" altLang="zh-CN" sz="2000" dirty="0">
                <a:latin typeface="Arial" panose="020B0604020202020204" pitchFamily="34" charset="0"/>
              </a:rPr>
              <a:t>、减</a:t>
            </a:r>
            <a:r>
              <a:rPr lang="en-US" altLang="zh-CN" sz="2000" dirty="0">
                <a:latin typeface="Arial" panose="020B0604020202020204" pitchFamily="34" charset="0"/>
              </a:rPr>
              <a:t>(-) </a:t>
            </a:r>
            <a:r>
              <a:rPr lang="zh-CN" altLang="zh-CN" sz="2000" dirty="0">
                <a:latin typeface="Arial" panose="020B0604020202020204" pitchFamily="34" charset="0"/>
              </a:rPr>
              <a:t>、乘</a:t>
            </a:r>
            <a:r>
              <a:rPr lang="en-US" altLang="zh-CN" sz="2000" dirty="0">
                <a:latin typeface="Arial" panose="020B0604020202020204" pitchFamily="34" charset="0"/>
              </a:rPr>
              <a:t>(*) </a:t>
            </a:r>
            <a:r>
              <a:rPr lang="zh-CN" altLang="zh-CN" sz="2000" dirty="0">
                <a:latin typeface="Arial" panose="020B0604020202020204" pitchFamily="34" charset="0"/>
              </a:rPr>
              <a:t>、除</a:t>
            </a:r>
            <a:r>
              <a:rPr lang="en-US" altLang="zh-CN" sz="2000" dirty="0">
                <a:latin typeface="Arial" panose="020B0604020202020204" pitchFamily="34" charset="0"/>
              </a:rPr>
              <a:t>(/) </a:t>
            </a:r>
            <a:r>
              <a:rPr lang="zh-CN" altLang="zh-CN" sz="2000" dirty="0">
                <a:latin typeface="Arial" panose="020B0604020202020204" pitchFamily="34" charset="0"/>
              </a:rPr>
              <a:t>、余数</a:t>
            </a:r>
            <a:r>
              <a:rPr lang="en-US" altLang="zh-CN" sz="2000" dirty="0">
                <a:latin typeface="Arial" panose="020B0604020202020204" pitchFamily="34" charset="0"/>
              </a:rPr>
              <a:t>(%)</a:t>
            </a:r>
            <a:r>
              <a:rPr lang="zh-CN" altLang="zh-CN" sz="2000" dirty="0">
                <a:latin typeface="Arial" panose="020B0604020202020204" pitchFamily="34" charset="0"/>
              </a:rPr>
              <a:t>；</a:t>
            </a:r>
            <a:endParaRPr lang="zh-CN" altLang="zh-CN" sz="2000" dirty="0">
              <a:latin typeface="Arial" panose="020B0604020202020204" pitchFamily="34" charset="0"/>
            </a:endParaRPr>
          </a:p>
          <a:p>
            <a:pPr marL="285750" indent="-285750">
              <a:lnSpc>
                <a:spcPct val="150000"/>
              </a:lnSpc>
              <a:buFontTx/>
              <a:buChar char="•"/>
            </a:pPr>
            <a:r>
              <a:rPr lang="zh-CN" altLang="zh-CN" sz="2000" dirty="0">
                <a:solidFill>
                  <a:srgbClr val="FF0000"/>
                </a:solidFill>
                <a:latin typeface="Arial" panose="020B0604020202020204" pitchFamily="34" charset="0"/>
              </a:rPr>
              <a:t>关系运算符</a:t>
            </a:r>
            <a:r>
              <a:rPr lang="zh-CN" altLang="zh-CN" sz="2000" dirty="0">
                <a:latin typeface="Arial" panose="020B0604020202020204" pitchFamily="34" charset="0"/>
              </a:rPr>
              <a:t>：大于</a:t>
            </a:r>
            <a:r>
              <a:rPr lang="en-US" altLang="zh-CN" sz="2000" dirty="0">
                <a:latin typeface="Arial" panose="020B0604020202020204" pitchFamily="34" charset="0"/>
              </a:rPr>
              <a:t>(&gt;)</a:t>
            </a:r>
            <a:r>
              <a:rPr lang="zh-CN" altLang="zh-CN" sz="2000" dirty="0">
                <a:latin typeface="Arial" panose="020B0604020202020204" pitchFamily="34" charset="0"/>
              </a:rPr>
              <a:t>、小于</a:t>
            </a:r>
            <a:r>
              <a:rPr lang="en-US" altLang="zh-CN" sz="2000" dirty="0">
                <a:latin typeface="Arial" panose="020B0604020202020204" pitchFamily="34" charset="0"/>
              </a:rPr>
              <a:t>(&lt;)</a:t>
            </a:r>
            <a:r>
              <a:rPr lang="zh-CN" altLang="zh-CN" sz="2000" dirty="0">
                <a:latin typeface="Arial" panose="020B0604020202020204" pitchFamily="34" charset="0"/>
              </a:rPr>
              <a:t>、等于</a:t>
            </a:r>
            <a:r>
              <a:rPr lang="en-US" altLang="zh-CN" sz="2000" dirty="0">
                <a:latin typeface="Arial" panose="020B0604020202020204" pitchFamily="34" charset="0"/>
              </a:rPr>
              <a:t>(==)</a:t>
            </a:r>
            <a:r>
              <a:rPr lang="zh-CN" altLang="zh-CN" sz="2000" dirty="0">
                <a:latin typeface="Arial" panose="020B0604020202020204" pitchFamily="34" charset="0"/>
              </a:rPr>
              <a:t>、不等于</a:t>
            </a:r>
            <a:r>
              <a:rPr lang="en-US" altLang="zh-CN" sz="2000" dirty="0">
                <a:latin typeface="Arial" panose="020B0604020202020204" pitchFamily="34" charset="0"/>
              </a:rPr>
              <a:t>(!=)</a:t>
            </a:r>
            <a:r>
              <a:rPr lang="zh-CN" altLang="zh-CN" sz="2000" dirty="0">
                <a:latin typeface="Arial" panose="020B0604020202020204" pitchFamily="34" charset="0"/>
              </a:rPr>
              <a:t>、大于等于</a:t>
            </a:r>
            <a:r>
              <a:rPr lang="en-US" altLang="zh-CN" sz="2000" dirty="0">
                <a:latin typeface="Arial" panose="020B0604020202020204" pitchFamily="34" charset="0"/>
              </a:rPr>
              <a:t>(&gt;=)</a:t>
            </a:r>
            <a:r>
              <a:rPr lang="zh-CN" altLang="zh-CN" sz="2000" dirty="0">
                <a:latin typeface="Arial" panose="020B0604020202020204" pitchFamily="34" charset="0"/>
              </a:rPr>
              <a:t>、小于等于</a:t>
            </a:r>
            <a:r>
              <a:rPr lang="en-US" altLang="zh-CN" sz="2000" dirty="0">
                <a:latin typeface="Arial" panose="020B0604020202020204" pitchFamily="34" charset="0"/>
              </a:rPr>
              <a:t>(&lt;=)</a:t>
            </a:r>
            <a:endParaRPr lang="zh-CN" altLang="zh-CN" sz="2000" dirty="0">
              <a:latin typeface="Arial" panose="020B0604020202020204" pitchFamily="34" charset="0"/>
            </a:endParaRPr>
          </a:p>
          <a:p>
            <a:pPr marL="285750" indent="-285750">
              <a:lnSpc>
                <a:spcPct val="150000"/>
              </a:lnSpc>
              <a:buFontTx/>
              <a:buChar char="•"/>
            </a:pPr>
            <a:r>
              <a:rPr lang="zh-CN" altLang="zh-CN" sz="2000" dirty="0">
                <a:solidFill>
                  <a:srgbClr val="FF0000"/>
                </a:solidFill>
                <a:latin typeface="Arial" panose="020B0604020202020204" pitchFamily="34" charset="0"/>
              </a:rPr>
              <a:t>逻辑运算符</a:t>
            </a:r>
            <a:r>
              <a:rPr lang="zh-CN" altLang="zh-CN" sz="2000" dirty="0">
                <a:latin typeface="Arial" panose="020B0604020202020204" pitchFamily="34" charset="0"/>
              </a:rPr>
              <a:t>：逻辑与</a:t>
            </a:r>
            <a:r>
              <a:rPr lang="en-US" altLang="zh-CN" sz="2000" dirty="0">
                <a:latin typeface="Arial" panose="020B0604020202020204" pitchFamily="34" charset="0"/>
              </a:rPr>
              <a:t>(&amp;&amp;)</a:t>
            </a:r>
            <a:r>
              <a:rPr lang="zh-CN" altLang="zh-CN" sz="2000" dirty="0">
                <a:latin typeface="Arial" panose="020B0604020202020204" pitchFamily="34" charset="0"/>
              </a:rPr>
              <a:t>、逻辑或</a:t>
            </a:r>
            <a:r>
              <a:rPr lang="en-US" altLang="zh-CN" sz="2000" dirty="0">
                <a:latin typeface="Arial" panose="020B0604020202020204" pitchFamily="34" charset="0"/>
              </a:rPr>
              <a:t>(||)</a:t>
            </a:r>
            <a:r>
              <a:rPr lang="zh-CN" altLang="zh-CN" sz="2000" dirty="0">
                <a:latin typeface="Arial" panose="020B0604020202020204" pitchFamily="34" charset="0"/>
              </a:rPr>
              <a:t>、逻辑非</a:t>
            </a:r>
            <a:r>
              <a:rPr lang="en-US" altLang="zh-CN" sz="2000" dirty="0">
                <a:latin typeface="Arial" panose="020B0604020202020204" pitchFamily="34" charset="0"/>
              </a:rPr>
              <a:t>(!)</a:t>
            </a:r>
            <a:r>
              <a:rPr lang="zh-CN" altLang="zh-CN" sz="2000" dirty="0">
                <a:latin typeface="Arial" panose="020B0604020202020204" pitchFamily="34" charset="0"/>
              </a:rPr>
              <a:t>；</a:t>
            </a:r>
            <a:endParaRPr lang="zh-CN" altLang="zh-CN" sz="2000" dirty="0">
              <a:latin typeface="Arial" panose="020B0604020202020204" pitchFamily="34" charset="0"/>
            </a:endParaRPr>
          </a:p>
          <a:p>
            <a:pPr marL="285750" indent="-285750">
              <a:lnSpc>
                <a:spcPct val="150000"/>
              </a:lnSpc>
              <a:buFontTx/>
              <a:buChar char="•"/>
            </a:pPr>
            <a:r>
              <a:rPr lang="zh-CN" altLang="zh-CN" sz="2000" dirty="0">
                <a:solidFill>
                  <a:srgbClr val="FF0000"/>
                </a:solidFill>
                <a:latin typeface="Arial" panose="020B0604020202020204" pitchFamily="34" charset="0"/>
              </a:rPr>
              <a:t>位运算符</a:t>
            </a:r>
            <a:r>
              <a:rPr lang="zh-CN" altLang="zh-CN" sz="2000" dirty="0">
                <a:latin typeface="Arial" panose="020B0604020202020204" pitchFamily="34" charset="0"/>
              </a:rPr>
              <a:t>：按位与</a:t>
            </a:r>
            <a:r>
              <a:rPr lang="en-US" altLang="zh-CN" sz="2000" dirty="0">
                <a:latin typeface="Arial" panose="020B0604020202020204" pitchFamily="34" charset="0"/>
              </a:rPr>
              <a:t>(&amp;)</a:t>
            </a:r>
            <a:r>
              <a:rPr lang="zh-CN" altLang="zh-CN" sz="2000" dirty="0">
                <a:latin typeface="Arial" panose="020B0604020202020204" pitchFamily="34" charset="0"/>
              </a:rPr>
              <a:t>、按位或</a:t>
            </a:r>
            <a:r>
              <a:rPr lang="en-US" altLang="zh-CN" sz="2000" dirty="0">
                <a:latin typeface="Arial" panose="020B0604020202020204" pitchFamily="34" charset="0"/>
              </a:rPr>
              <a:t>(|)</a:t>
            </a:r>
            <a:r>
              <a:rPr lang="zh-CN" altLang="zh-CN" sz="2000" dirty="0">
                <a:latin typeface="Arial" panose="020B0604020202020204" pitchFamily="34" charset="0"/>
              </a:rPr>
              <a:t>、按位异或</a:t>
            </a:r>
            <a:r>
              <a:rPr lang="en-US" altLang="zh-CN" sz="2000" dirty="0">
                <a:latin typeface="Arial" panose="020B0604020202020204" pitchFamily="34" charset="0"/>
              </a:rPr>
              <a:t>(^)</a:t>
            </a:r>
            <a:r>
              <a:rPr lang="zh-CN" altLang="zh-CN" sz="2000" dirty="0">
                <a:latin typeface="Arial" panose="020B0604020202020204" pitchFamily="34" charset="0"/>
              </a:rPr>
              <a:t>、按位取反</a:t>
            </a:r>
            <a:r>
              <a:rPr lang="en-US" altLang="zh-CN" sz="2000" dirty="0">
                <a:latin typeface="Arial" panose="020B0604020202020204" pitchFamily="34" charset="0"/>
              </a:rPr>
              <a:t>(~)</a:t>
            </a:r>
            <a:r>
              <a:rPr lang="zh-CN" altLang="en-US" sz="2000" dirty="0">
                <a:latin typeface="Arial" panose="020B0604020202020204" pitchFamily="34" charset="0"/>
              </a:rPr>
              <a:t>等</a:t>
            </a:r>
            <a:endParaRPr lang="zh-CN" altLang="zh-CN" sz="2000" dirty="0">
              <a:latin typeface="Arial" panose="020B0604020202020204" pitchFamily="34" charset="0"/>
            </a:endParaRPr>
          </a:p>
          <a:p>
            <a:pPr marL="285750" indent="-285750">
              <a:lnSpc>
                <a:spcPct val="150000"/>
              </a:lnSpc>
              <a:buFontTx/>
              <a:buChar char="•"/>
            </a:pPr>
            <a:r>
              <a:rPr lang="zh-CN" altLang="zh-CN" sz="2000" dirty="0">
                <a:solidFill>
                  <a:srgbClr val="FF0000"/>
                </a:solidFill>
                <a:latin typeface="Arial" panose="020B0604020202020204" pitchFamily="34" charset="0"/>
              </a:rPr>
              <a:t>赋值运算符</a:t>
            </a:r>
            <a:r>
              <a:rPr lang="zh-CN" altLang="zh-CN" sz="2000" dirty="0">
                <a:latin typeface="Arial" panose="020B0604020202020204" pitchFamily="34" charset="0"/>
              </a:rPr>
              <a:t>：</a:t>
            </a:r>
            <a:r>
              <a:rPr lang="en-US" altLang="zh-CN" sz="2000" dirty="0">
                <a:latin typeface="Arial" panose="020B0604020202020204" pitchFamily="34" charset="0"/>
              </a:rPr>
              <a:t>=</a:t>
            </a:r>
            <a:r>
              <a:rPr lang="zh-CN" altLang="zh-CN" sz="2000" dirty="0">
                <a:latin typeface="Arial" panose="020B0604020202020204" pitchFamily="34" charset="0"/>
              </a:rPr>
              <a:t>及其与其它运算符结合的扩展赋值运算符，例如</a:t>
            </a:r>
            <a:r>
              <a:rPr lang="en-US" altLang="zh-CN" sz="2000" dirty="0">
                <a:latin typeface="Arial" panose="020B0604020202020204" pitchFamily="34" charset="0"/>
              </a:rPr>
              <a:t>+=</a:t>
            </a:r>
            <a:r>
              <a:rPr lang="zh-CN" altLang="zh-CN" sz="2000" dirty="0">
                <a:latin typeface="Arial" panose="020B0604020202020204" pitchFamily="34" charset="0"/>
              </a:rPr>
              <a:t>、</a:t>
            </a:r>
            <a:r>
              <a:rPr lang="en-US" altLang="zh-CN" sz="2000" dirty="0">
                <a:latin typeface="Arial" panose="020B0604020202020204" pitchFamily="34" charset="0"/>
              </a:rPr>
              <a:t>%=</a:t>
            </a:r>
            <a:endParaRPr lang="zh-CN" altLang="en-US" sz="2000" dirty="0">
              <a:latin typeface="Arial" panose="020B0604020202020204" pitchFamily="34" charset="0"/>
            </a:endParaRPr>
          </a:p>
        </p:txBody>
      </p:sp>
      <p:sp>
        <p:nvSpPr>
          <p:cNvPr id="26629" name="矩形 6"/>
          <p:cNvSpPr/>
          <p:nvPr/>
        </p:nvSpPr>
        <p:spPr>
          <a:xfrm>
            <a:off x="611188" y="4725035"/>
            <a:ext cx="7529512" cy="677108"/>
          </a:xfrm>
          <a:prstGeom prst="rect">
            <a:avLst/>
          </a:prstGeom>
          <a:noFill/>
          <a:ln w="9525">
            <a:noFill/>
          </a:ln>
        </p:spPr>
        <p:txBody>
          <a:bodyPr wrap="square">
            <a:spAutoFit/>
          </a:bodyPr>
          <a:lstStyle/>
          <a:p>
            <a:r>
              <a:rPr lang="zh-CN" altLang="en-US" b="1" dirty="0">
                <a:latin typeface="Arial" panose="020B0604020202020204" pitchFamily="34" charset="0"/>
              </a:rPr>
              <a:t>操作符优先级：</a:t>
            </a:r>
            <a:r>
              <a:rPr lang="zh-CN" altLang="zh-CN" b="1" dirty="0">
                <a:latin typeface="Arial" panose="020B0604020202020204" pitchFamily="34" charset="0"/>
              </a:rPr>
              <a:t>算术运算符 </a:t>
            </a:r>
            <a:r>
              <a:rPr lang="en-US" altLang="zh-CN" b="1" dirty="0">
                <a:latin typeface="Arial" panose="020B0604020202020204" pitchFamily="34" charset="0"/>
              </a:rPr>
              <a:t>&gt; </a:t>
            </a:r>
            <a:r>
              <a:rPr lang="zh-CN" altLang="zh-CN" b="1" dirty="0">
                <a:latin typeface="Arial" panose="020B0604020202020204" pitchFamily="34" charset="0"/>
              </a:rPr>
              <a:t>关系运算符 </a:t>
            </a:r>
            <a:r>
              <a:rPr lang="en-US" altLang="zh-CN" b="1" dirty="0">
                <a:latin typeface="Arial" panose="020B0604020202020204" pitchFamily="34" charset="0"/>
              </a:rPr>
              <a:t>&gt; </a:t>
            </a:r>
            <a:r>
              <a:rPr lang="zh-CN" altLang="zh-CN" b="1" dirty="0">
                <a:latin typeface="Arial" panose="020B0604020202020204" pitchFamily="34" charset="0"/>
              </a:rPr>
              <a:t>逻辑运算符 </a:t>
            </a:r>
            <a:r>
              <a:rPr lang="en-US" altLang="zh-CN" b="1" dirty="0">
                <a:latin typeface="Arial" panose="020B0604020202020204" pitchFamily="34" charset="0"/>
              </a:rPr>
              <a:t>&gt; </a:t>
            </a:r>
            <a:r>
              <a:rPr lang="zh-CN" altLang="zh-CN" b="1" dirty="0">
                <a:latin typeface="Arial" panose="020B0604020202020204" pitchFamily="34" charset="0"/>
              </a:rPr>
              <a:t>赋值运算符</a:t>
            </a:r>
            <a:endParaRPr lang="zh-CN" altLang="zh-CN" b="1" dirty="0">
              <a:latin typeface="Arial" panose="020B0604020202020204" pitchFamily="34" charset="0"/>
            </a:endParaRPr>
          </a:p>
          <a:p>
            <a:endParaRPr lang="zh-CN" altLang="en-US" sz="2000" dirty="0">
              <a:latin typeface="Arial" panose="020B0604020202020204" pitchFamily="34" charset="0"/>
            </a:endParaRPr>
          </a:p>
        </p:txBody>
      </p:sp>
      <p:sp>
        <p:nvSpPr>
          <p:cNvPr id="2" name="标题 1"/>
          <p:cNvSpPr/>
          <p:nvPr>
            <p:ph type="title"/>
          </p:nvPr>
        </p:nvSpPr>
        <p:spPr/>
        <p:txBody>
          <a:bodyPr/>
          <a:p>
            <a:r>
              <a:rPr lang="en-US" altLang="zh-CN"/>
              <a:t>8.2.2 </a:t>
            </a:r>
            <a:r>
              <a:rPr lang="zh-CN" altLang="en-US">
                <a:ea typeface="宋体" panose="02010600030101010101" pitchFamily="2" charset="-122"/>
              </a:rPr>
              <a:t>操作符</a:t>
            </a:r>
            <a:endParaRPr lang="zh-CN" altLang="en-US">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矩形 2"/>
          <p:cNvSpPr/>
          <p:nvPr/>
        </p:nvSpPr>
        <p:spPr>
          <a:xfrm>
            <a:off x="618490" y="1245870"/>
            <a:ext cx="7694930" cy="829945"/>
          </a:xfrm>
          <a:prstGeom prst="rect">
            <a:avLst/>
          </a:prstGeom>
          <a:noFill/>
          <a:ln w="9525">
            <a:noFill/>
          </a:ln>
        </p:spPr>
        <p:txBody>
          <a:bodyPr wrap="square">
            <a:spAutoFit/>
          </a:bodyPr>
          <a:lstStyle/>
          <a:p>
            <a:r>
              <a:rPr lang="zh-CN" altLang="en-US" sz="2400" dirty="0">
                <a:latin typeface="Arial" panose="020B0604020202020204" pitchFamily="34" charset="0"/>
              </a:rPr>
              <a:t>在</a:t>
            </a:r>
            <a:r>
              <a:rPr lang="en-US" altLang="zh-CN" sz="2400" dirty="0">
                <a:latin typeface="Arial" panose="020B0604020202020204" pitchFamily="34" charset="0"/>
              </a:rPr>
              <a:t>Scala</a:t>
            </a:r>
            <a:r>
              <a:rPr lang="zh-CN" altLang="en-US" sz="2400" dirty="0">
                <a:latin typeface="Arial" panose="020B0604020202020204" pitchFamily="34" charset="0"/>
              </a:rPr>
              <a:t>中，</a:t>
            </a:r>
            <a:r>
              <a:rPr lang="zh-CN" altLang="en-US" sz="2400" dirty="0">
                <a:solidFill>
                  <a:srgbClr val="FF0000"/>
                </a:solidFill>
                <a:latin typeface="Arial" panose="020B0604020202020204" pitchFamily="34" charset="0"/>
              </a:rPr>
              <a:t>操作符就是方法</a:t>
            </a:r>
            <a:endParaRPr lang="en-US" altLang="zh-CN" sz="2400" dirty="0">
              <a:solidFill>
                <a:srgbClr val="FF0000"/>
              </a:solidFill>
              <a:latin typeface="Arial" panose="020B0604020202020204" pitchFamily="34" charset="0"/>
            </a:endParaRPr>
          </a:p>
          <a:p>
            <a:r>
              <a:rPr lang="zh-CN" altLang="en-US" sz="2400" dirty="0">
                <a:latin typeface="Arial" panose="020B0604020202020204" pitchFamily="34" charset="0"/>
              </a:rPr>
              <a:t>例如，</a:t>
            </a:r>
            <a:r>
              <a:rPr lang="en-US" altLang="zh-CN" sz="2400" dirty="0">
                <a:latin typeface="Arial" panose="020B0604020202020204" pitchFamily="34" charset="0"/>
              </a:rPr>
              <a:t>5 + 3</a:t>
            </a:r>
            <a:r>
              <a:rPr lang="zh-CN" altLang="en-US" sz="2400" dirty="0">
                <a:latin typeface="Arial" panose="020B0604020202020204" pitchFamily="34" charset="0"/>
              </a:rPr>
              <a:t>和</a:t>
            </a:r>
            <a:r>
              <a:rPr lang="en-US" altLang="zh-CN" sz="2400" dirty="0">
                <a:latin typeface="Arial" panose="020B0604020202020204" pitchFamily="34" charset="0"/>
              </a:rPr>
              <a:t>(5).+(3)</a:t>
            </a:r>
            <a:r>
              <a:rPr lang="zh-CN" altLang="en-US" sz="2400" dirty="0">
                <a:latin typeface="Arial" panose="020B0604020202020204" pitchFamily="34" charset="0"/>
              </a:rPr>
              <a:t>是等价的</a:t>
            </a:r>
            <a:endParaRPr lang="zh-CN" altLang="en-US" sz="2400" dirty="0">
              <a:latin typeface="Arial" panose="020B0604020202020204" pitchFamily="34" charset="0"/>
            </a:endParaRPr>
          </a:p>
        </p:txBody>
      </p:sp>
      <p:pic>
        <p:nvPicPr>
          <p:cNvPr id="27652" name="Picture 1" descr="C:\Users\Lenovo\AppData\Roaming\Tencent\Users\70004972\QQ\WinTemp\RichOle\1CCOF[{_1}$19DPCY2I7JBY.png"/>
          <p:cNvPicPr>
            <a:picLocks noChangeAspect="1"/>
          </p:cNvPicPr>
          <p:nvPr/>
        </p:nvPicPr>
        <p:blipFill>
          <a:blip r:embed="rId1"/>
          <a:stretch>
            <a:fillRect/>
          </a:stretch>
        </p:blipFill>
        <p:spPr>
          <a:xfrm>
            <a:off x="818515" y="2273935"/>
            <a:ext cx="1095375" cy="428625"/>
          </a:xfrm>
          <a:prstGeom prst="rect">
            <a:avLst/>
          </a:prstGeom>
          <a:noFill/>
          <a:ln w="9525">
            <a:noFill/>
          </a:ln>
        </p:spPr>
      </p:pic>
      <p:pic>
        <p:nvPicPr>
          <p:cNvPr id="27653" name="Picture 2" descr="C:\Users\Lenovo\AppData\Roaming\Tencent\Users\70004972\QQ\WinTemp\RichOle\VS9A42H]V@I}C)AWR}]CX2L.png"/>
          <p:cNvPicPr>
            <a:picLocks noChangeAspect="1"/>
          </p:cNvPicPr>
          <p:nvPr/>
        </p:nvPicPr>
        <p:blipFill>
          <a:blip r:embed="rId2"/>
          <a:stretch>
            <a:fillRect/>
          </a:stretch>
        </p:blipFill>
        <p:spPr>
          <a:xfrm>
            <a:off x="3304540" y="2264410"/>
            <a:ext cx="1352550" cy="438150"/>
          </a:xfrm>
          <a:prstGeom prst="rect">
            <a:avLst/>
          </a:prstGeom>
          <a:noFill/>
          <a:ln w="9525">
            <a:noFill/>
          </a:ln>
        </p:spPr>
      </p:pic>
      <p:sp>
        <p:nvSpPr>
          <p:cNvPr id="27654" name="TextBox 5"/>
          <p:cNvSpPr txBox="1"/>
          <p:nvPr/>
        </p:nvSpPr>
        <p:spPr>
          <a:xfrm>
            <a:off x="2066290" y="2258060"/>
            <a:ext cx="1108075" cy="460375"/>
          </a:xfrm>
          <a:prstGeom prst="rect">
            <a:avLst/>
          </a:prstGeom>
          <a:noFill/>
          <a:ln w="9525">
            <a:noFill/>
          </a:ln>
        </p:spPr>
        <p:txBody>
          <a:bodyPr wrap="none">
            <a:spAutoFit/>
          </a:bodyPr>
          <a:lstStyle/>
          <a:p>
            <a:r>
              <a:rPr lang="zh-CN" altLang="en-US" sz="2400" dirty="0">
                <a:latin typeface="Arial" panose="020B0604020202020204" pitchFamily="34" charset="0"/>
              </a:rPr>
              <a:t>等价于</a:t>
            </a:r>
            <a:endParaRPr lang="zh-CN" altLang="en-US" sz="2400" dirty="0">
              <a:latin typeface="Arial" panose="020B0604020202020204" pitchFamily="34" charset="0"/>
            </a:endParaRPr>
          </a:p>
        </p:txBody>
      </p:sp>
      <p:sp>
        <p:nvSpPr>
          <p:cNvPr id="27656" name="TextBox 12"/>
          <p:cNvSpPr txBox="1"/>
          <p:nvPr/>
        </p:nvSpPr>
        <p:spPr>
          <a:xfrm>
            <a:off x="770890" y="2974023"/>
            <a:ext cx="7442200" cy="1322070"/>
          </a:xfrm>
          <a:prstGeom prst="rect">
            <a:avLst/>
          </a:prstGeom>
          <a:solidFill>
            <a:schemeClr val="tx1"/>
          </a:solidFill>
          <a:ln w="9525">
            <a:noFill/>
          </a:ln>
        </p:spPr>
        <p:txBody>
          <a:bodyPr wrap="square">
            <a:spAutoFit/>
          </a:bodyPr>
          <a:lstStyle/>
          <a:p>
            <a:r>
              <a:rPr lang="en-US" altLang="zh-CN" sz="1600" dirty="0">
                <a:solidFill>
                  <a:schemeClr val="bg1"/>
                </a:solidFill>
                <a:latin typeface="Arial" panose="020B0604020202020204" pitchFamily="34" charset="0"/>
              </a:rPr>
              <a:t>scala&gt; val sum1 = 5 + 3         //</a:t>
            </a:r>
            <a:r>
              <a:rPr lang="zh-CN" altLang="en-US" sz="1600" dirty="0">
                <a:solidFill>
                  <a:schemeClr val="bg1"/>
                </a:solidFill>
                <a:latin typeface="Arial" panose="020B0604020202020204" pitchFamily="34" charset="0"/>
              </a:rPr>
              <a:t>实际上调用了 </a:t>
            </a:r>
            <a:r>
              <a:rPr lang="en-US" altLang="zh-CN" sz="1600" dirty="0">
                <a:solidFill>
                  <a:schemeClr val="bg1"/>
                </a:solidFill>
                <a:latin typeface="Arial" panose="020B0604020202020204" pitchFamily="34" charset="0"/>
              </a:rPr>
              <a:t>(5).+(3)</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sum1: Int = 8</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val sum2 = (5).+(3)     //</a:t>
            </a:r>
            <a:r>
              <a:rPr lang="zh-CN" altLang="en-US" sz="1600" dirty="0">
                <a:solidFill>
                  <a:schemeClr val="bg1"/>
                </a:solidFill>
                <a:latin typeface="Arial" panose="020B0604020202020204" pitchFamily="34" charset="0"/>
              </a:rPr>
              <a:t>可以发现，写成方法调用的形式，和上面得到相同的结果</a:t>
            </a:r>
            <a:endParaRPr lang="zh-CN" altLang="en-US"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sum2: Int = 8</a:t>
            </a:r>
            <a:endParaRPr lang="en-US" altLang="zh-CN" sz="1600" dirty="0">
              <a:solidFill>
                <a:schemeClr val="bg1"/>
              </a:solidFill>
              <a:latin typeface="Arial" panose="020B0604020202020204" pitchFamily="34" charset="0"/>
            </a:endParaRPr>
          </a:p>
        </p:txBody>
      </p:sp>
      <p:sp>
        <p:nvSpPr>
          <p:cNvPr id="2" name="标题 1"/>
          <p:cNvSpPr/>
          <p:nvPr>
            <p:ph type="title"/>
          </p:nvPr>
        </p:nvSpPr>
        <p:spPr/>
        <p:txBody>
          <a:bodyPr/>
          <a:p>
            <a:r>
              <a:rPr lang="en-US" altLang="zh-CN"/>
              <a:t>8.2.2 </a:t>
            </a:r>
            <a:r>
              <a:rPr lang="zh-CN" altLang="en-US">
                <a:ea typeface="宋体" panose="02010600030101010101" pitchFamily="2" charset="-122"/>
              </a:rPr>
              <a:t>操作符</a:t>
            </a:r>
            <a:endParaRPr lang="zh-CN" altLang="en-US">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8.2.3 </a:t>
            </a:r>
            <a:r>
              <a:rPr lang="zh-CN" altLang="en-US">
                <a:ea typeface="宋体" panose="02010600030101010101" pitchFamily="2" charset="-122"/>
              </a:rPr>
              <a:t>变量</a:t>
            </a:r>
            <a:endParaRPr lang="zh-CN" altLang="en-US">
              <a:ea typeface="宋体" panose="02010600030101010101" pitchFamily="2" charset="-122"/>
            </a:endParaRPr>
          </a:p>
        </p:txBody>
      </p:sp>
      <p:sp>
        <p:nvSpPr>
          <p:cNvPr id="30723" name="矩形 2"/>
          <p:cNvSpPr/>
          <p:nvPr/>
        </p:nvSpPr>
        <p:spPr>
          <a:xfrm>
            <a:off x="694690" y="1106805"/>
            <a:ext cx="7315200" cy="2306955"/>
          </a:xfrm>
          <a:prstGeom prst="rect">
            <a:avLst/>
          </a:prstGeom>
          <a:noFill/>
          <a:ln w="9525">
            <a:noFill/>
          </a:ln>
        </p:spPr>
        <p:txBody>
          <a:bodyPr>
            <a:spAutoFit/>
          </a:bodyPr>
          <a:lstStyle/>
          <a:p>
            <a:r>
              <a:rPr lang="en-US" altLang="zh-CN" sz="2400" dirty="0">
                <a:latin typeface="Arial" panose="020B0604020202020204" pitchFamily="34" charset="0"/>
              </a:rPr>
              <a:t>Scala</a:t>
            </a:r>
            <a:r>
              <a:rPr lang="zh-CN" altLang="en-US" sz="2400" dirty="0">
                <a:latin typeface="Arial" panose="020B0604020202020204" pitchFamily="34" charset="0"/>
              </a:rPr>
              <a:t>有两种类型的变量：</a:t>
            </a:r>
            <a:endParaRPr lang="en-US" altLang="zh-CN" sz="2400" dirty="0">
              <a:latin typeface="Arial" panose="020B0604020202020204" pitchFamily="34" charset="0"/>
            </a:endParaRPr>
          </a:p>
          <a:p>
            <a:pPr marL="742950" lvl="1" indent="-285750" eaLnBrk="1" hangingPunct="1">
              <a:lnSpc>
                <a:spcPct val="150000"/>
              </a:lnSpc>
              <a:buFontTx/>
              <a:buChar char="–"/>
            </a:pPr>
            <a:r>
              <a:rPr lang="en-US" altLang="zh-CN" sz="2000" dirty="0">
                <a:solidFill>
                  <a:srgbClr val="FF0000"/>
                </a:solidFill>
                <a:latin typeface="Arial" panose="020B0604020202020204" pitchFamily="34" charset="0"/>
              </a:rPr>
              <a:t>val</a:t>
            </a:r>
            <a:r>
              <a:rPr lang="zh-CN" altLang="en-US" sz="2000" dirty="0">
                <a:solidFill>
                  <a:srgbClr val="FF0000"/>
                </a:solidFill>
                <a:latin typeface="Arial" panose="020B0604020202020204" pitchFamily="34" charset="0"/>
              </a:rPr>
              <a:t>：是不可变的</a:t>
            </a:r>
            <a:r>
              <a:rPr lang="zh-CN" altLang="en-US" sz="2000" dirty="0">
                <a:latin typeface="Arial" panose="020B0604020202020204" pitchFamily="34" charset="0"/>
              </a:rPr>
              <a:t>，在声明时就必须被初始化，而且初始化以后就不能再赋值</a:t>
            </a:r>
            <a:endParaRPr lang="en-US" altLang="zh-CN" sz="2000" dirty="0">
              <a:latin typeface="Arial" panose="020B0604020202020204" pitchFamily="34" charset="0"/>
            </a:endParaRPr>
          </a:p>
          <a:p>
            <a:pPr marL="742950" lvl="1" indent="-285750" eaLnBrk="1" hangingPunct="1">
              <a:lnSpc>
                <a:spcPct val="150000"/>
              </a:lnSpc>
              <a:buFontTx/>
              <a:buChar char="–"/>
            </a:pPr>
            <a:r>
              <a:rPr lang="en-US" altLang="zh-CN" sz="2000" dirty="0">
                <a:solidFill>
                  <a:srgbClr val="FF0000"/>
                </a:solidFill>
                <a:latin typeface="Arial" panose="020B0604020202020204" pitchFamily="34" charset="0"/>
              </a:rPr>
              <a:t>var</a:t>
            </a:r>
            <a:r>
              <a:rPr lang="zh-CN" altLang="en-US" sz="2000" dirty="0">
                <a:solidFill>
                  <a:srgbClr val="FF0000"/>
                </a:solidFill>
                <a:latin typeface="Arial" panose="020B0604020202020204" pitchFamily="34" charset="0"/>
              </a:rPr>
              <a:t>：是可变的，声明的时候需要进行初始化</a:t>
            </a:r>
            <a:r>
              <a:rPr lang="zh-CN" altLang="en-US" sz="2000" dirty="0">
                <a:latin typeface="Arial" panose="020B0604020202020204" pitchFamily="34" charset="0"/>
              </a:rPr>
              <a:t>，初始化以后还可以再次对其赋值</a:t>
            </a:r>
            <a:endParaRPr lang="zh-CN" altLang="en-US" sz="2000" dirty="0">
              <a:latin typeface="Arial" panose="020B0604020202020204" pitchFamily="34" charset="0"/>
            </a:endParaRPr>
          </a:p>
        </p:txBody>
      </p:sp>
      <p:sp>
        <p:nvSpPr>
          <p:cNvPr id="30724" name="矩形 2"/>
          <p:cNvSpPr/>
          <p:nvPr/>
        </p:nvSpPr>
        <p:spPr>
          <a:xfrm>
            <a:off x="694690" y="3545205"/>
            <a:ext cx="5181600" cy="1938020"/>
          </a:xfrm>
          <a:prstGeom prst="rect">
            <a:avLst/>
          </a:prstGeom>
          <a:noFill/>
          <a:ln w="9525">
            <a:noFill/>
          </a:ln>
        </p:spPr>
        <p:txBody>
          <a:bodyPr>
            <a:spAutoFit/>
          </a:bodyPr>
          <a:lstStyle/>
          <a:p>
            <a:r>
              <a:rPr lang="zh-CN" altLang="en-US" sz="2400" dirty="0">
                <a:latin typeface="Arial" panose="020B0604020202020204" pitchFamily="34" charset="0"/>
              </a:rPr>
              <a:t>基本语法：</a:t>
            </a:r>
            <a:endParaRPr lang="en-US" altLang="zh-CN" sz="2400" dirty="0">
              <a:latin typeface="Arial" panose="020B0604020202020204" pitchFamily="34" charset="0"/>
            </a:endParaRPr>
          </a:p>
          <a:p>
            <a:endParaRPr lang="en-US" altLang="zh-CN" sz="2400" dirty="0">
              <a:latin typeface="Arial" panose="020B0604020202020204" pitchFamily="34" charset="0"/>
            </a:endParaRPr>
          </a:p>
          <a:p>
            <a:r>
              <a:rPr lang="en-US" altLang="zh-CN" sz="2400" dirty="0">
                <a:latin typeface="Arial" panose="020B0604020202020204" pitchFamily="34" charset="0"/>
              </a:rPr>
              <a:t>val  </a:t>
            </a:r>
            <a:r>
              <a:rPr lang="zh-CN" altLang="en-US" sz="2400" dirty="0">
                <a:latin typeface="Arial" panose="020B0604020202020204" pitchFamily="34" charset="0"/>
              </a:rPr>
              <a:t>变量名</a:t>
            </a:r>
            <a:r>
              <a:rPr lang="en-US" altLang="zh-CN" sz="2400" dirty="0">
                <a:latin typeface="Arial" panose="020B0604020202020204" pitchFamily="34" charset="0"/>
              </a:rPr>
              <a:t>:</a:t>
            </a:r>
            <a:r>
              <a:rPr lang="zh-CN" altLang="en-US" sz="2400" dirty="0">
                <a:latin typeface="Arial" panose="020B0604020202020204" pitchFamily="34" charset="0"/>
              </a:rPr>
              <a:t>数据类型 </a:t>
            </a:r>
            <a:r>
              <a:rPr lang="en-US" altLang="zh-CN" sz="2400" dirty="0">
                <a:latin typeface="Arial" panose="020B0604020202020204" pitchFamily="34" charset="0"/>
              </a:rPr>
              <a:t>= </a:t>
            </a:r>
            <a:r>
              <a:rPr lang="zh-CN" altLang="en-US" sz="2400" dirty="0">
                <a:latin typeface="Arial" panose="020B0604020202020204" pitchFamily="34" charset="0"/>
              </a:rPr>
              <a:t>初始值</a:t>
            </a:r>
            <a:endParaRPr lang="zh-CN" altLang="en-US" sz="2400" dirty="0">
              <a:latin typeface="Arial" panose="020B0604020202020204" pitchFamily="34" charset="0"/>
            </a:endParaRPr>
          </a:p>
          <a:p>
            <a:r>
              <a:rPr lang="en-US" altLang="zh-CN" sz="2400" dirty="0">
                <a:latin typeface="Arial" panose="020B0604020202020204" pitchFamily="34" charset="0"/>
              </a:rPr>
              <a:t>var  </a:t>
            </a:r>
            <a:r>
              <a:rPr lang="zh-CN" altLang="en-US" sz="2400" dirty="0">
                <a:latin typeface="Arial" panose="020B0604020202020204" pitchFamily="34" charset="0"/>
              </a:rPr>
              <a:t>变量名</a:t>
            </a:r>
            <a:r>
              <a:rPr lang="en-US" altLang="zh-CN" sz="2400" dirty="0">
                <a:latin typeface="Arial" panose="020B0604020202020204" pitchFamily="34" charset="0"/>
              </a:rPr>
              <a:t>:</a:t>
            </a:r>
            <a:r>
              <a:rPr lang="zh-CN" altLang="en-US" sz="2400" dirty="0">
                <a:latin typeface="Arial" panose="020B0604020202020204" pitchFamily="34" charset="0"/>
              </a:rPr>
              <a:t>数据类型 </a:t>
            </a:r>
            <a:r>
              <a:rPr lang="en-US" altLang="zh-CN" sz="2400" dirty="0">
                <a:latin typeface="Arial" panose="020B0604020202020204" pitchFamily="34" charset="0"/>
              </a:rPr>
              <a:t>= </a:t>
            </a:r>
            <a:r>
              <a:rPr lang="zh-CN" altLang="en-US" sz="2400" dirty="0">
                <a:latin typeface="Arial" panose="020B0604020202020204" pitchFamily="34" charset="0"/>
              </a:rPr>
              <a:t>初始值</a:t>
            </a:r>
            <a:endParaRPr lang="zh-CN" altLang="en-US" sz="2400" dirty="0">
              <a:latin typeface="Arial" panose="020B0604020202020204" pitchFamily="34" charset="0"/>
            </a:endParaRPr>
          </a:p>
          <a:p>
            <a:endParaRPr lang="en-US" altLang="zh-CN"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blinds(horizontal)">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4"/>
                                        </p:tgtEl>
                                        <p:attrNameLst>
                                          <p:attrName>style.visibility</p:attrName>
                                        </p:attrNameLst>
                                      </p:cBhvr>
                                      <p:to>
                                        <p:strVal val="visible"/>
                                      </p:to>
                                    </p:set>
                                    <p:animEffect transition="in" filter="blinds(horizontal)">
                                      <p:cBhvr>
                                        <p:cTn id="12" dur="500"/>
                                        <p:tgtEl>
                                          <p:spTgt spid="3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307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8.2.3 </a:t>
            </a:r>
            <a:r>
              <a:rPr lang="zh-CN" altLang="en-US">
                <a:ea typeface="宋体" panose="02010600030101010101" pitchFamily="2" charset="-122"/>
              </a:rPr>
              <a:t>变量</a:t>
            </a:r>
            <a:endParaRPr lang="zh-CN" altLang="en-US">
              <a:ea typeface="宋体" panose="02010600030101010101" pitchFamily="2" charset="-122"/>
            </a:endParaRPr>
          </a:p>
        </p:txBody>
      </p:sp>
      <p:sp>
        <p:nvSpPr>
          <p:cNvPr id="29699" name="矩形 2"/>
          <p:cNvSpPr/>
          <p:nvPr/>
        </p:nvSpPr>
        <p:spPr>
          <a:xfrm>
            <a:off x="762000" y="1371600"/>
            <a:ext cx="8077200" cy="706755"/>
          </a:xfrm>
          <a:prstGeom prst="rect">
            <a:avLst/>
          </a:prstGeom>
          <a:noFill/>
          <a:ln w="9525">
            <a:noFill/>
          </a:ln>
        </p:spPr>
        <p:txBody>
          <a:bodyPr>
            <a:spAutoFit/>
          </a:bodyPr>
          <a:lstStyle/>
          <a:p>
            <a:r>
              <a:rPr lang="zh-CN" altLang="zh-CN" sz="2000" dirty="0">
                <a:solidFill>
                  <a:srgbClr val="FF0000"/>
                </a:solidFill>
                <a:latin typeface="Arial" panose="020B0604020202020204" pitchFamily="34" charset="0"/>
              </a:rPr>
              <a:t>类型推断机制（</a:t>
            </a:r>
            <a:r>
              <a:rPr lang="en-US" altLang="zh-CN" sz="2000" dirty="0">
                <a:solidFill>
                  <a:srgbClr val="FF0000"/>
                </a:solidFill>
                <a:latin typeface="Arial" panose="020B0604020202020204" pitchFamily="34" charset="0"/>
              </a:rPr>
              <a:t>type inference</a:t>
            </a:r>
            <a:r>
              <a:rPr lang="zh-CN" altLang="zh-CN" sz="2000" dirty="0">
                <a:solidFill>
                  <a:srgbClr val="FF0000"/>
                </a:solidFill>
                <a:latin typeface="Arial" panose="020B0604020202020204" pitchFamily="34" charset="0"/>
              </a:rPr>
              <a:t>）</a:t>
            </a:r>
            <a:r>
              <a:rPr lang="zh-CN" altLang="en-US" sz="2000" dirty="0">
                <a:latin typeface="Arial" panose="020B0604020202020204" pitchFamily="34" charset="0"/>
              </a:rPr>
              <a:t>：</a:t>
            </a:r>
            <a:r>
              <a:rPr lang="zh-CN" altLang="zh-CN" sz="2000" dirty="0">
                <a:latin typeface="Arial" panose="020B0604020202020204" pitchFamily="34" charset="0"/>
              </a:rPr>
              <a:t>根据初始值自动推断变量的类型，使得定义变量时可以省略具体的数据类型及其前面的冒号</a:t>
            </a:r>
            <a:endParaRPr lang="en-US" altLang="zh-CN" sz="2800" dirty="0">
              <a:latin typeface="Arial" panose="020B0604020202020204" pitchFamily="34" charset="0"/>
            </a:endParaRPr>
          </a:p>
        </p:txBody>
      </p:sp>
      <p:sp>
        <p:nvSpPr>
          <p:cNvPr id="29701" name="TextBox 8"/>
          <p:cNvSpPr txBox="1"/>
          <p:nvPr/>
        </p:nvSpPr>
        <p:spPr>
          <a:xfrm>
            <a:off x="762000" y="2218690"/>
            <a:ext cx="7620000" cy="583565"/>
          </a:xfrm>
          <a:prstGeom prst="rect">
            <a:avLst/>
          </a:prstGeom>
          <a:solidFill>
            <a:schemeClr val="tx1"/>
          </a:solidFill>
          <a:ln w="9525">
            <a:noFill/>
          </a:ln>
        </p:spPr>
        <p:txBody>
          <a:bodyPr>
            <a:spAutoFit/>
          </a:bodyPr>
          <a:lstStyle/>
          <a:p>
            <a:r>
              <a:rPr lang="en-US" altLang="zh-CN" sz="1600" dirty="0">
                <a:solidFill>
                  <a:schemeClr val="bg1"/>
                </a:solidFill>
                <a:latin typeface="Arial" panose="020B0604020202020204" pitchFamily="34" charset="0"/>
              </a:rPr>
              <a:t>scala&gt; val myStr = "Hello World!"</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myStr: String = Hello World!</a:t>
            </a:r>
            <a:endParaRPr lang="en-US" altLang="zh-CN" sz="1600" dirty="0">
              <a:solidFill>
                <a:schemeClr val="bg1"/>
              </a:solidFill>
              <a:latin typeface="Arial" panose="020B0604020202020204" pitchFamily="34" charset="0"/>
            </a:endParaRPr>
          </a:p>
        </p:txBody>
      </p:sp>
      <p:sp>
        <p:nvSpPr>
          <p:cNvPr id="29702" name="矩形 9"/>
          <p:cNvSpPr/>
          <p:nvPr/>
        </p:nvSpPr>
        <p:spPr>
          <a:xfrm>
            <a:off x="762000" y="2904490"/>
            <a:ext cx="4297680" cy="368300"/>
          </a:xfrm>
          <a:prstGeom prst="rect">
            <a:avLst/>
          </a:prstGeom>
          <a:noFill/>
          <a:ln w="9525">
            <a:noFill/>
          </a:ln>
        </p:spPr>
        <p:txBody>
          <a:bodyPr wrap="none">
            <a:spAutoFit/>
          </a:bodyPr>
          <a:lstStyle/>
          <a:p>
            <a:r>
              <a:rPr lang="zh-CN" altLang="en-US" dirty="0">
                <a:latin typeface="Arial" panose="020B0604020202020204" pitchFamily="34" charset="0"/>
              </a:rPr>
              <a:t>当然，我们也可以显式声明变量的类型：</a:t>
            </a:r>
            <a:endParaRPr lang="zh-CN" altLang="en-US" dirty="0">
              <a:latin typeface="Arial" panose="020B0604020202020204" pitchFamily="34" charset="0"/>
            </a:endParaRPr>
          </a:p>
        </p:txBody>
      </p:sp>
      <p:sp>
        <p:nvSpPr>
          <p:cNvPr id="29703" name="TextBox 10"/>
          <p:cNvSpPr txBox="1"/>
          <p:nvPr/>
        </p:nvSpPr>
        <p:spPr>
          <a:xfrm>
            <a:off x="762000" y="3285490"/>
            <a:ext cx="7620000" cy="583565"/>
          </a:xfrm>
          <a:prstGeom prst="rect">
            <a:avLst/>
          </a:prstGeom>
          <a:solidFill>
            <a:schemeClr val="tx1"/>
          </a:solidFill>
          <a:ln w="9525">
            <a:noFill/>
          </a:ln>
        </p:spPr>
        <p:txBody>
          <a:bodyPr>
            <a:spAutoFit/>
          </a:bodyPr>
          <a:lstStyle/>
          <a:p>
            <a:r>
              <a:rPr lang="en-US" altLang="zh-CN" sz="1600" dirty="0">
                <a:solidFill>
                  <a:schemeClr val="bg1"/>
                </a:solidFill>
                <a:latin typeface="Arial" panose="020B0604020202020204" pitchFamily="34" charset="0"/>
              </a:rPr>
              <a:t>scala&gt; val myStr2 : String = "Hello World!"</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myStr2: String = Hello World!</a:t>
            </a:r>
            <a:endParaRPr lang="en-US" altLang="zh-CN" sz="1600" dirty="0">
              <a:solidFill>
                <a:schemeClr val="bg1"/>
              </a:solidFill>
              <a:latin typeface="Arial" panose="020B0604020202020204" pitchFamily="34" charset="0"/>
            </a:endParaRPr>
          </a:p>
        </p:txBody>
      </p:sp>
      <p:sp>
        <p:nvSpPr>
          <p:cNvPr id="29704" name="TextBox 11"/>
          <p:cNvSpPr txBox="1"/>
          <p:nvPr/>
        </p:nvSpPr>
        <p:spPr>
          <a:xfrm>
            <a:off x="762000" y="4123690"/>
            <a:ext cx="7620000" cy="583565"/>
          </a:xfrm>
          <a:prstGeom prst="rect">
            <a:avLst/>
          </a:prstGeom>
          <a:solidFill>
            <a:schemeClr val="tx1"/>
          </a:solidFill>
          <a:ln w="9525">
            <a:noFill/>
          </a:ln>
        </p:spPr>
        <p:txBody>
          <a:bodyPr>
            <a:spAutoFit/>
          </a:bodyPr>
          <a:lstStyle/>
          <a:p>
            <a:r>
              <a:rPr lang="en-US" altLang="zh-CN" sz="1600" dirty="0">
                <a:solidFill>
                  <a:schemeClr val="bg1"/>
                </a:solidFill>
                <a:latin typeface="Arial" panose="020B0604020202020204" pitchFamily="34" charset="0"/>
              </a:rPr>
              <a:t>scala&gt; println(myStr)</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Hello World!</a:t>
            </a:r>
            <a:endParaRPr lang="en-US" altLang="zh-CN" sz="1600" dirty="0">
              <a:solidFill>
                <a:schemeClr val="bg1"/>
              </a:solidFill>
              <a:latin typeface="Arial" panose="020B0604020202020204" pitchFamily="34" charset="0"/>
            </a:endParaRPr>
          </a:p>
        </p:txBody>
      </p:sp>
      <p:sp>
        <p:nvSpPr>
          <p:cNvPr id="29705" name="TextBox 12"/>
          <p:cNvSpPr txBox="1"/>
          <p:nvPr/>
        </p:nvSpPr>
        <p:spPr>
          <a:xfrm>
            <a:off x="762000" y="5190490"/>
            <a:ext cx="7620000" cy="1076325"/>
          </a:xfrm>
          <a:prstGeom prst="rect">
            <a:avLst/>
          </a:prstGeom>
          <a:solidFill>
            <a:schemeClr val="tx1"/>
          </a:solidFill>
          <a:ln w="9525">
            <a:noFill/>
          </a:ln>
        </p:spPr>
        <p:txBody>
          <a:bodyPr>
            <a:spAutoFit/>
          </a:bodyPr>
          <a:lstStyle/>
          <a:p>
            <a:r>
              <a:rPr lang="en-US" altLang="zh-CN" sz="1600" dirty="0">
                <a:solidFill>
                  <a:schemeClr val="bg1"/>
                </a:solidFill>
                <a:latin typeface="Arial" panose="020B0604020202020204" pitchFamily="34" charset="0"/>
              </a:rPr>
              <a:t>scala&gt; myStr = "Hello Scala!"</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&lt;console&gt;:27: error: reassignment to val</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          myStr = "Hello Scala!"</a:t>
            </a:r>
            <a:endParaRPr lang="en-US"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                          ^</a:t>
            </a:r>
            <a:endParaRPr lang="en-US" altLang="zh-CN" sz="1600" dirty="0">
              <a:solidFill>
                <a:schemeClr val="bg1"/>
              </a:solidFill>
              <a:latin typeface="Arial" panose="020B0604020202020204" pitchFamily="34" charset="0"/>
            </a:endParaRPr>
          </a:p>
        </p:txBody>
      </p:sp>
      <p:sp>
        <p:nvSpPr>
          <p:cNvPr id="29706" name="矩形 13"/>
          <p:cNvSpPr/>
          <p:nvPr/>
        </p:nvSpPr>
        <p:spPr>
          <a:xfrm>
            <a:off x="685800" y="4809490"/>
            <a:ext cx="6324600" cy="368300"/>
          </a:xfrm>
          <a:prstGeom prst="rect">
            <a:avLst/>
          </a:prstGeom>
          <a:noFill/>
          <a:ln w="9525">
            <a:noFill/>
          </a:ln>
        </p:spPr>
        <p:txBody>
          <a:bodyPr>
            <a:spAutoFit/>
          </a:bodyPr>
          <a:lstStyle/>
          <a:p>
            <a:r>
              <a:rPr lang="en-US" altLang="zh-CN" dirty="0">
                <a:latin typeface="Arial" panose="020B0604020202020204" pitchFamily="34" charset="0"/>
              </a:rPr>
              <a:t>myStr</a:t>
            </a:r>
            <a:r>
              <a:rPr lang="zh-CN" altLang="en-US" dirty="0">
                <a:latin typeface="Arial" panose="020B0604020202020204" pitchFamily="34" charset="0"/>
              </a:rPr>
              <a:t>是</a:t>
            </a:r>
            <a:r>
              <a:rPr lang="en-US" altLang="zh-CN" dirty="0">
                <a:latin typeface="Arial" panose="020B0604020202020204" pitchFamily="34" charset="0"/>
              </a:rPr>
              <a:t>val</a:t>
            </a:r>
            <a:r>
              <a:rPr lang="zh-CN" altLang="en-US" dirty="0">
                <a:latin typeface="Arial" panose="020B0604020202020204" pitchFamily="34" charset="0"/>
              </a:rPr>
              <a:t>变量，因此，一旦初始化以后，就不能再次赋值</a:t>
            </a: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linds(horizontal)">
                                      <p:cBhvr>
                                        <p:cTn id="7" dur="500"/>
                                        <p:tgtEl>
                                          <p:spTgt spid="2969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01"/>
                                        </p:tgtEl>
                                        <p:attrNameLst>
                                          <p:attrName>style.visibility</p:attrName>
                                        </p:attrNameLst>
                                      </p:cBhvr>
                                      <p:to>
                                        <p:strVal val="visible"/>
                                      </p:to>
                                    </p:set>
                                    <p:animEffect transition="in" filter="blinds(horizontal)">
                                      <p:cBhvr>
                                        <p:cTn id="10" dur="500"/>
                                        <p:tgtEl>
                                          <p:spTgt spid="2970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702"/>
                                        </p:tgtEl>
                                        <p:attrNameLst>
                                          <p:attrName>style.visibility</p:attrName>
                                        </p:attrNameLst>
                                      </p:cBhvr>
                                      <p:to>
                                        <p:strVal val="visible"/>
                                      </p:to>
                                    </p:set>
                                    <p:animEffect transition="in" filter="blinds(horizontal)">
                                      <p:cBhvr>
                                        <p:cTn id="15" dur="500"/>
                                        <p:tgtEl>
                                          <p:spTgt spid="2970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9703"/>
                                        </p:tgtEl>
                                        <p:attrNameLst>
                                          <p:attrName>style.visibility</p:attrName>
                                        </p:attrNameLst>
                                      </p:cBhvr>
                                      <p:to>
                                        <p:strVal val="visible"/>
                                      </p:to>
                                    </p:set>
                                    <p:animEffect transition="in" filter="blinds(horizontal)">
                                      <p:cBhvr>
                                        <p:cTn id="18" dur="500"/>
                                        <p:tgtEl>
                                          <p:spTgt spid="29703"/>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9704"/>
                                        </p:tgtEl>
                                        <p:attrNameLst>
                                          <p:attrName>style.visibility</p:attrName>
                                        </p:attrNameLst>
                                      </p:cBhvr>
                                      <p:to>
                                        <p:strVal val="visible"/>
                                      </p:to>
                                    </p:set>
                                    <p:animEffect transition="in" filter="blinds(horizontal)">
                                      <p:cBhvr>
                                        <p:cTn id="21" dur="500"/>
                                        <p:tgtEl>
                                          <p:spTgt spid="2970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9705"/>
                                        </p:tgtEl>
                                        <p:attrNameLst>
                                          <p:attrName>style.visibility</p:attrName>
                                        </p:attrNameLst>
                                      </p:cBhvr>
                                      <p:to>
                                        <p:strVal val="visible"/>
                                      </p:to>
                                    </p:set>
                                    <p:animEffect transition="in" filter="blinds(horizontal)">
                                      <p:cBhvr>
                                        <p:cTn id="26" dur="500"/>
                                        <p:tgtEl>
                                          <p:spTgt spid="2970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9706"/>
                                        </p:tgtEl>
                                        <p:attrNameLst>
                                          <p:attrName>style.visibility</p:attrName>
                                        </p:attrNameLst>
                                      </p:cBhvr>
                                      <p:to>
                                        <p:strVal val="visible"/>
                                      </p:to>
                                    </p:set>
                                    <p:animEffect transition="in" filter="blinds(horizontal)">
                                      <p:cBhvr>
                                        <p:cTn id="29" dur="500"/>
                                        <p:tgtEl>
                                          <p:spTgt spid="29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1" grpId="0" bldLvl="0" animBg="1"/>
      <p:bldP spid="29702" grpId="0"/>
      <p:bldP spid="29703" grpId="0" bldLvl="0" animBg="1"/>
      <p:bldP spid="29704" grpId="0" bldLvl="0" animBg="1"/>
      <p:bldP spid="29705" grpId="0" bldLvl="0" animBg="1"/>
      <p:bldP spid="2970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t>8.2.4 控制结构</a:t>
            </a:r>
            <a:endParaRPr lang="zh-CN" altLang="en-US" dirty="0"/>
          </a:p>
        </p:txBody>
      </p:sp>
      <p:sp>
        <p:nvSpPr>
          <p:cNvPr id="4" name="内容占位符 3"/>
          <p:cNvSpPr>
            <a:spLocks noGrp="1"/>
          </p:cNvSpPr>
          <p:nvPr>
            <p:ph idx="1"/>
          </p:nvPr>
        </p:nvSpPr>
        <p:spPr/>
        <p:txBody>
          <a:bodyPr/>
          <a:lstStyle/>
          <a:p>
            <a:r>
              <a:rPr lang="en-US" altLang="zh-CN" dirty="0"/>
              <a:t>1. if</a:t>
            </a:r>
            <a:r>
              <a:rPr lang="zh-CN" altLang="en-US" dirty="0"/>
              <a:t>条件表达式</a:t>
            </a:r>
            <a:endParaRPr lang="zh-CN" altLang="en-US" dirty="0"/>
          </a:p>
          <a:p>
            <a:r>
              <a:rPr lang="en-US" altLang="zh-CN" dirty="0"/>
              <a:t>2. while</a:t>
            </a:r>
            <a:r>
              <a:rPr lang="zh-CN" altLang="en-US" dirty="0"/>
              <a:t>循环</a:t>
            </a:r>
            <a:endParaRPr lang="zh-CN" altLang="en-US" dirty="0"/>
          </a:p>
          <a:p>
            <a:r>
              <a:rPr lang="en-US" altLang="zh-CN" dirty="0"/>
              <a:t>3. for</a:t>
            </a:r>
            <a:r>
              <a:rPr lang="zh-CN" altLang="en-US" dirty="0"/>
              <a:t>循环</a:t>
            </a:r>
            <a:endParaRPr lang="zh-CN" altLang="en-US" dirty="0"/>
          </a:p>
          <a:p>
            <a:r>
              <a:rPr lang="en-US" altLang="zh-CN" dirty="0"/>
              <a:t>4. </a:t>
            </a:r>
            <a:r>
              <a:rPr lang="zh-CN" altLang="en-US" dirty="0"/>
              <a:t>异常处理</a:t>
            </a:r>
            <a:endParaRPr lang="zh-CN" altLang="en-US" dirty="0"/>
          </a:p>
          <a:p>
            <a:r>
              <a:rPr lang="en-US" altLang="zh-CN" dirty="0"/>
              <a:t>5. </a:t>
            </a:r>
            <a:r>
              <a:rPr lang="zh-CN" altLang="en-US" dirty="0"/>
              <a:t>对循环的控制</a:t>
            </a:r>
            <a:endParaRPr lang="zh-CN" altLang="en-US" dirty="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8.2.4 </a:t>
            </a:r>
            <a:r>
              <a:rPr lang="zh-CN" altLang="en-US">
                <a:ea typeface="宋体" panose="02010600030101010101" pitchFamily="2" charset="-122"/>
              </a:rPr>
              <a:t>控制结构</a:t>
            </a:r>
            <a:endParaRPr lang="zh-CN" altLang="en-US">
              <a:ea typeface="宋体" panose="02010600030101010101" pitchFamily="2" charset="-122"/>
            </a:endParaRPr>
          </a:p>
        </p:txBody>
      </p:sp>
      <p:sp>
        <p:nvSpPr>
          <p:cNvPr id="4" name="TextBox 3"/>
          <p:cNvSpPr txBox="1"/>
          <p:nvPr/>
        </p:nvSpPr>
        <p:spPr>
          <a:xfrm>
            <a:off x="1195388" y="1981200"/>
            <a:ext cx="3452813" cy="2306955"/>
          </a:xfrm>
          <a:prstGeom prst="rect">
            <a:avLst/>
          </a:prstGeom>
          <a:solidFill>
            <a:schemeClr val="bg1">
              <a:lumMod val="95000"/>
            </a:schemeClr>
          </a:solidFill>
        </p:spPr>
        <p:txBody>
          <a:bodyPr>
            <a:spAutoFit/>
          </a:bodyPr>
          <a:lstStyle/>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if (</a:t>
            </a:r>
            <a:r>
              <a:rPr kumimoji="0" lang="zh-CN" altLang="zh-CN" sz="2400" kern="1200" cap="none" spc="0" normalizeH="0" baseline="0" noProof="0" dirty="0">
                <a:latin typeface="Arial" panose="020B0604020202020204" pitchFamily="34" charset="0"/>
                <a:ea typeface="宋体" panose="02010600030101010101" pitchFamily="2" charset="-122"/>
                <a:cs typeface="+mn-cs"/>
              </a:rPr>
              <a:t>表达式</a:t>
            </a: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zh-CN" sz="2400" kern="1200" cap="none" spc="0" normalizeH="0" baseline="0" noProof="0" dirty="0">
                <a:latin typeface="Arial" panose="020B0604020202020204" pitchFamily="34" charset="0"/>
                <a:ea typeface="宋体" panose="02010600030101010101" pitchFamily="2" charset="-122"/>
                <a:cs typeface="+mn-cs"/>
              </a:rPr>
              <a:t>语句块</a:t>
            </a:r>
            <a:r>
              <a:rPr kumimoji="0" lang="en-US" altLang="zh-CN" sz="2400" kern="1200" cap="none" spc="0" normalizeH="0" baseline="0" noProof="0" dirty="0">
                <a:latin typeface="Arial" panose="020B0604020202020204" pitchFamily="34" charset="0"/>
                <a:ea typeface="宋体" panose="02010600030101010101" pitchFamily="2" charset="-122"/>
                <a:cs typeface="+mn-cs"/>
              </a:rPr>
              <a:t>1</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else {</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zh-CN" sz="2400" kern="1200" cap="none" spc="0" normalizeH="0" baseline="0" noProof="0" dirty="0">
                <a:latin typeface="Arial" panose="020B0604020202020204" pitchFamily="34" charset="0"/>
                <a:ea typeface="宋体" panose="02010600030101010101" pitchFamily="2" charset="-122"/>
                <a:cs typeface="+mn-cs"/>
              </a:rPr>
              <a:t>语句块</a:t>
            </a:r>
            <a:r>
              <a:rPr kumimoji="0" lang="en-US" altLang="zh-CN" sz="2400" kern="1200" cap="none" spc="0" normalizeH="0" baseline="0" noProof="0" dirty="0">
                <a:latin typeface="Arial" panose="020B0604020202020204" pitchFamily="34" charset="0"/>
                <a:ea typeface="宋体" panose="02010600030101010101" pitchFamily="2" charset="-122"/>
                <a:cs typeface="+mn-cs"/>
              </a:rPr>
              <a:t>2</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
        <p:nvSpPr>
          <p:cNvPr id="41988" name="矩形 4"/>
          <p:cNvSpPr/>
          <p:nvPr/>
        </p:nvSpPr>
        <p:spPr>
          <a:xfrm>
            <a:off x="1108075" y="1219200"/>
            <a:ext cx="2237740" cy="645160"/>
          </a:xfrm>
          <a:prstGeom prst="rect">
            <a:avLst/>
          </a:prstGeom>
          <a:noFill/>
          <a:ln w="9525">
            <a:noFill/>
          </a:ln>
        </p:spPr>
        <p:txBody>
          <a:bodyPr wrap="none">
            <a:spAutoFit/>
          </a:bodyPr>
          <a:lstStyle/>
          <a:p>
            <a:pPr marL="457200" indent="-457200">
              <a:lnSpc>
                <a:spcPct val="150000"/>
              </a:lnSpc>
            </a:pPr>
            <a:r>
              <a:rPr lang="en-US" altLang="zh-CN" sz="2400" b="1" dirty="0">
                <a:latin typeface="Arial" panose="020B0604020202020204" pitchFamily="34" charset="0"/>
              </a:rPr>
              <a:t>1. if</a:t>
            </a:r>
            <a:r>
              <a:rPr lang="zh-CN" altLang="zh-CN" sz="2400" b="1" dirty="0">
                <a:latin typeface="Arial" panose="020B0604020202020204" pitchFamily="34" charset="0"/>
              </a:rPr>
              <a:t>条件表达式</a:t>
            </a:r>
            <a:endParaRPr lang="zh-CN" altLang="zh-CN" sz="2400" b="1" dirty="0">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vert="horz" wrap="square" lIns="91440" tIns="45720" rIns="91440" bIns="45720" anchor="ctr"/>
          <a:lstStyle/>
          <a:p>
            <a:r>
              <a:rPr lang="en-US" altLang="zh-CN" dirty="0"/>
              <a:t>8.2.4 控制结构</a:t>
            </a:r>
            <a:endParaRPr lang="zh-CN" altLang="en-US" dirty="0"/>
          </a:p>
        </p:txBody>
      </p:sp>
      <p:pic>
        <p:nvPicPr>
          <p:cNvPr id="43011" name="Picture 1" descr="C:\Users\Lenovo\AppData\Roaming\Tencent\Users\70004972\QQ\WinTemp\RichOle\K0[5[M}9EW_7U0[U@4)CWJQ.png"/>
          <p:cNvPicPr>
            <a:picLocks noChangeAspect="1"/>
          </p:cNvPicPr>
          <p:nvPr/>
        </p:nvPicPr>
        <p:blipFill>
          <a:blip r:embed="rId1"/>
          <a:stretch>
            <a:fillRect/>
          </a:stretch>
        </p:blipFill>
        <p:spPr>
          <a:xfrm>
            <a:off x="1219200" y="1143000"/>
            <a:ext cx="6010275" cy="1609725"/>
          </a:xfrm>
          <a:prstGeom prst="rect">
            <a:avLst/>
          </a:prstGeom>
          <a:noFill/>
          <a:ln w="9525">
            <a:noFill/>
          </a:ln>
        </p:spPr>
      </p:pic>
      <p:pic>
        <p:nvPicPr>
          <p:cNvPr id="43012" name="Picture 2" descr="C:\Users\Lenovo\AppData\Roaming\Tencent\Users\70004972\QQ\WinTemp\RichOle\U(F4MOG$EXLHVCI}AV0`FN1.png"/>
          <p:cNvPicPr>
            <a:picLocks noChangeAspect="1"/>
          </p:cNvPicPr>
          <p:nvPr/>
        </p:nvPicPr>
        <p:blipFill>
          <a:blip r:embed="rId2"/>
          <a:stretch>
            <a:fillRect/>
          </a:stretch>
        </p:blipFill>
        <p:spPr>
          <a:xfrm>
            <a:off x="1219200" y="2819400"/>
            <a:ext cx="5314950" cy="2524125"/>
          </a:xfrm>
          <a:prstGeom prst="rect">
            <a:avLst/>
          </a:prstGeom>
          <a:noFill/>
          <a:ln w="9525">
            <a:noFill/>
          </a:ln>
        </p:spPr>
      </p:pic>
      <p:sp>
        <p:nvSpPr>
          <p:cNvPr id="43013" name="矩形 4"/>
          <p:cNvSpPr/>
          <p:nvPr/>
        </p:nvSpPr>
        <p:spPr>
          <a:xfrm>
            <a:off x="1066800" y="5334000"/>
            <a:ext cx="7010400" cy="368300"/>
          </a:xfrm>
          <a:prstGeom prst="rect">
            <a:avLst/>
          </a:prstGeom>
          <a:noFill/>
          <a:ln w="9525">
            <a:noFill/>
          </a:ln>
        </p:spPr>
        <p:txBody>
          <a:bodyPr>
            <a:spAutoFit/>
          </a:bodyPr>
          <a:lstStyle/>
          <a:p>
            <a:r>
              <a:rPr lang="zh-CN" altLang="en-US" dirty="0">
                <a:solidFill>
                  <a:srgbClr val="FF0000"/>
                </a:solidFill>
                <a:latin typeface="Arial" panose="020B0604020202020204" pitchFamily="34" charset="0"/>
              </a:rPr>
              <a:t>有一点与</a:t>
            </a:r>
            <a:r>
              <a:rPr lang="en-US" altLang="zh-CN" dirty="0">
                <a:solidFill>
                  <a:srgbClr val="FF0000"/>
                </a:solidFill>
                <a:latin typeface="Arial" panose="020B0604020202020204" pitchFamily="34" charset="0"/>
              </a:rPr>
              <a:t>Java</a:t>
            </a:r>
            <a:r>
              <a:rPr lang="zh-CN" altLang="en-US" dirty="0">
                <a:solidFill>
                  <a:srgbClr val="FF0000"/>
                </a:solidFill>
                <a:latin typeface="Arial" panose="020B0604020202020204" pitchFamily="34" charset="0"/>
              </a:rPr>
              <a:t>不同的是，</a:t>
            </a:r>
            <a:r>
              <a:rPr lang="en-US" altLang="zh-CN" dirty="0">
                <a:solidFill>
                  <a:srgbClr val="FF0000"/>
                </a:solidFill>
                <a:latin typeface="Arial" panose="020B0604020202020204" pitchFamily="34" charset="0"/>
              </a:rPr>
              <a:t>Scala</a:t>
            </a:r>
            <a:r>
              <a:rPr lang="zh-CN" altLang="en-US" dirty="0">
                <a:solidFill>
                  <a:srgbClr val="FF0000"/>
                </a:solidFill>
                <a:latin typeface="Arial" panose="020B0604020202020204" pitchFamily="34" charset="0"/>
              </a:rPr>
              <a:t>中的</a:t>
            </a:r>
            <a:r>
              <a:rPr lang="en-US" altLang="zh-CN" dirty="0">
                <a:solidFill>
                  <a:srgbClr val="FF0000"/>
                </a:solidFill>
                <a:latin typeface="Arial" panose="020B0604020202020204" pitchFamily="34" charset="0"/>
              </a:rPr>
              <a:t>if</a:t>
            </a:r>
            <a:r>
              <a:rPr lang="zh-CN" altLang="en-US" dirty="0">
                <a:solidFill>
                  <a:srgbClr val="FF0000"/>
                </a:solidFill>
                <a:latin typeface="Arial" panose="020B0604020202020204" pitchFamily="34" charset="0"/>
              </a:rPr>
              <a:t>表达式的值可以赋值给变量</a:t>
            </a:r>
            <a:endParaRPr lang="zh-CN" altLang="en-US" dirty="0">
              <a:solidFill>
                <a:srgbClr val="FF0000"/>
              </a:solidFill>
              <a:latin typeface="Arial" panose="020B0604020202020204" pitchFamily="34" charset="0"/>
            </a:endParaRPr>
          </a:p>
        </p:txBody>
      </p:sp>
      <p:pic>
        <p:nvPicPr>
          <p:cNvPr id="43014" name="Picture 1" descr="C:\Users\Lenovo\AppData\Roaming\Tencent\Users\70004972\QQ\WinTemp\RichOle\)PX7KBD_~15AS`9SESO(%)S.png"/>
          <p:cNvPicPr>
            <a:picLocks noChangeAspect="1"/>
          </p:cNvPicPr>
          <p:nvPr/>
        </p:nvPicPr>
        <p:blipFill>
          <a:blip r:embed="rId3"/>
          <a:stretch>
            <a:fillRect/>
          </a:stretch>
        </p:blipFill>
        <p:spPr>
          <a:xfrm>
            <a:off x="1181100" y="5791200"/>
            <a:ext cx="3543300" cy="74295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vert="horz" wrap="square" lIns="91440" tIns="45720" rIns="91440" bIns="45720" anchor="ctr"/>
          <a:lstStyle/>
          <a:p>
            <a:r>
              <a:rPr lang="en-US" altLang="zh-CN" dirty="0"/>
              <a:t>8.2.4 控制结构</a:t>
            </a:r>
            <a:endParaRPr lang="zh-CN" altLang="en-US" dirty="0"/>
          </a:p>
        </p:txBody>
      </p:sp>
      <p:sp>
        <p:nvSpPr>
          <p:cNvPr id="4" name="TextBox 3"/>
          <p:cNvSpPr txBox="1"/>
          <p:nvPr/>
        </p:nvSpPr>
        <p:spPr>
          <a:xfrm>
            <a:off x="1143000" y="1981200"/>
            <a:ext cx="4953000" cy="1198880"/>
          </a:xfrm>
          <a:prstGeom prst="rect">
            <a:avLst/>
          </a:prstGeom>
          <a:solidFill>
            <a:schemeClr val="bg1">
              <a:lumMod val="95000"/>
            </a:schemeClr>
          </a:solidFill>
        </p:spPr>
        <p:txBody>
          <a:bodyPr>
            <a:spAutoFit/>
          </a:bodyPr>
          <a:lstStyle/>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while (</a:t>
            </a:r>
            <a:r>
              <a:rPr kumimoji="0" lang="zh-CN" altLang="zh-CN" sz="2400" kern="1200" cap="none" spc="0" normalizeH="0" baseline="0" noProof="0" dirty="0">
                <a:latin typeface="Arial" panose="020B0604020202020204" pitchFamily="34" charset="0"/>
                <a:ea typeface="宋体" panose="02010600030101010101" pitchFamily="2" charset="-122"/>
                <a:cs typeface="+mn-cs"/>
              </a:rPr>
              <a:t>表达式</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zh-CN" sz="2400" kern="1200" cap="none" spc="0" normalizeH="0" baseline="0" noProof="0" dirty="0">
                <a:latin typeface="Arial" panose="020B0604020202020204" pitchFamily="34" charset="0"/>
                <a:ea typeface="宋体" panose="02010600030101010101" pitchFamily="2" charset="-122"/>
                <a:cs typeface="+mn-cs"/>
              </a:rPr>
              <a:t>循环体</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
        <p:nvSpPr>
          <p:cNvPr id="44036" name="矩形 5"/>
          <p:cNvSpPr/>
          <p:nvPr/>
        </p:nvSpPr>
        <p:spPr>
          <a:xfrm>
            <a:off x="1143000" y="1143000"/>
            <a:ext cx="1894840" cy="645160"/>
          </a:xfrm>
          <a:prstGeom prst="rect">
            <a:avLst/>
          </a:prstGeom>
          <a:noFill/>
          <a:ln w="9525">
            <a:noFill/>
          </a:ln>
        </p:spPr>
        <p:txBody>
          <a:bodyPr wrap="none">
            <a:spAutoFit/>
          </a:bodyPr>
          <a:lstStyle/>
          <a:p>
            <a:pPr marL="457200" indent="-457200">
              <a:lnSpc>
                <a:spcPct val="150000"/>
              </a:lnSpc>
            </a:pPr>
            <a:r>
              <a:rPr lang="en-US" altLang="zh-CN" sz="2400" b="1" dirty="0">
                <a:latin typeface="Arial" panose="020B0604020202020204" pitchFamily="34" charset="0"/>
              </a:rPr>
              <a:t>2. while</a:t>
            </a:r>
            <a:r>
              <a:rPr lang="zh-CN" altLang="zh-CN" sz="2400" b="1" dirty="0">
                <a:latin typeface="Arial" panose="020B0604020202020204" pitchFamily="34" charset="0"/>
              </a:rPr>
              <a:t>循环</a:t>
            </a:r>
            <a:endParaRPr lang="zh-CN" altLang="zh-CN" sz="2400" b="1" dirty="0">
              <a:latin typeface="Arial" panose="020B0604020202020204" pitchFamily="34" charset="0"/>
            </a:endParaRPr>
          </a:p>
        </p:txBody>
      </p:sp>
      <p:sp>
        <p:nvSpPr>
          <p:cNvPr id="7" name="TextBox 6"/>
          <p:cNvSpPr txBox="1"/>
          <p:nvPr/>
        </p:nvSpPr>
        <p:spPr>
          <a:xfrm>
            <a:off x="1143000" y="3733800"/>
            <a:ext cx="4953000" cy="1198880"/>
          </a:xfrm>
          <a:prstGeom prst="rect">
            <a:avLst/>
          </a:prstGeom>
          <a:solidFill>
            <a:schemeClr val="bg1">
              <a:lumMod val="95000"/>
            </a:schemeClr>
          </a:solidFill>
        </p:spPr>
        <p:txBody>
          <a:bodyPr>
            <a:spAutoFit/>
          </a:bodyPr>
          <a:lstStyle/>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do{</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zh-CN" sz="2400" kern="1200" cap="none" spc="0" normalizeH="0" baseline="0" noProof="0" dirty="0">
                <a:latin typeface="Arial" panose="020B0604020202020204" pitchFamily="34" charset="0"/>
                <a:ea typeface="宋体" panose="02010600030101010101" pitchFamily="2" charset="-122"/>
                <a:cs typeface="+mn-cs"/>
              </a:rPr>
              <a:t>循环体</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}while (</a:t>
            </a:r>
            <a:r>
              <a:rPr kumimoji="0" lang="zh-CN" altLang="zh-CN" sz="2400" kern="1200" cap="none" spc="0" normalizeH="0" baseline="0" noProof="0" dirty="0">
                <a:latin typeface="Arial" panose="020B0604020202020204" pitchFamily="34" charset="0"/>
                <a:ea typeface="宋体" panose="02010600030101010101" pitchFamily="2" charset="-122"/>
                <a:cs typeface="+mn-cs"/>
              </a:rPr>
              <a:t>表达式</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vert="horz" wrap="square" lIns="91440" tIns="45720" rIns="91440" bIns="45720" anchor="ctr"/>
          <a:lstStyle/>
          <a:p>
            <a:r>
              <a:rPr lang="en-US" altLang="zh-CN" dirty="0"/>
              <a:t>8.2.4 控制结构</a:t>
            </a:r>
            <a:endParaRPr lang="zh-CN" altLang="en-US" dirty="0"/>
          </a:p>
        </p:txBody>
      </p:sp>
      <p:pic>
        <p:nvPicPr>
          <p:cNvPr id="45059" name="Picture 2" descr="C:\Users\Lenovo\AppData\Roaming\Tencent\Users\70004972\QQ\WinTemp\RichOle\8$VJR39AYUFNN$Z0(THLJ{B.png"/>
          <p:cNvPicPr>
            <a:picLocks noChangeAspect="1"/>
          </p:cNvPicPr>
          <p:nvPr/>
        </p:nvPicPr>
        <p:blipFill>
          <a:blip r:embed="rId1"/>
          <a:stretch>
            <a:fillRect/>
          </a:stretch>
        </p:blipFill>
        <p:spPr>
          <a:xfrm>
            <a:off x="1295400" y="1828800"/>
            <a:ext cx="4267200" cy="2022475"/>
          </a:xfrm>
          <a:prstGeom prst="rect">
            <a:avLst/>
          </a:prstGeom>
          <a:noFill/>
          <a:ln w="9525">
            <a:noFill/>
          </a:ln>
        </p:spPr>
      </p:pic>
      <p:pic>
        <p:nvPicPr>
          <p:cNvPr id="45060" name="Picture 3" descr="C:\Users\Lenovo\AppData\Roaming\Tencent\Users\70004972\QQ\WinTemp\RichOle\867L)V(BGB58P$8EETEPGH9.png"/>
          <p:cNvPicPr>
            <a:picLocks noChangeAspect="1"/>
          </p:cNvPicPr>
          <p:nvPr/>
        </p:nvPicPr>
        <p:blipFill>
          <a:blip r:embed="rId2"/>
          <a:stretch>
            <a:fillRect/>
          </a:stretch>
        </p:blipFill>
        <p:spPr>
          <a:xfrm>
            <a:off x="1295400" y="4038600"/>
            <a:ext cx="2828925" cy="2057400"/>
          </a:xfrm>
          <a:prstGeom prst="rect">
            <a:avLst/>
          </a:prstGeom>
          <a:noFill/>
          <a:ln w="9525">
            <a:noFill/>
          </a:ln>
        </p:spPr>
      </p:pic>
      <p:sp>
        <p:nvSpPr>
          <p:cNvPr id="45061" name="矩形 4"/>
          <p:cNvSpPr/>
          <p:nvPr/>
        </p:nvSpPr>
        <p:spPr>
          <a:xfrm>
            <a:off x="1195388" y="1143000"/>
            <a:ext cx="1894840" cy="645160"/>
          </a:xfrm>
          <a:prstGeom prst="rect">
            <a:avLst/>
          </a:prstGeom>
          <a:noFill/>
          <a:ln w="9525">
            <a:noFill/>
          </a:ln>
        </p:spPr>
        <p:txBody>
          <a:bodyPr wrap="none">
            <a:spAutoFit/>
          </a:bodyPr>
          <a:lstStyle/>
          <a:p>
            <a:pPr marL="457200" indent="-457200">
              <a:lnSpc>
                <a:spcPct val="150000"/>
              </a:lnSpc>
            </a:pPr>
            <a:r>
              <a:rPr lang="en-US" altLang="zh-CN" sz="2400" b="1" dirty="0">
                <a:latin typeface="Arial" panose="020B0604020202020204" pitchFamily="34" charset="0"/>
              </a:rPr>
              <a:t>2. while</a:t>
            </a:r>
            <a:r>
              <a:rPr lang="zh-CN" altLang="zh-CN" sz="2400" b="1" dirty="0">
                <a:latin typeface="Arial" panose="020B0604020202020204" pitchFamily="34" charset="0"/>
              </a:rPr>
              <a:t>循环</a:t>
            </a:r>
            <a:endParaRPr lang="zh-CN" altLang="zh-CN" sz="2400" b="1" dirty="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vert="horz" wrap="square" lIns="91440" tIns="45720" rIns="91440" bIns="45720" anchor="ctr"/>
          <a:lstStyle/>
          <a:p>
            <a:r>
              <a:rPr lang="en-US" altLang="zh-CN" dirty="0"/>
              <a:t>8.2.4 控制结构</a:t>
            </a:r>
            <a:endParaRPr lang="zh-CN" altLang="en-US" dirty="0"/>
          </a:p>
        </p:txBody>
      </p:sp>
      <p:sp>
        <p:nvSpPr>
          <p:cNvPr id="46083" name="矩形 2"/>
          <p:cNvSpPr/>
          <p:nvPr/>
        </p:nvSpPr>
        <p:spPr>
          <a:xfrm>
            <a:off x="717550" y="1600200"/>
            <a:ext cx="1402080" cy="460375"/>
          </a:xfrm>
          <a:prstGeom prst="rect">
            <a:avLst/>
          </a:prstGeom>
          <a:noFill/>
          <a:ln w="9525">
            <a:noFill/>
          </a:ln>
        </p:spPr>
        <p:txBody>
          <a:bodyPr wrap="none">
            <a:spAutoFit/>
          </a:bodyPr>
          <a:lstStyle/>
          <a:p>
            <a:r>
              <a:rPr lang="zh-CN" altLang="en-US" sz="2400" dirty="0">
                <a:latin typeface="Arial" panose="020B0604020202020204" pitchFamily="34" charset="0"/>
              </a:rPr>
              <a:t>基本语法</a:t>
            </a:r>
            <a:endParaRPr lang="zh-CN" altLang="en-US" sz="2400" dirty="0">
              <a:latin typeface="Arial" panose="020B0604020202020204" pitchFamily="34" charset="0"/>
            </a:endParaRPr>
          </a:p>
        </p:txBody>
      </p:sp>
      <p:sp>
        <p:nvSpPr>
          <p:cNvPr id="46084" name="矩形 4"/>
          <p:cNvSpPr/>
          <p:nvPr/>
        </p:nvSpPr>
        <p:spPr>
          <a:xfrm>
            <a:off x="685800" y="3195638"/>
            <a:ext cx="8077200" cy="460375"/>
          </a:xfrm>
          <a:prstGeom prst="rect">
            <a:avLst/>
          </a:prstGeom>
          <a:noFill/>
          <a:ln w="9525">
            <a:noFill/>
          </a:ln>
        </p:spPr>
        <p:txBody>
          <a:bodyPr>
            <a:spAutoFit/>
          </a:bodyPr>
          <a:lstStyle/>
          <a:p>
            <a:r>
              <a:rPr lang="zh-CN" altLang="en-US" sz="2400" dirty="0">
                <a:latin typeface="Arial" panose="020B0604020202020204" pitchFamily="34" charset="0"/>
              </a:rPr>
              <a:t>其中，</a:t>
            </a:r>
            <a:r>
              <a:rPr lang="zh-CN" altLang="en-US" sz="2400" dirty="0">
                <a:solidFill>
                  <a:srgbClr val="FF0000"/>
                </a:solidFill>
                <a:latin typeface="Arial" panose="020B0604020202020204" pitchFamily="34" charset="0"/>
              </a:rPr>
              <a:t>“变量</a:t>
            </a:r>
            <a:r>
              <a:rPr lang="en-US" altLang="zh-CN" sz="2400" dirty="0">
                <a:solidFill>
                  <a:srgbClr val="FF0000"/>
                </a:solidFill>
                <a:latin typeface="Arial" panose="020B0604020202020204" pitchFamily="34" charset="0"/>
              </a:rPr>
              <a:t>&lt;-</a:t>
            </a:r>
            <a:r>
              <a:rPr lang="zh-CN" altLang="en-US" sz="2400" dirty="0">
                <a:solidFill>
                  <a:srgbClr val="FF0000"/>
                </a:solidFill>
                <a:latin typeface="Arial" panose="020B0604020202020204" pitchFamily="34" charset="0"/>
              </a:rPr>
              <a:t>表达式”被称为“生成器（</a:t>
            </a:r>
            <a:r>
              <a:rPr lang="en-US" altLang="zh-CN" sz="2400" dirty="0">
                <a:solidFill>
                  <a:srgbClr val="FF0000"/>
                </a:solidFill>
                <a:latin typeface="Arial" panose="020B0604020202020204" pitchFamily="34" charset="0"/>
              </a:rPr>
              <a:t>generator</a:t>
            </a:r>
            <a:r>
              <a:rPr lang="zh-CN" altLang="en-US" sz="2400" dirty="0">
                <a:solidFill>
                  <a:srgbClr val="FF0000"/>
                </a:solidFill>
                <a:latin typeface="Arial" panose="020B0604020202020204" pitchFamily="34" charset="0"/>
              </a:rPr>
              <a:t>）”</a:t>
            </a:r>
            <a:endParaRPr lang="zh-CN" altLang="en-US" sz="2400" dirty="0">
              <a:solidFill>
                <a:srgbClr val="FF0000"/>
              </a:solidFill>
              <a:latin typeface="Arial" panose="020B0604020202020204" pitchFamily="34" charset="0"/>
            </a:endParaRPr>
          </a:p>
        </p:txBody>
      </p:sp>
      <p:pic>
        <p:nvPicPr>
          <p:cNvPr id="46085" name="Picture 2" descr="C:\Users\Lenovo\AppData\Roaming\Tencent\Users\70004972\QQ\WinTemp\RichOle\_)JOQKCQF8LC~{H(YP~8%HJ.png"/>
          <p:cNvPicPr>
            <a:picLocks noChangeAspect="1"/>
          </p:cNvPicPr>
          <p:nvPr/>
        </p:nvPicPr>
        <p:blipFill>
          <a:blip r:embed="rId1"/>
          <a:stretch>
            <a:fillRect/>
          </a:stretch>
        </p:blipFill>
        <p:spPr>
          <a:xfrm>
            <a:off x="381000" y="3800475"/>
            <a:ext cx="2987040" cy="373380"/>
          </a:xfrm>
          <a:prstGeom prst="rect">
            <a:avLst/>
          </a:prstGeom>
          <a:noFill/>
          <a:ln w="9525">
            <a:noFill/>
          </a:ln>
        </p:spPr>
      </p:pic>
      <p:pic>
        <p:nvPicPr>
          <p:cNvPr id="46086" name="Picture 7" descr="C:\Users\Lenovo\AppData\Roaming\Tencent\Users\70004972\QQ\WinTemp\RichOle\_5DQOXBUNVTOX4J6YOHK48Q.png"/>
          <p:cNvPicPr>
            <a:picLocks noChangeAspect="1"/>
          </p:cNvPicPr>
          <p:nvPr/>
        </p:nvPicPr>
        <p:blipFill>
          <a:blip r:embed="rId2"/>
          <a:stretch>
            <a:fillRect/>
          </a:stretch>
        </p:blipFill>
        <p:spPr>
          <a:xfrm>
            <a:off x="323850" y="4410075"/>
            <a:ext cx="2647950" cy="1609725"/>
          </a:xfrm>
          <a:prstGeom prst="rect">
            <a:avLst/>
          </a:prstGeom>
          <a:noFill/>
          <a:ln w="9525">
            <a:noFill/>
          </a:ln>
        </p:spPr>
      </p:pic>
      <p:pic>
        <p:nvPicPr>
          <p:cNvPr id="46087" name="Picture 8" descr="C:\Users\Lenovo\AppData\Roaming\Tencent\Users\70004972\QQ\WinTemp\RichOle\JMDHL0IW5~6WFT((1[0QGWF.png"/>
          <p:cNvPicPr>
            <a:picLocks noChangeAspect="1"/>
          </p:cNvPicPr>
          <p:nvPr/>
        </p:nvPicPr>
        <p:blipFill>
          <a:blip r:embed="rId3"/>
          <a:stretch>
            <a:fillRect/>
          </a:stretch>
        </p:blipFill>
        <p:spPr>
          <a:xfrm>
            <a:off x="4427855" y="3796030"/>
            <a:ext cx="3591560" cy="448310"/>
          </a:xfrm>
          <a:prstGeom prst="rect">
            <a:avLst/>
          </a:prstGeom>
          <a:noFill/>
          <a:ln w="9525">
            <a:noFill/>
          </a:ln>
        </p:spPr>
      </p:pic>
      <p:pic>
        <p:nvPicPr>
          <p:cNvPr id="46088" name="Picture 9" descr="C:\Users\Lenovo\AppData\Roaming\Tencent\Users\70004972\QQ\WinTemp\RichOle\[2M4Z1F6}}WF6NRRPO_K]OF.png"/>
          <p:cNvPicPr>
            <a:picLocks noChangeAspect="1"/>
          </p:cNvPicPr>
          <p:nvPr/>
        </p:nvPicPr>
        <p:blipFill>
          <a:blip r:embed="rId4"/>
          <a:stretch>
            <a:fillRect/>
          </a:stretch>
        </p:blipFill>
        <p:spPr>
          <a:xfrm>
            <a:off x="4724400" y="4638675"/>
            <a:ext cx="1819275" cy="981075"/>
          </a:xfrm>
          <a:prstGeom prst="rect">
            <a:avLst/>
          </a:prstGeom>
          <a:noFill/>
          <a:ln w="9525">
            <a:noFill/>
          </a:ln>
        </p:spPr>
      </p:pic>
      <p:sp>
        <p:nvSpPr>
          <p:cNvPr id="46089" name="矩形 9"/>
          <p:cNvSpPr/>
          <p:nvPr/>
        </p:nvSpPr>
        <p:spPr>
          <a:xfrm>
            <a:off x="762000" y="1066800"/>
            <a:ext cx="1539875" cy="645160"/>
          </a:xfrm>
          <a:prstGeom prst="rect">
            <a:avLst/>
          </a:prstGeom>
          <a:noFill/>
          <a:ln w="9525">
            <a:noFill/>
          </a:ln>
        </p:spPr>
        <p:txBody>
          <a:bodyPr wrap="none">
            <a:spAutoFit/>
          </a:bodyPr>
          <a:lstStyle/>
          <a:p>
            <a:pPr marL="457200" indent="-457200">
              <a:lnSpc>
                <a:spcPct val="150000"/>
              </a:lnSpc>
            </a:pPr>
            <a:r>
              <a:rPr lang="en-US" altLang="zh-CN" sz="2400" b="1" dirty="0">
                <a:latin typeface="Arial" panose="020B0604020202020204" pitchFamily="34" charset="0"/>
              </a:rPr>
              <a:t>3. for</a:t>
            </a:r>
            <a:r>
              <a:rPr lang="zh-CN" altLang="zh-CN" sz="2400" b="1" dirty="0">
                <a:latin typeface="Arial" panose="020B0604020202020204" pitchFamily="34" charset="0"/>
              </a:rPr>
              <a:t>循环</a:t>
            </a:r>
            <a:endParaRPr lang="zh-CN" altLang="zh-CN" sz="2400" b="1" dirty="0">
              <a:latin typeface="Arial" panose="020B0604020202020204" pitchFamily="34" charset="0"/>
            </a:endParaRPr>
          </a:p>
        </p:txBody>
      </p:sp>
      <p:sp>
        <p:nvSpPr>
          <p:cNvPr id="11" name="TextBox 10"/>
          <p:cNvSpPr txBox="1"/>
          <p:nvPr/>
        </p:nvSpPr>
        <p:spPr>
          <a:xfrm>
            <a:off x="838200" y="2133600"/>
            <a:ext cx="3962400" cy="922020"/>
          </a:xfrm>
          <a:prstGeom prst="rect">
            <a:avLst/>
          </a:prstGeom>
          <a:solidFill>
            <a:schemeClr val="bg1">
              <a:lumMod val="95000"/>
            </a:schemeClr>
          </a:solidFill>
        </p:spPr>
        <p:txBody>
          <a:bodyPr>
            <a:spAutoFit/>
          </a:bodyPr>
          <a:lstStyle/>
          <a:p>
            <a:pPr marR="0" defTabSz="914400">
              <a:buClrTx/>
              <a:buSzTx/>
              <a:defRPr/>
            </a:pP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for (</a:t>
            </a:r>
            <a:r>
              <a:rPr kumimoji="0" lang="zh-CN" altLang="zh-CN" kern="1200" cap="none" spc="0" normalizeH="0" baseline="0" noProof="0" dirty="0">
                <a:latin typeface="Arial" panose="020B0604020202020204" pitchFamily="34" charset="0"/>
                <a:ea typeface="宋体" panose="02010600030101010101" pitchFamily="2" charset="-122"/>
                <a:cs typeface="+mn-cs"/>
              </a:rPr>
              <a:t>变量</a:t>
            </a:r>
            <a:r>
              <a:rPr kumimoji="0" lang="en-US" altLang="zh-CN" kern="1200" cap="none" spc="0" normalizeH="0" baseline="0" noProof="0" dirty="0">
                <a:latin typeface="Arial" panose="020B0604020202020204" pitchFamily="34" charset="0"/>
                <a:ea typeface="宋体" panose="02010600030101010101" pitchFamily="2" charset="-122"/>
                <a:cs typeface="+mn-cs"/>
              </a:rPr>
              <a:t> &lt;- </a:t>
            </a:r>
            <a:r>
              <a:rPr kumimoji="0" lang="zh-CN" altLang="zh-CN" kern="1200" cap="none" spc="0" normalizeH="0" baseline="0" noProof="0" dirty="0">
                <a:latin typeface="Arial" panose="020B0604020202020204" pitchFamily="34" charset="0"/>
                <a:ea typeface="宋体" panose="02010600030101010101" pitchFamily="2" charset="-122"/>
                <a:cs typeface="+mn-cs"/>
              </a:rPr>
              <a:t>表达式</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zh-CN" altLang="zh-CN" kern="1200" cap="none" spc="0" normalizeH="0" baseline="0" noProof="0" dirty="0">
                <a:latin typeface="Arial" panose="020B0604020202020204" pitchFamily="34" charset="0"/>
                <a:ea typeface="宋体" panose="02010600030101010101" pitchFamily="2" charset="-122"/>
                <a:cs typeface="+mn-cs"/>
              </a:rPr>
              <a:t>语句块</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ctr"/>
          <a:lstStyle/>
          <a:p>
            <a:r>
              <a:rPr lang="en-US" altLang="zh-CN" dirty="0"/>
              <a:t>8.2.4 控制结构</a:t>
            </a:r>
            <a:endParaRPr lang="zh-CN" altLang="en-US" dirty="0"/>
          </a:p>
        </p:txBody>
      </p:sp>
      <p:sp>
        <p:nvSpPr>
          <p:cNvPr id="47107" name="矩形 2"/>
          <p:cNvSpPr/>
          <p:nvPr/>
        </p:nvSpPr>
        <p:spPr>
          <a:xfrm>
            <a:off x="533400" y="1916113"/>
            <a:ext cx="7924800" cy="829945"/>
          </a:xfrm>
          <a:prstGeom prst="rect">
            <a:avLst/>
          </a:prstGeom>
          <a:noFill/>
          <a:ln w="9525">
            <a:noFill/>
          </a:ln>
        </p:spPr>
        <p:txBody>
          <a:bodyPr>
            <a:spAutoFit/>
          </a:bodyPr>
          <a:lstStyle/>
          <a:p>
            <a:pPr>
              <a:buFontTx/>
              <a:buChar char="•"/>
            </a:pPr>
            <a:r>
              <a:rPr lang="zh-CN" altLang="en-US" sz="2400" dirty="0">
                <a:solidFill>
                  <a:srgbClr val="FF0000"/>
                </a:solidFill>
                <a:latin typeface="Arial" panose="020B0604020202020204" pitchFamily="34" charset="0"/>
              </a:rPr>
              <a:t>“守卫</a:t>
            </a:r>
            <a:r>
              <a:rPr lang="en-US" altLang="zh-CN" sz="2400" dirty="0">
                <a:solidFill>
                  <a:srgbClr val="FF0000"/>
                </a:solidFill>
                <a:latin typeface="Arial" panose="020B0604020202020204" pitchFamily="34" charset="0"/>
              </a:rPr>
              <a:t>(guard)”</a:t>
            </a:r>
            <a:r>
              <a:rPr lang="zh-CN" altLang="en-US" sz="2400" dirty="0">
                <a:solidFill>
                  <a:srgbClr val="FF0000"/>
                </a:solidFill>
                <a:latin typeface="Arial" panose="020B0604020202020204" pitchFamily="34" charset="0"/>
              </a:rPr>
              <a:t>的表达式</a:t>
            </a:r>
            <a:r>
              <a:rPr lang="zh-CN" altLang="en-US" sz="2400" dirty="0">
                <a:latin typeface="Arial" panose="020B0604020202020204" pitchFamily="34" charset="0"/>
              </a:rPr>
              <a:t>：过滤出一些满足条件的结果。</a:t>
            </a:r>
            <a:endParaRPr lang="zh-CN" altLang="en-US" sz="2400" dirty="0">
              <a:latin typeface="Arial" panose="020B0604020202020204" pitchFamily="34" charset="0"/>
            </a:endParaRPr>
          </a:p>
          <a:p>
            <a:endParaRPr lang="zh-CN" altLang="en-US" sz="2400" dirty="0">
              <a:latin typeface="Arial" panose="020B0604020202020204" pitchFamily="34" charset="0"/>
            </a:endParaRPr>
          </a:p>
        </p:txBody>
      </p:sp>
      <p:pic>
        <p:nvPicPr>
          <p:cNvPr id="47108" name="Picture 1" descr="C:\Users\Lenovo\AppData\Roaming\Tencent\Users\70004972\QQ\WinTemp\RichOle\`986WY}FR$)HE@2KGE~1M$L.png"/>
          <p:cNvPicPr>
            <a:picLocks noChangeAspect="1"/>
          </p:cNvPicPr>
          <p:nvPr/>
        </p:nvPicPr>
        <p:blipFill>
          <a:blip r:embed="rId1"/>
          <a:stretch>
            <a:fillRect/>
          </a:stretch>
        </p:blipFill>
        <p:spPr>
          <a:xfrm>
            <a:off x="1390650" y="3838575"/>
            <a:ext cx="5162550" cy="542925"/>
          </a:xfrm>
          <a:prstGeom prst="rect">
            <a:avLst/>
          </a:prstGeom>
          <a:noFill/>
          <a:ln w="9525">
            <a:noFill/>
          </a:ln>
        </p:spPr>
      </p:pic>
      <p:pic>
        <p:nvPicPr>
          <p:cNvPr id="47109" name="Picture 2" descr="C:\Users\Lenovo\AppData\Roaming\Tencent\Users\70004972\QQ\WinTemp\RichOle\0S}%KS_QVP@XMP]L[X_LJT6.png"/>
          <p:cNvPicPr>
            <a:picLocks noChangeAspect="1"/>
          </p:cNvPicPr>
          <p:nvPr/>
        </p:nvPicPr>
        <p:blipFill>
          <a:blip r:embed="rId2"/>
          <a:stretch>
            <a:fillRect/>
          </a:stretch>
        </p:blipFill>
        <p:spPr>
          <a:xfrm>
            <a:off x="1371600" y="4781550"/>
            <a:ext cx="2085975" cy="704850"/>
          </a:xfrm>
          <a:prstGeom prst="rect">
            <a:avLst/>
          </a:prstGeom>
          <a:noFill/>
          <a:ln w="9525">
            <a:noFill/>
          </a:ln>
        </p:spPr>
      </p:pic>
      <p:sp>
        <p:nvSpPr>
          <p:cNvPr id="100" name="文本框 99"/>
          <p:cNvSpPr txBox="1"/>
          <p:nvPr/>
        </p:nvSpPr>
        <p:spPr>
          <a:xfrm>
            <a:off x="1427162" y="3093041"/>
            <a:ext cx="6137275" cy="398780"/>
          </a:xfrm>
          <a:prstGeom prst="rect">
            <a:avLst/>
          </a:prstGeom>
          <a:noFill/>
          <a:ln w="9525">
            <a:noFill/>
          </a:ln>
        </p:spPr>
        <p:txBody>
          <a:bodyPr>
            <a:spAutoFit/>
          </a:bodyPr>
          <a:lstStyle/>
          <a:p>
            <a:pPr marR="0" defTabSz="914400">
              <a:buClrTx/>
              <a:buSzTx/>
              <a:defRPr/>
            </a:pPr>
            <a:r>
              <a:rPr kumimoji="0" lang="en-US" altLang="zh-CN" sz="2000" b="1" kern="1200" cap="none" spc="0" normalizeH="0" baseline="0" noProof="1">
                <a:highlight>
                  <a:srgbClr val="FFFFFF"/>
                </a:highlight>
                <a:latin typeface="Courier New" panose="02070309020205020404" pitchFamily="49" charset="0"/>
                <a:ea typeface="宋体" panose="02010600030101010101" pitchFamily="2" charset="-122"/>
                <a:cs typeface="Courier New" panose="02070309020205020404" pitchFamily="49" charset="0"/>
                <a:sym typeface="+mn-ea"/>
              </a:rPr>
              <a:t>for</a:t>
            </a:r>
            <a:r>
              <a:rPr kumimoji="0" lang="en-US" altLang="zh-CN" sz="2000" kern="1200" cap="none" spc="0" normalizeH="0" baseline="0" noProof="1">
                <a:highlight>
                  <a:srgbClr val="FFFFFF"/>
                </a:highlight>
                <a:latin typeface="Courier New" panose="02070309020205020404" pitchFamily="49" charset="0"/>
                <a:ea typeface="宋体" panose="02010600030101010101" pitchFamily="2" charset="-122"/>
                <a:cs typeface="Courier New" panose="02070309020205020404" pitchFamily="49" charset="0"/>
                <a:sym typeface="+mn-ea"/>
              </a:rPr>
              <a:t> (</a:t>
            </a:r>
            <a:r>
              <a:rPr kumimoji="0" lang="zh-CN" altLang="en-US" sz="2000" kern="1200" cap="none" spc="0" normalizeH="0" baseline="0" noProof="1">
                <a:latin typeface="宋体" panose="02010600030101010101" pitchFamily="2" charset="-122"/>
                <a:ea typeface="宋体" panose="02010600030101010101" pitchFamily="2" charset="-122"/>
                <a:cs typeface="宋体" panose="02010600030101010101" pitchFamily="2" charset="-122"/>
                <a:sym typeface="+mn-ea"/>
              </a:rPr>
              <a:t>变量 </a:t>
            </a:r>
            <a:r>
              <a:rPr kumimoji="0" lang="en-US" altLang="zh-CN" sz="2000" kern="1200" cap="none" spc="0" normalizeH="0" baseline="0" noProof="1">
                <a:latin typeface="Courier New" panose="02070309020205020404" pitchFamily="49" charset="0"/>
                <a:ea typeface="宋体" panose="02010600030101010101" pitchFamily="2" charset="-122"/>
                <a:cs typeface="Courier New" panose="02070309020205020404" pitchFamily="49" charset="0"/>
                <a:sym typeface="+mn-ea"/>
              </a:rPr>
              <a:t>&lt;- </a:t>
            </a:r>
            <a:r>
              <a:rPr kumimoji="0" lang="zh-CN" altLang="en-US" sz="2000" kern="1200" cap="none" spc="0" normalizeH="0" baseline="0" noProof="1">
                <a:latin typeface="宋体" panose="02010600030101010101" pitchFamily="2" charset="-122"/>
                <a:ea typeface="宋体" panose="02010600030101010101" pitchFamily="2" charset="-122"/>
                <a:cs typeface="宋体" panose="02010600030101010101" pitchFamily="2" charset="-122"/>
                <a:sym typeface="+mn-ea"/>
              </a:rPr>
              <a:t>表达式 </a:t>
            </a:r>
            <a:r>
              <a:rPr kumimoji="0" lang="en-US" altLang="zh-CN" sz="2000" b="1" kern="1200" cap="none" spc="0" normalizeH="0" baseline="0" noProof="1">
                <a:highlight>
                  <a:srgbClr val="FFFFFF"/>
                </a:highlight>
                <a:latin typeface="Courier New" panose="02070309020205020404" pitchFamily="49" charset="0"/>
                <a:ea typeface="宋体" panose="02010600030101010101" pitchFamily="2" charset="-122"/>
                <a:cs typeface="Courier New" panose="02070309020205020404" pitchFamily="49" charset="0"/>
                <a:sym typeface="+mn-ea"/>
              </a:rPr>
              <a:t>if</a:t>
            </a:r>
            <a:r>
              <a:rPr kumimoji="0" lang="en-US" altLang="zh-CN" sz="2000" b="1" kern="1200" cap="none" spc="0" normalizeH="0" baseline="0" noProof="1">
                <a:highlight>
                  <a:srgbClr val="FFFFFF"/>
                </a:highlight>
                <a:latin typeface="宋体" panose="02010600030101010101" pitchFamily="2" charset="-122"/>
                <a:ea typeface="宋体" panose="02010600030101010101" pitchFamily="2" charset="-122"/>
                <a:cs typeface="宋体" panose="02010600030101010101" pitchFamily="2" charset="-122"/>
                <a:sym typeface="+mn-ea"/>
              </a:rPr>
              <a:t> </a:t>
            </a:r>
            <a:r>
              <a:rPr kumimoji="0" lang="zh-CN" altLang="en-US" sz="2000" kern="1200" cap="none" spc="0" normalizeH="0" baseline="0" noProof="1">
                <a:latin typeface="宋体" panose="02010600030101010101" pitchFamily="2" charset="-122"/>
                <a:ea typeface="宋体" panose="02010600030101010101" pitchFamily="2" charset="-122"/>
                <a:cs typeface="宋体" panose="02010600030101010101" pitchFamily="2" charset="-122"/>
                <a:sym typeface="+mn-ea"/>
              </a:rPr>
              <a:t>条件表达式</a:t>
            </a:r>
            <a:r>
              <a:rPr kumimoji="0" lang="en-US" altLang="zh-CN" sz="2000" kern="1200" cap="none" spc="0" normalizeH="0" baseline="0" noProof="1">
                <a:highlight>
                  <a:srgbClr val="FFFFFF"/>
                </a:highlight>
                <a:latin typeface="Courier New" panose="02070309020205020404" pitchFamily="49" charset="0"/>
                <a:ea typeface="宋体" panose="02010600030101010101" pitchFamily="2" charset="-122"/>
                <a:cs typeface="Courier New" panose="02070309020205020404" pitchFamily="49" charset="0"/>
                <a:sym typeface="+mn-ea"/>
              </a:rPr>
              <a:t>) </a:t>
            </a:r>
            <a:r>
              <a:rPr kumimoji="0" lang="zh-CN" altLang="en-US" sz="2000" kern="1200" cap="none" spc="0" normalizeH="0" baseline="0" noProof="1">
                <a:latin typeface="宋体" panose="02010600030101010101" pitchFamily="2" charset="-122"/>
                <a:ea typeface="宋体" panose="02010600030101010101" pitchFamily="2" charset="-122"/>
                <a:cs typeface="宋体" panose="02010600030101010101" pitchFamily="2" charset="-122"/>
                <a:sym typeface="+mn-ea"/>
              </a:rPr>
              <a:t>语句块</a:t>
            </a:r>
            <a:endParaRPr kumimoji="0" lang="zh-CN" altLang="en-US" sz="2000" kern="1200" cap="none" spc="0" normalizeH="0" baseline="0" noProof="1">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7111" name="矩形 6"/>
          <p:cNvSpPr/>
          <p:nvPr/>
        </p:nvSpPr>
        <p:spPr>
          <a:xfrm>
            <a:off x="1143000" y="1143000"/>
            <a:ext cx="1539875" cy="645160"/>
          </a:xfrm>
          <a:prstGeom prst="rect">
            <a:avLst/>
          </a:prstGeom>
          <a:noFill/>
          <a:ln w="9525">
            <a:noFill/>
          </a:ln>
        </p:spPr>
        <p:txBody>
          <a:bodyPr wrap="none">
            <a:spAutoFit/>
          </a:bodyPr>
          <a:lstStyle/>
          <a:p>
            <a:pPr marL="457200" indent="-457200">
              <a:lnSpc>
                <a:spcPct val="150000"/>
              </a:lnSpc>
            </a:pPr>
            <a:r>
              <a:rPr lang="en-US" altLang="zh-CN" sz="2400" b="1" dirty="0">
                <a:latin typeface="Arial" panose="020B0604020202020204" pitchFamily="34" charset="0"/>
              </a:rPr>
              <a:t>3. for</a:t>
            </a:r>
            <a:r>
              <a:rPr lang="zh-CN" altLang="zh-CN" sz="2400" b="1" dirty="0">
                <a:latin typeface="Arial" panose="020B0604020202020204" pitchFamily="34" charset="0"/>
              </a:rPr>
              <a:t>循环</a:t>
            </a:r>
            <a:endParaRPr lang="zh-CN" altLang="zh-CN" sz="2400" b="1"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vert="horz" wrap="square" lIns="91440" tIns="45720" rIns="91440" bIns="45720" anchor="ctr"/>
          <a:lstStyle/>
          <a:p>
            <a:r>
              <a:rPr lang="en-US" altLang="zh-CN" dirty="0"/>
              <a:t>8.2.4 控制结构</a:t>
            </a:r>
            <a:endParaRPr lang="zh-CN" altLang="en-US" dirty="0"/>
          </a:p>
        </p:txBody>
      </p:sp>
      <p:sp>
        <p:nvSpPr>
          <p:cNvPr id="48131" name="矩形 2"/>
          <p:cNvSpPr/>
          <p:nvPr/>
        </p:nvSpPr>
        <p:spPr>
          <a:xfrm>
            <a:off x="791210" y="1880870"/>
            <a:ext cx="7560945" cy="398780"/>
          </a:xfrm>
          <a:prstGeom prst="rect">
            <a:avLst/>
          </a:prstGeom>
          <a:noFill/>
          <a:ln w="9525">
            <a:noFill/>
          </a:ln>
        </p:spPr>
        <p:txBody>
          <a:bodyPr wrap="square">
            <a:spAutoFit/>
          </a:bodyPr>
          <a:lstStyle/>
          <a:p>
            <a:r>
              <a:rPr lang="en-US" altLang="zh-CN" sz="2000" dirty="0">
                <a:latin typeface="Arial" panose="020B0604020202020204" pitchFamily="34" charset="0"/>
              </a:rPr>
              <a:t>Scala</a:t>
            </a:r>
            <a:r>
              <a:rPr lang="zh-CN" altLang="en-US" sz="2000" dirty="0">
                <a:latin typeface="Arial" panose="020B0604020202020204" pitchFamily="34" charset="0"/>
              </a:rPr>
              <a:t>也支持“多个生成器”的情形，可以用分号把它们隔开。</a:t>
            </a:r>
            <a:endParaRPr lang="zh-CN" altLang="en-US" sz="2000" dirty="0">
              <a:latin typeface="Arial" panose="020B0604020202020204" pitchFamily="34" charset="0"/>
            </a:endParaRPr>
          </a:p>
        </p:txBody>
      </p:sp>
      <p:pic>
        <p:nvPicPr>
          <p:cNvPr id="48132" name="Picture 1" descr="C:\Users\Lenovo\AppData\Roaming\Tencent\Users\70004972\QQ\WinTemp\RichOle\~7C~C$9Z5GDTYUS%W719ZC0.png"/>
          <p:cNvPicPr>
            <a:picLocks noChangeAspect="1"/>
          </p:cNvPicPr>
          <p:nvPr/>
        </p:nvPicPr>
        <p:blipFill>
          <a:blip r:embed="rId1"/>
          <a:stretch>
            <a:fillRect/>
          </a:stretch>
        </p:blipFill>
        <p:spPr>
          <a:xfrm>
            <a:off x="762000" y="2381250"/>
            <a:ext cx="5657850" cy="438150"/>
          </a:xfrm>
          <a:prstGeom prst="rect">
            <a:avLst/>
          </a:prstGeom>
          <a:noFill/>
          <a:ln w="9525">
            <a:noFill/>
          </a:ln>
        </p:spPr>
      </p:pic>
      <p:pic>
        <p:nvPicPr>
          <p:cNvPr id="48133" name="Picture 2" descr="C:\Users\Lenovo\AppData\Roaming\Tencent\Users\70004972\QQ\WinTemp\RichOle\5(XBIHDHX[DI3547ZCX6OYL.png"/>
          <p:cNvPicPr>
            <a:picLocks noChangeAspect="1"/>
          </p:cNvPicPr>
          <p:nvPr/>
        </p:nvPicPr>
        <p:blipFill>
          <a:blip r:embed="rId2"/>
          <a:stretch>
            <a:fillRect/>
          </a:stretch>
        </p:blipFill>
        <p:spPr>
          <a:xfrm>
            <a:off x="762000" y="2921000"/>
            <a:ext cx="2819400" cy="3632200"/>
          </a:xfrm>
          <a:prstGeom prst="rect">
            <a:avLst/>
          </a:prstGeom>
          <a:noFill/>
          <a:ln w="9525">
            <a:noFill/>
          </a:ln>
        </p:spPr>
      </p:pic>
      <p:sp>
        <p:nvSpPr>
          <p:cNvPr id="48134" name="矩形 5"/>
          <p:cNvSpPr/>
          <p:nvPr/>
        </p:nvSpPr>
        <p:spPr>
          <a:xfrm>
            <a:off x="762000" y="1066800"/>
            <a:ext cx="1539875" cy="645160"/>
          </a:xfrm>
          <a:prstGeom prst="rect">
            <a:avLst/>
          </a:prstGeom>
          <a:noFill/>
          <a:ln w="9525">
            <a:noFill/>
          </a:ln>
        </p:spPr>
        <p:txBody>
          <a:bodyPr wrap="none">
            <a:spAutoFit/>
          </a:bodyPr>
          <a:lstStyle/>
          <a:p>
            <a:pPr marL="457200" indent="-457200">
              <a:lnSpc>
                <a:spcPct val="150000"/>
              </a:lnSpc>
            </a:pPr>
            <a:r>
              <a:rPr lang="en-US" altLang="zh-CN" sz="2400" b="1" dirty="0">
                <a:latin typeface="Arial" panose="020B0604020202020204" pitchFamily="34" charset="0"/>
              </a:rPr>
              <a:t>3. for</a:t>
            </a:r>
            <a:r>
              <a:rPr lang="zh-CN" altLang="zh-CN" sz="2400" b="1" dirty="0">
                <a:latin typeface="Arial" panose="020B0604020202020204" pitchFamily="34" charset="0"/>
              </a:rPr>
              <a:t>循环</a:t>
            </a:r>
            <a:endParaRPr lang="zh-CN" altLang="zh-CN" sz="2400" b="1" dirty="0">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vert="horz" wrap="square" lIns="91440" tIns="45720" rIns="91440" bIns="45720" anchor="ctr"/>
          <a:lstStyle/>
          <a:p>
            <a:r>
              <a:rPr lang="en-US" altLang="zh-CN" dirty="0"/>
              <a:t>8.2.4 控制结构</a:t>
            </a:r>
            <a:endParaRPr lang="zh-CN" altLang="en-US" dirty="0"/>
          </a:p>
        </p:txBody>
      </p:sp>
      <p:sp>
        <p:nvSpPr>
          <p:cNvPr id="49155" name="Rectangle 1"/>
          <p:cNvSpPr/>
          <p:nvPr/>
        </p:nvSpPr>
        <p:spPr>
          <a:xfrm>
            <a:off x="609600" y="1871980"/>
            <a:ext cx="7634605" cy="1938020"/>
          </a:xfrm>
          <a:prstGeom prst="rect">
            <a:avLst/>
          </a:prstGeom>
          <a:solidFill>
            <a:srgbClr val="FFFFFF"/>
          </a:solidFill>
          <a:ln w="9525">
            <a:noFill/>
          </a:ln>
        </p:spPr>
        <p:txBody>
          <a:bodyPr wrap="square" anchor="ctr">
            <a:spAutoFit/>
          </a:bodyPr>
          <a:lstStyle/>
          <a:p>
            <a:pPr indent="0">
              <a:buFontTx/>
              <a:buNone/>
            </a:pPr>
            <a:r>
              <a:rPr lang="en-US" altLang="zh-CN" sz="2400" b="1" dirty="0">
                <a:solidFill>
                  <a:srgbClr val="FF0000"/>
                </a:solidFill>
                <a:latin typeface="Arial" panose="020B0604020202020204" pitchFamily="34" charset="0"/>
              </a:rPr>
              <a:t>for</a:t>
            </a:r>
            <a:r>
              <a:rPr lang="zh-CN" altLang="en-US" sz="2400" b="1" dirty="0">
                <a:solidFill>
                  <a:srgbClr val="FF0000"/>
                </a:solidFill>
                <a:latin typeface="Arial" panose="020B0604020202020204" pitchFamily="34" charset="0"/>
              </a:rPr>
              <a:t>推导式</a:t>
            </a:r>
            <a:r>
              <a:rPr lang="zh-CN" altLang="en-US" sz="2400" b="1" dirty="0">
                <a:latin typeface="Arial" panose="020B0604020202020204" pitchFamily="34" charset="0"/>
              </a:rPr>
              <a:t>：</a:t>
            </a:r>
            <a:r>
              <a:rPr lang="en-US" altLang="zh-CN" sz="2400" dirty="0">
                <a:solidFill>
                  <a:srgbClr val="000000"/>
                </a:solidFill>
                <a:latin typeface="Courier New" panose="02070309020205020404" pitchFamily="49" charset="0"/>
              </a:rPr>
              <a:t>for</a:t>
            </a:r>
            <a:r>
              <a:rPr lang="zh-CN" altLang="en-US" sz="2400" dirty="0">
                <a:solidFill>
                  <a:srgbClr val="000000"/>
                </a:solidFill>
                <a:latin typeface="Courier New" panose="02070309020205020404" pitchFamily="49" charset="0"/>
              </a:rPr>
              <a:t>结构可以在每次执行的时候创造一个值，然后将包含了所有产生值的集合作为</a:t>
            </a:r>
            <a:r>
              <a:rPr lang="en-US" altLang="zh-CN" sz="2400" dirty="0">
                <a:solidFill>
                  <a:srgbClr val="000000"/>
                </a:solidFill>
                <a:latin typeface="Courier New" panose="02070309020205020404" pitchFamily="49" charset="0"/>
              </a:rPr>
              <a:t>for</a:t>
            </a:r>
            <a:r>
              <a:rPr lang="zh-CN" altLang="en-US" sz="2400" dirty="0">
                <a:solidFill>
                  <a:srgbClr val="000000"/>
                </a:solidFill>
                <a:latin typeface="Courier New" panose="02070309020205020404" pitchFamily="49" charset="0"/>
              </a:rPr>
              <a:t>循环表达式的结果返回，集合的类型由生成器中的集合类型确定</a:t>
            </a:r>
            <a:endParaRPr lang="en-US" altLang="zh-CN" sz="2400" dirty="0">
              <a:latin typeface="Arial" panose="020B0604020202020204" pitchFamily="34" charset="0"/>
            </a:endParaRPr>
          </a:p>
          <a:p>
            <a:pPr indent="266700"/>
            <a:endParaRPr lang="en-US" altLang="zh-CN" sz="2400" dirty="0">
              <a:latin typeface="Arial" panose="020B0604020202020204" pitchFamily="34" charset="0"/>
            </a:endParaRPr>
          </a:p>
          <a:p>
            <a:pPr indent="266700"/>
            <a:r>
              <a:rPr lang="en-US" altLang="zh-CN" sz="2400" b="1" dirty="0">
                <a:solidFill>
                  <a:srgbClr val="0000FF"/>
                </a:solidFill>
                <a:latin typeface="Courier New" panose="02070309020205020404" pitchFamily="49" charset="0"/>
              </a:rPr>
              <a:t>for</a:t>
            </a:r>
            <a:r>
              <a:rPr lang="en-US" altLang="zh-CN" sz="2400" dirty="0">
                <a:solidFill>
                  <a:srgbClr val="000000"/>
                </a:solidFill>
                <a:latin typeface="Courier New" panose="02070309020205020404" pitchFamily="49" charset="0"/>
              </a:rPr>
              <a:t> (</a:t>
            </a:r>
            <a:r>
              <a:rPr lang="zh-CN" altLang="en-US" sz="2400" dirty="0">
                <a:solidFill>
                  <a:srgbClr val="000000"/>
                </a:solidFill>
                <a:latin typeface="Courier New" panose="02070309020205020404" pitchFamily="49" charset="0"/>
              </a:rPr>
              <a:t>变量 </a:t>
            </a:r>
            <a:r>
              <a:rPr lang="en-US" altLang="zh-CN" sz="2400" dirty="0">
                <a:solidFill>
                  <a:srgbClr val="000000"/>
                </a:solidFill>
                <a:latin typeface="Courier New" panose="02070309020205020404" pitchFamily="49" charset="0"/>
              </a:rPr>
              <a:t>&lt;- </a:t>
            </a:r>
            <a:r>
              <a:rPr lang="zh-CN" altLang="en-US" sz="2400" dirty="0">
                <a:solidFill>
                  <a:srgbClr val="000000"/>
                </a:solidFill>
                <a:latin typeface="Courier New" panose="02070309020205020404" pitchFamily="49" charset="0"/>
              </a:rPr>
              <a:t>表达式</a:t>
            </a:r>
            <a:r>
              <a:rPr lang="en-US" altLang="zh-CN" sz="2400" dirty="0">
                <a:solidFill>
                  <a:srgbClr val="000000"/>
                </a:solidFill>
                <a:latin typeface="Courier New" panose="02070309020205020404" pitchFamily="49" charset="0"/>
              </a:rPr>
              <a:t>) </a:t>
            </a:r>
            <a:r>
              <a:rPr lang="en-US" altLang="zh-CN" sz="2400" b="1" dirty="0">
                <a:solidFill>
                  <a:srgbClr val="0000FF"/>
                </a:solidFill>
                <a:latin typeface="Courier New" panose="02070309020205020404" pitchFamily="49" charset="0"/>
              </a:rPr>
              <a:t>yield</a:t>
            </a:r>
            <a:r>
              <a:rPr lang="en-US" altLang="zh-CN" sz="2400" dirty="0">
                <a:solidFill>
                  <a:srgbClr val="000000"/>
                </a:solidFill>
                <a:latin typeface="Courier New" panose="02070309020205020404" pitchFamily="49" charset="0"/>
              </a:rPr>
              <a:t> </a:t>
            </a:r>
            <a:r>
              <a:rPr lang="en-US" altLang="zh-CN" sz="2400" b="1" dirty="0">
                <a:solidFill>
                  <a:srgbClr val="0000FF"/>
                </a:solidFill>
                <a:latin typeface="Courier New" panose="02070309020205020404" pitchFamily="49" charset="0"/>
              </a:rPr>
              <a:t>{</a:t>
            </a:r>
            <a:r>
              <a:rPr lang="zh-CN" altLang="en-US" sz="2400" dirty="0">
                <a:solidFill>
                  <a:srgbClr val="000000"/>
                </a:solidFill>
                <a:latin typeface="Courier New" panose="02070309020205020404" pitchFamily="49" charset="0"/>
              </a:rPr>
              <a:t>语句块</a:t>
            </a:r>
            <a:r>
              <a:rPr lang="en-US" altLang="zh-CN" sz="2400" b="1" dirty="0">
                <a:solidFill>
                  <a:srgbClr val="0000FF"/>
                </a:solidFill>
                <a:latin typeface="Courier New" panose="02070309020205020404" pitchFamily="49" charset="0"/>
              </a:rPr>
              <a:t>}</a:t>
            </a:r>
            <a:endParaRPr lang="en-US" altLang="zh-CN" sz="2400" dirty="0">
              <a:latin typeface="Arial" panose="020B0604020202020204" pitchFamily="34" charset="0"/>
            </a:endParaRPr>
          </a:p>
        </p:txBody>
      </p:sp>
      <p:sp>
        <p:nvSpPr>
          <p:cNvPr id="49156" name="矩形 5"/>
          <p:cNvSpPr/>
          <p:nvPr/>
        </p:nvSpPr>
        <p:spPr>
          <a:xfrm>
            <a:off x="654050" y="1092200"/>
            <a:ext cx="1539875" cy="645160"/>
          </a:xfrm>
          <a:prstGeom prst="rect">
            <a:avLst/>
          </a:prstGeom>
          <a:noFill/>
          <a:ln w="9525">
            <a:noFill/>
          </a:ln>
        </p:spPr>
        <p:txBody>
          <a:bodyPr wrap="none">
            <a:spAutoFit/>
          </a:bodyPr>
          <a:lstStyle/>
          <a:p>
            <a:pPr marL="457200" indent="-457200">
              <a:lnSpc>
                <a:spcPct val="150000"/>
              </a:lnSpc>
            </a:pPr>
            <a:r>
              <a:rPr lang="en-US" altLang="zh-CN" sz="2400" b="1" dirty="0">
                <a:latin typeface="Arial" panose="020B0604020202020204" pitchFamily="34" charset="0"/>
              </a:rPr>
              <a:t>3. for</a:t>
            </a:r>
            <a:r>
              <a:rPr lang="zh-CN" altLang="zh-CN" sz="2400" b="1" dirty="0">
                <a:latin typeface="Arial" panose="020B0604020202020204" pitchFamily="34" charset="0"/>
              </a:rPr>
              <a:t>循环</a:t>
            </a:r>
            <a:endParaRPr lang="zh-CN" altLang="zh-CN" sz="2400" b="1" dirty="0">
              <a:latin typeface="Arial" panose="020B0604020202020204" pitchFamily="34" charset="0"/>
            </a:endParaRPr>
          </a:p>
        </p:txBody>
      </p:sp>
      <p:sp>
        <p:nvSpPr>
          <p:cNvPr id="7" name="TextBox 6"/>
          <p:cNvSpPr txBox="1"/>
          <p:nvPr/>
        </p:nvSpPr>
        <p:spPr>
          <a:xfrm>
            <a:off x="685800" y="4495800"/>
            <a:ext cx="7848600" cy="1322070"/>
          </a:xfrm>
          <a:prstGeom prst="rect">
            <a:avLst/>
          </a:prstGeom>
          <a:solidFill>
            <a:schemeClr val="bg1">
              <a:lumMod val="95000"/>
            </a:schemeClr>
          </a:solidFill>
        </p:spPr>
        <p:txBody>
          <a:bodyPr>
            <a:spAutoFit/>
          </a:bodyPr>
          <a:lstStyle/>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2000" kern="1200" cap="none" spc="0" normalizeH="0" baseline="0" noProof="0" dirty="0">
                <a:latin typeface="Arial" panose="020B0604020202020204" pitchFamily="34" charset="0"/>
                <a:ea typeface="宋体" panose="02010600030101010101" pitchFamily="2" charset="-122"/>
                <a:cs typeface="+mn-cs"/>
              </a:rPr>
              <a:t>&gt;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2000" kern="1200" cap="none" spc="0" normalizeH="0" baseline="0" noProof="0" dirty="0">
                <a:latin typeface="Arial" panose="020B0604020202020204" pitchFamily="34" charset="0"/>
                <a:ea typeface="宋体" panose="02010600030101010101" pitchFamily="2" charset="-122"/>
                <a:cs typeface="+mn-cs"/>
              </a:rPr>
              <a:t> r=for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a:t>
            </a:r>
            <a:r>
              <a:rPr kumimoji="0" lang="en-US" altLang="zh-CN" sz="2000" kern="1200" cap="none" spc="0" normalizeH="0" baseline="0" noProof="0" dirty="0">
                <a:latin typeface="Arial" panose="020B0604020202020204" pitchFamily="34" charset="0"/>
                <a:ea typeface="宋体" panose="02010600030101010101" pitchFamily="2" charset="-122"/>
                <a:cs typeface="+mn-cs"/>
              </a:rPr>
              <a:t> &lt;- Array(1,2,3,4,5) if i%2==0) yield {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2</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4</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r: Array[</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 Array(2,4)</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endParaRPr lang="zh-CN" altLang="en-US" dirty="0"/>
          </a:p>
        </p:txBody>
      </p:sp>
      <p:sp>
        <p:nvSpPr>
          <p:cNvPr id="3" name="内容占位符 2"/>
          <p:cNvSpPr>
            <a:spLocks noGrp="1"/>
          </p:cNvSpPr>
          <p:nvPr>
            <p:ph idx="1"/>
          </p:nvPr>
        </p:nvSpPr>
        <p:spPr/>
        <p:txBody>
          <a:bodyPr/>
          <a:lstStyle/>
          <a:p>
            <a:pPr marL="0" indent="0">
              <a:buNone/>
            </a:pPr>
            <a:r>
              <a:rPr lang="en-US" altLang="zh-CN" dirty="0"/>
              <a:t>8.1 Scala</a:t>
            </a:r>
            <a:r>
              <a:rPr lang="zh-CN" altLang="en-US" dirty="0"/>
              <a:t>语言概述</a:t>
            </a:r>
            <a:endParaRPr lang="en-US" altLang="zh-CN" dirty="0"/>
          </a:p>
          <a:p>
            <a:pPr marL="0" indent="0">
              <a:buNone/>
            </a:pPr>
            <a:r>
              <a:rPr lang="en-US" altLang="zh-CN" dirty="0"/>
              <a:t>8.2 Scala</a:t>
            </a:r>
            <a:r>
              <a:rPr lang="zh-CN" altLang="en-US" dirty="0"/>
              <a:t>语言基础</a:t>
            </a:r>
            <a:endParaRPr lang="zh-CN" altLang="en-US" dirty="0"/>
          </a:p>
          <a:p>
            <a:pPr marL="0" indent="0">
              <a:buNone/>
            </a:pPr>
            <a:r>
              <a:rPr lang="en-US" altLang="zh-CN" dirty="0">
                <a:solidFill>
                  <a:srgbClr val="FF0000"/>
                </a:solidFill>
              </a:rPr>
              <a:t>8.3 </a:t>
            </a:r>
            <a:r>
              <a:rPr lang="zh-CN" altLang="en-US" dirty="0">
                <a:solidFill>
                  <a:srgbClr val="FF0000"/>
                </a:solidFill>
              </a:rPr>
              <a:t>面向对象编程</a:t>
            </a:r>
            <a:endParaRPr lang="en-US" altLang="zh-CN" dirty="0">
              <a:solidFill>
                <a:srgbClr val="FF0000"/>
              </a:solidFill>
            </a:endParaRPr>
          </a:p>
          <a:p>
            <a:pPr marL="0" indent="0">
              <a:buNone/>
            </a:pPr>
            <a:r>
              <a:rPr lang="en-US" altLang="zh-CN" dirty="0">
                <a:sym typeface="+mn-ea"/>
              </a:rPr>
              <a:t>8.4 </a:t>
            </a:r>
            <a:r>
              <a:rPr lang="zh-CN" altLang="en-US" dirty="0"/>
              <a:t>函数式编程</a:t>
            </a:r>
            <a:endParaRPr lang="zh-CN" altLang="en-US" dirty="0"/>
          </a:p>
          <a:p>
            <a:pPr marL="0" indent="0">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a:t>
            </a:r>
            <a:r>
              <a:rPr lang="zh-CN" altLang="zh-CN" dirty="0"/>
              <a:t>面向对象编程基础</a:t>
            </a:r>
            <a:endParaRPr lang="zh-CN" altLang="en-US" dirty="0"/>
          </a:p>
        </p:txBody>
      </p:sp>
      <p:sp>
        <p:nvSpPr>
          <p:cNvPr id="3" name="内容占位符 2"/>
          <p:cNvSpPr>
            <a:spLocks noGrp="1"/>
          </p:cNvSpPr>
          <p:nvPr>
            <p:ph idx="1"/>
          </p:nvPr>
        </p:nvSpPr>
        <p:spPr/>
        <p:txBody>
          <a:bodyPr/>
          <a:lstStyle/>
          <a:p>
            <a:pPr>
              <a:lnSpc>
                <a:spcPct val="150000"/>
              </a:lnSpc>
            </a:pPr>
            <a:r>
              <a:rPr lang="en-US" altLang="zh-CN" dirty="0">
                <a:latin typeface="Arial" panose="020B0604020202020204" pitchFamily="34" charset="0"/>
              </a:rPr>
              <a:t>8.3.1 </a:t>
            </a:r>
            <a:r>
              <a:rPr lang="zh-CN" altLang="en-US" dirty="0">
                <a:latin typeface="Arial" panose="020B0604020202020204" pitchFamily="34" charset="0"/>
              </a:rPr>
              <a:t>类</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8.3.2 </a:t>
            </a:r>
            <a:r>
              <a:rPr lang="zh-CN" altLang="en-US" dirty="0">
                <a:latin typeface="Arial" panose="020B0604020202020204" pitchFamily="34" charset="0"/>
              </a:rPr>
              <a:t>对象</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8.3.3 </a:t>
            </a:r>
            <a:r>
              <a:rPr lang="zh-CN" altLang="en-US" dirty="0">
                <a:latin typeface="Arial" panose="020B0604020202020204" pitchFamily="34" charset="0"/>
              </a:rPr>
              <a:t>继承</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8.3.4 </a:t>
            </a:r>
            <a:r>
              <a:rPr lang="zh-CN" altLang="en-US" dirty="0">
                <a:latin typeface="Arial" panose="020B0604020202020204" pitchFamily="34" charset="0"/>
              </a:rPr>
              <a:t>特质</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8.3.5 </a:t>
            </a:r>
            <a:r>
              <a:rPr lang="zh-CN" altLang="en-US" dirty="0">
                <a:latin typeface="Arial" panose="020B0604020202020204" pitchFamily="34" charset="0"/>
              </a:rPr>
              <a:t>模式匹配</a:t>
            </a:r>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8.3.1 </a:t>
            </a:r>
            <a:r>
              <a:rPr lang="zh-CN" altLang="en-US" dirty="0"/>
              <a:t>类</a:t>
            </a:r>
            <a:endParaRPr lang="zh-CN" altLang="en-US" dirty="0"/>
          </a:p>
        </p:txBody>
      </p:sp>
      <p:sp>
        <p:nvSpPr>
          <p:cNvPr id="3" name="内容占位符 2"/>
          <p:cNvSpPr>
            <a:spLocks noGrp="1"/>
          </p:cNvSpPr>
          <p:nvPr>
            <p:ph idx="1"/>
          </p:nvPr>
        </p:nvSpPr>
        <p:spPr/>
        <p:txBody>
          <a:bodyPr/>
          <a:lstStyle/>
          <a:p>
            <a:pPr>
              <a:lnSpc>
                <a:spcPct val="150000"/>
              </a:lnSpc>
            </a:pPr>
            <a:r>
              <a:rPr lang="en-US" altLang="zh-CN" dirty="0">
                <a:latin typeface="Arial" panose="020B0604020202020204" pitchFamily="34" charset="0"/>
              </a:rPr>
              <a:t>1. </a:t>
            </a:r>
            <a:r>
              <a:rPr lang="zh-CN" altLang="en-US" dirty="0">
                <a:latin typeface="Arial" panose="020B0604020202020204" pitchFamily="34" charset="0"/>
              </a:rPr>
              <a:t>类的定义</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2. </a:t>
            </a:r>
            <a:r>
              <a:rPr lang="zh-CN" altLang="en-US" dirty="0">
                <a:latin typeface="Arial" panose="020B0604020202020204" pitchFamily="34" charset="0"/>
              </a:rPr>
              <a:t>类成员的可见性</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3. </a:t>
            </a:r>
            <a:r>
              <a:rPr lang="zh-CN" altLang="en-US" dirty="0">
                <a:latin typeface="Arial" panose="020B0604020202020204" pitchFamily="34" charset="0"/>
              </a:rPr>
              <a:t>方法的定义方式</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4. </a:t>
            </a:r>
            <a:r>
              <a:rPr lang="zh-CN" altLang="en-US" dirty="0">
                <a:latin typeface="Arial" panose="020B0604020202020204" pitchFamily="34" charset="0"/>
              </a:rPr>
              <a:t>构造器</a:t>
            </a:r>
            <a:endParaRPr lang="en-US" altLang="zh-CN" dirty="0">
              <a:latin typeface="Arial" panose="020B0604020202020204" pitchFamily="34" charset="0"/>
            </a:endParaRPr>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77827" name="矩形 2"/>
          <p:cNvSpPr/>
          <p:nvPr/>
        </p:nvSpPr>
        <p:spPr>
          <a:xfrm>
            <a:off x="690563" y="1282700"/>
            <a:ext cx="1661160" cy="460375"/>
          </a:xfrm>
          <a:prstGeom prst="rect">
            <a:avLst/>
          </a:prstGeom>
          <a:noFill/>
          <a:ln w="9525">
            <a:noFill/>
          </a:ln>
        </p:spPr>
        <p:txBody>
          <a:bodyPr wrap="none">
            <a:spAutoFit/>
          </a:bodyPr>
          <a:lstStyle/>
          <a:p>
            <a:r>
              <a:rPr lang="en-US" altLang="zh-CN" sz="2400" b="1" dirty="0">
                <a:latin typeface="Arial" panose="020B0604020202020204" pitchFamily="34" charset="0"/>
              </a:rPr>
              <a:t>1.</a:t>
            </a:r>
            <a:r>
              <a:rPr lang="zh-CN" altLang="en-US" sz="2400" b="1" dirty="0">
                <a:latin typeface="Arial" panose="020B0604020202020204" pitchFamily="34" charset="0"/>
              </a:rPr>
              <a:t>类的定义</a:t>
            </a:r>
            <a:endParaRPr lang="zh-CN" altLang="en-US" sz="2400" b="1" dirty="0">
              <a:latin typeface="Arial" panose="020B0604020202020204" pitchFamily="34" charset="0"/>
            </a:endParaRPr>
          </a:p>
        </p:txBody>
      </p:sp>
      <p:sp>
        <p:nvSpPr>
          <p:cNvPr id="2" name="矩形 1"/>
          <p:cNvSpPr/>
          <p:nvPr/>
        </p:nvSpPr>
        <p:spPr>
          <a:xfrm>
            <a:off x="685800" y="3048000"/>
            <a:ext cx="5715000" cy="4603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字段定义：</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用</a:t>
            </a:r>
            <a:r>
              <a:rPr kumimoji="0" lang="en-US" altLang="zh-CN" sz="2400" b="0" i="0" u="none" strike="noStrike" kern="100" cap="none" spc="0" normalizeH="0" baseline="0" noProof="0" dirty="0" err="1">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val</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或</a:t>
            </a:r>
            <a:r>
              <a:rPr kumimoji="0" lang="en-US" altLang="zh-CN" sz="2400" b="0" i="0" u="none" strike="noStrike" kern="100" cap="none" spc="0" normalizeH="0" baseline="0" noProof="0" dirty="0" err="1">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var</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关键字进行定义</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3" name="矩形 2"/>
          <p:cNvSpPr/>
          <p:nvPr/>
        </p:nvSpPr>
        <p:spPr>
          <a:xfrm>
            <a:off x="762000" y="4111625"/>
            <a:ext cx="7570788" cy="460375"/>
          </a:xfrm>
          <a:prstGeom prst="rect">
            <a:avLst/>
          </a:prstGeom>
          <a:solidFill>
            <a:schemeClr val="bg1">
              <a:lumMod val="95000"/>
            </a:schemeClr>
          </a:solidFill>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def </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方法名</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参数列表</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返回结果类型</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方法体</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8" name="TextBox 7"/>
          <p:cNvSpPr txBox="1"/>
          <p:nvPr/>
        </p:nvSpPr>
        <p:spPr>
          <a:xfrm>
            <a:off x="762000" y="1873250"/>
            <a:ext cx="7543800" cy="1014730"/>
          </a:xfrm>
          <a:prstGeom prst="rect">
            <a:avLst/>
          </a:prstGeom>
          <a:solidFill>
            <a:schemeClr val="bg1">
              <a:lumMod val="9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class Counter{</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zh-CN" altLang="zh-CN" sz="2000" kern="1200" cap="none" spc="0" normalizeH="0" baseline="0" noProof="0" dirty="0">
                <a:latin typeface="Arial" panose="020B0604020202020204" pitchFamily="34" charset="0"/>
                <a:ea typeface="宋体" panose="02010600030101010101" pitchFamily="2" charset="-122"/>
                <a:cs typeface="+mn-cs"/>
              </a:rPr>
              <a:t>这里定义类的字段和方法</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9" name="TextBox 8"/>
          <p:cNvSpPr txBox="1"/>
          <p:nvPr/>
        </p:nvSpPr>
        <p:spPr>
          <a:xfrm>
            <a:off x="762000" y="4768850"/>
            <a:ext cx="7620000" cy="1630045"/>
          </a:xfrm>
          <a:prstGeom prst="rect">
            <a:avLst/>
          </a:prstGeom>
          <a:solidFill>
            <a:schemeClr val="bg1">
              <a:lumMod val="9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class Counter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2000" kern="1200" cap="none" spc="0" normalizeH="0" baseline="0" noProof="0" dirty="0">
                <a:latin typeface="Arial" panose="020B0604020202020204" pitchFamily="34" charset="0"/>
                <a:ea typeface="宋体" panose="02010600030101010101" pitchFamily="2" charset="-122"/>
                <a:cs typeface="+mn-cs"/>
              </a:rPr>
              <a:t> value = 0</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increment(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step:Int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):Unit = { value += step}</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current():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 {value}</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10" name="矩形 9"/>
          <p:cNvSpPr/>
          <p:nvPr/>
        </p:nvSpPr>
        <p:spPr>
          <a:xfrm>
            <a:off x="719138" y="3576638"/>
            <a:ext cx="1706880" cy="4603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方法定义：</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bldLvl="0" animBg="1"/>
      <p:bldP spid="9" grpId="0" bldLvl="0" animBg="1"/>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78851" name="矩形 7"/>
          <p:cNvSpPr/>
          <p:nvPr/>
        </p:nvSpPr>
        <p:spPr>
          <a:xfrm>
            <a:off x="457200" y="3805238"/>
            <a:ext cx="7620000" cy="460375"/>
          </a:xfrm>
          <a:prstGeom prst="rect">
            <a:avLst/>
          </a:prstGeom>
          <a:noFill/>
          <a:ln w="9525">
            <a:noFill/>
          </a:ln>
        </p:spPr>
        <p:txBody>
          <a:bodyPr>
            <a:spAutoFit/>
          </a:bodyPr>
          <a:lstStyle/>
          <a:p>
            <a:r>
              <a:rPr lang="zh-CN" altLang="en-US" sz="2400" dirty="0">
                <a:latin typeface="Arial" panose="020B0604020202020204" pitchFamily="34" charset="0"/>
              </a:rPr>
              <a:t>使用</a:t>
            </a:r>
            <a:r>
              <a:rPr lang="en-US" altLang="zh-CN" sz="2400" dirty="0">
                <a:latin typeface="Arial" panose="020B0604020202020204" pitchFamily="34" charset="0"/>
              </a:rPr>
              <a:t>new</a:t>
            </a:r>
            <a:r>
              <a:rPr lang="zh-CN" altLang="en-US" sz="2400" dirty="0">
                <a:latin typeface="Arial" panose="020B0604020202020204" pitchFamily="34" charset="0"/>
              </a:rPr>
              <a:t>关键字创建一个类的实例</a:t>
            </a:r>
            <a:endParaRPr lang="en-US" altLang="zh-CN" sz="2400" dirty="0">
              <a:latin typeface="Arial" panose="020B0604020202020204" pitchFamily="34" charset="0"/>
            </a:endParaRPr>
          </a:p>
        </p:txBody>
      </p:sp>
      <p:sp>
        <p:nvSpPr>
          <p:cNvPr id="6" name="TextBox 5"/>
          <p:cNvSpPr txBox="1"/>
          <p:nvPr/>
        </p:nvSpPr>
        <p:spPr>
          <a:xfrm>
            <a:off x="533400" y="1797050"/>
            <a:ext cx="7620000" cy="1630045"/>
          </a:xfrm>
          <a:prstGeom prst="rect">
            <a:avLst/>
          </a:prstGeom>
          <a:solidFill>
            <a:schemeClr val="bg1">
              <a:lumMod val="9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class Counter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2000" kern="1200" cap="none" spc="0" normalizeH="0" baseline="0" noProof="0" dirty="0">
                <a:latin typeface="Arial" panose="020B0604020202020204" pitchFamily="34" charset="0"/>
                <a:ea typeface="宋体" panose="02010600030101010101" pitchFamily="2" charset="-122"/>
                <a:cs typeface="+mn-cs"/>
              </a:rPr>
              <a:t> value = 0</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increment(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step:Int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):Unit = { value += step}</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current():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 {value}</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78853" name="矩形 2"/>
          <p:cNvSpPr/>
          <p:nvPr/>
        </p:nvSpPr>
        <p:spPr>
          <a:xfrm>
            <a:off x="457200" y="1162050"/>
            <a:ext cx="1661160" cy="460375"/>
          </a:xfrm>
          <a:prstGeom prst="rect">
            <a:avLst/>
          </a:prstGeom>
          <a:noFill/>
          <a:ln w="9525">
            <a:noFill/>
          </a:ln>
        </p:spPr>
        <p:txBody>
          <a:bodyPr wrap="none">
            <a:spAutoFit/>
          </a:bodyPr>
          <a:lstStyle/>
          <a:p>
            <a:r>
              <a:rPr lang="en-US" altLang="zh-CN" sz="2400" b="1" dirty="0">
                <a:latin typeface="Arial" panose="020B0604020202020204" pitchFamily="34" charset="0"/>
              </a:rPr>
              <a:t>1.</a:t>
            </a:r>
            <a:r>
              <a:rPr lang="zh-CN" altLang="en-US" sz="2400" b="1" dirty="0">
                <a:latin typeface="Arial" panose="020B0604020202020204" pitchFamily="34" charset="0"/>
              </a:rPr>
              <a:t>类的定义</a:t>
            </a:r>
            <a:endParaRPr lang="zh-CN" altLang="en-US" sz="2400" b="1" dirty="0">
              <a:latin typeface="Arial" panose="020B0604020202020204" pitchFamily="34" charset="0"/>
            </a:endParaRPr>
          </a:p>
        </p:txBody>
      </p:sp>
      <p:sp>
        <p:nvSpPr>
          <p:cNvPr id="9" name="TextBox 8"/>
          <p:cNvSpPr txBox="1"/>
          <p:nvPr/>
        </p:nvSpPr>
        <p:spPr>
          <a:xfrm>
            <a:off x="457200" y="4495800"/>
            <a:ext cx="8420100" cy="1322070"/>
          </a:xfrm>
          <a:prstGeom prst="rect">
            <a:avLst/>
          </a:prstGeom>
          <a:solidFill>
            <a:schemeClr val="bg1">
              <a:lumMod val="95000"/>
            </a:schemeClr>
          </a:solidFill>
        </p:spPr>
        <p:txBody>
          <a:bodyPr wrap="none">
            <a:spAutoFit/>
          </a:bodyPr>
          <a:lstStyle/>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myCounter</a:t>
            </a:r>
            <a:r>
              <a:rPr kumimoji="0" lang="en-US" altLang="zh-CN" sz="2000" kern="1200" cap="none" spc="0" normalizeH="0" baseline="0" noProof="0" dirty="0">
                <a:latin typeface="Arial" panose="020B0604020202020204" pitchFamily="34" charset="0"/>
                <a:ea typeface="宋体" panose="02010600030101010101" pitchFamily="2" charset="-122"/>
                <a:cs typeface="+mn-cs"/>
              </a:rPr>
              <a:t> = new Counter</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myCounter.value</a:t>
            </a:r>
            <a:r>
              <a:rPr kumimoji="0" lang="en-US" altLang="zh-CN" sz="2000" kern="1200" cap="none" spc="0" normalizeH="0" baseline="0" noProof="0" dirty="0">
                <a:latin typeface="Arial" panose="020B0604020202020204" pitchFamily="34" charset="0"/>
                <a:ea typeface="宋体" panose="02010600030101010101" pitchFamily="2" charset="-122"/>
                <a:cs typeface="+mn-cs"/>
              </a:rPr>
              <a:t> = 5 //</a:t>
            </a:r>
            <a:r>
              <a:rPr kumimoji="0" lang="zh-CN" altLang="zh-CN" sz="2000" kern="1200" cap="none" spc="0" normalizeH="0" baseline="0" noProof="0" dirty="0">
                <a:latin typeface="Arial" panose="020B0604020202020204" pitchFamily="34" charset="0"/>
                <a:ea typeface="宋体" panose="02010600030101010101" pitchFamily="2" charset="-122"/>
                <a:cs typeface="+mn-cs"/>
              </a:rPr>
              <a:t>访问字段</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myCounter</a:t>
            </a:r>
            <a:r>
              <a:rPr kumimoji="0" lang="en-US" altLang="zh-CN" sz="2000" kern="1200" cap="none" spc="0" normalizeH="0" baseline="0" noProof="0" dirty="0">
                <a:latin typeface="Arial" panose="020B0604020202020204" pitchFamily="34" charset="0"/>
                <a:ea typeface="宋体" panose="02010600030101010101" pitchFamily="2" charset="-122"/>
                <a:cs typeface="+mn-cs"/>
              </a:rPr>
              <a:t>. increment(3) //</a:t>
            </a:r>
            <a:r>
              <a:rPr kumimoji="0" lang="zh-CN" altLang="zh-CN" sz="2000" kern="1200" cap="none" spc="0" normalizeH="0" baseline="0" noProof="0" dirty="0">
                <a:latin typeface="Arial" panose="020B0604020202020204" pitchFamily="34" charset="0"/>
                <a:ea typeface="宋体" panose="02010600030101010101" pitchFamily="2" charset="-122"/>
                <a:cs typeface="+mn-cs"/>
              </a:rPr>
              <a:t>调用方法</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myCounter.current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zh-CN" altLang="zh-CN" sz="2000" kern="1200" cap="none" spc="0" normalizeH="0" baseline="0" noProof="0" dirty="0">
                <a:latin typeface="Arial" panose="020B0604020202020204" pitchFamily="34" charset="0"/>
                <a:ea typeface="宋体" panose="02010600030101010101" pitchFamily="2" charset="-122"/>
                <a:cs typeface="+mn-cs"/>
              </a:rPr>
              <a:t>调用无参数方法时，可以省略方法名后的括号</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2" name="矩形 1"/>
          <p:cNvSpPr/>
          <p:nvPr/>
        </p:nvSpPr>
        <p:spPr>
          <a:xfrm>
            <a:off x="457200" y="1952625"/>
            <a:ext cx="7859216" cy="230695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altLang="zh-CN"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Scala</a:t>
            </a:r>
            <a:r>
              <a:rPr kumimoji="0" lang="zh-CN" altLang="zh-CN"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类</a:t>
            </a:r>
            <a:r>
              <a:rPr kumimoji="0" lang="zh-CN" altLang="en-US"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中</a:t>
            </a:r>
            <a:r>
              <a:rPr kumimoji="0" lang="zh-CN" altLang="zh-CN"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所有成员的默认可见性为公有</a:t>
            </a: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任何作用域内都能直接访问公有成员</a:t>
            </a:r>
            <a:endPar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除了默认的公有可见性，</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Scala</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也提供</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private</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和</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protected</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，其中，</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private</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成员只对本类型和嵌套类型可见；</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protected</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成员对本类型和其继承类型都可见</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79876" name="矩形 6"/>
          <p:cNvSpPr/>
          <p:nvPr/>
        </p:nvSpPr>
        <p:spPr>
          <a:xfrm>
            <a:off x="457200" y="1143000"/>
            <a:ext cx="266382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2. </a:t>
            </a:r>
            <a:r>
              <a:rPr lang="zh-CN" altLang="en-US" sz="2400" b="1" dirty="0">
                <a:latin typeface="Arial" panose="020B0604020202020204" pitchFamily="34" charset="0"/>
              </a:rPr>
              <a:t>类成员的可见性</a:t>
            </a:r>
            <a:endParaRPr lang="en-US" altLang="zh-CN" sz="2400" b="1" dirty="0">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3" name="矩形 2"/>
          <p:cNvSpPr/>
          <p:nvPr/>
        </p:nvSpPr>
        <p:spPr>
          <a:xfrm>
            <a:off x="468313" y="1924050"/>
            <a:ext cx="7989888" cy="119888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为了避免直接暴露</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public</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字段</a:t>
            </a: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建议将</a:t>
            </a: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字段</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设置为</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private</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对于</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private</a:t>
            </a: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字段</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Scala</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采用类似</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Java</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中的</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getter</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和</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setter</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方法，定义了两个成对的</a:t>
            </a:r>
            <a:r>
              <a:rPr kumimoji="0" lang="zh-CN" altLang="zh-CN"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方法</a:t>
            </a:r>
            <a:r>
              <a:rPr kumimoji="0" lang="en-US" altLang="zh-CN"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value</a:t>
            </a:r>
            <a:r>
              <a:rPr kumimoji="0" lang="zh-CN" altLang="zh-CN"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和</a:t>
            </a:r>
            <a:r>
              <a:rPr kumimoji="0" lang="en-US" altLang="zh-CN" sz="24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value_=</a:t>
            </a: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进行读取和修改</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pic>
        <p:nvPicPr>
          <p:cNvPr id="80900" name="图片 5"/>
          <p:cNvPicPr>
            <a:picLocks noChangeAspect="1"/>
          </p:cNvPicPr>
          <p:nvPr/>
        </p:nvPicPr>
        <p:blipFill>
          <a:blip r:embed="rId1"/>
          <a:stretch>
            <a:fillRect/>
          </a:stretch>
        </p:blipFill>
        <p:spPr>
          <a:xfrm>
            <a:off x="609600" y="3352800"/>
            <a:ext cx="7543800" cy="3068638"/>
          </a:xfrm>
          <a:prstGeom prst="rect">
            <a:avLst/>
          </a:prstGeom>
          <a:noFill/>
          <a:ln w="9525">
            <a:noFill/>
          </a:ln>
        </p:spPr>
      </p:pic>
      <p:sp>
        <p:nvSpPr>
          <p:cNvPr id="80901" name="矩形 6"/>
          <p:cNvSpPr/>
          <p:nvPr/>
        </p:nvSpPr>
        <p:spPr>
          <a:xfrm>
            <a:off x="457200" y="1143000"/>
            <a:ext cx="266382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2. </a:t>
            </a:r>
            <a:r>
              <a:rPr lang="zh-CN" altLang="en-US" sz="2400" b="1" dirty="0">
                <a:latin typeface="Arial" panose="020B0604020202020204" pitchFamily="34" charset="0"/>
              </a:rPr>
              <a:t>类成员的可见性</a:t>
            </a:r>
            <a:endParaRPr lang="en-US" altLang="zh-CN" sz="2400" b="1" dirty="0">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5" name="矩形 4"/>
          <p:cNvSpPr/>
          <p:nvPr/>
        </p:nvSpPr>
        <p:spPr>
          <a:xfrm>
            <a:off x="457200" y="4648200"/>
            <a:ext cx="7924800" cy="101473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Scala</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语法中有如下规范，当编译器看到以</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value</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和</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value_=</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这种成对形式出现的方法时，它允许用户去掉下划线</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_</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，而采用类似赋值表达式的形式</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81924" name="矩形 5"/>
          <p:cNvSpPr/>
          <p:nvPr/>
        </p:nvSpPr>
        <p:spPr>
          <a:xfrm>
            <a:off x="457200" y="1143000"/>
            <a:ext cx="266382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2. </a:t>
            </a:r>
            <a:r>
              <a:rPr lang="zh-CN" altLang="en-US" sz="2400" b="1" dirty="0">
                <a:latin typeface="Arial" panose="020B0604020202020204" pitchFamily="34" charset="0"/>
              </a:rPr>
              <a:t>类成员的可见性</a:t>
            </a:r>
            <a:endParaRPr lang="en-US" altLang="zh-CN" sz="2400" b="1" dirty="0">
              <a:latin typeface="Arial" panose="020B0604020202020204" pitchFamily="34" charset="0"/>
            </a:endParaRPr>
          </a:p>
        </p:txBody>
      </p:sp>
      <p:sp>
        <p:nvSpPr>
          <p:cNvPr id="8" name="TextBox 7"/>
          <p:cNvSpPr txBox="1"/>
          <p:nvPr/>
        </p:nvSpPr>
        <p:spPr>
          <a:xfrm>
            <a:off x="533400" y="1905000"/>
            <a:ext cx="7848600" cy="2061210"/>
          </a:xfrm>
          <a:prstGeom prst="rect">
            <a:avLst/>
          </a:prstGeom>
          <a:solidFill>
            <a:schemeClr val="tx1"/>
          </a:solidFill>
          <a:ln w="9525">
            <a:noFill/>
          </a:ln>
        </p:spPr>
        <p:txBody>
          <a:bodyPr wrap="square">
            <a:spAutoFit/>
          </a:bodyPr>
          <a:lstStyle/>
          <a:p>
            <a:r>
              <a:rPr lang="en-US" altLang="zh-CN" sz="1600" dirty="0">
                <a:solidFill>
                  <a:schemeClr val="bg1"/>
                </a:solidFill>
                <a:latin typeface="Arial" panose="020B0604020202020204" pitchFamily="34" charset="0"/>
              </a:rPr>
              <a:t>scala&gt; :load /usr/local/scala/mycode/Counter.scala</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Loading /usr/local/scala/mycode/Counter.scala…</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defined class Counter</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val myCounter = new Counter</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myCounter: Counter = Counter@f591271</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myCounter.value_=(3) //</a:t>
            </a:r>
            <a:r>
              <a:rPr lang="zh-CN" altLang="zh-CN" sz="1600" dirty="0">
                <a:solidFill>
                  <a:schemeClr val="bg1"/>
                </a:solidFill>
                <a:latin typeface="Arial" panose="020B0604020202020204" pitchFamily="34" charset="0"/>
              </a:rPr>
              <a:t>为</a:t>
            </a:r>
            <a:r>
              <a:rPr lang="en-US" altLang="zh-CN" sz="1600" dirty="0">
                <a:solidFill>
                  <a:schemeClr val="bg1"/>
                </a:solidFill>
                <a:latin typeface="Arial" panose="020B0604020202020204" pitchFamily="34" charset="0"/>
              </a:rPr>
              <a:t>privateValue</a:t>
            </a:r>
            <a:r>
              <a:rPr lang="zh-CN" altLang="zh-CN" sz="1600" dirty="0">
                <a:solidFill>
                  <a:schemeClr val="bg1"/>
                </a:solidFill>
                <a:latin typeface="Arial" panose="020B0604020202020204" pitchFamily="34" charset="0"/>
              </a:rPr>
              <a:t>设置新的值</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println(myCounter.value)//</a:t>
            </a:r>
            <a:r>
              <a:rPr lang="zh-CN" altLang="zh-CN" sz="1600" dirty="0">
                <a:solidFill>
                  <a:schemeClr val="bg1"/>
                </a:solidFill>
                <a:latin typeface="Arial" panose="020B0604020202020204" pitchFamily="34" charset="0"/>
              </a:rPr>
              <a:t>访问</a:t>
            </a:r>
            <a:r>
              <a:rPr lang="en-US" altLang="zh-CN" sz="1600" dirty="0">
                <a:solidFill>
                  <a:schemeClr val="bg1"/>
                </a:solidFill>
                <a:latin typeface="Arial" panose="020B0604020202020204" pitchFamily="34" charset="0"/>
              </a:rPr>
              <a:t>privateValue</a:t>
            </a:r>
            <a:r>
              <a:rPr lang="zh-CN" altLang="zh-CN" sz="1600" dirty="0">
                <a:solidFill>
                  <a:schemeClr val="bg1"/>
                </a:solidFill>
                <a:latin typeface="Arial" panose="020B0604020202020204" pitchFamily="34" charset="0"/>
              </a:rPr>
              <a:t>的当前值</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3</a:t>
            </a:r>
            <a:endParaRPr lang="en-US" altLang="zh-CN" sz="1600" dirty="0">
              <a:solidFill>
                <a:schemeClr val="bg1"/>
              </a:solidFill>
              <a:latin typeface="Arial" panose="020B0604020202020204" pitchFamily="34" charset="0"/>
            </a:endParaRPr>
          </a:p>
        </p:txBody>
      </p:sp>
      <p:sp>
        <p:nvSpPr>
          <p:cNvPr id="9" name="TextBox 8"/>
          <p:cNvSpPr txBox="1"/>
          <p:nvPr/>
        </p:nvSpPr>
        <p:spPr>
          <a:xfrm>
            <a:off x="533400" y="5334000"/>
            <a:ext cx="7848600" cy="1198880"/>
          </a:xfrm>
          <a:prstGeom prst="rect">
            <a:avLst/>
          </a:prstGeom>
          <a:solidFill>
            <a:schemeClr val="bg1">
              <a:lumMod val="95000"/>
            </a:schemeClr>
          </a:solidFill>
        </p:spPr>
        <p:txBody>
          <a:bodyPr wrap="square">
            <a:spAutoFit/>
          </a:bodyPr>
          <a:lstStyle/>
          <a:p>
            <a:pPr marR="0" defTabSz="914400">
              <a:buClrTx/>
              <a:buSzTx/>
              <a:defRPr/>
            </a:pP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err="1">
                <a:latin typeface="Arial" panose="020B0604020202020204" pitchFamily="34" charset="0"/>
                <a:ea typeface="宋体" panose="02010600030101010101" pitchFamily="2" charset="-122"/>
                <a:cs typeface="+mn-cs"/>
              </a:rPr>
              <a:t>myCounter.value</a:t>
            </a:r>
            <a:r>
              <a:rPr kumimoji="0" lang="en-US" altLang="zh-CN" sz="2400" kern="1200" cap="none" spc="0" normalizeH="0" baseline="0" noProof="0" dirty="0">
                <a:latin typeface="Arial" panose="020B0604020202020204" pitchFamily="34" charset="0"/>
                <a:ea typeface="宋体" panose="02010600030101010101" pitchFamily="2" charset="-122"/>
                <a:cs typeface="+mn-cs"/>
              </a:rPr>
              <a:t>= 3 // </a:t>
            </a:r>
            <a:r>
              <a:rPr kumimoji="0" lang="zh-CN" altLang="zh-CN" sz="2400" kern="1200" cap="none" spc="0" normalizeH="0" baseline="0" noProof="0" dirty="0">
                <a:latin typeface="Arial" panose="020B0604020202020204" pitchFamily="34" charset="0"/>
                <a:ea typeface="宋体" panose="02010600030101010101" pitchFamily="2" charset="-122"/>
                <a:cs typeface="+mn-cs"/>
              </a:rPr>
              <a:t>等效于</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myCounter.value</a:t>
            </a:r>
            <a:r>
              <a:rPr kumimoji="0" lang="en-US" altLang="zh-CN" sz="2400" kern="1200" cap="none" spc="0" normalizeH="0" baseline="0" noProof="0" dirty="0">
                <a:latin typeface="Arial" panose="020B0604020202020204" pitchFamily="34" charset="0"/>
                <a:ea typeface="宋体" panose="02010600030101010101" pitchFamily="2" charset="-122"/>
                <a:cs typeface="+mn-cs"/>
              </a:rPr>
              <a:t>_=(3)</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bldLvl="0" animBg="1"/>
      <p:bldP spid="9"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10" name="矩形 9"/>
          <p:cNvSpPr/>
          <p:nvPr/>
        </p:nvSpPr>
        <p:spPr>
          <a:xfrm>
            <a:off x="582613" y="2438400"/>
            <a:ext cx="7570788" cy="460375"/>
          </a:xfrm>
          <a:prstGeom prst="rect">
            <a:avLst/>
          </a:prstGeom>
          <a:solidFill>
            <a:schemeClr val="bg1">
              <a:lumMod val="95000"/>
            </a:schemeClr>
          </a:solidFill>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def </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方法名</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参数列表</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返回结果类型</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方法体</a:t>
            </a:r>
            <a:r>
              <a:rPr kumimoji="0" lang="en-US" altLang="zh-CN"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3" name="矩形 2"/>
          <p:cNvSpPr/>
          <p:nvPr/>
        </p:nvSpPr>
        <p:spPr>
          <a:xfrm>
            <a:off x="304800" y="3048000"/>
            <a:ext cx="8074660" cy="2814955"/>
          </a:xfrm>
          <a:prstGeom prst="rect">
            <a:avLst/>
          </a:prstGeom>
        </p:spPr>
        <p:txBody>
          <a:bodyPr wrap="square">
            <a:spAutoFit/>
          </a:bodyPr>
          <a:lstStyle/>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0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方法参数前不能加上</a:t>
            </a:r>
            <a:r>
              <a:rPr kumimoji="0" lang="en-US" altLang="zh-CN" sz="2000" b="0" i="0" u="none" strike="noStrike" kern="100" cap="none" spc="0" normalizeH="0" baseline="0" noProof="0" dirty="0" err="1">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val</a:t>
            </a:r>
            <a:r>
              <a:rPr kumimoji="0" lang="zh-CN" altLang="zh-CN" sz="20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或</a:t>
            </a:r>
            <a:r>
              <a:rPr kumimoji="0" lang="en-US" altLang="zh-CN" sz="2000" b="0" i="0" u="none" strike="noStrike" kern="100" cap="none" spc="0" normalizeH="0" baseline="0" noProof="0" dirty="0" err="1">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var</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所有的方法参数都是不可变类型</a:t>
            </a:r>
            <a:endPar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无参数的方法</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定义时</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可以省略括号，</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这时</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调用时也不能带有括号；如果定义时带有括号，则调用时可以带括号，也可以不带括号</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如果方法只有一个参数，可以省略点号（</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）而采用中缀操作符调用方法</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如果方法体只有一条语句，可以省略方法体两边的大括号</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82949" name="矩形 4"/>
          <p:cNvSpPr/>
          <p:nvPr/>
        </p:nvSpPr>
        <p:spPr>
          <a:xfrm>
            <a:off x="381000" y="1143000"/>
            <a:ext cx="266382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3. </a:t>
            </a:r>
            <a:r>
              <a:rPr lang="zh-CN" altLang="en-US" sz="2400" b="1" dirty="0">
                <a:latin typeface="Arial" panose="020B0604020202020204" pitchFamily="34" charset="0"/>
              </a:rPr>
              <a:t>方法的定义方式</a:t>
            </a:r>
            <a:endParaRPr lang="en-US" altLang="zh-CN" sz="2400" b="1" dirty="0">
              <a:latin typeface="Arial" panose="020B0604020202020204" pitchFamily="34" charset="0"/>
            </a:endParaRPr>
          </a:p>
        </p:txBody>
      </p:sp>
      <p:sp>
        <p:nvSpPr>
          <p:cNvPr id="6" name="矩形 5"/>
          <p:cNvSpPr/>
          <p:nvPr/>
        </p:nvSpPr>
        <p:spPr>
          <a:xfrm>
            <a:off x="533400" y="1828800"/>
            <a:ext cx="1706880" cy="4603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基本语法：</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pic>
        <p:nvPicPr>
          <p:cNvPr id="83971" name="图片 6"/>
          <p:cNvPicPr>
            <a:picLocks noChangeAspect="1"/>
          </p:cNvPicPr>
          <p:nvPr/>
        </p:nvPicPr>
        <p:blipFill>
          <a:blip r:embed="rId1"/>
          <a:stretch>
            <a:fillRect/>
          </a:stretch>
        </p:blipFill>
        <p:spPr>
          <a:xfrm>
            <a:off x="533400" y="2286000"/>
            <a:ext cx="7855024" cy="2057400"/>
          </a:xfrm>
          <a:prstGeom prst="rect">
            <a:avLst/>
          </a:prstGeom>
          <a:noFill/>
          <a:ln w="9525">
            <a:noFill/>
          </a:ln>
        </p:spPr>
      </p:pic>
      <p:sp>
        <p:nvSpPr>
          <p:cNvPr id="83972" name="矩形 4"/>
          <p:cNvSpPr/>
          <p:nvPr/>
        </p:nvSpPr>
        <p:spPr>
          <a:xfrm>
            <a:off x="584200" y="1143000"/>
            <a:ext cx="266382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3. </a:t>
            </a:r>
            <a:r>
              <a:rPr lang="zh-CN" altLang="en-US" sz="2400" b="1" dirty="0">
                <a:latin typeface="Arial" panose="020B0604020202020204" pitchFamily="34" charset="0"/>
              </a:rPr>
              <a:t>方法的定义方式</a:t>
            </a:r>
            <a:endParaRPr lang="en-US" altLang="zh-CN" sz="2400" b="1" dirty="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3" name="矩形 2"/>
          <p:cNvSpPr/>
          <p:nvPr/>
        </p:nvSpPr>
        <p:spPr>
          <a:xfrm>
            <a:off x="0" y="1752600"/>
            <a:ext cx="8388424" cy="2306955"/>
          </a:xfrm>
          <a:prstGeom prst="rect">
            <a:avLst/>
          </a:prstGeom>
        </p:spPr>
        <p:txBody>
          <a:bodyPr wrap="square">
            <a:spAutoFit/>
          </a:bodyPr>
          <a:lstStyle/>
          <a:p>
            <a:pPr marL="342900" marR="0" lvl="0" indent="-342900" algn="l" defTabSz="914400" rtl="0" eaLnBrk="1" fontAlgn="base" latinLnBrk="0" hangingPunct="1">
              <a:lnSpc>
                <a:spcPct val="150000"/>
              </a:lnSpc>
              <a:buClrTx/>
              <a:buSzTx/>
              <a:buFont typeface="Arial" panose="020B0604020202020204" pitchFamily="34" charset="0"/>
              <a:buChar char="•"/>
              <a:defRPr/>
            </a:pPr>
            <a:r>
              <a:rPr kumimoji="0" lang="zh-CN" altLang="zh-CN" sz="2400" b="0" i="0" u="none" strike="noStrike" cap="none" spc="0" normalizeH="0" baseline="0" noProof="0" dirty="0">
                <a:ln>
                  <a:noFill/>
                </a:ln>
                <a:solidFill>
                  <a:schemeClr val="tx1"/>
                </a:solidFill>
                <a:effectLst/>
                <a:uLnTx/>
                <a:uFillTx/>
                <a:ea typeface="宋体" panose="02010600030101010101" pitchFamily="2" charset="-122"/>
                <a:sym typeface="+mn-ea"/>
              </a:rPr>
              <a:t>当方法的返回结果类型可以从最后的表达式推断出时，可以省略结果类型</a:t>
            </a:r>
            <a:endParaRPr kumimoji="0" lang="zh-CN" altLang="zh-CN" sz="2400" b="0" i="0" u="none" strike="noStrike" cap="none" spc="0" normalizeH="0" baseline="0" noProof="0" dirty="0">
              <a:ln>
                <a:noFill/>
              </a:ln>
              <a:solidFill>
                <a:schemeClr val="tx1"/>
              </a:solidFill>
              <a:effectLst/>
              <a:uLnTx/>
              <a:uFillTx/>
              <a:ea typeface="宋体" panose="02010600030101010101" pitchFamily="2" charset="-122"/>
              <a:sym typeface="+mn-ea"/>
            </a:endParaRPr>
          </a:p>
          <a:p>
            <a:pPr marL="342900" marR="0" lvl="0" indent="-342900" algn="l" defTabSz="914400" rtl="0" eaLnBrk="1" fontAlgn="base" latinLnBrk="0" hangingPunct="1">
              <a:lnSpc>
                <a:spcPct val="150000"/>
              </a:lnSpc>
              <a:buClrTx/>
              <a:buSzTx/>
              <a:buFont typeface="Arial" panose="020B0604020202020204" pitchFamily="34" charset="0"/>
              <a:buChar char="•"/>
              <a:defRPr/>
            </a:pP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如果方法返回类型为</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Unit，可以同时省略返回结果类型和等号，但不能省略大括号</a:t>
            </a:r>
            <a:endPar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86020" name="矩形 6"/>
          <p:cNvSpPr/>
          <p:nvPr/>
        </p:nvSpPr>
        <p:spPr>
          <a:xfrm>
            <a:off x="381000" y="1143000"/>
            <a:ext cx="266382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3. </a:t>
            </a:r>
            <a:r>
              <a:rPr lang="zh-CN" altLang="en-US" sz="2400" b="1" dirty="0">
                <a:latin typeface="Arial" panose="020B0604020202020204" pitchFamily="34" charset="0"/>
              </a:rPr>
              <a:t>方法的定义方式</a:t>
            </a:r>
            <a:endParaRPr lang="en-US" altLang="zh-CN" sz="2400" b="1" dirty="0">
              <a:latin typeface="Arial" panose="020B0604020202020204" pitchFamily="34" charset="0"/>
            </a:endParaRPr>
          </a:p>
        </p:txBody>
      </p:sp>
      <p:sp>
        <p:nvSpPr>
          <p:cNvPr id="8" name="TextBox 7"/>
          <p:cNvSpPr txBox="1"/>
          <p:nvPr/>
        </p:nvSpPr>
        <p:spPr>
          <a:xfrm>
            <a:off x="425450" y="4387850"/>
            <a:ext cx="7890966" cy="1476375"/>
          </a:xfrm>
          <a:prstGeom prst="rect">
            <a:avLst/>
          </a:prstGeom>
          <a:solidFill>
            <a:schemeClr val="bg1">
              <a:lumMod val="95000"/>
            </a:schemeClr>
          </a:solidFill>
        </p:spPr>
        <p:txBody>
          <a:bodyPr wrap="squar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class Counter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var</a:t>
            </a:r>
            <a:r>
              <a:rPr kumimoji="0" lang="en-US" altLang="zh-CN" kern="1200" cap="none" spc="0" normalizeH="0" baseline="0" noProof="0" dirty="0">
                <a:latin typeface="Arial" panose="020B0604020202020204" pitchFamily="34" charset="0"/>
                <a:ea typeface="宋体" panose="02010600030101010101" pitchFamily="2" charset="-122"/>
                <a:cs typeface="+mn-cs"/>
              </a:rPr>
              <a:t> value = 0</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increment(</a:t>
            </a:r>
            <a:r>
              <a:rPr kumimoji="0" lang="en-US" altLang="zh-CN" kern="1200" cap="none" spc="0" normalizeH="0" baseline="0" noProof="0" dirty="0" err="1">
                <a:latin typeface="Arial" panose="020B0604020202020204" pitchFamily="34" charset="0"/>
                <a:ea typeface="宋体" panose="02010600030101010101" pitchFamily="2" charset="-122"/>
                <a:cs typeface="+mn-cs"/>
              </a:rPr>
              <a:t>step:Int</a:t>
            </a:r>
            <a:r>
              <a:rPr kumimoji="0" lang="en-US" altLang="zh-CN" kern="1200" cap="none" spc="0" normalizeH="0" baseline="0" noProof="0" dirty="0">
                <a:latin typeface="Arial" panose="020B0604020202020204" pitchFamily="34" charset="0"/>
                <a:ea typeface="宋体" panose="02010600030101010101" pitchFamily="2" charset="-122"/>
                <a:cs typeface="+mn-cs"/>
              </a:rPr>
              <a:t>) { value += step }//</a:t>
            </a:r>
            <a:r>
              <a:rPr kumimoji="0" lang="zh-CN" altLang="zh-CN" kern="1200" cap="none" spc="0" normalizeH="0" baseline="0" noProof="0" dirty="0">
                <a:latin typeface="Arial" panose="020B0604020202020204" pitchFamily="34" charset="0"/>
                <a:ea typeface="宋体" panose="02010600030101010101" pitchFamily="2" charset="-122"/>
                <a:cs typeface="+mn-cs"/>
              </a:rPr>
              <a:t>赋值表达式的值为</a:t>
            </a:r>
            <a:r>
              <a:rPr kumimoji="0" lang="en-US" altLang="zh-CN" kern="1200" cap="none" spc="0" normalizeH="0" baseline="0" noProof="0" dirty="0">
                <a:latin typeface="Arial" panose="020B0604020202020204" pitchFamily="34" charset="0"/>
                <a:ea typeface="宋体" panose="02010600030101010101" pitchFamily="2" charset="-122"/>
                <a:cs typeface="+mn-cs"/>
              </a:rPr>
              <a:t>Unit</a:t>
            </a:r>
            <a:r>
              <a:rPr kumimoji="0" lang="zh-CN" altLang="zh-CN" kern="1200" cap="none" spc="0" normalizeH="0" baseline="0" noProof="0" dirty="0">
                <a:latin typeface="Arial" panose="020B0604020202020204" pitchFamily="34" charset="0"/>
                <a:ea typeface="宋体" panose="02010600030101010101" pitchFamily="2" charset="-122"/>
                <a:cs typeface="+mn-cs"/>
              </a:rPr>
              <a:t>类型</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current()= value //</a:t>
            </a:r>
            <a:r>
              <a:rPr kumimoji="0" lang="zh-CN" altLang="zh-CN" kern="1200" cap="none" spc="0" normalizeH="0" baseline="0" noProof="0" dirty="0">
                <a:latin typeface="Arial" panose="020B0604020202020204" pitchFamily="34" charset="0"/>
                <a:ea typeface="宋体" panose="02010600030101010101" pitchFamily="2" charset="-122"/>
                <a:cs typeface="+mn-cs"/>
              </a:rPr>
              <a:t>根据</a:t>
            </a:r>
            <a:r>
              <a:rPr kumimoji="0" lang="en-US" altLang="zh-CN" kern="1200" cap="none" spc="0" normalizeH="0" baseline="0" noProof="0" dirty="0">
                <a:latin typeface="Arial" panose="020B0604020202020204" pitchFamily="34" charset="0"/>
                <a:ea typeface="宋体" panose="02010600030101010101" pitchFamily="2" charset="-122"/>
                <a:cs typeface="+mn-cs"/>
              </a:rPr>
              <a:t>value</a:t>
            </a:r>
            <a:r>
              <a:rPr kumimoji="0" lang="zh-CN" altLang="zh-CN" kern="1200" cap="none" spc="0" normalizeH="0" baseline="0" noProof="0" dirty="0">
                <a:latin typeface="Arial" panose="020B0604020202020204" pitchFamily="34" charset="0"/>
                <a:ea typeface="宋体" panose="02010600030101010101" pitchFamily="2" charset="-122"/>
                <a:cs typeface="+mn-cs"/>
              </a:rPr>
              <a:t>的类型自动推断出返回类型为</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zh-CN" altLang="zh-CN" kern="1200" cap="none" spc="0" normalizeH="0" baseline="0" noProof="0" dirty="0">
                <a:latin typeface="Arial" panose="020B0604020202020204" pitchFamily="34" charset="0"/>
                <a:ea typeface="宋体" panose="02010600030101010101" pitchFamily="2" charset="-122"/>
                <a:cs typeface="+mn-cs"/>
              </a:rPr>
              <a:t>型</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87043" name="矩形 2"/>
          <p:cNvSpPr/>
          <p:nvPr/>
        </p:nvSpPr>
        <p:spPr>
          <a:xfrm>
            <a:off x="609600" y="1143000"/>
            <a:ext cx="143954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构造器</a:t>
            </a:r>
            <a:endParaRPr lang="en-US" altLang="zh-CN" sz="2400" b="1" dirty="0">
              <a:latin typeface="Arial" panose="020B0604020202020204" pitchFamily="34" charset="0"/>
            </a:endParaRPr>
          </a:p>
        </p:txBody>
      </p:sp>
      <p:sp>
        <p:nvSpPr>
          <p:cNvPr id="87044" name="矩形 3"/>
          <p:cNvSpPr/>
          <p:nvPr/>
        </p:nvSpPr>
        <p:spPr>
          <a:xfrm>
            <a:off x="609600" y="1981200"/>
            <a:ext cx="7778824" cy="2306955"/>
          </a:xfrm>
          <a:prstGeom prst="rect">
            <a:avLst/>
          </a:prstGeom>
          <a:noFill/>
          <a:ln w="9525">
            <a:noFill/>
          </a:ln>
        </p:spPr>
        <p:txBody>
          <a:bodyPr wrap="square">
            <a:spAutoFit/>
          </a:bodyPr>
          <a:lstStyle/>
          <a:p>
            <a:pPr>
              <a:buFontTx/>
              <a:buChar char="•"/>
            </a:pPr>
            <a:r>
              <a:rPr lang="en-US" altLang="zh-CN" sz="2400" dirty="0">
                <a:latin typeface="Arial" panose="020B0604020202020204" pitchFamily="34" charset="0"/>
              </a:rPr>
              <a:t>Scala</a:t>
            </a:r>
            <a:r>
              <a:rPr lang="zh-CN" altLang="en-US" sz="2400" dirty="0">
                <a:latin typeface="Arial" panose="020B0604020202020204" pitchFamily="34" charset="0"/>
              </a:rPr>
              <a:t>类的定义主体就是类的构造器，称为主构造器。在类名之后用圆括号列出主构造器的参数列表</a:t>
            </a:r>
            <a:endParaRPr lang="en-US" altLang="zh-CN" sz="2400" dirty="0">
              <a:latin typeface="Arial" panose="020B0604020202020204" pitchFamily="34" charset="0"/>
            </a:endParaRPr>
          </a:p>
          <a:p>
            <a:pPr>
              <a:buFontTx/>
              <a:buChar char="•"/>
            </a:pPr>
            <a:endParaRPr lang="en-US" altLang="zh-CN" sz="2400" dirty="0">
              <a:latin typeface="Arial" panose="020B0604020202020204" pitchFamily="34" charset="0"/>
            </a:endParaRPr>
          </a:p>
          <a:p>
            <a:pPr>
              <a:buFontTx/>
              <a:buChar char="•"/>
            </a:pPr>
            <a:r>
              <a:rPr lang="zh-CN" altLang="en-US" sz="2400" dirty="0">
                <a:latin typeface="Arial" panose="020B0604020202020204" pitchFamily="34" charset="0"/>
              </a:rPr>
              <a:t>主构造器的参数前可以使用</a:t>
            </a:r>
            <a:r>
              <a:rPr lang="en-US" altLang="zh-CN" sz="2400" dirty="0">
                <a:solidFill>
                  <a:srgbClr val="FF0000"/>
                </a:solidFill>
                <a:latin typeface="Arial" panose="020B0604020202020204" pitchFamily="34" charset="0"/>
              </a:rPr>
              <a:t>val</a:t>
            </a:r>
            <a:r>
              <a:rPr lang="zh-CN" altLang="en-US" sz="2400" dirty="0">
                <a:solidFill>
                  <a:srgbClr val="FF0000"/>
                </a:solidFill>
                <a:latin typeface="Arial" panose="020B0604020202020204" pitchFamily="34" charset="0"/>
              </a:rPr>
              <a:t>或</a:t>
            </a:r>
            <a:r>
              <a:rPr lang="en-US" altLang="zh-CN" sz="2400" dirty="0">
                <a:solidFill>
                  <a:srgbClr val="FF0000"/>
                </a:solidFill>
                <a:latin typeface="Arial" panose="020B0604020202020204" pitchFamily="34" charset="0"/>
              </a:rPr>
              <a:t>var</a:t>
            </a:r>
            <a:r>
              <a:rPr lang="zh-CN" altLang="en-US" sz="2400" dirty="0">
                <a:solidFill>
                  <a:srgbClr val="FF0000"/>
                </a:solidFill>
                <a:latin typeface="Arial" panose="020B0604020202020204" pitchFamily="34" charset="0"/>
              </a:rPr>
              <a:t>关键字</a:t>
            </a:r>
            <a:r>
              <a:rPr lang="zh-CN" altLang="en-US" sz="2400" dirty="0">
                <a:latin typeface="Arial" panose="020B0604020202020204" pitchFamily="34" charset="0"/>
              </a:rPr>
              <a:t>，</a:t>
            </a:r>
            <a:r>
              <a:rPr lang="en-US" altLang="zh-CN" sz="2400" dirty="0">
                <a:latin typeface="Arial" panose="020B0604020202020204" pitchFamily="34" charset="0"/>
              </a:rPr>
              <a:t>Scala</a:t>
            </a:r>
            <a:r>
              <a:rPr lang="zh-CN" altLang="en-US" sz="2400" dirty="0">
                <a:latin typeface="Arial" panose="020B0604020202020204" pitchFamily="34" charset="0"/>
              </a:rPr>
              <a:t>内部将自动为这些参数创建私有字段，并提供对应的访问方法</a:t>
            </a:r>
            <a:endParaRPr lang="zh-CN" altLang="en-US" sz="2400" dirty="0">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88067" name="矩形 2"/>
          <p:cNvSpPr/>
          <p:nvPr/>
        </p:nvSpPr>
        <p:spPr>
          <a:xfrm>
            <a:off x="609600" y="1143000"/>
            <a:ext cx="143954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构造器</a:t>
            </a:r>
            <a:endParaRPr lang="en-US" altLang="zh-CN" sz="2400" b="1" dirty="0">
              <a:latin typeface="Arial" panose="020B0604020202020204" pitchFamily="34" charset="0"/>
            </a:endParaRPr>
          </a:p>
        </p:txBody>
      </p:sp>
      <p:sp>
        <p:nvSpPr>
          <p:cNvPr id="88068" name="TextBox 3"/>
          <p:cNvSpPr txBox="1"/>
          <p:nvPr/>
        </p:nvSpPr>
        <p:spPr>
          <a:xfrm>
            <a:off x="685800" y="1981200"/>
            <a:ext cx="7539038" cy="2306955"/>
          </a:xfrm>
          <a:prstGeom prst="rect">
            <a:avLst/>
          </a:prstGeom>
          <a:solidFill>
            <a:schemeClr val="tx1"/>
          </a:solidFill>
          <a:ln w="9525">
            <a:noFill/>
          </a:ln>
        </p:spPr>
        <p:txBody>
          <a:bodyPr>
            <a:spAutoFit/>
          </a:bodyPr>
          <a:lstStyle/>
          <a:p>
            <a:r>
              <a:rPr lang="en-US" altLang="zh-CN" sz="1600" dirty="0">
                <a:solidFill>
                  <a:schemeClr val="bg1"/>
                </a:solidFill>
                <a:latin typeface="Arial" panose="020B0604020202020204" pitchFamily="34" charset="0"/>
              </a:rPr>
              <a:t>scala&gt; class Counter(var name:String) //</a:t>
            </a:r>
            <a:r>
              <a:rPr lang="zh-CN" altLang="zh-CN" sz="1600" dirty="0">
                <a:solidFill>
                  <a:schemeClr val="bg1"/>
                </a:solidFill>
                <a:latin typeface="Arial" panose="020B0604020202020204" pitchFamily="34" charset="0"/>
              </a:rPr>
              <a:t>定义一个带字符串参数的简单类</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defined class Counter</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var mycounter = new Counter("Runner")</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mycounter: Counter = Counter@17fcc4f7</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println(mycounter.name) //</a:t>
            </a:r>
            <a:r>
              <a:rPr lang="zh-CN" altLang="zh-CN" sz="1600" dirty="0">
                <a:solidFill>
                  <a:schemeClr val="bg1"/>
                </a:solidFill>
                <a:latin typeface="Arial" panose="020B0604020202020204" pitchFamily="34" charset="0"/>
              </a:rPr>
              <a:t>调用读方法</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Runner</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mycounter.name_=("Timer") //</a:t>
            </a:r>
            <a:r>
              <a:rPr lang="zh-CN" altLang="zh-CN" sz="1600" dirty="0">
                <a:solidFill>
                  <a:schemeClr val="bg1"/>
                </a:solidFill>
                <a:latin typeface="Arial" panose="020B0604020202020204" pitchFamily="34" charset="0"/>
              </a:rPr>
              <a:t>调用写方法</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mycounter.name = "Timer"// </a:t>
            </a:r>
            <a:r>
              <a:rPr lang="zh-CN" altLang="zh-CN" sz="1600" dirty="0">
                <a:solidFill>
                  <a:schemeClr val="bg1"/>
                </a:solidFill>
                <a:latin typeface="Arial" panose="020B0604020202020204" pitchFamily="34" charset="0"/>
              </a:rPr>
              <a:t>更直观地调用写方法，和上句等效</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mycounter.name: String = Timer</a:t>
            </a:r>
            <a:endParaRPr lang="en-US" altLang="zh-CN" sz="1600" dirty="0">
              <a:solidFill>
                <a:schemeClr val="bg1"/>
              </a:solidFill>
              <a:latin typeface="Arial" panose="020B0604020202020204" pitchFamily="34" charset="0"/>
            </a:endParaRPr>
          </a:p>
        </p:txBody>
      </p:sp>
      <p:sp>
        <p:nvSpPr>
          <p:cNvPr id="88069" name="矩形 3"/>
          <p:cNvSpPr/>
          <p:nvPr/>
        </p:nvSpPr>
        <p:spPr>
          <a:xfrm>
            <a:off x="419735" y="4724400"/>
            <a:ext cx="8270875" cy="398780"/>
          </a:xfrm>
          <a:prstGeom prst="rect">
            <a:avLst/>
          </a:prstGeom>
          <a:noFill/>
          <a:ln w="9525">
            <a:noFill/>
          </a:ln>
        </p:spPr>
        <p:txBody>
          <a:bodyPr wrap="square">
            <a:spAutoFit/>
          </a:bodyPr>
          <a:lstStyle/>
          <a:p>
            <a:pPr>
              <a:buFontTx/>
              <a:buChar char="•"/>
            </a:pPr>
            <a:r>
              <a:rPr lang="zh-CN" altLang="en-US" sz="2000" dirty="0">
                <a:latin typeface="Arial" panose="020B0604020202020204" pitchFamily="34" charset="0"/>
              </a:rPr>
              <a:t> 如果不希望将构造器参数成为类的字段，只需要省略关键字</a:t>
            </a:r>
            <a:r>
              <a:rPr lang="en-US" altLang="zh-CN" sz="2000" dirty="0">
                <a:latin typeface="Arial" panose="020B0604020202020204" pitchFamily="34" charset="0"/>
              </a:rPr>
              <a:t>var</a:t>
            </a:r>
            <a:r>
              <a:rPr lang="zh-CN" altLang="en-US" sz="2000" dirty="0">
                <a:latin typeface="Arial" panose="020B0604020202020204" pitchFamily="34" charset="0"/>
              </a:rPr>
              <a:t>或者</a:t>
            </a:r>
            <a:r>
              <a:rPr lang="en-US" altLang="zh-CN" sz="2000" dirty="0">
                <a:latin typeface="Arial" panose="020B0604020202020204" pitchFamily="34" charset="0"/>
              </a:rPr>
              <a:t>val</a:t>
            </a:r>
            <a:endParaRPr lang="zh-CN" altLang="en-US" sz="2000" dirty="0">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89091" name="矩形 2"/>
          <p:cNvSpPr/>
          <p:nvPr/>
        </p:nvSpPr>
        <p:spPr>
          <a:xfrm>
            <a:off x="609600" y="1143000"/>
            <a:ext cx="1439545"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构造器</a:t>
            </a:r>
            <a:endParaRPr lang="en-US" altLang="zh-CN" sz="2400" b="1" dirty="0">
              <a:latin typeface="Arial" panose="020B0604020202020204" pitchFamily="34" charset="0"/>
            </a:endParaRPr>
          </a:p>
        </p:txBody>
      </p:sp>
      <p:sp>
        <p:nvSpPr>
          <p:cNvPr id="89092" name="矩形 4"/>
          <p:cNvSpPr/>
          <p:nvPr/>
        </p:nvSpPr>
        <p:spPr>
          <a:xfrm>
            <a:off x="395605" y="1876425"/>
            <a:ext cx="7924800" cy="2306955"/>
          </a:xfrm>
          <a:prstGeom prst="rect">
            <a:avLst/>
          </a:prstGeom>
          <a:noFill/>
          <a:ln w="9525">
            <a:noFill/>
          </a:ln>
        </p:spPr>
        <p:txBody>
          <a:bodyPr>
            <a:spAutoFit/>
          </a:bodyPr>
          <a:lstStyle/>
          <a:p>
            <a:pPr marL="285750" indent="-285750">
              <a:buFontTx/>
              <a:buChar char="•"/>
            </a:pPr>
            <a:r>
              <a:rPr lang="en-US" altLang="zh-CN" sz="2400" dirty="0">
                <a:latin typeface="Arial" panose="020B0604020202020204" pitchFamily="34" charset="0"/>
              </a:rPr>
              <a:t>Scala</a:t>
            </a:r>
            <a:r>
              <a:rPr lang="zh-CN" altLang="en-US" sz="2400" dirty="0">
                <a:latin typeface="Arial" panose="020B0604020202020204" pitchFamily="34" charset="0"/>
              </a:rPr>
              <a:t>类可以包含零个或多个辅助构造器（</a:t>
            </a:r>
            <a:r>
              <a:rPr lang="en-US" altLang="zh-CN" sz="2400" dirty="0">
                <a:latin typeface="Arial" panose="020B0604020202020204" pitchFamily="34" charset="0"/>
              </a:rPr>
              <a:t>auxiliary constructor</a:t>
            </a:r>
            <a:r>
              <a:rPr lang="zh-CN" altLang="en-US" sz="2400" dirty="0">
                <a:latin typeface="Arial" panose="020B0604020202020204" pitchFamily="34" charset="0"/>
              </a:rPr>
              <a:t>）。辅助构造器使用</a:t>
            </a:r>
            <a:r>
              <a:rPr lang="en-US" altLang="zh-CN" sz="2400" dirty="0">
                <a:latin typeface="Arial" panose="020B0604020202020204" pitchFamily="34" charset="0"/>
              </a:rPr>
              <a:t>this</a:t>
            </a:r>
            <a:r>
              <a:rPr lang="zh-CN" altLang="en-US" sz="2400" dirty="0">
                <a:latin typeface="Arial" panose="020B0604020202020204" pitchFamily="34" charset="0"/>
              </a:rPr>
              <a:t>进行定义，</a:t>
            </a:r>
            <a:r>
              <a:rPr lang="en-US" altLang="zh-CN" sz="2400" dirty="0">
                <a:latin typeface="Arial" panose="020B0604020202020204" pitchFamily="34" charset="0"/>
              </a:rPr>
              <a:t>this</a:t>
            </a:r>
            <a:r>
              <a:rPr lang="zh-CN" altLang="en-US" sz="2400" dirty="0">
                <a:latin typeface="Arial" panose="020B0604020202020204" pitchFamily="34" charset="0"/>
              </a:rPr>
              <a:t>的返回类型为</a:t>
            </a:r>
            <a:r>
              <a:rPr lang="en-US" altLang="zh-CN" sz="2400" dirty="0">
                <a:latin typeface="Arial" panose="020B0604020202020204" pitchFamily="34" charset="0"/>
              </a:rPr>
              <a:t>Unit</a:t>
            </a:r>
            <a:endParaRPr lang="en-US" altLang="zh-CN" sz="2400" dirty="0">
              <a:latin typeface="Arial" panose="020B0604020202020204" pitchFamily="34" charset="0"/>
            </a:endParaRPr>
          </a:p>
          <a:p>
            <a:pPr marL="285750" indent="-285750">
              <a:buFontTx/>
              <a:buChar char="•"/>
            </a:pPr>
            <a:r>
              <a:rPr lang="zh-CN" altLang="en-US" sz="2400" dirty="0">
                <a:latin typeface="Arial" panose="020B0604020202020204" pitchFamily="34" charset="0"/>
              </a:rPr>
              <a:t>每个辅助构造器的第一个表达式必须是调用一个此前已经定义的辅助构造器或主构造器，调用的形式为“</a:t>
            </a:r>
            <a:r>
              <a:rPr lang="en-US" altLang="zh-CN" sz="2400" dirty="0">
                <a:latin typeface="Arial" panose="020B0604020202020204" pitchFamily="34" charset="0"/>
              </a:rPr>
              <a:t>this(</a:t>
            </a:r>
            <a:r>
              <a:rPr lang="zh-CN" altLang="en-US" sz="2400" dirty="0">
                <a:latin typeface="Arial" panose="020B0604020202020204" pitchFamily="34" charset="0"/>
              </a:rPr>
              <a:t>参数列表</a:t>
            </a:r>
            <a:r>
              <a:rPr lang="en-US" altLang="zh-CN" sz="2400" dirty="0">
                <a:latin typeface="Arial" panose="020B0604020202020204" pitchFamily="34" charset="0"/>
              </a:rPr>
              <a:t>)”</a:t>
            </a:r>
            <a:endParaRPr lang="zh-CN" altLang="en-US" sz="2400" dirty="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vert="horz" wrap="square" lIns="91440" tIns="45720" rIns="91440" bIns="45720" anchor="ctr"/>
          <a:lstStyle/>
          <a:p>
            <a:r>
              <a:rPr lang="en-US" altLang="zh-CN" dirty="0"/>
              <a:t>8.3.1 </a:t>
            </a:r>
            <a:r>
              <a:rPr lang="zh-CN" altLang="en-US" dirty="0"/>
              <a:t>类</a:t>
            </a:r>
            <a:endParaRPr lang="zh-CN" altLang="en-US" dirty="0"/>
          </a:p>
        </p:txBody>
      </p:sp>
      <p:sp>
        <p:nvSpPr>
          <p:cNvPr id="90115" name="矩形 2"/>
          <p:cNvSpPr/>
          <p:nvPr/>
        </p:nvSpPr>
        <p:spPr>
          <a:xfrm>
            <a:off x="609600" y="990600"/>
            <a:ext cx="1230630" cy="553085"/>
          </a:xfrm>
          <a:prstGeom prst="rect">
            <a:avLst/>
          </a:prstGeom>
          <a:noFill/>
          <a:ln w="9525">
            <a:noFill/>
          </a:ln>
        </p:spPr>
        <p:txBody>
          <a:bodyPr wrap="none">
            <a:spAutoFit/>
          </a:bodyPr>
          <a:lstStyle/>
          <a:p>
            <a:pPr>
              <a:lnSpc>
                <a:spcPct val="150000"/>
              </a:lnSpc>
            </a:pPr>
            <a:r>
              <a:rPr lang="en-US" altLang="zh-CN" sz="2000" b="1" dirty="0">
                <a:latin typeface="Arial" panose="020B0604020202020204" pitchFamily="34" charset="0"/>
              </a:rPr>
              <a:t>4. </a:t>
            </a:r>
            <a:r>
              <a:rPr lang="zh-CN" altLang="en-US" sz="2000" b="1" dirty="0">
                <a:latin typeface="Arial" panose="020B0604020202020204" pitchFamily="34" charset="0"/>
              </a:rPr>
              <a:t>构造器</a:t>
            </a:r>
            <a:endParaRPr lang="en-US" altLang="zh-CN" sz="2000" b="1" dirty="0">
              <a:latin typeface="Arial" panose="020B0604020202020204" pitchFamily="34" charset="0"/>
            </a:endParaRPr>
          </a:p>
        </p:txBody>
      </p:sp>
      <p:sp>
        <p:nvSpPr>
          <p:cNvPr id="5" name="TextBox 4"/>
          <p:cNvSpPr txBox="1"/>
          <p:nvPr/>
        </p:nvSpPr>
        <p:spPr>
          <a:xfrm>
            <a:off x="533400" y="1552575"/>
            <a:ext cx="7783016" cy="4769485"/>
          </a:xfrm>
          <a:prstGeom prst="rect">
            <a:avLst/>
          </a:prstGeom>
          <a:solidFill>
            <a:schemeClr val="bg1">
              <a:lumMod val="95000"/>
            </a:schemeClr>
          </a:solidFill>
        </p:spPr>
        <p:txBody>
          <a:bodyPr wrap="square">
            <a:spAutoFit/>
          </a:bodyPr>
          <a:lstStyle/>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zh-CN" altLang="zh-CN" sz="16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16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1600" kern="1200" cap="none" spc="0" normalizeH="0" baseline="0" noProof="0" dirty="0">
                <a:latin typeface="Arial" panose="020B0604020202020204" pitchFamily="34" charset="0"/>
                <a:ea typeface="宋体" panose="02010600030101010101" pitchFamily="2" charset="-122"/>
                <a:cs typeface="+mn-cs"/>
              </a:rPr>
              <a:t>/Counter2.scala</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class Counter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private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1600" kern="1200" cap="none" spc="0" normalizeH="0" baseline="0" noProof="0" dirty="0">
                <a:latin typeface="Arial" panose="020B0604020202020204" pitchFamily="34" charset="0"/>
                <a:ea typeface="宋体" panose="02010600030101010101" pitchFamily="2" charset="-122"/>
                <a:cs typeface="+mn-cs"/>
              </a:rPr>
              <a:t> value = 0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private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1600" kern="1200" cap="none" spc="0" normalizeH="0" baseline="0" noProof="0" dirty="0">
                <a:latin typeface="Arial" panose="020B0604020202020204" pitchFamily="34" charset="0"/>
                <a:ea typeface="宋体" panose="02010600030101010101" pitchFamily="2" charset="-122"/>
                <a:cs typeface="+mn-cs"/>
              </a:rPr>
              <a:t> name =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private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1600" kern="1200" cap="none" spc="0" normalizeH="0" baseline="0" noProof="0" dirty="0">
                <a:latin typeface="Arial" panose="020B0604020202020204" pitchFamily="34" charset="0"/>
                <a:ea typeface="宋体" panose="02010600030101010101" pitchFamily="2" charset="-122"/>
                <a:cs typeface="+mn-cs"/>
              </a:rPr>
              <a:t> step = 1 //</a:t>
            </a:r>
            <a:r>
              <a:rPr kumimoji="0" lang="zh-CN" altLang="zh-CN" sz="1600" kern="1200" cap="none" spc="0" normalizeH="0" baseline="0" noProof="0" dirty="0">
                <a:latin typeface="Arial" panose="020B0604020202020204" pitchFamily="34" charset="0"/>
                <a:ea typeface="宋体" panose="02010600030101010101" pitchFamily="2" charset="-122"/>
                <a:cs typeface="+mn-cs"/>
              </a:rPr>
              <a:t>计算器的默认递进步长</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1600" kern="1200" cap="none" spc="0" normalizeH="0" baseline="0" noProof="0" dirty="0">
                <a:latin typeface="Arial" panose="020B0604020202020204" pitchFamily="34" charset="0"/>
                <a:ea typeface="宋体" panose="02010600030101010101" pitchFamily="2" charset="-122"/>
                <a:cs typeface="+mn-cs"/>
              </a:rPr>
              <a:t>("the main constructor")</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def this(name: String){ //</a:t>
            </a:r>
            <a:r>
              <a:rPr kumimoji="0" lang="zh-CN" altLang="zh-CN" sz="1600" kern="1200" cap="none" spc="0" normalizeH="0" baseline="0" noProof="0" dirty="0">
                <a:solidFill>
                  <a:srgbClr val="FF0000"/>
                </a:solidFill>
                <a:latin typeface="Arial" panose="020B0604020202020204" pitchFamily="34" charset="0"/>
                <a:ea typeface="宋体" panose="02010600030101010101" pitchFamily="2" charset="-122"/>
                <a:cs typeface="+mn-cs"/>
              </a:rPr>
              <a:t>第一个辅助构造器</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this() //</a:t>
            </a:r>
            <a:r>
              <a:rPr kumimoji="0" lang="zh-CN" altLang="zh-CN" sz="1600" kern="1200" cap="none" spc="0" normalizeH="0" baseline="0" noProof="0" dirty="0">
                <a:latin typeface="Arial" panose="020B0604020202020204" pitchFamily="34" charset="0"/>
                <a:ea typeface="宋体" panose="02010600030101010101" pitchFamily="2" charset="-122"/>
                <a:cs typeface="+mn-cs"/>
              </a:rPr>
              <a:t>调用主构造器</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this.name = name</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printf</a:t>
            </a:r>
            <a:r>
              <a:rPr kumimoji="0" lang="en-US" altLang="zh-CN" sz="1600" kern="1200" cap="none" spc="0" normalizeH="0" baseline="0" noProof="0" dirty="0">
                <a:latin typeface="Arial" panose="020B0604020202020204" pitchFamily="34" charset="0"/>
                <a:ea typeface="宋体" panose="02010600030101010101" pitchFamily="2" charset="-122"/>
                <a:cs typeface="+mn-cs"/>
              </a:rPr>
              <a:t>("the first auxiliary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constructor,name</a:t>
            </a:r>
            <a:r>
              <a:rPr kumimoji="0" lang="en-US" altLang="zh-CN" sz="1600" kern="1200" cap="none" spc="0" normalizeH="0" baseline="0" noProof="0" dirty="0">
                <a:latin typeface="Arial" panose="020B0604020202020204" pitchFamily="34" charset="0"/>
                <a:ea typeface="宋体" panose="02010600030101010101" pitchFamily="2" charset="-122"/>
                <a:cs typeface="+mn-cs"/>
              </a:rPr>
              <a:t>:%s\</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n",name</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def this (name: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String,step</a:t>
            </a: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zh-CN" altLang="zh-CN" sz="1600" kern="1200" cap="none" spc="0" normalizeH="0" baseline="0" noProof="0" dirty="0">
                <a:solidFill>
                  <a:srgbClr val="FF0000"/>
                </a:solidFill>
                <a:latin typeface="Arial" panose="020B0604020202020204" pitchFamily="34" charset="0"/>
                <a:ea typeface="宋体" panose="02010600030101010101" pitchFamily="2" charset="-122"/>
                <a:cs typeface="+mn-cs"/>
              </a:rPr>
              <a:t>第二个辅助构造器</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this(name) //</a:t>
            </a:r>
            <a:r>
              <a:rPr kumimoji="0" lang="zh-CN" altLang="zh-CN" sz="1600" kern="1200" cap="none" spc="0" normalizeH="0" baseline="0" noProof="0" dirty="0">
                <a:latin typeface="Arial" panose="020B0604020202020204" pitchFamily="34" charset="0"/>
                <a:ea typeface="宋体" panose="02010600030101010101" pitchFamily="2" charset="-122"/>
                <a:cs typeface="+mn-cs"/>
              </a:rPr>
              <a:t>调用前一个辅助构造器</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this.step</a:t>
            </a:r>
            <a:r>
              <a:rPr kumimoji="0" lang="en-US" altLang="zh-CN" sz="1600" kern="1200" cap="none" spc="0" normalizeH="0" baseline="0" noProof="0" dirty="0">
                <a:latin typeface="Arial" panose="020B0604020202020204" pitchFamily="34" charset="0"/>
                <a:ea typeface="宋体" panose="02010600030101010101" pitchFamily="2" charset="-122"/>
                <a:cs typeface="+mn-cs"/>
              </a:rPr>
              <a:t> = step</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printf</a:t>
            </a:r>
            <a:r>
              <a:rPr kumimoji="0" lang="en-US" altLang="zh-CN" sz="1600" kern="1200" cap="none" spc="0" normalizeH="0" baseline="0" noProof="0" dirty="0">
                <a:latin typeface="Arial" panose="020B0604020202020204" pitchFamily="34" charset="0"/>
                <a:ea typeface="宋体" panose="02010600030101010101" pitchFamily="2" charset="-122"/>
                <a:cs typeface="+mn-cs"/>
              </a:rPr>
              <a:t>("the second auxiliary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constructor,name</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s,step</a:t>
            </a:r>
            <a:r>
              <a:rPr kumimoji="0" lang="en-US" altLang="zh-CN" sz="1600" kern="1200" cap="none" spc="0" normalizeH="0" baseline="0" noProof="0" dirty="0">
                <a:latin typeface="Arial" panose="020B0604020202020204" pitchFamily="34" charset="0"/>
                <a:ea typeface="宋体" panose="02010600030101010101" pitchFamily="2" charset="-122"/>
                <a:cs typeface="+mn-cs"/>
              </a:rPr>
              <a:t>:%d\</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n",name,step</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def increment(step: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Unit = { value += step}</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def current():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 {value}</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en-US" sz="16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8.3.2 </a:t>
            </a:r>
            <a:r>
              <a:rPr lang="zh-CN" altLang="en-US" dirty="0"/>
              <a:t>对象</a:t>
            </a:r>
            <a:endParaRPr lang="zh-CN" altLang="en-US" dirty="0"/>
          </a:p>
        </p:txBody>
      </p:sp>
      <p:sp>
        <p:nvSpPr>
          <p:cNvPr id="4" name="内容占位符 3"/>
          <p:cNvSpPr>
            <a:spLocks noGrp="1"/>
          </p:cNvSpPr>
          <p:nvPr>
            <p:ph idx="1"/>
          </p:nvPr>
        </p:nvSpPr>
        <p:spPr/>
        <p:txBody>
          <a:bodyPr/>
          <a:lstStyle/>
          <a:p>
            <a:pPr marL="457200" indent="-457200">
              <a:buAutoNum type="arabicPeriod"/>
            </a:pPr>
            <a:r>
              <a:rPr lang="zh-CN" altLang="en-US" dirty="0">
                <a:latin typeface="Arial" panose="020B0604020202020204" pitchFamily="34" charset="0"/>
              </a:rPr>
              <a:t>单例对象</a:t>
            </a:r>
            <a:endParaRPr lang="en-US" altLang="zh-CN" dirty="0">
              <a:latin typeface="Arial" panose="020B0604020202020204" pitchFamily="34" charset="0"/>
            </a:endParaRPr>
          </a:p>
          <a:p>
            <a:pPr marL="457200" indent="-457200">
              <a:buAutoNum type="arabicPeriod"/>
            </a:pPr>
            <a:r>
              <a:rPr lang="en-US" altLang="zh-CN" dirty="0">
                <a:latin typeface="Arial" panose="020B0604020202020204" pitchFamily="34" charset="0"/>
              </a:rPr>
              <a:t>apply</a:t>
            </a:r>
            <a:r>
              <a:rPr lang="zh-CN" altLang="en-US" dirty="0">
                <a:latin typeface="Arial" panose="020B0604020202020204" pitchFamily="34" charset="0"/>
              </a:rPr>
              <a:t>方法</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vert="horz" wrap="square" lIns="91440" tIns="45720" rIns="91440" bIns="45720" anchor="ctr"/>
          <a:lstStyle/>
          <a:p>
            <a:r>
              <a:rPr lang="en-US" altLang="zh-CN" dirty="0"/>
              <a:t>8.3.2 </a:t>
            </a:r>
            <a:r>
              <a:rPr lang="zh-CN" altLang="en-US" dirty="0"/>
              <a:t>对象</a:t>
            </a:r>
            <a:endParaRPr lang="zh-CN" altLang="en-US" dirty="0"/>
          </a:p>
        </p:txBody>
      </p:sp>
      <p:sp>
        <p:nvSpPr>
          <p:cNvPr id="93187" name="矩形 2"/>
          <p:cNvSpPr/>
          <p:nvPr/>
        </p:nvSpPr>
        <p:spPr>
          <a:xfrm>
            <a:off x="762000" y="1154430"/>
            <a:ext cx="2848610" cy="521970"/>
          </a:xfrm>
          <a:prstGeom prst="rect">
            <a:avLst/>
          </a:prstGeom>
          <a:noFill/>
          <a:ln w="9525">
            <a:noFill/>
          </a:ln>
        </p:spPr>
        <p:txBody>
          <a:bodyPr wrap="square">
            <a:spAutoFit/>
          </a:bodyPr>
          <a:lstStyle/>
          <a:p>
            <a:pPr marL="457200" indent="-457200"/>
            <a:r>
              <a:rPr lang="en-US" altLang="zh-CN" sz="2800" b="1" dirty="0">
                <a:latin typeface="Arial" panose="020B0604020202020204" pitchFamily="34" charset="0"/>
              </a:rPr>
              <a:t>1.</a:t>
            </a:r>
            <a:r>
              <a:rPr lang="zh-CN" altLang="en-US" sz="2800" b="1" dirty="0">
                <a:latin typeface="Arial" panose="020B0604020202020204" pitchFamily="34" charset="0"/>
              </a:rPr>
              <a:t>单例对象</a:t>
            </a:r>
            <a:endParaRPr lang="zh-CN" altLang="en-US" sz="2800" b="1" dirty="0">
              <a:latin typeface="Arial" panose="020B0604020202020204" pitchFamily="34" charset="0"/>
            </a:endParaRPr>
          </a:p>
        </p:txBody>
      </p:sp>
      <p:sp>
        <p:nvSpPr>
          <p:cNvPr id="93188" name="矩形 2"/>
          <p:cNvSpPr/>
          <p:nvPr/>
        </p:nvSpPr>
        <p:spPr>
          <a:xfrm>
            <a:off x="381000" y="1600200"/>
            <a:ext cx="8001000" cy="1753235"/>
          </a:xfrm>
          <a:prstGeom prst="rect">
            <a:avLst/>
          </a:prstGeom>
          <a:noFill/>
          <a:ln w="9525">
            <a:noFill/>
          </a:ln>
        </p:spPr>
        <p:txBody>
          <a:bodyPr>
            <a:spAutoFit/>
          </a:bodyPr>
          <a:lstStyle/>
          <a:p>
            <a:pPr marL="285750" indent="-285750">
              <a:lnSpc>
                <a:spcPct val="150000"/>
              </a:lnSpc>
              <a:buFontTx/>
              <a:buChar char="•"/>
            </a:pPr>
            <a:r>
              <a:rPr lang="en-US" altLang="zh-CN" sz="2400" dirty="0">
                <a:latin typeface="Arial" panose="020B0604020202020204" pitchFamily="34" charset="0"/>
              </a:rPr>
              <a:t>Scala</a:t>
            </a:r>
            <a:r>
              <a:rPr lang="zh-CN" altLang="en-US" sz="2400" dirty="0">
                <a:latin typeface="Arial" panose="020B0604020202020204" pitchFamily="34" charset="0"/>
              </a:rPr>
              <a:t>采用</a:t>
            </a:r>
            <a:r>
              <a:rPr lang="zh-CN" altLang="en-US" sz="2400" dirty="0">
                <a:solidFill>
                  <a:srgbClr val="FF0000"/>
                </a:solidFill>
                <a:latin typeface="Arial" panose="020B0604020202020204" pitchFamily="34" charset="0"/>
              </a:rPr>
              <a:t>单例对象</a:t>
            </a:r>
            <a:r>
              <a:rPr lang="zh-CN" altLang="en-US" sz="2400" dirty="0">
                <a:latin typeface="Arial" panose="020B0604020202020204" pitchFamily="34" charset="0"/>
              </a:rPr>
              <a:t>（</a:t>
            </a:r>
            <a:r>
              <a:rPr lang="en-US" altLang="zh-CN" sz="2400" dirty="0">
                <a:latin typeface="Arial" panose="020B0604020202020204" pitchFamily="34" charset="0"/>
              </a:rPr>
              <a:t>singleton object</a:t>
            </a:r>
            <a:r>
              <a:rPr lang="zh-CN" altLang="en-US" sz="2400" dirty="0">
                <a:latin typeface="Arial" panose="020B0604020202020204" pitchFamily="34" charset="0"/>
              </a:rPr>
              <a:t>）来实现与</a:t>
            </a:r>
            <a:r>
              <a:rPr lang="en-US" altLang="zh-CN" sz="2400" dirty="0">
                <a:latin typeface="Arial" panose="020B0604020202020204" pitchFamily="34" charset="0"/>
              </a:rPr>
              <a:t>Java</a:t>
            </a:r>
            <a:r>
              <a:rPr lang="zh-CN" altLang="en-US" sz="2400" dirty="0">
                <a:latin typeface="Arial" panose="020B0604020202020204" pitchFamily="34" charset="0"/>
              </a:rPr>
              <a:t>静态成员同样的功能</a:t>
            </a:r>
            <a:endParaRPr lang="en-US" altLang="zh-CN" sz="2400" dirty="0">
              <a:latin typeface="Arial" panose="020B0604020202020204" pitchFamily="34" charset="0"/>
            </a:endParaRPr>
          </a:p>
          <a:p>
            <a:pPr marL="285750" indent="-285750">
              <a:lnSpc>
                <a:spcPct val="150000"/>
              </a:lnSpc>
              <a:buFontTx/>
              <a:buChar char="•"/>
            </a:pPr>
            <a:r>
              <a:rPr lang="zh-CN" altLang="en-US" sz="2400" dirty="0">
                <a:latin typeface="Arial" panose="020B0604020202020204" pitchFamily="34" charset="0"/>
              </a:rPr>
              <a:t>使用</a:t>
            </a:r>
            <a:r>
              <a:rPr lang="en-US" altLang="zh-CN" sz="2400" dirty="0">
                <a:latin typeface="Arial" panose="020B0604020202020204" pitchFamily="34" charset="0"/>
              </a:rPr>
              <a:t>object </a:t>
            </a:r>
            <a:r>
              <a:rPr lang="zh-CN" altLang="en-US" sz="2400" dirty="0">
                <a:latin typeface="Arial" panose="020B0604020202020204" pitchFamily="34" charset="0"/>
              </a:rPr>
              <a:t>关键字定义单例对象</a:t>
            </a:r>
            <a:endParaRPr lang="zh-CN" altLang="en-US" sz="2400" dirty="0">
              <a:latin typeface="Arial" panose="020B0604020202020204" pitchFamily="34" charset="0"/>
            </a:endParaRPr>
          </a:p>
        </p:txBody>
      </p:sp>
      <p:sp>
        <p:nvSpPr>
          <p:cNvPr id="5" name="TextBox 4"/>
          <p:cNvSpPr txBox="1"/>
          <p:nvPr/>
        </p:nvSpPr>
        <p:spPr>
          <a:xfrm>
            <a:off x="685800" y="3429000"/>
            <a:ext cx="7543800" cy="2553335"/>
          </a:xfrm>
          <a:prstGeom prst="rect">
            <a:avLst/>
          </a:prstGeom>
          <a:solidFill>
            <a:schemeClr val="bg1">
              <a:lumMod val="9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zh-CN" sz="20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20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Person.scala</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object Person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private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lastId</a:t>
            </a:r>
            <a:r>
              <a:rPr kumimoji="0" lang="en-US" altLang="zh-CN" sz="2000" kern="1200" cap="none" spc="0" normalizeH="0" baseline="0" noProof="0" dirty="0">
                <a:latin typeface="Arial" panose="020B0604020202020204" pitchFamily="34" charset="0"/>
                <a:ea typeface="宋体" panose="02010600030101010101" pitchFamily="2" charset="-122"/>
                <a:cs typeface="+mn-cs"/>
              </a:rPr>
              <a:t> = 0  //</a:t>
            </a:r>
            <a:r>
              <a:rPr kumimoji="0" lang="zh-CN" altLang="zh-CN" sz="2000" kern="1200" cap="none" spc="0" normalizeH="0" baseline="0" noProof="0" dirty="0">
                <a:latin typeface="Arial" panose="020B0604020202020204" pitchFamily="34" charset="0"/>
                <a:ea typeface="宋体" panose="02010600030101010101" pitchFamily="2" charset="-122"/>
                <a:cs typeface="+mn-cs"/>
              </a:rPr>
              <a:t>一个人的身份编号</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newPersonId</a:t>
            </a:r>
            <a:r>
              <a:rPr kumimoji="0" lang="en-US" altLang="zh-CN" sz="2000" kern="1200" cap="none" spc="0" normalizeH="0" baseline="0" noProof="0" dirty="0">
                <a:latin typeface="Arial" panose="020B0604020202020204" pitchFamily="34" charset="0"/>
                <a:ea typeface="宋体" panose="02010600030101010101" pitchFamily="2" charset="-122"/>
                <a:cs typeface="+mn-cs"/>
              </a:rPr>
              <a:t>() =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lastId</a:t>
            </a:r>
            <a:r>
              <a:rPr kumimoji="0" lang="en-US" altLang="zh-CN" sz="2000" kern="1200" cap="none" spc="0" normalizeH="0" baseline="0" noProof="0" dirty="0">
                <a:latin typeface="Arial" panose="020B0604020202020204" pitchFamily="34" charset="0"/>
                <a:ea typeface="宋体" panose="02010600030101010101" pitchFamily="2" charset="-122"/>
                <a:cs typeface="+mn-cs"/>
              </a:rPr>
              <a:t> +=1</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lastId</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0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p:txBody>
          <a:bodyPr vert="horz" wrap="square" lIns="91440" tIns="45720" rIns="91440" bIns="45720" anchor="ctr"/>
          <a:lstStyle/>
          <a:p>
            <a:r>
              <a:rPr lang="en-US" altLang="zh-CN" dirty="0"/>
              <a:t>8.3.2 </a:t>
            </a:r>
            <a:r>
              <a:rPr lang="zh-CN" altLang="en-US" dirty="0"/>
              <a:t>对象</a:t>
            </a:r>
            <a:endParaRPr lang="zh-CN" altLang="en-US" dirty="0"/>
          </a:p>
        </p:txBody>
      </p:sp>
      <p:sp>
        <p:nvSpPr>
          <p:cNvPr id="94211" name="矩形 2"/>
          <p:cNvSpPr/>
          <p:nvPr/>
        </p:nvSpPr>
        <p:spPr>
          <a:xfrm>
            <a:off x="685800" y="1143000"/>
            <a:ext cx="1292860" cy="368300"/>
          </a:xfrm>
          <a:prstGeom prst="rect">
            <a:avLst/>
          </a:prstGeom>
          <a:noFill/>
          <a:ln w="9525">
            <a:noFill/>
          </a:ln>
        </p:spPr>
        <p:txBody>
          <a:bodyPr wrap="none">
            <a:spAutoFit/>
          </a:bodyPr>
          <a:lstStyle/>
          <a:p>
            <a:pPr marL="457200" indent="-457200"/>
            <a:r>
              <a:rPr lang="en-US" altLang="zh-CN" b="1" dirty="0">
                <a:latin typeface="Arial" panose="020B0604020202020204" pitchFamily="34" charset="0"/>
              </a:rPr>
              <a:t>1.</a:t>
            </a:r>
            <a:r>
              <a:rPr lang="zh-CN" altLang="en-US" b="1" dirty="0">
                <a:latin typeface="Arial" panose="020B0604020202020204" pitchFamily="34" charset="0"/>
              </a:rPr>
              <a:t>单例对象</a:t>
            </a:r>
            <a:endParaRPr lang="en-US" altLang="zh-CN" b="1" dirty="0">
              <a:latin typeface="Arial" panose="020B0604020202020204" pitchFamily="34" charset="0"/>
            </a:endParaRPr>
          </a:p>
        </p:txBody>
      </p:sp>
      <p:sp>
        <p:nvSpPr>
          <p:cNvPr id="94212" name="矩形 5"/>
          <p:cNvSpPr/>
          <p:nvPr/>
        </p:nvSpPr>
        <p:spPr>
          <a:xfrm>
            <a:off x="609600" y="1447800"/>
            <a:ext cx="7467600" cy="460375"/>
          </a:xfrm>
          <a:prstGeom prst="rect">
            <a:avLst/>
          </a:prstGeom>
          <a:noFill/>
          <a:ln w="9525">
            <a:noFill/>
          </a:ln>
        </p:spPr>
        <p:txBody>
          <a:bodyPr>
            <a:spAutoFit/>
          </a:bodyPr>
          <a:lstStyle/>
          <a:p>
            <a:r>
              <a:rPr lang="zh-CN" altLang="en-US" sz="2400" dirty="0">
                <a:latin typeface="Arial" panose="020B0604020202020204" pitchFamily="34" charset="0"/>
              </a:rPr>
              <a:t>单例对象的使用与一个普通的类实例一样：</a:t>
            </a:r>
            <a:endParaRPr lang="zh-CN" altLang="en-US" sz="2400" dirty="0">
              <a:latin typeface="Arial" panose="020B0604020202020204" pitchFamily="34" charset="0"/>
            </a:endParaRPr>
          </a:p>
        </p:txBody>
      </p:sp>
      <p:sp>
        <p:nvSpPr>
          <p:cNvPr id="94213" name="TextBox 4"/>
          <p:cNvSpPr txBox="1"/>
          <p:nvPr/>
        </p:nvSpPr>
        <p:spPr>
          <a:xfrm>
            <a:off x="683895" y="3860800"/>
            <a:ext cx="5977255" cy="2553335"/>
          </a:xfrm>
          <a:prstGeom prst="rect">
            <a:avLst/>
          </a:prstGeom>
          <a:solidFill>
            <a:schemeClr val="tx1"/>
          </a:solidFill>
          <a:ln w="9525">
            <a:noFill/>
          </a:ln>
        </p:spPr>
        <p:txBody>
          <a:bodyPr wrap="square">
            <a:spAutoFit/>
          </a:bodyPr>
          <a:lstStyle/>
          <a:p>
            <a:r>
              <a:rPr lang="en-US" altLang="zh-CN" sz="1600" dirty="0">
                <a:solidFill>
                  <a:schemeClr val="bg1"/>
                </a:solidFill>
                <a:latin typeface="Arial" panose="020B0604020202020204" pitchFamily="34" charset="0"/>
              </a:rPr>
              <a:t>scala&gt; :load /usr/local/scala/mycode/Person.scala</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Loading /usr/local/scala/mycode/Person.scala…</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defined object Person</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printf("The first person id: %d.\n",Person.newPersonId())</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The first person id: 1.</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printf("The second person id</a:t>
            </a:r>
            <a:r>
              <a:rPr lang="zh-CN" altLang="zh-CN" sz="1600" dirty="0">
                <a:solidFill>
                  <a:schemeClr val="bg1"/>
                </a:solidFill>
                <a:latin typeface="Arial" panose="020B0604020202020204" pitchFamily="34" charset="0"/>
              </a:rPr>
              <a:t>：</a:t>
            </a:r>
            <a:r>
              <a:rPr lang="en-US" altLang="zh-CN" sz="1600" dirty="0">
                <a:solidFill>
                  <a:schemeClr val="bg1"/>
                </a:solidFill>
                <a:latin typeface="Arial" panose="020B0604020202020204" pitchFamily="34" charset="0"/>
              </a:rPr>
              <a:t>%d.\n",Person.newPersonId())</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The second person id</a:t>
            </a:r>
            <a:r>
              <a:rPr lang="zh-CN" altLang="zh-CN" sz="1600" dirty="0">
                <a:solidFill>
                  <a:schemeClr val="bg1"/>
                </a:solidFill>
                <a:latin typeface="Arial" panose="020B0604020202020204" pitchFamily="34" charset="0"/>
              </a:rPr>
              <a:t>：</a:t>
            </a:r>
            <a:r>
              <a:rPr lang="en-US" altLang="zh-CN" sz="1600" dirty="0">
                <a:solidFill>
                  <a:schemeClr val="bg1"/>
                </a:solidFill>
                <a:latin typeface="Arial" panose="020B0604020202020204" pitchFamily="34" charset="0"/>
              </a:rPr>
              <a:t>2.</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printf("The third person id: %d.\n",Person.newPersonId())</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The third person id: 3.</a:t>
            </a:r>
            <a:endParaRPr lang="en-US" altLang="zh-CN" sz="1600" dirty="0">
              <a:solidFill>
                <a:schemeClr val="bg1"/>
              </a:solidFill>
              <a:latin typeface="Arial" panose="020B0604020202020204" pitchFamily="34" charset="0"/>
            </a:endParaRPr>
          </a:p>
        </p:txBody>
      </p:sp>
      <p:sp>
        <p:nvSpPr>
          <p:cNvPr id="6" name="TextBox 5"/>
          <p:cNvSpPr txBox="1"/>
          <p:nvPr/>
        </p:nvSpPr>
        <p:spPr>
          <a:xfrm>
            <a:off x="685800" y="1905000"/>
            <a:ext cx="7543800" cy="1814830"/>
          </a:xfrm>
          <a:prstGeom prst="rect">
            <a:avLst/>
          </a:prstGeom>
          <a:solidFill>
            <a:schemeClr val="bg1">
              <a:lumMod val="95000"/>
            </a:schemeClr>
          </a:solidFill>
        </p:spPr>
        <p:txBody>
          <a:bodyPr>
            <a:spAutoFit/>
          </a:bodyPr>
          <a:lstStyle/>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zh-CN" altLang="zh-CN" sz="14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14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Person.scala</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object Person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private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lastId</a:t>
            </a:r>
            <a:r>
              <a:rPr kumimoji="0" lang="en-US" altLang="zh-CN" sz="1400" kern="1200" cap="none" spc="0" normalizeH="0" baseline="0" noProof="0" dirty="0">
                <a:latin typeface="Arial" panose="020B0604020202020204" pitchFamily="34" charset="0"/>
                <a:ea typeface="宋体" panose="02010600030101010101" pitchFamily="2" charset="-122"/>
                <a:cs typeface="+mn-cs"/>
              </a:rPr>
              <a:t> = 0  //</a:t>
            </a:r>
            <a:r>
              <a:rPr kumimoji="0" lang="zh-CN" altLang="zh-CN" sz="1400" kern="1200" cap="none" spc="0" normalizeH="0" baseline="0" noProof="0" dirty="0">
                <a:latin typeface="Arial" panose="020B0604020202020204" pitchFamily="34" charset="0"/>
                <a:ea typeface="宋体" panose="02010600030101010101" pitchFamily="2" charset="-122"/>
                <a:cs typeface="+mn-cs"/>
              </a:rPr>
              <a:t>一个人的身份编号</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newPersonId</a:t>
            </a:r>
            <a:r>
              <a:rPr kumimoji="0" lang="en-US" altLang="zh-CN" sz="1400" kern="1200" cap="none" spc="0" normalizeH="0" baseline="0" noProof="0" dirty="0">
                <a:latin typeface="Arial" panose="020B0604020202020204" pitchFamily="34" charset="0"/>
                <a:ea typeface="宋体" panose="02010600030101010101" pitchFamily="2" charset="-122"/>
                <a:cs typeface="+mn-cs"/>
              </a:rPr>
              <a:t>() =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lastId</a:t>
            </a:r>
            <a:r>
              <a:rPr kumimoji="0" lang="en-US" altLang="zh-CN" sz="1400" kern="1200" cap="none" spc="0" normalizeH="0" baseline="0" noProof="0" dirty="0">
                <a:latin typeface="Arial" panose="020B0604020202020204" pitchFamily="34" charset="0"/>
                <a:ea typeface="宋体" panose="02010600030101010101" pitchFamily="2" charset="-122"/>
                <a:cs typeface="+mn-cs"/>
              </a:rPr>
              <a:t> +=1</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lastId</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en-US" sz="14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vert="horz" wrap="square" lIns="91440" tIns="45720" rIns="91440" bIns="45720" anchor="ctr"/>
          <a:lstStyle/>
          <a:p>
            <a:r>
              <a:rPr lang="en-US" altLang="zh-CN" dirty="0"/>
              <a:t>8.3.2 </a:t>
            </a:r>
            <a:r>
              <a:rPr lang="zh-CN" altLang="en-US" dirty="0"/>
              <a:t>对象</a:t>
            </a:r>
            <a:endParaRPr lang="zh-CN" altLang="en-US" dirty="0"/>
          </a:p>
        </p:txBody>
      </p:sp>
      <p:sp>
        <p:nvSpPr>
          <p:cNvPr id="103427" name="矩形 2"/>
          <p:cNvSpPr/>
          <p:nvPr/>
        </p:nvSpPr>
        <p:spPr>
          <a:xfrm>
            <a:off x="457200" y="1981200"/>
            <a:ext cx="7931224" cy="4523105"/>
          </a:xfrm>
          <a:prstGeom prst="rect">
            <a:avLst/>
          </a:prstGeom>
          <a:noFill/>
          <a:ln w="9525">
            <a:noFill/>
          </a:ln>
        </p:spPr>
        <p:txBody>
          <a:bodyPr wrap="square">
            <a:spAutoFit/>
          </a:bodyPr>
          <a:lstStyle/>
          <a:p>
            <a:pPr marL="285750" indent="-285750">
              <a:lnSpc>
                <a:spcPct val="150000"/>
              </a:lnSpc>
              <a:buFontTx/>
              <a:buChar char="•"/>
            </a:pPr>
            <a:r>
              <a:rPr lang="zh-CN" altLang="en-US" sz="2400" dirty="0">
                <a:latin typeface="Arial" panose="020B0604020202020204" pitchFamily="34" charset="0"/>
              </a:rPr>
              <a:t>当一个单例对象和它的同名类一起出现时，这时的单例对象被称为这个同名类的“伴生对象”（</a:t>
            </a:r>
            <a:r>
              <a:rPr lang="en-US" altLang="zh-CN" sz="2400" dirty="0">
                <a:latin typeface="Arial" panose="020B0604020202020204" pitchFamily="34" charset="0"/>
              </a:rPr>
              <a:t>companion object</a:t>
            </a:r>
            <a:r>
              <a:rPr lang="zh-CN" altLang="en-US" sz="2400" dirty="0">
                <a:latin typeface="Arial" panose="020B0604020202020204" pitchFamily="34" charset="0"/>
              </a:rPr>
              <a:t>）。相应的类被称为这个单例对象的“伴生类”</a:t>
            </a:r>
            <a:endParaRPr lang="en-US" altLang="zh-CN" sz="2400" dirty="0">
              <a:latin typeface="Arial" panose="020B0604020202020204" pitchFamily="34" charset="0"/>
            </a:endParaRPr>
          </a:p>
          <a:p>
            <a:pPr marL="285750" indent="-285750">
              <a:lnSpc>
                <a:spcPct val="150000"/>
              </a:lnSpc>
              <a:buFontTx/>
              <a:buChar char="•"/>
            </a:pPr>
            <a:r>
              <a:rPr lang="zh-CN" altLang="en-US" sz="2400" b="1" dirty="0">
                <a:solidFill>
                  <a:srgbClr val="FF0000"/>
                </a:solidFill>
                <a:latin typeface="Arial" panose="020B0604020202020204" pitchFamily="34" charset="0"/>
              </a:rPr>
              <a:t>类和它的伴生对象必须存在于同一个文件中，可以相互访问私有成员</a:t>
            </a:r>
            <a:endParaRPr lang="en-US" altLang="zh-CN" sz="2400" b="1" dirty="0">
              <a:solidFill>
                <a:srgbClr val="FF0000"/>
              </a:solidFill>
              <a:latin typeface="Arial" panose="020B0604020202020204" pitchFamily="34" charset="0"/>
            </a:endParaRPr>
          </a:p>
          <a:p>
            <a:pPr marL="285750" indent="-285750">
              <a:lnSpc>
                <a:spcPct val="150000"/>
              </a:lnSpc>
              <a:buFontTx/>
              <a:buChar char="•"/>
            </a:pPr>
            <a:r>
              <a:rPr lang="zh-CN" altLang="en-US" sz="2400" dirty="0">
                <a:latin typeface="Arial" panose="020B0604020202020204" pitchFamily="34" charset="0"/>
              </a:rPr>
              <a:t>没有同名类的单例对象，被称为孤立对象（</a:t>
            </a:r>
            <a:r>
              <a:rPr lang="en-US" altLang="zh-CN" sz="2400" dirty="0">
                <a:latin typeface="Arial" panose="020B0604020202020204" pitchFamily="34" charset="0"/>
              </a:rPr>
              <a:t>standalone object</a:t>
            </a:r>
            <a:r>
              <a:rPr lang="zh-CN" altLang="en-US" sz="2400" dirty="0">
                <a:latin typeface="Arial" panose="020B0604020202020204" pitchFamily="34" charset="0"/>
              </a:rPr>
              <a:t>）。</a:t>
            </a:r>
            <a:r>
              <a:rPr lang="zh-CN" altLang="en-US" sz="2400" dirty="0">
                <a:solidFill>
                  <a:srgbClr val="FF0000"/>
                </a:solidFill>
                <a:latin typeface="Arial" panose="020B0604020202020204" pitchFamily="34" charset="0"/>
              </a:rPr>
              <a:t>一般情况下，</a:t>
            </a:r>
            <a:r>
              <a:rPr lang="en-US" altLang="zh-CN" sz="2400" dirty="0">
                <a:solidFill>
                  <a:srgbClr val="FF0000"/>
                </a:solidFill>
                <a:latin typeface="Arial" panose="020B0604020202020204" pitchFamily="34" charset="0"/>
              </a:rPr>
              <a:t>Scala</a:t>
            </a:r>
            <a:r>
              <a:rPr lang="zh-CN" altLang="en-US" sz="2400" dirty="0">
                <a:solidFill>
                  <a:srgbClr val="FF0000"/>
                </a:solidFill>
                <a:latin typeface="Arial" panose="020B0604020202020204" pitchFamily="34" charset="0"/>
              </a:rPr>
              <a:t>程序的入口点</a:t>
            </a:r>
            <a:r>
              <a:rPr lang="en-US" altLang="zh-CN" sz="2400" dirty="0">
                <a:solidFill>
                  <a:srgbClr val="FF0000"/>
                </a:solidFill>
                <a:latin typeface="Arial" panose="020B0604020202020204" pitchFamily="34" charset="0"/>
              </a:rPr>
              <a:t>main</a:t>
            </a:r>
            <a:r>
              <a:rPr lang="zh-CN" altLang="en-US" sz="2400" dirty="0">
                <a:solidFill>
                  <a:srgbClr val="FF0000"/>
                </a:solidFill>
                <a:latin typeface="Arial" panose="020B0604020202020204" pitchFamily="34" charset="0"/>
              </a:rPr>
              <a:t>方法就是定义在一个孤立对象里</a:t>
            </a:r>
            <a:endParaRPr lang="zh-CN" altLang="en-US" sz="2400" dirty="0">
              <a:solidFill>
                <a:srgbClr val="FF0000"/>
              </a:solidFill>
              <a:latin typeface="Arial" panose="020B0604020202020204" pitchFamily="34" charset="0"/>
            </a:endParaRPr>
          </a:p>
        </p:txBody>
      </p:sp>
      <p:sp>
        <p:nvSpPr>
          <p:cNvPr id="95236" name="矩形 3"/>
          <p:cNvSpPr/>
          <p:nvPr/>
        </p:nvSpPr>
        <p:spPr>
          <a:xfrm>
            <a:off x="762000" y="1052195"/>
            <a:ext cx="2381885" cy="521970"/>
          </a:xfrm>
          <a:prstGeom prst="rect">
            <a:avLst/>
          </a:prstGeom>
          <a:noFill/>
          <a:ln w="9525">
            <a:noFill/>
          </a:ln>
        </p:spPr>
        <p:txBody>
          <a:bodyPr wrap="square">
            <a:spAutoFit/>
          </a:bodyPr>
          <a:lstStyle/>
          <a:p>
            <a:pPr marL="457200" indent="-457200"/>
            <a:r>
              <a:rPr lang="en-US" altLang="zh-CN" sz="2800" b="1" dirty="0">
                <a:latin typeface="Arial" panose="020B0604020202020204" pitchFamily="34" charset="0"/>
              </a:rPr>
              <a:t>1.</a:t>
            </a:r>
            <a:r>
              <a:rPr lang="zh-CN" altLang="en-US" sz="2800" b="1" dirty="0">
                <a:latin typeface="Arial" panose="020B0604020202020204" pitchFamily="34" charset="0"/>
              </a:rPr>
              <a:t>单例对象</a:t>
            </a:r>
            <a:endParaRPr lang="zh-CN" altLang="en-US" sz="2800" b="1" dirty="0">
              <a:latin typeface="Arial" panose="020B0604020202020204" pitchFamily="34" charset="0"/>
            </a:endParaRPr>
          </a:p>
        </p:txBody>
      </p:sp>
      <p:sp>
        <p:nvSpPr>
          <p:cNvPr id="95237" name="矩形 4"/>
          <p:cNvSpPr/>
          <p:nvPr/>
        </p:nvSpPr>
        <p:spPr>
          <a:xfrm>
            <a:off x="762000" y="1595438"/>
            <a:ext cx="2937510" cy="460375"/>
          </a:xfrm>
          <a:prstGeom prst="rect">
            <a:avLst/>
          </a:prstGeom>
          <a:noFill/>
          <a:ln w="9525">
            <a:noFill/>
          </a:ln>
        </p:spPr>
        <p:txBody>
          <a:bodyPr wrap="none">
            <a:spAutoFit/>
          </a:bodyPr>
          <a:lstStyle/>
          <a:p>
            <a:r>
              <a:rPr lang="zh-CN" altLang="en-US" sz="2400" b="1" dirty="0">
                <a:solidFill>
                  <a:srgbClr val="FF0000"/>
                </a:solidFill>
                <a:latin typeface="Arial" panose="020B0604020202020204" pitchFamily="34" charset="0"/>
              </a:rPr>
              <a:t>伴生对象和孤立对象</a:t>
            </a:r>
            <a:endParaRPr lang="zh-CN" altLang="en-US" sz="2400" b="1" dirty="0">
              <a:solidFill>
                <a:srgbClr val="FF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blinds(horizontal)">
                                      <p:cBhvr>
                                        <p:cTn id="7" dur="500"/>
                                        <p:tgtEl>
                                          <p:spTgt spid="103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3427">
                                            <p:txEl>
                                              <p:pRg st="1" end="1"/>
                                            </p:txEl>
                                          </p:spTgt>
                                        </p:tgtEl>
                                        <p:attrNameLst>
                                          <p:attrName>style.visibility</p:attrName>
                                        </p:attrNameLst>
                                      </p:cBhvr>
                                      <p:to>
                                        <p:strVal val="visible"/>
                                      </p:to>
                                    </p:set>
                                    <p:animEffect transition="in" filter="blinds(horizontal)">
                                      <p:cBhvr>
                                        <p:cTn id="12" dur="500"/>
                                        <p:tgtEl>
                                          <p:spTgt spid="1034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3427">
                                            <p:txEl>
                                              <p:pRg st="2" end="2"/>
                                            </p:txEl>
                                          </p:spTgt>
                                        </p:tgtEl>
                                        <p:attrNameLst>
                                          <p:attrName>style.visibility</p:attrName>
                                        </p:attrNameLst>
                                      </p:cBhvr>
                                      <p:to>
                                        <p:strVal val="visible"/>
                                      </p:to>
                                    </p:set>
                                    <p:animEffect transition="in" filter="blinds(horizontal)">
                                      <p:cBhvr>
                                        <p:cTn id="17" dur="500"/>
                                        <p:tgtEl>
                                          <p:spTgt spid="1034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vert="horz" wrap="square" lIns="91440" tIns="45720" rIns="91440" bIns="45720" anchor="ctr"/>
          <a:lstStyle/>
          <a:p>
            <a:r>
              <a:rPr lang="en-US" altLang="zh-CN" dirty="0"/>
              <a:t>8.3.2 </a:t>
            </a:r>
            <a:r>
              <a:rPr lang="zh-CN" altLang="en-US" dirty="0"/>
              <a:t>对象</a:t>
            </a:r>
            <a:endParaRPr lang="zh-CN" altLang="en-US" dirty="0"/>
          </a:p>
        </p:txBody>
      </p:sp>
      <p:sp>
        <p:nvSpPr>
          <p:cNvPr id="96259" name="矩形 2"/>
          <p:cNvSpPr/>
          <p:nvPr/>
        </p:nvSpPr>
        <p:spPr>
          <a:xfrm>
            <a:off x="762000" y="1143000"/>
            <a:ext cx="1292860" cy="368300"/>
          </a:xfrm>
          <a:prstGeom prst="rect">
            <a:avLst/>
          </a:prstGeom>
          <a:noFill/>
          <a:ln w="9525">
            <a:noFill/>
          </a:ln>
        </p:spPr>
        <p:txBody>
          <a:bodyPr wrap="none">
            <a:spAutoFit/>
          </a:bodyPr>
          <a:lstStyle/>
          <a:p>
            <a:pPr marL="457200" indent="-457200"/>
            <a:r>
              <a:rPr lang="en-US" altLang="zh-CN" b="1" dirty="0">
                <a:latin typeface="Arial" panose="020B0604020202020204" pitchFamily="34" charset="0"/>
              </a:rPr>
              <a:t>1.</a:t>
            </a:r>
            <a:r>
              <a:rPr lang="zh-CN" altLang="en-US" b="1" dirty="0">
                <a:latin typeface="Arial" panose="020B0604020202020204" pitchFamily="34" charset="0"/>
              </a:rPr>
              <a:t>单例对象</a:t>
            </a:r>
            <a:endParaRPr lang="en-US" altLang="zh-CN" b="1" dirty="0">
              <a:latin typeface="Arial" panose="020B0604020202020204" pitchFamily="34" charset="0"/>
            </a:endParaRPr>
          </a:p>
        </p:txBody>
      </p:sp>
      <p:sp>
        <p:nvSpPr>
          <p:cNvPr id="96260" name="矩形 3"/>
          <p:cNvSpPr/>
          <p:nvPr/>
        </p:nvSpPr>
        <p:spPr>
          <a:xfrm>
            <a:off x="762000" y="1447800"/>
            <a:ext cx="2251710" cy="368300"/>
          </a:xfrm>
          <a:prstGeom prst="rect">
            <a:avLst/>
          </a:prstGeom>
          <a:noFill/>
          <a:ln w="9525">
            <a:noFill/>
          </a:ln>
        </p:spPr>
        <p:txBody>
          <a:bodyPr wrap="none">
            <a:spAutoFit/>
          </a:bodyPr>
          <a:lstStyle/>
          <a:p>
            <a:r>
              <a:rPr lang="zh-CN" altLang="en-US" b="1" dirty="0">
                <a:latin typeface="Arial" panose="020B0604020202020204" pitchFamily="34" charset="0"/>
              </a:rPr>
              <a:t>伴生对象和孤立对象</a:t>
            </a:r>
            <a:endParaRPr lang="zh-CN" altLang="en-US" b="1" dirty="0">
              <a:latin typeface="Arial" panose="020B0604020202020204" pitchFamily="34" charset="0"/>
            </a:endParaRPr>
          </a:p>
        </p:txBody>
      </p:sp>
      <p:sp>
        <p:nvSpPr>
          <p:cNvPr id="5" name="TextBox 4"/>
          <p:cNvSpPr txBox="1"/>
          <p:nvPr/>
        </p:nvSpPr>
        <p:spPr>
          <a:xfrm>
            <a:off x="838200" y="1828800"/>
            <a:ext cx="7543800" cy="4399915"/>
          </a:xfrm>
          <a:prstGeom prst="rect">
            <a:avLst/>
          </a:prstGeom>
          <a:solidFill>
            <a:schemeClr val="bg1">
              <a:lumMod val="95000"/>
            </a:schemeClr>
          </a:solidFill>
        </p:spPr>
        <p:txBody>
          <a:bodyPr>
            <a:spAutoFit/>
          </a:bodyPr>
          <a:lstStyle/>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zh-CN" altLang="zh-CN" sz="14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14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1400" kern="1200" cap="none" spc="0" normalizeH="0" baseline="0" noProof="0" dirty="0">
                <a:latin typeface="Arial" panose="020B0604020202020204" pitchFamily="34" charset="0"/>
                <a:ea typeface="宋体" panose="02010600030101010101" pitchFamily="2" charset="-122"/>
                <a:cs typeface="+mn-cs"/>
              </a:rPr>
              <a:t>/Person1.scala</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class Person(</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name:String</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private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400" kern="1200" cap="none" spc="0" normalizeH="0" baseline="0" noProof="0" dirty="0">
                <a:latin typeface="Arial" panose="020B0604020202020204" pitchFamily="34" charset="0"/>
                <a:ea typeface="宋体" panose="02010600030101010101" pitchFamily="2" charset="-122"/>
                <a:cs typeface="+mn-cs"/>
              </a:rPr>
              <a:t> id =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Person.newPersonId</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zh-CN" altLang="zh-CN" sz="1400" kern="1200" cap="none" spc="0" normalizeH="0" baseline="0" noProof="0" dirty="0">
                <a:latin typeface="Arial" panose="020B0604020202020204" pitchFamily="34" charset="0"/>
                <a:ea typeface="宋体" panose="02010600030101010101" pitchFamily="2" charset="-122"/>
                <a:cs typeface="+mn-cs"/>
              </a:rPr>
              <a:t>调用了伴生对象中的方法</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info()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printf</a:t>
            </a:r>
            <a:r>
              <a:rPr kumimoji="0" lang="en-US" altLang="zh-CN" sz="1400" kern="1200" cap="none" spc="0" normalizeH="0" baseline="0" noProof="0" dirty="0">
                <a:latin typeface="Arial" panose="020B0604020202020204" pitchFamily="34" charset="0"/>
                <a:ea typeface="宋体" panose="02010600030101010101" pitchFamily="2" charset="-122"/>
                <a:cs typeface="+mn-cs"/>
              </a:rPr>
              <a:t>("The id of %s is %d.\</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n",name,id</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object Person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private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lastId</a:t>
            </a:r>
            <a:r>
              <a:rPr kumimoji="0" lang="en-US" altLang="zh-CN" sz="1400" kern="1200" cap="none" spc="0" normalizeH="0" baseline="0" noProof="0" dirty="0">
                <a:latin typeface="Arial" panose="020B0604020202020204" pitchFamily="34" charset="0"/>
                <a:ea typeface="宋体" panose="02010600030101010101" pitchFamily="2" charset="-122"/>
                <a:cs typeface="+mn-cs"/>
              </a:rPr>
              <a:t> = 0  //</a:t>
            </a:r>
            <a:r>
              <a:rPr kumimoji="0" lang="zh-CN" altLang="zh-CN" sz="1400" kern="1200" cap="none" spc="0" normalizeH="0" baseline="0" noProof="0" dirty="0">
                <a:latin typeface="Arial" panose="020B0604020202020204" pitchFamily="34" charset="0"/>
                <a:ea typeface="宋体" panose="02010600030101010101" pitchFamily="2" charset="-122"/>
                <a:cs typeface="+mn-cs"/>
              </a:rPr>
              <a:t>一个人的身份编号</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newPersonId</a:t>
            </a:r>
            <a:r>
              <a:rPr kumimoji="0" lang="en-US" altLang="zh-CN" sz="1400" kern="1200" cap="none" spc="0" normalizeH="0" baseline="0" noProof="0" dirty="0">
                <a:latin typeface="Arial" panose="020B0604020202020204" pitchFamily="34" charset="0"/>
                <a:ea typeface="宋体" panose="02010600030101010101" pitchFamily="2" charset="-122"/>
                <a:cs typeface="+mn-cs"/>
              </a:rPr>
              <a:t>() =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lastId</a:t>
            </a:r>
            <a:r>
              <a:rPr kumimoji="0" lang="en-US" altLang="zh-CN" sz="1400" kern="1200" cap="none" spc="0" normalizeH="0" baseline="0" noProof="0" dirty="0">
                <a:latin typeface="Arial" panose="020B0604020202020204" pitchFamily="34" charset="0"/>
                <a:ea typeface="宋体" panose="02010600030101010101" pitchFamily="2" charset="-122"/>
                <a:cs typeface="+mn-cs"/>
              </a:rPr>
              <a:t> +=1</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lastId</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main(</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args</a:t>
            </a:r>
            <a:r>
              <a:rPr kumimoji="0" lang="en-US" altLang="zh-CN" sz="1400" kern="1200" cap="none" spc="0" normalizeH="0" baseline="0" noProof="0" dirty="0">
                <a:latin typeface="Arial" panose="020B0604020202020204" pitchFamily="34" charset="0"/>
                <a:ea typeface="宋体" panose="02010600030101010101" pitchFamily="2" charset="-122"/>
                <a:cs typeface="+mn-cs"/>
              </a:rPr>
              <a:t>: Array[String])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400" kern="1200" cap="none" spc="0" normalizeH="0" baseline="0" noProof="0" dirty="0">
                <a:latin typeface="Arial" panose="020B0604020202020204" pitchFamily="34" charset="0"/>
                <a:ea typeface="宋体" panose="02010600030101010101" pitchFamily="2" charset="-122"/>
                <a:cs typeface="+mn-cs"/>
              </a:rPr>
              <a:t> person1 = new Person("</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Lilei</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400" kern="1200" cap="none" spc="0" normalizeH="0" baseline="0" noProof="0" dirty="0">
                <a:latin typeface="Arial" panose="020B0604020202020204" pitchFamily="34" charset="0"/>
                <a:ea typeface="宋体" panose="02010600030101010101" pitchFamily="2" charset="-122"/>
                <a:cs typeface="+mn-cs"/>
              </a:rPr>
              <a:t> person2 = new Person("</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Hanmei</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person1.info()</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person2.info()</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en-US" sz="1400" kern="1200" cap="none" spc="0" normalizeH="0" baseline="0" noProof="0" dirty="0">
              <a:latin typeface="Arial" panose="020B0604020202020204" pitchFamily="34" charset="0"/>
              <a:ea typeface="宋体" panose="02010600030101010101" pitchFamily="2" charset="-122"/>
              <a:cs typeface="+mn-cs"/>
            </a:endParaRPr>
          </a:p>
        </p:txBody>
      </p:sp>
      <p:sp>
        <p:nvSpPr>
          <p:cNvPr id="96262" name="TextBox 5"/>
          <p:cNvSpPr txBox="1"/>
          <p:nvPr/>
        </p:nvSpPr>
        <p:spPr>
          <a:xfrm>
            <a:off x="2843808" y="5301208"/>
            <a:ext cx="4970780" cy="1198880"/>
          </a:xfrm>
          <a:prstGeom prst="rect">
            <a:avLst/>
          </a:prstGeom>
          <a:solidFill>
            <a:schemeClr val="tx1"/>
          </a:solidFill>
          <a:ln w="9525">
            <a:noFill/>
          </a:ln>
        </p:spPr>
        <p:txBody>
          <a:bodyPr wrap="none">
            <a:spAutoFit/>
          </a:bodyPr>
          <a:lstStyle/>
          <a:p>
            <a:r>
              <a:rPr lang="en-US" altLang="zh-CN" dirty="0">
                <a:solidFill>
                  <a:schemeClr val="bg1"/>
                </a:solidFill>
                <a:latin typeface="Arial" panose="020B0604020202020204" pitchFamily="34" charset="0"/>
              </a:rPr>
              <a:t>$ scalac /usr/local/scala/mycode/Person1.scala</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scala –classpath . Person</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The id of Lilei is 1.</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The id of Hanmei is 2.</a:t>
            </a:r>
            <a:endParaRPr lang="zh-CN" altLang="en-US" dirty="0">
              <a:solidFill>
                <a:schemeClr val="bg1"/>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vert="horz" wrap="square" lIns="91440" tIns="45720" rIns="91440" bIns="45720" anchor="ctr"/>
          <a:lstStyle/>
          <a:p>
            <a:r>
              <a:rPr lang="en-US" altLang="zh-CN" dirty="0"/>
              <a:t>8.3.2 </a:t>
            </a:r>
            <a:r>
              <a:rPr lang="zh-CN" altLang="en-US" dirty="0"/>
              <a:t>对象</a:t>
            </a:r>
            <a:endParaRPr lang="zh-CN" altLang="en-US" dirty="0"/>
          </a:p>
        </p:txBody>
      </p:sp>
      <p:sp>
        <p:nvSpPr>
          <p:cNvPr id="99331" name="矩形 2"/>
          <p:cNvSpPr/>
          <p:nvPr/>
        </p:nvSpPr>
        <p:spPr>
          <a:xfrm>
            <a:off x="762000" y="1219200"/>
            <a:ext cx="1493520" cy="368300"/>
          </a:xfrm>
          <a:prstGeom prst="rect">
            <a:avLst/>
          </a:prstGeom>
          <a:noFill/>
          <a:ln w="9525">
            <a:noFill/>
          </a:ln>
        </p:spPr>
        <p:txBody>
          <a:bodyPr wrap="none">
            <a:spAutoFit/>
          </a:bodyPr>
          <a:lstStyle/>
          <a:p>
            <a:pPr marL="457200" indent="-457200"/>
            <a:r>
              <a:rPr lang="en-US" altLang="zh-CN" b="1" dirty="0">
                <a:latin typeface="Arial" panose="020B0604020202020204" pitchFamily="34" charset="0"/>
              </a:rPr>
              <a:t>2. apply</a:t>
            </a:r>
            <a:r>
              <a:rPr lang="zh-CN" altLang="en-US" b="1" dirty="0">
                <a:latin typeface="Arial" panose="020B0604020202020204" pitchFamily="34" charset="0"/>
              </a:rPr>
              <a:t>方法</a:t>
            </a:r>
            <a:endParaRPr lang="en-US" altLang="zh-CN" b="1" dirty="0">
              <a:latin typeface="Arial" panose="020B0604020202020204" pitchFamily="34" charset="0"/>
            </a:endParaRPr>
          </a:p>
        </p:txBody>
      </p:sp>
      <p:sp>
        <p:nvSpPr>
          <p:cNvPr id="99332" name="矩形 6"/>
          <p:cNvSpPr/>
          <p:nvPr/>
        </p:nvSpPr>
        <p:spPr>
          <a:xfrm>
            <a:off x="685800" y="1619250"/>
            <a:ext cx="7630616" cy="1014730"/>
          </a:xfrm>
          <a:prstGeom prst="rect">
            <a:avLst/>
          </a:prstGeom>
          <a:noFill/>
          <a:ln w="9525">
            <a:noFill/>
          </a:ln>
        </p:spPr>
        <p:txBody>
          <a:bodyPr wrap="square">
            <a:spAutoFit/>
          </a:bodyPr>
          <a:lstStyle/>
          <a:p>
            <a:r>
              <a:rPr lang="zh-CN" altLang="en-US" sz="2000" dirty="0">
                <a:latin typeface="Arial" panose="020B0604020202020204" pitchFamily="34" charset="0"/>
              </a:rPr>
              <a:t>伴生对象中的</a:t>
            </a:r>
            <a:r>
              <a:rPr lang="en-US" altLang="zh-CN" sz="2000" dirty="0">
                <a:latin typeface="Arial" panose="020B0604020202020204" pitchFamily="34" charset="0"/>
              </a:rPr>
              <a:t>apply</a:t>
            </a:r>
            <a:r>
              <a:rPr lang="zh-CN" altLang="en-US" sz="2000" dirty="0">
                <a:latin typeface="Arial" panose="020B0604020202020204" pitchFamily="34" charset="0"/>
              </a:rPr>
              <a:t>方法：将所有类的构造方法以</a:t>
            </a:r>
            <a:r>
              <a:rPr lang="en-US" altLang="zh-CN" sz="2000" dirty="0">
                <a:latin typeface="Arial" panose="020B0604020202020204" pitchFamily="34" charset="0"/>
              </a:rPr>
              <a:t>apply</a:t>
            </a:r>
            <a:r>
              <a:rPr lang="zh-CN" altLang="en-US" sz="2000" dirty="0">
                <a:latin typeface="Arial" panose="020B0604020202020204" pitchFamily="34" charset="0"/>
              </a:rPr>
              <a:t>方法的形式定义在伴生对象中，这样伴生对象就像生成类实例的工厂，而这些</a:t>
            </a:r>
            <a:r>
              <a:rPr lang="en-US" altLang="zh-CN" sz="2000" dirty="0">
                <a:latin typeface="Arial" panose="020B0604020202020204" pitchFamily="34" charset="0"/>
              </a:rPr>
              <a:t>apply</a:t>
            </a:r>
            <a:r>
              <a:rPr lang="zh-CN" altLang="en-US" sz="2000" dirty="0">
                <a:latin typeface="Arial" panose="020B0604020202020204" pitchFamily="34" charset="0"/>
              </a:rPr>
              <a:t>方法也被称为工厂方法</a:t>
            </a:r>
            <a:endParaRPr lang="zh-CN" altLang="en-US" sz="2000" dirty="0">
              <a:latin typeface="Arial" panose="020B0604020202020204" pitchFamily="34" charset="0"/>
            </a:endParaRPr>
          </a:p>
        </p:txBody>
      </p:sp>
      <p:sp>
        <p:nvSpPr>
          <p:cNvPr id="5" name="TextBox 4"/>
          <p:cNvSpPr txBox="1"/>
          <p:nvPr/>
        </p:nvSpPr>
        <p:spPr>
          <a:xfrm>
            <a:off x="762000" y="2667000"/>
            <a:ext cx="7554416" cy="3784600"/>
          </a:xfrm>
          <a:prstGeom prst="rect">
            <a:avLst/>
          </a:prstGeom>
          <a:solidFill>
            <a:schemeClr val="bg1">
              <a:lumMod val="95000"/>
            </a:schemeClr>
          </a:solidFill>
        </p:spPr>
        <p:txBody>
          <a:bodyPr wrap="square">
            <a:spAutoFit/>
          </a:bodyPr>
          <a:lstStyle/>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zh-CN" altLang="zh-CN" sz="16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16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MyTestApply.scala</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class Car(name: String)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def info()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1600" kern="1200" cap="none" spc="0" normalizeH="0" baseline="0" noProof="0" dirty="0">
                <a:latin typeface="Arial" panose="020B0604020202020204" pitchFamily="34" charset="0"/>
                <a:ea typeface="宋体" panose="02010600030101010101" pitchFamily="2" charset="-122"/>
                <a:cs typeface="+mn-cs"/>
              </a:rPr>
              <a:t>("Car name is "+ name)</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object Car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def apply(name: String) = new Car(name) //</a:t>
            </a:r>
            <a:r>
              <a:rPr kumimoji="0" lang="zh-CN" altLang="zh-CN" sz="1600" kern="1200" cap="none" spc="0" normalizeH="0" baseline="0" noProof="0" dirty="0">
                <a:latin typeface="Arial" panose="020B0604020202020204" pitchFamily="34" charset="0"/>
                <a:ea typeface="宋体" panose="02010600030101010101" pitchFamily="2" charset="-122"/>
                <a:cs typeface="+mn-cs"/>
              </a:rPr>
              <a:t>调用伴生类</a:t>
            </a:r>
            <a:r>
              <a:rPr kumimoji="0" lang="en-US" altLang="zh-CN" sz="1600" kern="1200" cap="none" spc="0" normalizeH="0" baseline="0" noProof="0" dirty="0">
                <a:latin typeface="Arial" panose="020B0604020202020204" pitchFamily="34" charset="0"/>
                <a:ea typeface="宋体" panose="02010600030101010101" pitchFamily="2" charset="-122"/>
                <a:cs typeface="+mn-cs"/>
              </a:rPr>
              <a:t>Car</a:t>
            </a:r>
            <a:r>
              <a:rPr kumimoji="0" lang="zh-CN" altLang="zh-CN" sz="1600" kern="1200" cap="none" spc="0" normalizeH="0" baseline="0" noProof="0" dirty="0">
                <a:latin typeface="Arial" panose="020B0604020202020204" pitchFamily="34" charset="0"/>
                <a:ea typeface="宋体" panose="02010600030101010101" pitchFamily="2" charset="-122"/>
                <a:cs typeface="+mn-cs"/>
              </a:rPr>
              <a:t>的构造方法</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object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MyTestApply</a:t>
            </a: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def main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args</a:t>
            </a:r>
            <a:r>
              <a:rPr kumimoji="0" lang="en-US" altLang="zh-CN" sz="1600" kern="1200" cap="none" spc="0" normalizeH="0" baseline="0" noProof="0" dirty="0">
                <a:latin typeface="Arial" panose="020B0604020202020204" pitchFamily="34" charset="0"/>
                <a:ea typeface="宋体" panose="02010600030101010101" pitchFamily="2" charset="-122"/>
                <a:cs typeface="+mn-cs"/>
              </a:rPr>
              <a:t>: Array[String])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mycar</a:t>
            </a:r>
            <a:r>
              <a:rPr kumimoji="0" lang="en-US" altLang="zh-CN" sz="1600" kern="1200" cap="none" spc="0" normalizeH="0" baseline="0" noProof="0" dirty="0">
                <a:latin typeface="Arial" panose="020B0604020202020204" pitchFamily="34" charset="0"/>
                <a:ea typeface="宋体" panose="02010600030101010101" pitchFamily="2" charset="-122"/>
                <a:cs typeface="+mn-cs"/>
              </a:rPr>
              <a:t> = Car("BMW") //</a:t>
            </a:r>
            <a:r>
              <a:rPr kumimoji="0" lang="zh-CN" altLang="zh-CN" sz="1600" kern="1200" cap="none" spc="0" normalizeH="0" baseline="0" noProof="0" dirty="0">
                <a:latin typeface="Arial" panose="020B0604020202020204" pitchFamily="34" charset="0"/>
                <a:ea typeface="宋体" panose="02010600030101010101" pitchFamily="2" charset="-122"/>
                <a:cs typeface="+mn-cs"/>
              </a:rPr>
              <a:t>调用伴生对象中的</a:t>
            </a:r>
            <a:r>
              <a:rPr kumimoji="0" lang="en-US" altLang="zh-CN" sz="1600" kern="1200" cap="none" spc="0" normalizeH="0" baseline="0" noProof="0" dirty="0">
                <a:latin typeface="Arial" panose="020B0604020202020204" pitchFamily="34" charset="0"/>
                <a:ea typeface="宋体" panose="02010600030101010101" pitchFamily="2" charset="-122"/>
                <a:cs typeface="+mn-cs"/>
              </a:rPr>
              <a:t>apply</a:t>
            </a:r>
            <a:r>
              <a:rPr kumimoji="0" lang="zh-CN" altLang="zh-CN" sz="1600" kern="1200" cap="none" spc="0" normalizeH="0" baseline="0" noProof="0" dirty="0">
                <a:latin typeface="Arial" panose="020B0604020202020204" pitchFamily="34" charset="0"/>
                <a:ea typeface="宋体" panose="02010600030101010101" pitchFamily="2" charset="-122"/>
                <a:cs typeface="+mn-cs"/>
              </a:rPr>
              <a:t>方法</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mycar.info() //</a:t>
            </a:r>
            <a:r>
              <a:rPr kumimoji="0" lang="zh-CN" altLang="zh-CN" sz="1600" kern="1200" cap="none" spc="0" normalizeH="0" baseline="0" noProof="0" dirty="0">
                <a:latin typeface="Arial" panose="020B0604020202020204" pitchFamily="34" charset="0"/>
                <a:ea typeface="宋体" panose="02010600030101010101" pitchFamily="2" charset="-122"/>
                <a:cs typeface="+mn-cs"/>
              </a:rPr>
              <a:t>输出结果为“</a:t>
            </a:r>
            <a:r>
              <a:rPr kumimoji="0" lang="en-US" altLang="zh-CN" sz="1600" kern="1200" cap="none" spc="0" normalizeH="0" baseline="0" noProof="0" dirty="0">
                <a:latin typeface="Arial" panose="020B0604020202020204" pitchFamily="34" charset="0"/>
                <a:ea typeface="宋体" panose="02010600030101010101" pitchFamily="2" charset="-122"/>
                <a:cs typeface="+mn-cs"/>
              </a:rPr>
              <a:t>Car name is BMW</a:t>
            </a:r>
            <a:r>
              <a:rPr kumimoji="0" lang="zh-CN"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en-US" sz="16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vert="horz" wrap="square" lIns="91440" tIns="45720" rIns="91440" bIns="45720" anchor="ctr"/>
          <a:lstStyle/>
          <a:p>
            <a:r>
              <a:rPr lang="en-US" altLang="zh-CN" dirty="0"/>
              <a:t>8.3.2 </a:t>
            </a:r>
            <a:r>
              <a:rPr lang="zh-CN" altLang="en-US" dirty="0"/>
              <a:t>对象</a:t>
            </a:r>
            <a:endParaRPr lang="zh-CN" altLang="en-US" dirty="0"/>
          </a:p>
        </p:txBody>
      </p:sp>
      <p:sp>
        <p:nvSpPr>
          <p:cNvPr id="101379" name="矩形 2"/>
          <p:cNvSpPr/>
          <p:nvPr/>
        </p:nvSpPr>
        <p:spPr>
          <a:xfrm>
            <a:off x="762000" y="1143000"/>
            <a:ext cx="1637665" cy="398780"/>
          </a:xfrm>
          <a:prstGeom prst="rect">
            <a:avLst/>
          </a:prstGeom>
          <a:noFill/>
          <a:ln w="9525">
            <a:noFill/>
          </a:ln>
        </p:spPr>
        <p:txBody>
          <a:bodyPr wrap="none">
            <a:spAutoFit/>
          </a:bodyPr>
          <a:lstStyle/>
          <a:p>
            <a:pPr marL="457200" indent="-457200"/>
            <a:r>
              <a:rPr lang="en-US" altLang="zh-CN" sz="2000" b="1" dirty="0">
                <a:latin typeface="Arial" panose="020B0604020202020204" pitchFamily="34" charset="0"/>
              </a:rPr>
              <a:t>2. apply</a:t>
            </a:r>
            <a:r>
              <a:rPr lang="zh-CN" altLang="en-US" sz="2000" b="1" dirty="0">
                <a:latin typeface="Arial" panose="020B0604020202020204" pitchFamily="34" charset="0"/>
              </a:rPr>
              <a:t>方法</a:t>
            </a:r>
            <a:endParaRPr lang="en-US" altLang="zh-CN" sz="2000" b="1" dirty="0">
              <a:latin typeface="Arial" panose="020B0604020202020204" pitchFamily="34" charset="0"/>
            </a:endParaRPr>
          </a:p>
        </p:txBody>
      </p:sp>
      <p:sp>
        <p:nvSpPr>
          <p:cNvPr id="101380" name="矩形 6"/>
          <p:cNvSpPr/>
          <p:nvPr/>
        </p:nvSpPr>
        <p:spPr>
          <a:xfrm>
            <a:off x="685800" y="1524000"/>
            <a:ext cx="7924800" cy="460375"/>
          </a:xfrm>
          <a:prstGeom prst="rect">
            <a:avLst/>
          </a:prstGeom>
          <a:noFill/>
          <a:ln w="9525">
            <a:noFill/>
          </a:ln>
        </p:spPr>
        <p:txBody>
          <a:bodyPr>
            <a:spAutoFit/>
          </a:bodyPr>
          <a:lstStyle/>
          <a:p>
            <a:r>
              <a:rPr lang="zh-CN" altLang="en-US" sz="2400" dirty="0">
                <a:latin typeface="Arial" panose="020B0604020202020204" pitchFamily="34" charset="0"/>
              </a:rPr>
              <a:t>为什么要设计</a:t>
            </a:r>
            <a:r>
              <a:rPr lang="en-US" altLang="zh-CN" sz="2400" dirty="0">
                <a:latin typeface="Arial" panose="020B0604020202020204" pitchFamily="34" charset="0"/>
              </a:rPr>
              <a:t>apply</a:t>
            </a:r>
            <a:r>
              <a:rPr lang="zh-CN" altLang="en-US" sz="2400" dirty="0">
                <a:latin typeface="Arial" panose="020B0604020202020204" pitchFamily="34" charset="0"/>
              </a:rPr>
              <a:t>方法？</a:t>
            </a:r>
            <a:endParaRPr lang="zh-CN" altLang="en-US" sz="2400" dirty="0">
              <a:latin typeface="Arial" panose="020B0604020202020204" pitchFamily="34" charset="0"/>
            </a:endParaRPr>
          </a:p>
        </p:txBody>
      </p:sp>
      <p:sp>
        <p:nvSpPr>
          <p:cNvPr id="101381" name="矩形 4"/>
          <p:cNvSpPr/>
          <p:nvPr/>
        </p:nvSpPr>
        <p:spPr>
          <a:xfrm>
            <a:off x="609600" y="1905000"/>
            <a:ext cx="8001000" cy="553085"/>
          </a:xfrm>
          <a:prstGeom prst="rect">
            <a:avLst/>
          </a:prstGeom>
          <a:noFill/>
          <a:ln w="9525">
            <a:noFill/>
          </a:ln>
        </p:spPr>
        <p:txBody>
          <a:bodyPr>
            <a:spAutoFit/>
          </a:bodyPr>
          <a:lstStyle/>
          <a:p>
            <a:pPr marL="285750" indent="-285750">
              <a:lnSpc>
                <a:spcPct val="150000"/>
              </a:lnSpc>
              <a:buChar char="•"/>
            </a:pPr>
            <a:r>
              <a:rPr lang="en-US" altLang="zh-CN" sz="2000" b="1" dirty="0">
                <a:latin typeface="Arial" panose="020B0604020202020204" pitchFamily="34" charset="0"/>
                <a:sym typeface="+mn-ea"/>
              </a:rPr>
              <a:t>Scala</a:t>
            </a:r>
            <a:r>
              <a:rPr lang="zh-CN" altLang="en-US" sz="2000" b="1" dirty="0">
                <a:latin typeface="Arial" panose="020B0604020202020204" pitchFamily="34" charset="0"/>
                <a:sym typeface="+mn-ea"/>
              </a:rPr>
              <a:t>的</a:t>
            </a:r>
            <a:r>
              <a:rPr lang="zh-CN" altLang="zh-CN" sz="2000" b="1" u="sng" dirty="0">
                <a:latin typeface="Arial" panose="020B0604020202020204" pitchFamily="34" charset="0"/>
                <a:sym typeface="+mn-ea"/>
              </a:rPr>
              <a:t>对象也可以看成函数</a:t>
            </a:r>
            <a:r>
              <a:rPr lang="zh-CN" altLang="zh-CN" sz="2000" b="1" dirty="0">
                <a:latin typeface="Arial" panose="020B0604020202020204" pitchFamily="34" charset="0"/>
                <a:sym typeface="+mn-ea"/>
              </a:rPr>
              <a:t>，前提是该对象提供了</a:t>
            </a:r>
            <a:r>
              <a:rPr lang="en-US" altLang="zh-CN" sz="2000" b="1" dirty="0">
                <a:latin typeface="Arial" panose="020B0604020202020204" pitchFamily="34" charset="0"/>
                <a:sym typeface="+mn-ea"/>
              </a:rPr>
              <a:t>apply</a:t>
            </a:r>
            <a:r>
              <a:rPr lang="zh-CN" altLang="zh-CN" sz="2000" b="1" dirty="0">
                <a:latin typeface="Arial" panose="020B0604020202020204" pitchFamily="34" charset="0"/>
                <a:sym typeface="+mn-ea"/>
              </a:rPr>
              <a:t>方法</a:t>
            </a:r>
            <a:endParaRPr lang="zh-CN" altLang="en-US" sz="2000" b="1" dirty="0">
              <a:latin typeface="Arial" panose="020B0604020202020204" pitchFamily="34" charset="0"/>
              <a:sym typeface="+mn-ea"/>
            </a:endParaRPr>
          </a:p>
        </p:txBody>
      </p:sp>
      <p:sp>
        <p:nvSpPr>
          <p:cNvPr id="6" name="TextBox 5"/>
          <p:cNvSpPr txBox="1"/>
          <p:nvPr/>
        </p:nvSpPr>
        <p:spPr>
          <a:xfrm>
            <a:off x="685800" y="2362200"/>
            <a:ext cx="7702624" cy="4246245"/>
          </a:xfrm>
          <a:prstGeom prst="rect">
            <a:avLst/>
          </a:prstGeom>
          <a:solidFill>
            <a:schemeClr val="bg1">
              <a:lumMod val="95000"/>
            </a:schemeClr>
          </a:solidFill>
        </p:spPr>
        <p:txBody>
          <a:bodyPr wrap="squar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usr</a:t>
            </a:r>
            <a:r>
              <a:rPr kumimoji="0" lang="en-US" altLang="zh-CN" kern="1200" cap="none" spc="0" normalizeH="0" baseline="0" noProof="0" dirty="0">
                <a:latin typeface="Arial" panose="020B0604020202020204" pitchFamily="34" charset="0"/>
                <a:ea typeface="宋体" panose="02010600030101010101" pitchFamily="2" charset="-122"/>
                <a:cs typeface="+mn-cs"/>
              </a:rPr>
              <a:t>/local/</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MyTestApply.scala</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class Car(name: String)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info()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("Car name is "+ name)</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object Car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apply(name: String) = new Car(name) //</a:t>
            </a:r>
            <a:r>
              <a:rPr kumimoji="0" lang="zh-CN" altLang="zh-CN" kern="1200" cap="none" spc="0" normalizeH="0" baseline="0" noProof="0" dirty="0">
                <a:latin typeface="Arial" panose="020B0604020202020204" pitchFamily="34" charset="0"/>
                <a:ea typeface="宋体" panose="02010600030101010101" pitchFamily="2" charset="-122"/>
                <a:cs typeface="+mn-cs"/>
              </a:rPr>
              <a:t>调用伴生类</a:t>
            </a:r>
            <a:r>
              <a:rPr kumimoji="0" lang="en-US" altLang="zh-CN" kern="1200" cap="none" spc="0" normalizeH="0" baseline="0" noProof="0" dirty="0">
                <a:latin typeface="Arial" panose="020B0604020202020204" pitchFamily="34" charset="0"/>
                <a:ea typeface="宋体" panose="02010600030101010101" pitchFamily="2" charset="-122"/>
                <a:cs typeface="+mn-cs"/>
              </a:rPr>
              <a:t>Car</a:t>
            </a:r>
            <a:r>
              <a:rPr kumimoji="0" lang="zh-CN" altLang="zh-CN" kern="1200" cap="none" spc="0" normalizeH="0" baseline="0" noProof="0" dirty="0">
                <a:latin typeface="Arial" panose="020B0604020202020204" pitchFamily="34" charset="0"/>
                <a:ea typeface="宋体" panose="02010600030101010101" pitchFamily="2" charset="-122"/>
                <a:cs typeface="+mn-cs"/>
              </a:rPr>
              <a:t>的构造方法</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object </a:t>
            </a:r>
            <a:r>
              <a:rPr kumimoji="0" lang="en-US" altLang="zh-CN" kern="1200" cap="none" spc="0" normalizeH="0" baseline="0" noProof="0" dirty="0" err="1">
                <a:latin typeface="Arial" panose="020B0604020202020204" pitchFamily="34" charset="0"/>
                <a:ea typeface="宋体" panose="02010600030101010101" pitchFamily="2" charset="-122"/>
                <a:cs typeface="+mn-cs"/>
              </a:rPr>
              <a:t>MyTestApply</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main (</a:t>
            </a:r>
            <a:r>
              <a:rPr kumimoji="0" lang="en-US" altLang="zh-CN" kern="1200" cap="none" spc="0" normalizeH="0" baseline="0" noProof="0" dirty="0" err="1">
                <a:latin typeface="Arial" panose="020B0604020202020204" pitchFamily="34" charset="0"/>
                <a:ea typeface="宋体" panose="02010600030101010101" pitchFamily="2" charset="-122"/>
                <a:cs typeface="+mn-cs"/>
              </a:rPr>
              <a:t>args</a:t>
            </a:r>
            <a:r>
              <a:rPr kumimoji="0" lang="en-US" altLang="zh-CN" kern="1200" cap="none" spc="0" normalizeH="0" baseline="0" noProof="0" dirty="0">
                <a:latin typeface="Arial" panose="020B0604020202020204" pitchFamily="34" charset="0"/>
                <a:ea typeface="宋体" panose="02010600030101010101" pitchFamily="2" charset="-122"/>
                <a:cs typeface="+mn-cs"/>
              </a:rPr>
              <a:t>: Array[String])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mycar</a:t>
            </a:r>
            <a:r>
              <a:rPr kumimoji="0" lang="en-US" altLang="zh-CN" kern="1200" cap="none" spc="0" normalizeH="0" baseline="0" noProof="0" dirty="0">
                <a:latin typeface="Arial" panose="020B0604020202020204" pitchFamily="34" charset="0"/>
                <a:ea typeface="宋体" panose="02010600030101010101" pitchFamily="2" charset="-122"/>
                <a:cs typeface="+mn-cs"/>
              </a:rPr>
              <a:t> = Car("BMW") //</a:t>
            </a:r>
            <a:r>
              <a:rPr kumimoji="0" lang="zh-CN" altLang="zh-CN" kern="1200" cap="none" spc="0" normalizeH="0" baseline="0" noProof="0" dirty="0">
                <a:latin typeface="Arial" panose="020B0604020202020204" pitchFamily="34" charset="0"/>
                <a:ea typeface="宋体" panose="02010600030101010101" pitchFamily="2" charset="-122"/>
                <a:cs typeface="+mn-cs"/>
              </a:rPr>
              <a:t>调用伴生对象中的</a:t>
            </a:r>
            <a:r>
              <a:rPr kumimoji="0" lang="en-US" altLang="zh-CN" kern="1200" cap="none" spc="0" normalizeH="0" baseline="0" noProof="0" dirty="0">
                <a:latin typeface="Arial" panose="020B0604020202020204" pitchFamily="34" charset="0"/>
                <a:ea typeface="宋体" panose="02010600030101010101" pitchFamily="2" charset="-122"/>
                <a:cs typeface="+mn-cs"/>
              </a:rPr>
              <a:t>apply</a:t>
            </a:r>
            <a:r>
              <a:rPr kumimoji="0" lang="zh-CN" altLang="zh-CN" kern="1200" cap="none" spc="0" normalizeH="0" baseline="0" noProof="0" dirty="0">
                <a:latin typeface="Arial" panose="020B0604020202020204" pitchFamily="34" charset="0"/>
                <a:ea typeface="宋体" panose="02010600030101010101" pitchFamily="2" charset="-122"/>
                <a:cs typeface="+mn-cs"/>
              </a:rPr>
              <a:t>方法</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mycar.info() //</a:t>
            </a:r>
            <a:r>
              <a:rPr kumimoji="0" lang="zh-CN" altLang="zh-CN" kern="1200" cap="none" spc="0" normalizeH="0" baseline="0" noProof="0" dirty="0">
                <a:latin typeface="Arial" panose="020B0604020202020204" pitchFamily="34" charset="0"/>
                <a:ea typeface="宋体" panose="02010600030101010101" pitchFamily="2" charset="-122"/>
                <a:cs typeface="+mn-cs"/>
              </a:rPr>
              <a:t>输出结果为“</a:t>
            </a:r>
            <a:r>
              <a:rPr kumimoji="0" lang="en-US" altLang="zh-CN" kern="1200" cap="none" spc="0" normalizeH="0" baseline="0" noProof="0" dirty="0">
                <a:latin typeface="Arial" panose="020B0604020202020204" pitchFamily="34" charset="0"/>
                <a:ea typeface="宋体" panose="02010600030101010101" pitchFamily="2" charset="-122"/>
                <a:cs typeface="+mn-cs"/>
              </a:rPr>
              <a:t>Car name is BMW</a:t>
            </a:r>
            <a:r>
              <a:rPr kumimoji="0" lang="zh-CN"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8.3.3 </a:t>
            </a:r>
            <a:r>
              <a:rPr lang="zh-CN" altLang="en-US" dirty="0"/>
              <a:t>继承</a:t>
            </a:r>
            <a:endParaRPr lang="zh-CN" altLang="en-US" dirty="0"/>
          </a:p>
        </p:txBody>
      </p:sp>
      <p:sp>
        <p:nvSpPr>
          <p:cNvPr id="4" name="内容占位符 3"/>
          <p:cNvSpPr>
            <a:spLocks noGrp="1"/>
          </p:cNvSpPr>
          <p:nvPr>
            <p:ph idx="1"/>
          </p:nvPr>
        </p:nvSpPr>
        <p:spPr/>
        <p:txBody>
          <a:bodyPr/>
          <a:lstStyle/>
          <a:p>
            <a:pPr>
              <a:lnSpc>
                <a:spcPct val="150000"/>
              </a:lnSpc>
            </a:pPr>
            <a:r>
              <a:rPr lang="en-US" altLang="zh-CN" dirty="0">
                <a:latin typeface="Arial" panose="020B0604020202020204" pitchFamily="34" charset="0"/>
              </a:rPr>
              <a:t>1. </a:t>
            </a:r>
            <a:r>
              <a:rPr lang="zh-CN" altLang="en-US" dirty="0">
                <a:latin typeface="Arial" panose="020B0604020202020204" pitchFamily="34" charset="0"/>
              </a:rPr>
              <a:t>抽象类</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2. </a:t>
            </a:r>
            <a:r>
              <a:rPr lang="zh-CN" altLang="en-US" dirty="0">
                <a:latin typeface="Arial" panose="020B0604020202020204" pitchFamily="34" charset="0"/>
              </a:rPr>
              <a:t>扩展类</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3. Scala</a:t>
            </a:r>
            <a:r>
              <a:rPr lang="zh-CN" altLang="en-US" dirty="0">
                <a:latin typeface="Arial" panose="020B0604020202020204" pitchFamily="34" charset="0"/>
              </a:rPr>
              <a:t>的类层次结构</a:t>
            </a:r>
            <a:endParaRPr lang="en-US" altLang="zh-CN" dirty="0">
              <a:latin typeface="Arial" panose="020B0604020202020204" pitchFamily="34" charset="0"/>
            </a:endParaRPr>
          </a:p>
          <a:p>
            <a:pPr>
              <a:lnSpc>
                <a:spcPct val="150000"/>
              </a:lnSpc>
            </a:pPr>
            <a:r>
              <a:rPr lang="en-US" altLang="zh-CN" dirty="0">
                <a:latin typeface="Arial" panose="020B0604020202020204" pitchFamily="34" charset="0"/>
              </a:rPr>
              <a:t>4. Option</a:t>
            </a:r>
            <a:r>
              <a:rPr lang="zh-CN" altLang="en-US" dirty="0">
                <a:latin typeface="Arial" panose="020B0604020202020204" pitchFamily="34" charset="0"/>
              </a:rPr>
              <a:t>类</a:t>
            </a:r>
            <a:endParaRPr lang="en-US" altLang="zh-CN" dirty="0">
              <a:latin typeface="Arial" panose="020B0604020202020204" pitchFamily="34" charset="0"/>
            </a:endParaRPr>
          </a:p>
          <a:p>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vert="horz" wrap="square" lIns="91440" tIns="45720" rIns="91440" bIns="45720" anchor="ctr"/>
          <a:lstStyle/>
          <a:p>
            <a:r>
              <a:rPr lang="en-US" altLang="zh-CN" dirty="0"/>
              <a:t>8.3.3 </a:t>
            </a:r>
            <a:r>
              <a:rPr lang="zh-CN" altLang="en-US" dirty="0"/>
              <a:t>继承</a:t>
            </a:r>
            <a:endParaRPr lang="zh-CN" altLang="en-US" dirty="0"/>
          </a:p>
        </p:txBody>
      </p:sp>
      <p:sp>
        <p:nvSpPr>
          <p:cNvPr id="106499" name="矩形 2"/>
          <p:cNvSpPr/>
          <p:nvPr/>
        </p:nvSpPr>
        <p:spPr>
          <a:xfrm>
            <a:off x="838200" y="1143000"/>
            <a:ext cx="1126490" cy="506730"/>
          </a:xfrm>
          <a:prstGeom prst="rect">
            <a:avLst/>
          </a:prstGeom>
          <a:noFill/>
          <a:ln w="9525">
            <a:noFill/>
          </a:ln>
        </p:spPr>
        <p:txBody>
          <a:bodyPr wrap="none">
            <a:spAutoFit/>
          </a:bodyPr>
          <a:lstStyle/>
          <a:p>
            <a:pPr>
              <a:lnSpc>
                <a:spcPct val="150000"/>
              </a:lnSpc>
            </a:pPr>
            <a:r>
              <a:rPr lang="en-US" altLang="zh-CN" b="1" dirty="0">
                <a:latin typeface="Arial" panose="020B0604020202020204" pitchFamily="34" charset="0"/>
              </a:rPr>
              <a:t>1. </a:t>
            </a:r>
            <a:r>
              <a:rPr lang="zh-CN" altLang="en-US" b="1" dirty="0">
                <a:latin typeface="Arial" panose="020B0604020202020204" pitchFamily="34" charset="0"/>
              </a:rPr>
              <a:t>抽象类</a:t>
            </a:r>
            <a:endParaRPr lang="en-US" altLang="zh-CN" b="1" dirty="0">
              <a:latin typeface="Arial" panose="020B0604020202020204" pitchFamily="34" charset="0"/>
            </a:endParaRPr>
          </a:p>
        </p:txBody>
      </p:sp>
      <p:sp>
        <p:nvSpPr>
          <p:cNvPr id="4" name="矩形 2"/>
          <p:cNvSpPr/>
          <p:nvPr/>
        </p:nvSpPr>
        <p:spPr>
          <a:xfrm>
            <a:off x="838200" y="1676400"/>
            <a:ext cx="7550224" cy="706755"/>
          </a:xfrm>
          <a:prstGeom prst="rect">
            <a:avLst/>
          </a:prstGeom>
          <a:noFill/>
          <a:ln w="9525">
            <a:noFill/>
          </a:ln>
        </p:spPr>
        <p:txBody>
          <a:bodyPr wrap="square">
            <a:spAutoFit/>
          </a:bodyPr>
          <a:lstStyle/>
          <a:p>
            <a:r>
              <a:rPr lang="zh-CN" altLang="en-US" sz="2000" dirty="0">
                <a:latin typeface="Arial" panose="020B0604020202020204" pitchFamily="34" charset="0"/>
              </a:rPr>
              <a:t>如果一个类包含没有实现的成员，则必须使用</a:t>
            </a:r>
            <a:r>
              <a:rPr lang="en-US" altLang="zh-CN" sz="2000" dirty="0">
                <a:latin typeface="Arial" panose="020B0604020202020204" pitchFamily="34" charset="0"/>
              </a:rPr>
              <a:t>abstract</a:t>
            </a:r>
            <a:r>
              <a:rPr lang="zh-CN" altLang="en-US" sz="2000" dirty="0">
                <a:latin typeface="Arial" panose="020B0604020202020204" pitchFamily="34" charset="0"/>
              </a:rPr>
              <a:t>关键词进行修饰，定义为抽象类</a:t>
            </a:r>
            <a:endParaRPr lang="zh-CN" altLang="en-US" sz="2000" dirty="0">
              <a:latin typeface="Arial" panose="020B0604020202020204" pitchFamily="34" charset="0"/>
            </a:endParaRPr>
          </a:p>
        </p:txBody>
      </p:sp>
      <p:sp>
        <p:nvSpPr>
          <p:cNvPr id="5" name="TextBox 4"/>
          <p:cNvSpPr txBox="1"/>
          <p:nvPr/>
        </p:nvSpPr>
        <p:spPr>
          <a:xfrm>
            <a:off x="947738" y="2362200"/>
            <a:ext cx="6456680" cy="2030095"/>
          </a:xfrm>
          <a:prstGeom prst="rect">
            <a:avLst/>
          </a:prstGeom>
          <a:solidFill>
            <a:schemeClr val="bg1">
              <a:lumMod val="95000"/>
            </a:schemeClr>
          </a:solidFill>
        </p:spPr>
        <p:txBody>
          <a:bodyPr wrap="non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abstract class Car(</a:t>
            </a: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name:String</a:t>
            </a: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carBrand:String</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zh-CN" altLang="zh-CN" kern="1200" cap="none" spc="0" normalizeH="0" baseline="0" noProof="0" dirty="0">
                <a:latin typeface="Arial" panose="020B0604020202020204" pitchFamily="34" charset="0"/>
                <a:ea typeface="宋体" panose="02010600030101010101" pitchFamily="2" charset="-122"/>
                <a:cs typeface="+mn-cs"/>
              </a:rPr>
              <a:t>字段没有初始化值，就是一个抽象字段</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info() //</a:t>
            </a:r>
            <a:r>
              <a:rPr kumimoji="0" lang="zh-CN" altLang="zh-CN" kern="1200" cap="none" spc="0" normalizeH="0" baseline="0" noProof="0" dirty="0">
                <a:latin typeface="Arial" panose="020B0604020202020204" pitchFamily="34" charset="0"/>
                <a:ea typeface="宋体" panose="02010600030101010101" pitchFamily="2" charset="-122"/>
                <a:cs typeface="+mn-cs"/>
              </a:rPr>
              <a:t>抽象方法</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greeting()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("Welcome to my car!")</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6" name="矩形 4"/>
          <p:cNvSpPr/>
          <p:nvPr/>
        </p:nvSpPr>
        <p:spPr>
          <a:xfrm>
            <a:off x="762000" y="4325938"/>
            <a:ext cx="7626424" cy="2306955"/>
          </a:xfrm>
          <a:prstGeom prst="rect">
            <a:avLst/>
          </a:prstGeom>
          <a:noFill/>
          <a:ln w="9525">
            <a:noFill/>
          </a:ln>
        </p:spPr>
        <p:txBody>
          <a:bodyPr wrap="square">
            <a:spAutoFit/>
          </a:bodyPr>
          <a:lstStyle/>
          <a:p>
            <a:pPr>
              <a:lnSpc>
                <a:spcPct val="150000"/>
              </a:lnSpc>
            </a:pPr>
            <a:r>
              <a:rPr lang="zh-CN" altLang="en-US" sz="1600" dirty="0">
                <a:latin typeface="Arial" panose="020B0604020202020204" pitchFamily="34" charset="0"/>
              </a:rPr>
              <a:t>关于上面的定义，说明几点：</a:t>
            </a:r>
            <a:br>
              <a:rPr lang="zh-CN" altLang="en-US" sz="1600" dirty="0">
                <a:latin typeface="Arial" panose="020B0604020202020204" pitchFamily="34" charset="0"/>
              </a:rPr>
            </a:br>
            <a:r>
              <a:rPr lang="zh-CN" altLang="en-US" sz="1600" dirty="0">
                <a:latin typeface="Arial" panose="020B0604020202020204" pitchFamily="34" charset="0"/>
              </a:rPr>
              <a:t>（</a:t>
            </a:r>
            <a:r>
              <a:rPr lang="en-US" altLang="zh-CN" sz="1600" dirty="0">
                <a:latin typeface="Arial" panose="020B0604020202020204" pitchFamily="34" charset="0"/>
              </a:rPr>
              <a:t>1</a:t>
            </a:r>
            <a:r>
              <a:rPr lang="zh-CN" altLang="en-US" sz="1600" dirty="0">
                <a:latin typeface="Arial" panose="020B0604020202020204" pitchFamily="34" charset="0"/>
              </a:rPr>
              <a:t>）定义一个抽象类，需要使用关键字</a:t>
            </a:r>
            <a:r>
              <a:rPr lang="en-US" altLang="zh-CN" sz="1600" dirty="0">
                <a:latin typeface="Arial" panose="020B0604020202020204" pitchFamily="34" charset="0"/>
              </a:rPr>
              <a:t>abstract</a:t>
            </a:r>
            <a:br>
              <a:rPr lang="zh-CN" altLang="en-US" sz="1600" dirty="0">
                <a:latin typeface="Arial" panose="020B0604020202020204" pitchFamily="34" charset="0"/>
              </a:rPr>
            </a:br>
            <a:r>
              <a:rPr lang="zh-CN" altLang="en-US" sz="1600" dirty="0">
                <a:latin typeface="Arial" panose="020B0604020202020204" pitchFamily="34" charset="0"/>
              </a:rPr>
              <a:t>（</a:t>
            </a:r>
            <a:r>
              <a:rPr lang="en-US" altLang="zh-CN" sz="1600" dirty="0">
                <a:latin typeface="Arial" panose="020B0604020202020204" pitchFamily="34" charset="0"/>
              </a:rPr>
              <a:t>2</a:t>
            </a:r>
            <a:r>
              <a:rPr lang="zh-CN" altLang="en-US" sz="1600" dirty="0">
                <a:latin typeface="Arial" panose="020B0604020202020204" pitchFamily="34" charset="0"/>
              </a:rPr>
              <a:t>）定义一个抽象类的抽象方法，不需要关键字</a:t>
            </a:r>
            <a:r>
              <a:rPr lang="en-US" altLang="zh-CN" sz="1600" dirty="0">
                <a:latin typeface="Arial" panose="020B0604020202020204" pitchFamily="34" charset="0"/>
              </a:rPr>
              <a:t>abstract</a:t>
            </a:r>
            <a:r>
              <a:rPr lang="zh-CN" altLang="en-US" sz="1600" dirty="0">
                <a:latin typeface="Arial" panose="020B0604020202020204" pitchFamily="34" charset="0"/>
              </a:rPr>
              <a:t>，只要把方法体空着，不写方法体就可以</a:t>
            </a:r>
            <a:br>
              <a:rPr lang="zh-CN" altLang="en-US" sz="1600" dirty="0">
                <a:latin typeface="Arial" panose="020B0604020202020204" pitchFamily="34" charset="0"/>
              </a:rPr>
            </a:br>
            <a:r>
              <a:rPr lang="zh-CN" altLang="en-US" sz="1600" dirty="0">
                <a:latin typeface="Arial" panose="020B0604020202020204" pitchFamily="34" charset="0"/>
              </a:rPr>
              <a:t>（</a:t>
            </a:r>
            <a:r>
              <a:rPr lang="en-US" altLang="zh-CN" sz="1600" dirty="0">
                <a:latin typeface="Arial" panose="020B0604020202020204" pitchFamily="34" charset="0"/>
              </a:rPr>
              <a:t>3</a:t>
            </a:r>
            <a:r>
              <a:rPr lang="zh-CN" altLang="en-US" sz="1600" dirty="0">
                <a:latin typeface="Arial" panose="020B0604020202020204" pitchFamily="34" charset="0"/>
              </a:rPr>
              <a:t>）抽象类中定义的字段，只要没有给出初始化值，就表示是一个抽象字段，但是，抽象字段必须要声明类型，否则编译会报错</a:t>
            </a:r>
            <a:endParaRPr lang="zh-CN" altLang="en-US" sz="16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vert="horz" wrap="square" lIns="91440" tIns="45720" rIns="91440" bIns="45720" anchor="ctr"/>
          <a:lstStyle/>
          <a:p>
            <a:r>
              <a:rPr lang="en-US" altLang="zh-CN" dirty="0"/>
              <a:t>8.3.3 </a:t>
            </a:r>
            <a:r>
              <a:rPr lang="zh-CN" altLang="en-US" dirty="0"/>
              <a:t>继承</a:t>
            </a:r>
            <a:endParaRPr lang="zh-CN" altLang="en-US" dirty="0"/>
          </a:p>
        </p:txBody>
      </p:sp>
      <p:sp>
        <p:nvSpPr>
          <p:cNvPr id="107523" name="矩形 2"/>
          <p:cNvSpPr/>
          <p:nvPr/>
        </p:nvSpPr>
        <p:spPr>
          <a:xfrm>
            <a:off x="838200" y="1143000"/>
            <a:ext cx="1126490" cy="506730"/>
          </a:xfrm>
          <a:prstGeom prst="rect">
            <a:avLst/>
          </a:prstGeom>
          <a:noFill/>
          <a:ln w="9525">
            <a:noFill/>
          </a:ln>
        </p:spPr>
        <p:txBody>
          <a:bodyPr wrap="none">
            <a:spAutoFit/>
          </a:bodyPr>
          <a:lstStyle/>
          <a:p>
            <a:pPr>
              <a:lnSpc>
                <a:spcPct val="150000"/>
              </a:lnSpc>
            </a:pPr>
            <a:r>
              <a:rPr lang="en-US" altLang="zh-CN" b="1" dirty="0">
                <a:latin typeface="Arial" panose="020B0604020202020204" pitchFamily="34" charset="0"/>
              </a:rPr>
              <a:t>2. </a:t>
            </a:r>
            <a:r>
              <a:rPr lang="zh-CN" altLang="en-US" b="1" dirty="0">
                <a:latin typeface="Arial" panose="020B0604020202020204" pitchFamily="34" charset="0"/>
              </a:rPr>
              <a:t>扩展类</a:t>
            </a:r>
            <a:endParaRPr lang="en-US" altLang="zh-CN" b="1" dirty="0">
              <a:latin typeface="Arial" panose="020B0604020202020204" pitchFamily="34" charset="0"/>
            </a:endParaRPr>
          </a:p>
        </p:txBody>
      </p:sp>
      <p:sp>
        <p:nvSpPr>
          <p:cNvPr id="105476" name="矩形 2"/>
          <p:cNvSpPr/>
          <p:nvPr/>
        </p:nvSpPr>
        <p:spPr>
          <a:xfrm>
            <a:off x="762000" y="1676400"/>
            <a:ext cx="7626424" cy="706755"/>
          </a:xfrm>
          <a:prstGeom prst="rect">
            <a:avLst/>
          </a:prstGeom>
          <a:noFill/>
          <a:ln w="9525">
            <a:noFill/>
          </a:ln>
        </p:spPr>
        <p:txBody>
          <a:bodyPr wrap="square">
            <a:spAutoFit/>
          </a:bodyPr>
          <a:lstStyle/>
          <a:p>
            <a:r>
              <a:rPr lang="en-US" altLang="zh-CN" sz="2000" dirty="0">
                <a:solidFill>
                  <a:srgbClr val="FF0000"/>
                </a:solidFill>
                <a:latin typeface="Arial" panose="020B0604020202020204" pitchFamily="34" charset="0"/>
              </a:rPr>
              <a:t>Scala</a:t>
            </a:r>
            <a:r>
              <a:rPr lang="zh-CN" altLang="en-US" sz="2000" dirty="0">
                <a:solidFill>
                  <a:srgbClr val="FF0000"/>
                </a:solidFill>
                <a:latin typeface="Arial" panose="020B0604020202020204" pitchFamily="34" charset="0"/>
              </a:rPr>
              <a:t>只支持单一继承</a:t>
            </a:r>
            <a:r>
              <a:rPr lang="zh-CN" altLang="en-US" sz="2000" dirty="0">
                <a:latin typeface="Arial" panose="020B0604020202020204" pitchFamily="34" charset="0"/>
              </a:rPr>
              <a:t>，而不支持多重继承。在类定义中使用</a:t>
            </a:r>
            <a:r>
              <a:rPr lang="en-US" altLang="zh-CN" sz="2000" dirty="0">
                <a:latin typeface="Arial" panose="020B0604020202020204" pitchFamily="34" charset="0"/>
              </a:rPr>
              <a:t>extends</a:t>
            </a:r>
            <a:r>
              <a:rPr lang="zh-CN" altLang="en-US" sz="2000" dirty="0">
                <a:latin typeface="Arial" panose="020B0604020202020204" pitchFamily="34" charset="0"/>
              </a:rPr>
              <a:t>关键字表示继承关系。定义子类时，需要注意：</a:t>
            </a:r>
            <a:endParaRPr lang="zh-CN" altLang="en-US" sz="2000" dirty="0">
              <a:latin typeface="Arial" panose="020B0604020202020204" pitchFamily="34" charset="0"/>
            </a:endParaRPr>
          </a:p>
        </p:txBody>
      </p:sp>
      <p:sp>
        <p:nvSpPr>
          <p:cNvPr id="5" name="矩形 4"/>
          <p:cNvSpPr/>
          <p:nvPr/>
        </p:nvSpPr>
        <p:spPr>
          <a:xfrm>
            <a:off x="685800" y="2468563"/>
            <a:ext cx="7702624" cy="1938020"/>
          </a:xfrm>
          <a:prstGeom prst="rect">
            <a:avLst/>
          </a:prstGeom>
        </p:spPr>
        <p:txBody>
          <a:bodyPr wrap="square">
            <a:spAutoFit/>
          </a:bodyPr>
          <a:lstStyle/>
          <a:p>
            <a:pPr marL="342900" marR="0" lvl="0" indent="-342900" algn="just" defTabSz="914400" rtl="0" eaLnBrk="1" fontAlgn="base" latinLnBrk="0" hangingPunct="1">
              <a:lnSpc>
                <a:spcPct val="150000"/>
              </a:lnSpc>
              <a:spcBef>
                <a:spcPct val="0"/>
              </a:spcBef>
              <a:spcAft>
                <a:spcPts val="0"/>
              </a:spcAft>
              <a:buClrTx/>
              <a:buSzTx/>
              <a:buFont typeface="Wingdings" panose="05000000000000000000" pitchFamily="2" charset="2"/>
              <a:buChar char=""/>
              <a:defRPr/>
            </a:pP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重载父类的抽象成员（包括字段和方法）时，</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override</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关键字是可选的；而重载父类的非抽象成员时，</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override</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关键字是必选的</a:t>
            </a:r>
            <a:endPar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342900" marR="0" lvl="0" indent="-342900" algn="just" defTabSz="914400" rtl="0" eaLnBrk="1" fontAlgn="base" latinLnBrk="0" hangingPunct="1">
              <a:lnSpc>
                <a:spcPct val="150000"/>
              </a:lnSpc>
              <a:spcBef>
                <a:spcPct val="0"/>
              </a:spcBef>
              <a:spcAft>
                <a:spcPts val="0"/>
              </a:spcAft>
              <a:buClrTx/>
              <a:buSzTx/>
              <a:buFont typeface="Wingdings" panose="05000000000000000000" pitchFamily="2" charset="2"/>
              <a:buChar char=""/>
              <a:defRPr/>
            </a:pPr>
            <a:r>
              <a:rPr kumimoji="0" lang="zh-CN" altLang="zh-CN" sz="20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只能重载</a:t>
            </a:r>
            <a:r>
              <a:rPr kumimoji="0" lang="en-US" altLang="zh-CN" sz="2000" b="0" i="0" u="none" strike="noStrike" kern="100" cap="none" spc="0" normalizeH="0" baseline="0" noProof="0" dirty="0" err="1">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val</a:t>
            </a:r>
            <a:r>
              <a:rPr kumimoji="0" lang="zh-CN" altLang="zh-CN" sz="20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类型的字段，而不能重载</a:t>
            </a:r>
            <a:r>
              <a:rPr kumimoji="0" lang="en-US" altLang="zh-CN" sz="2000" b="0" i="0" u="none" strike="noStrike" kern="100" cap="none" spc="0" normalizeH="0" baseline="0" noProof="0" dirty="0" err="1">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var</a:t>
            </a:r>
            <a:r>
              <a:rPr kumimoji="0" lang="zh-CN" altLang="zh-CN" sz="2000" b="0" i="0" u="none" strike="noStrike" kern="100" cap="none" spc="0" normalizeH="0" baseline="0"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类型的字段</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。因为</a:t>
            </a:r>
            <a:r>
              <a:rPr kumimoji="0" lang="en-US" altLang="zh-CN" sz="2000" b="0" i="0" u="none" strike="noStrike" kern="100" cap="none" spc="0" normalizeH="0" baseline="0" noProof="0" dirty="0" err="1">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var</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类型本身就是可变的，所以，可以直接修改它的值，无需重载</a:t>
            </a:r>
            <a:endPar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5476"/>
                                        </p:tgtEl>
                                        <p:attrNameLst>
                                          <p:attrName>style.visibility</p:attrName>
                                        </p:attrNameLst>
                                      </p:cBhvr>
                                      <p:to>
                                        <p:strVal val="visible"/>
                                      </p:to>
                                    </p:set>
                                    <p:animEffect transition="in" filter="blinds(horizontal)">
                                      <p:cBhvr>
                                        <p:cTn id="7" dur="500"/>
                                        <p:tgtEl>
                                          <p:spTgt spid="1054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vert="horz" wrap="square" lIns="91440" tIns="45720" rIns="91440" bIns="45720" anchor="ctr"/>
          <a:lstStyle/>
          <a:p>
            <a:r>
              <a:rPr lang="en-US" altLang="zh-CN" dirty="0"/>
              <a:t>8.3.3 </a:t>
            </a:r>
            <a:r>
              <a:rPr lang="zh-CN" altLang="en-US" dirty="0"/>
              <a:t>继承</a:t>
            </a:r>
            <a:endParaRPr lang="zh-CN" altLang="en-US" dirty="0"/>
          </a:p>
        </p:txBody>
      </p:sp>
      <p:pic>
        <p:nvPicPr>
          <p:cNvPr id="108547" name="Picture 1" descr="C:\Users\Lenovo\AppData\Roaming\Tencent\Users\70004972\QQ\WinTemp\RichOle\~`Y$]CRR${WCG2W~EMDD@GB.png"/>
          <p:cNvPicPr>
            <a:picLocks noChangeAspect="1"/>
          </p:cNvPicPr>
          <p:nvPr/>
        </p:nvPicPr>
        <p:blipFill>
          <a:blip r:embed="rId1"/>
          <a:stretch>
            <a:fillRect/>
          </a:stretch>
        </p:blipFill>
        <p:spPr>
          <a:xfrm>
            <a:off x="755650" y="1556385"/>
            <a:ext cx="5410200" cy="4876800"/>
          </a:xfrm>
          <a:prstGeom prst="rect">
            <a:avLst/>
          </a:prstGeom>
          <a:noFill/>
          <a:ln w="9525">
            <a:noFill/>
          </a:ln>
        </p:spPr>
      </p:pic>
      <p:sp>
        <p:nvSpPr>
          <p:cNvPr id="108548" name="矩形 4"/>
          <p:cNvSpPr/>
          <p:nvPr/>
        </p:nvSpPr>
        <p:spPr>
          <a:xfrm>
            <a:off x="4860290" y="4580573"/>
            <a:ext cx="2468880" cy="368300"/>
          </a:xfrm>
          <a:prstGeom prst="rect">
            <a:avLst/>
          </a:prstGeom>
          <a:noFill/>
          <a:ln w="9525">
            <a:noFill/>
          </a:ln>
        </p:spPr>
        <p:txBody>
          <a:bodyPr wrap="none">
            <a:spAutoFit/>
          </a:bodyPr>
          <a:lstStyle/>
          <a:p>
            <a:r>
              <a:rPr lang="zh-CN" altLang="en-US" dirty="0">
                <a:latin typeface="Arial" panose="020B0604020202020204" pitchFamily="34" charset="0"/>
              </a:rPr>
              <a:t>编译执行后，结果为：</a:t>
            </a:r>
            <a:endParaRPr lang="zh-CN" altLang="en-US" dirty="0">
              <a:latin typeface="Arial" panose="020B0604020202020204" pitchFamily="34" charset="0"/>
            </a:endParaRPr>
          </a:p>
        </p:txBody>
      </p:sp>
      <p:pic>
        <p:nvPicPr>
          <p:cNvPr id="108549" name="Picture 2" descr="C:\Users\Lenovo\AppData\Roaming\Tencent\Users\70004972\QQ\WinTemp\RichOle\F4)WQ5%G09]AZO@{6~B7VYW.png"/>
          <p:cNvPicPr>
            <a:picLocks noChangeAspect="1"/>
          </p:cNvPicPr>
          <p:nvPr/>
        </p:nvPicPr>
        <p:blipFill>
          <a:blip r:embed="rId2"/>
          <a:stretch>
            <a:fillRect/>
          </a:stretch>
        </p:blipFill>
        <p:spPr>
          <a:xfrm>
            <a:off x="4860290" y="4874260"/>
            <a:ext cx="3397324" cy="1076325"/>
          </a:xfrm>
          <a:prstGeom prst="rect">
            <a:avLst/>
          </a:prstGeom>
          <a:noFill/>
          <a:ln w="9525">
            <a:noFill/>
          </a:ln>
        </p:spPr>
      </p:pic>
      <p:sp>
        <p:nvSpPr>
          <p:cNvPr id="108550" name="矩形 5"/>
          <p:cNvSpPr/>
          <p:nvPr/>
        </p:nvSpPr>
        <p:spPr>
          <a:xfrm>
            <a:off x="838200" y="1143000"/>
            <a:ext cx="1126490" cy="506730"/>
          </a:xfrm>
          <a:prstGeom prst="rect">
            <a:avLst/>
          </a:prstGeom>
          <a:noFill/>
          <a:ln w="9525">
            <a:noFill/>
          </a:ln>
        </p:spPr>
        <p:txBody>
          <a:bodyPr wrap="none">
            <a:spAutoFit/>
          </a:bodyPr>
          <a:lstStyle/>
          <a:p>
            <a:pPr>
              <a:lnSpc>
                <a:spcPct val="150000"/>
              </a:lnSpc>
            </a:pPr>
            <a:r>
              <a:rPr lang="en-US" altLang="zh-CN" b="1" dirty="0">
                <a:latin typeface="Arial" panose="020B0604020202020204" pitchFamily="34" charset="0"/>
              </a:rPr>
              <a:t>2. </a:t>
            </a:r>
            <a:r>
              <a:rPr lang="zh-CN" altLang="en-US" b="1" dirty="0">
                <a:latin typeface="Arial" panose="020B0604020202020204" pitchFamily="34" charset="0"/>
              </a:rPr>
              <a:t>扩展类</a:t>
            </a:r>
            <a:endParaRPr lang="en-US" altLang="zh-CN" b="1" dirty="0">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vert="horz" wrap="square" lIns="91440" tIns="45720" rIns="91440" bIns="45720" anchor="ctr"/>
          <a:lstStyle/>
          <a:p>
            <a:r>
              <a:rPr lang="en-US" altLang="zh-CN" dirty="0"/>
              <a:t>8.3.3 </a:t>
            </a:r>
            <a:r>
              <a:rPr lang="zh-CN" altLang="en-US" dirty="0"/>
              <a:t>继承</a:t>
            </a:r>
            <a:endParaRPr lang="zh-CN" altLang="en-US" dirty="0"/>
          </a:p>
        </p:txBody>
      </p:sp>
      <p:sp>
        <p:nvSpPr>
          <p:cNvPr id="4" name="矩形 3"/>
          <p:cNvSpPr/>
          <p:nvPr/>
        </p:nvSpPr>
        <p:spPr>
          <a:xfrm>
            <a:off x="381000" y="4538663"/>
            <a:ext cx="8001000" cy="1845310"/>
          </a:xfrm>
          <a:prstGeom prst="rect">
            <a:avLst/>
          </a:prstGeom>
        </p:spPr>
        <p:txBody>
          <a:bodyPr wrap="square">
            <a:spAutoFit/>
          </a:bodyPr>
          <a:lstStyle/>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en-US"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Null</a:t>
            </a:r>
            <a:r>
              <a:rPr kumimoji="0" lang="zh-CN"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是所有引用类型的子类，其唯一的实例为</a:t>
            </a:r>
            <a:r>
              <a:rPr kumimoji="0" lang="en-US"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null</a:t>
            </a:r>
            <a:r>
              <a:rPr kumimoji="0" lang="zh-CN"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，表示一个“空”对象，可以赋值给任何引用类型的变量，但不能赋值给值类型的变量</a:t>
            </a:r>
            <a:endParaRPr kumimoji="0" lang="en-US"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en-US"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Nothing</a:t>
            </a:r>
            <a:r>
              <a:rPr kumimoji="0" lang="zh-CN"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是所有其它类型的子类，包括</a:t>
            </a:r>
            <a:r>
              <a:rPr kumimoji="0" lang="en-US"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Null</a:t>
            </a:r>
            <a:r>
              <a:rPr kumimoji="0" lang="zh-CN"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a:t>
            </a:r>
            <a:r>
              <a:rPr kumimoji="0" lang="en-US"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Nothing</a:t>
            </a:r>
            <a:r>
              <a:rPr kumimoji="0" lang="zh-CN" altLang="zh-CN" sz="19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没有实例，主要用于异常处理函数的返回类型</a:t>
            </a:r>
            <a:endParaRPr kumimoji="0" lang="zh-CN" altLang="en-US" sz="19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pic>
        <p:nvPicPr>
          <p:cNvPr id="110596" name="图片 6" descr="scla类层次图"/>
          <p:cNvPicPr>
            <a:picLocks noChangeAspect="1"/>
          </p:cNvPicPr>
          <p:nvPr/>
        </p:nvPicPr>
        <p:blipFill>
          <a:blip r:embed="rId1"/>
          <a:stretch>
            <a:fillRect/>
          </a:stretch>
        </p:blipFill>
        <p:spPr>
          <a:xfrm>
            <a:off x="1981200" y="1371600"/>
            <a:ext cx="4572000" cy="3048000"/>
          </a:xfrm>
          <a:prstGeom prst="rect">
            <a:avLst/>
          </a:prstGeom>
          <a:noFill/>
          <a:ln w="9525">
            <a:noFill/>
          </a:ln>
        </p:spPr>
      </p:pic>
      <p:sp>
        <p:nvSpPr>
          <p:cNvPr id="110597" name="矩形 5"/>
          <p:cNvSpPr/>
          <p:nvPr/>
        </p:nvSpPr>
        <p:spPr>
          <a:xfrm>
            <a:off x="762000" y="1143000"/>
            <a:ext cx="2413000" cy="506730"/>
          </a:xfrm>
          <a:prstGeom prst="rect">
            <a:avLst/>
          </a:prstGeom>
          <a:noFill/>
          <a:ln w="9525">
            <a:noFill/>
          </a:ln>
        </p:spPr>
        <p:txBody>
          <a:bodyPr wrap="none">
            <a:spAutoFit/>
          </a:bodyPr>
          <a:lstStyle/>
          <a:p>
            <a:pPr>
              <a:lnSpc>
                <a:spcPct val="150000"/>
              </a:lnSpc>
            </a:pPr>
            <a:r>
              <a:rPr lang="en-US" altLang="zh-CN" b="1" dirty="0">
                <a:latin typeface="Arial" panose="020B0604020202020204" pitchFamily="34" charset="0"/>
              </a:rPr>
              <a:t>3. Scala</a:t>
            </a:r>
            <a:r>
              <a:rPr lang="zh-CN" altLang="en-US" b="1" dirty="0">
                <a:latin typeface="Arial" panose="020B0604020202020204" pitchFamily="34" charset="0"/>
              </a:rPr>
              <a:t>的类层次结构</a:t>
            </a:r>
            <a:endParaRPr lang="en-US" altLang="zh-CN" b="1" dirty="0">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p:txBody>
          <a:bodyPr vert="horz" wrap="square" lIns="91440" tIns="45720" rIns="91440" bIns="45720" anchor="ctr"/>
          <a:lstStyle/>
          <a:p>
            <a:r>
              <a:rPr lang="en-US" altLang="zh-CN" dirty="0"/>
              <a:t>8.3.3 </a:t>
            </a:r>
            <a:r>
              <a:rPr lang="zh-CN" altLang="en-US" dirty="0"/>
              <a:t>继承</a:t>
            </a:r>
            <a:endParaRPr lang="zh-CN" altLang="en-US" dirty="0"/>
          </a:p>
        </p:txBody>
      </p:sp>
      <p:sp>
        <p:nvSpPr>
          <p:cNvPr id="111619" name="矩形 2"/>
          <p:cNvSpPr/>
          <p:nvPr/>
        </p:nvSpPr>
        <p:spPr>
          <a:xfrm>
            <a:off x="762000" y="1143000"/>
            <a:ext cx="1403350" cy="506730"/>
          </a:xfrm>
          <a:prstGeom prst="rect">
            <a:avLst/>
          </a:prstGeom>
          <a:noFill/>
          <a:ln w="9525">
            <a:noFill/>
          </a:ln>
        </p:spPr>
        <p:txBody>
          <a:bodyPr wrap="none">
            <a:spAutoFit/>
          </a:bodyPr>
          <a:lstStyle/>
          <a:p>
            <a:pPr>
              <a:lnSpc>
                <a:spcPct val="150000"/>
              </a:lnSpc>
            </a:pPr>
            <a:r>
              <a:rPr lang="en-US" altLang="zh-CN" b="1" dirty="0">
                <a:latin typeface="Arial" panose="020B0604020202020204" pitchFamily="34" charset="0"/>
              </a:rPr>
              <a:t>4. Option</a:t>
            </a:r>
            <a:r>
              <a:rPr lang="zh-CN" altLang="en-US" b="1" dirty="0">
                <a:latin typeface="Arial" panose="020B0604020202020204" pitchFamily="34" charset="0"/>
              </a:rPr>
              <a:t>类</a:t>
            </a:r>
            <a:endParaRPr lang="en-US" altLang="zh-CN" b="1" dirty="0">
              <a:latin typeface="Arial" panose="020B0604020202020204" pitchFamily="34" charset="0"/>
            </a:endParaRPr>
          </a:p>
        </p:txBody>
      </p:sp>
      <p:sp>
        <p:nvSpPr>
          <p:cNvPr id="4" name="矩形 3"/>
          <p:cNvSpPr/>
          <p:nvPr/>
        </p:nvSpPr>
        <p:spPr>
          <a:xfrm>
            <a:off x="457200" y="1695450"/>
            <a:ext cx="7931224" cy="4246245"/>
          </a:xfrm>
          <a:prstGeom prst="rect">
            <a:avLst/>
          </a:prstGeom>
        </p:spPr>
        <p:txBody>
          <a:bodyPr wrap="square">
            <a:spAutoFit/>
          </a:bodyPr>
          <a:lstStyle/>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Scala</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提供</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null</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是为了实现在</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JVM</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与其它</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Java</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库的兼容性，但是，除非明确需要与</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Java</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库进行交互，否则，</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Scala</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建议尽量避免使用这种可能带来</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bug</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的</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null</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，而改用</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Option</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类</a:t>
            </a:r>
            <a:endPar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mn-ea"/>
              </a:rPr>
              <a:t>Option</a:t>
            </a:r>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mn-ea"/>
              </a:rPr>
              <a:t>是一个抽象类</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，有一个具体的子类</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Some</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和一个对象</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None</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，其中，前者表示有值的情形，后者表示没有值</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当方法不确定是否有对象返回时，可以让返回值类型为</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Option[T]</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，其中，</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T</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为类型参数。对于这类方法，如果确实有</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T</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类型的对象需要返回，会将该对象包装成一个</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Some</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对象并返回；如果没有值需要返回，将返回</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None</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8.3.4 </a:t>
            </a:r>
            <a:r>
              <a:rPr lang="zh-CN" altLang="en-US" dirty="0"/>
              <a:t>特质（</a:t>
            </a:r>
            <a:r>
              <a:rPr lang="en-US" altLang="zh-CN" dirty="0"/>
              <a:t>trait</a:t>
            </a:r>
            <a:r>
              <a:rPr lang="zh-CN" altLang="en-US" dirty="0"/>
              <a:t>）</a:t>
            </a:r>
            <a:endParaRPr lang="zh-CN" altLang="en-US" dirty="0"/>
          </a:p>
        </p:txBody>
      </p:sp>
      <p:sp>
        <p:nvSpPr>
          <p:cNvPr id="4" name="内容占位符 3"/>
          <p:cNvSpPr>
            <a:spLocks noGrp="1"/>
          </p:cNvSpPr>
          <p:nvPr>
            <p:ph idx="1"/>
          </p:nvPr>
        </p:nvSpPr>
        <p:spPr/>
        <p:txBody>
          <a:bodyPr/>
          <a:lstStyle/>
          <a:p>
            <a:pPr>
              <a:lnSpc>
                <a:spcPct val="150000"/>
              </a:lnSpc>
            </a:pPr>
            <a:r>
              <a:rPr lang="en-US" altLang="zh-CN" dirty="0">
                <a:latin typeface="宋体" panose="02010600030101010101" pitchFamily="2" charset="-122"/>
              </a:rPr>
              <a:t>1. </a:t>
            </a:r>
            <a:r>
              <a:rPr lang="zh-CN" altLang="en-US" dirty="0">
                <a:latin typeface="宋体" panose="02010600030101010101" pitchFamily="2" charset="-122"/>
              </a:rPr>
              <a:t>特质概述</a:t>
            </a:r>
            <a:endParaRPr lang="en-US" altLang="zh-CN" dirty="0">
              <a:latin typeface="宋体" panose="02010600030101010101" pitchFamily="2" charset="-122"/>
            </a:endParaRPr>
          </a:p>
          <a:p>
            <a:pPr>
              <a:lnSpc>
                <a:spcPct val="150000"/>
              </a:lnSpc>
            </a:pPr>
            <a:r>
              <a:rPr lang="en-US" altLang="zh-CN" dirty="0">
                <a:latin typeface="宋体" panose="02010600030101010101" pitchFamily="2" charset="-122"/>
              </a:rPr>
              <a:t>2. </a:t>
            </a:r>
            <a:r>
              <a:rPr lang="zh-CN" altLang="en-US" dirty="0">
                <a:latin typeface="宋体" panose="02010600030101010101" pitchFamily="2" charset="-122"/>
              </a:rPr>
              <a:t>特质的定义</a:t>
            </a:r>
            <a:endParaRPr lang="en-US" altLang="zh-CN" dirty="0">
              <a:latin typeface="宋体" panose="02010600030101010101" pitchFamily="2" charset="-122"/>
            </a:endParaRPr>
          </a:p>
          <a:p>
            <a:pPr>
              <a:lnSpc>
                <a:spcPct val="150000"/>
              </a:lnSpc>
            </a:pPr>
            <a:r>
              <a:rPr lang="en-US" altLang="zh-CN" dirty="0">
                <a:latin typeface="宋体" panose="02010600030101010101" pitchFamily="2" charset="-122"/>
              </a:rPr>
              <a:t>3. </a:t>
            </a:r>
            <a:r>
              <a:rPr lang="zh-CN" altLang="en-US" dirty="0">
                <a:latin typeface="宋体" panose="02010600030101010101" pitchFamily="2" charset="-122"/>
              </a:rPr>
              <a:t>把特质混入类中</a:t>
            </a:r>
            <a:endParaRPr lang="zh-CN" altLang="en-US" dirty="0">
              <a:latin typeface="宋体" panose="02010600030101010101" pitchFamily="2" charset="-122"/>
            </a:endParaRPr>
          </a:p>
          <a:p>
            <a:pPr>
              <a:lnSpc>
                <a:spcPct val="150000"/>
              </a:lnSpc>
            </a:pPr>
            <a:r>
              <a:rPr lang="en-US" altLang="zh-CN" dirty="0">
                <a:latin typeface="宋体" panose="02010600030101010101" pitchFamily="2" charset="-122"/>
              </a:rPr>
              <a:t>4. </a:t>
            </a:r>
            <a:r>
              <a:rPr lang="zh-CN" altLang="en-US" dirty="0">
                <a:latin typeface="宋体" panose="02010600030101010101" pitchFamily="2" charset="-122"/>
              </a:rPr>
              <a:t>把多个特质混入类中</a:t>
            </a:r>
            <a:endParaRPr lang="zh-CN" altLang="en-US" dirty="0">
              <a:latin typeface="宋体" panose="02010600030101010101" pitchFamily="2" charset="-122"/>
            </a:endParaRPr>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p:cNvSpPr>
          <p:nvPr>
            <p:ph type="title"/>
          </p:nvPr>
        </p:nvSpPr>
        <p:spPr/>
        <p:txBody>
          <a:bodyPr vert="horz" wrap="square" lIns="91440" tIns="45720" rIns="91440" bIns="45720" anchor="ctr"/>
          <a:lstStyle/>
          <a:p>
            <a:r>
              <a:rPr lang="en-US" altLang="zh-CN" dirty="0"/>
              <a:t>8.3.4 </a:t>
            </a:r>
            <a:r>
              <a:rPr lang="zh-CN" altLang="en-US" dirty="0"/>
              <a:t>特质（</a:t>
            </a:r>
            <a:r>
              <a:rPr lang="en-US" altLang="zh-CN" dirty="0"/>
              <a:t>trait</a:t>
            </a:r>
            <a:r>
              <a:rPr lang="zh-CN" altLang="en-US" dirty="0"/>
              <a:t>）</a:t>
            </a:r>
            <a:endParaRPr lang="zh-CN" altLang="en-US" dirty="0"/>
          </a:p>
        </p:txBody>
      </p:sp>
      <p:sp>
        <p:nvSpPr>
          <p:cNvPr id="2" name="内容占位符 1"/>
          <p:cNvSpPr>
            <a:spLocks noGrp="1"/>
          </p:cNvSpPr>
          <p:nvPr>
            <p:ph idx="1"/>
          </p:nvPr>
        </p:nvSpPr>
        <p:spPr/>
        <p:txBody>
          <a:bodyPr/>
          <a:p>
            <a:endParaRPr lang="zh-CN" altLang="en-US"/>
          </a:p>
        </p:txBody>
      </p:sp>
      <p:sp>
        <p:nvSpPr>
          <p:cNvPr id="112643" name="矩形 2"/>
          <p:cNvSpPr/>
          <p:nvPr/>
        </p:nvSpPr>
        <p:spPr>
          <a:xfrm>
            <a:off x="457200" y="1905000"/>
            <a:ext cx="7859216" cy="3415030"/>
          </a:xfrm>
          <a:prstGeom prst="rect">
            <a:avLst/>
          </a:prstGeom>
          <a:noFill/>
          <a:ln w="9525">
            <a:noFill/>
          </a:ln>
        </p:spPr>
        <p:txBody>
          <a:bodyPr wrap="square">
            <a:spAutoFit/>
          </a:bodyPr>
          <a:lstStyle/>
          <a:p>
            <a:pPr>
              <a:lnSpc>
                <a:spcPct val="150000"/>
              </a:lnSpc>
              <a:buFontTx/>
              <a:buChar char="•"/>
            </a:pPr>
            <a:r>
              <a:rPr lang="en-US" altLang="zh-CN" sz="2400" dirty="0">
                <a:latin typeface="Arial" panose="020B0604020202020204" pitchFamily="34" charset="0"/>
              </a:rPr>
              <a:t> Scala</a:t>
            </a:r>
            <a:r>
              <a:rPr lang="zh-CN" altLang="en-US" sz="2400" dirty="0">
                <a:latin typeface="Arial" panose="020B0604020202020204" pitchFamily="34" charset="0"/>
              </a:rPr>
              <a:t>中没有接口的概念，而是提供了“</a:t>
            </a:r>
            <a:r>
              <a:rPr lang="zh-CN" altLang="en-US" sz="2400" dirty="0">
                <a:solidFill>
                  <a:srgbClr val="FF0000"/>
                </a:solidFill>
                <a:latin typeface="Arial" panose="020B0604020202020204" pitchFamily="34" charset="0"/>
              </a:rPr>
              <a:t>特质</a:t>
            </a:r>
            <a:r>
              <a:rPr lang="en-US" altLang="zh-CN" sz="2400" dirty="0">
                <a:solidFill>
                  <a:srgbClr val="FF0000"/>
                </a:solidFill>
                <a:latin typeface="Arial" panose="020B0604020202020204" pitchFamily="34" charset="0"/>
              </a:rPr>
              <a:t>(trait)”</a:t>
            </a:r>
            <a:r>
              <a:rPr lang="zh-CN" altLang="en-US" sz="2400" dirty="0">
                <a:solidFill>
                  <a:srgbClr val="FF0000"/>
                </a:solidFill>
                <a:latin typeface="Arial" panose="020B0604020202020204" pitchFamily="34" charset="0"/>
              </a:rPr>
              <a:t>，它不仅实现了接口的功能，还具备了很多其他的特性</a:t>
            </a:r>
            <a:endParaRPr lang="en-US" altLang="zh-CN" sz="2400" dirty="0">
              <a:solidFill>
                <a:srgbClr val="FF0000"/>
              </a:solidFill>
              <a:latin typeface="Arial" panose="020B0604020202020204" pitchFamily="34" charset="0"/>
            </a:endParaRPr>
          </a:p>
          <a:p>
            <a:pPr>
              <a:lnSpc>
                <a:spcPct val="150000"/>
              </a:lnSpc>
              <a:buFontTx/>
              <a:buChar char="•"/>
            </a:pPr>
            <a:r>
              <a:rPr lang="en-US" altLang="zh-CN" sz="2400" dirty="0">
                <a:latin typeface="Arial" panose="020B0604020202020204" pitchFamily="34" charset="0"/>
              </a:rPr>
              <a:t> Scala</a:t>
            </a:r>
            <a:r>
              <a:rPr lang="zh-CN" altLang="en-US" sz="2400" dirty="0">
                <a:latin typeface="Arial" panose="020B0604020202020204" pitchFamily="34" charset="0"/>
              </a:rPr>
              <a:t>的特质是代码重用的基本单元，可以同时拥有抽象方法和具体方法</a:t>
            </a:r>
            <a:endParaRPr lang="en-US" altLang="zh-CN" sz="2400" dirty="0">
              <a:latin typeface="Arial" panose="020B0604020202020204" pitchFamily="34" charset="0"/>
            </a:endParaRPr>
          </a:p>
          <a:p>
            <a:pPr>
              <a:lnSpc>
                <a:spcPct val="150000"/>
              </a:lnSpc>
              <a:buFontTx/>
              <a:buChar char="•"/>
            </a:pPr>
            <a:r>
              <a:rPr lang="en-US" altLang="zh-CN" sz="2400" dirty="0">
                <a:latin typeface="Arial" panose="020B0604020202020204" pitchFamily="34" charset="0"/>
              </a:rPr>
              <a:t> Scala</a:t>
            </a:r>
            <a:r>
              <a:rPr lang="zh-CN" altLang="en-US" sz="2400" dirty="0">
                <a:latin typeface="Arial" panose="020B0604020202020204" pitchFamily="34" charset="0"/>
              </a:rPr>
              <a:t>中，一个类只能继承自一个超类，却可以实现多个特质，从而重用特质中的方法和字段，实现了多重继承</a:t>
            </a:r>
            <a:endParaRPr lang="zh-CN" altLang="en-US" sz="2400" dirty="0">
              <a:latin typeface="Arial" panose="020B0604020202020204" pitchFamily="34" charset="0"/>
            </a:endParaRPr>
          </a:p>
        </p:txBody>
      </p:sp>
      <p:sp>
        <p:nvSpPr>
          <p:cNvPr id="114692" name="矩形 3"/>
          <p:cNvSpPr/>
          <p:nvPr/>
        </p:nvSpPr>
        <p:spPr>
          <a:xfrm>
            <a:off x="533400" y="1219200"/>
            <a:ext cx="1868170" cy="645160"/>
          </a:xfrm>
          <a:prstGeom prst="rect">
            <a:avLst/>
          </a:prstGeom>
          <a:noFill/>
          <a:ln w="9525">
            <a:noFill/>
          </a:ln>
        </p:spPr>
        <p:txBody>
          <a:bodyPr wrap="none">
            <a:spAutoFit/>
          </a:bodyPr>
          <a:lstStyle/>
          <a:p>
            <a:pPr>
              <a:lnSpc>
                <a:spcPct val="150000"/>
              </a:lnSpc>
            </a:pPr>
            <a:r>
              <a:rPr lang="en-US" altLang="zh-CN" sz="2400" b="1" dirty="0">
                <a:latin typeface="宋体" panose="02010600030101010101" pitchFamily="2" charset="-122"/>
              </a:rPr>
              <a:t>1. </a:t>
            </a:r>
            <a:r>
              <a:rPr lang="zh-CN" altLang="en-US" sz="2400" b="1" dirty="0">
                <a:latin typeface="宋体" panose="02010600030101010101" pitchFamily="2" charset="-122"/>
              </a:rPr>
              <a:t>特质概述</a:t>
            </a:r>
            <a:endParaRPr lang="en-US" altLang="zh-CN" sz="2400" b="1"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43">
                                            <p:txEl>
                                              <p:pRg st="1" end="1"/>
                                            </p:txEl>
                                          </p:spTgt>
                                        </p:tgtEl>
                                        <p:attrNameLst>
                                          <p:attrName>style.visibility</p:attrName>
                                        </p:attrNameLst>
                                      </p:cBhvr>
                                      <p:to>
                                        <p:strVal val="visible"/>
                                      </p:to>
                                    </p:set>
                                    <p:animEffect transition="in" filter="blinds(horizontal)">
                                      <p:cBhvr>
                                        <p:cTn id="7" dur="500"/>
                                        <p:tgtEl>
                                          <p:spTgt spid="1126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643">
                                            <p:txEl>
                                              <p:pRg st="2" end="2"/>
                                            </p:txEl>
                                          </p:spTgt>
                                        </p:tgtEl>
                                        <p:attrNameLst>
                                          <p:attrName>style.visibility</p:attrName>
                                        </p:attrNameLst>
                                      </p:cBhvr>
                                      <p:to>
                                        <p:strVal val="visible"/>
                                      </p:to>
                                    </p:set>
                                    <p:animEffect transition="in" filter="blinds(horizontal)">
                                      <p:cBhvr>
                                        <p:cTn id="12" dur="500"/>
                                        <p:tgtEl>
                                          <p:spTgt spid="1126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p:txBody>
          <a:bodyPr vert="horz" wrap="square" lIns="91440" tIns="45720" rIns="91440" bIns="45720" anchor="ctr"/>
          <a:lstStyle/>
          <a:p>
            <a:r>
              <a:rPr lang="en-US" altLang="zh-CN" dirty="0"/>
              <a:t>8.3.4 </a:t>
            </a:r>
            <a:r>
              <a:rPr lang="zh-CN" altLang="en-US" dirty="0"/>
              <a:t>特质（</a:t>
            </a:r>
            <a:r>
              <a:rPr lang="en-US" altLang="zh-CN" dirty="0"/>
              <a:t>trait</a:t>
            </a:r>
            <a:r>
              <a:rPr lang="zh-CN" altLang="en-US" dirty="0"/>
              <a:t>）</a:t>
            </a:r>
            <a:endParaRPr lang="zh-CN" altLang="en-US" dirty="0"/>
          </a:p>
        </p:txBody>
      </p:sp>
      <p:sp>
        <p:nvSpPr>
          <p:cNvPr id="113667" name="矩形 2"/>
          <p:cNvSpPr/>
          <p:nvPr/>
        </p:nvSpPr>
        <p:spPr>
          <a:xfrm>
            <a:off x="449263" y="1120775"/>
            <a:ext cx="8466137" cy="706755"/>
          </a:xfrm>
          <a:prstGeom prst="rect">
            <a:avLst/>
          </a:prstGeom>
          <a:noFill/>
          <a:ln w="9525">
            <a:noFill/>
          </a:ln>
        </p:spPr>
        <p:txBody>
          <a:bodyPr>
            <a:spAutoFit/>
          </a:bodyPr>
          <a:lstStyle/>
          <a:p>
            <a:r>
              <a:rPr lang="en-US" altLang="zh-CN" sz="2000" b="1" dirty="0">
                <a:latin typeface="Arial" panose="020B0604020202020204" pitchFamily="34" charset="0"/>
              </a:rPr>
              <a:t>2.</a:t>
            </a:r>
            <a:r>
              <a:rPr lang="zh-CN" altLang="en-US" sz="2000" b="1" dirty="0">
                <a:latin typeface="Arial" panose="020B0604020202020204" pitchFamily="34" charset="0"/>
              </a:rPr>
              <a:t>特质的定义</a:t>
            </a:r>
            <a:endParaRPr lang="en-US" altLang="zh-CN" sz="2000" b="1" dirty="0">
              <a:latin typeface="Arial" panose="020B0604020202020204" pitchFamily="34" charset="0"/>
            </a:endParaRPr>
          </a:p>
          <a:p>
            <a:r>
              <a:rPr lang="zh-CN" altLang="en-US" sz="2000" dirty="0">
                <a:latin typeface="Arial" panose="020B0604020202020204" pitchFamily="34" charset="0"/>
              </a:rPr>
              <a:t>使用关键字</a:t>
            </a:r>
            <a:r>
              <a:rPr lang="en-US" altLang="zh-CN" sz="2000" dirty="0">
                <a:latin typeface="Arial" panose="020B0604020202020204" pitchFamily="34" charset="0"/>
              </a:rPr>
              <a:t>trait</a:t>
            </a:r>
            <a:r>
              <a:rPr lang="zh-CN" altLang="en-US" sz="2000" dirty="0">
                <a:latin typeface="Arial" panose="020B0604020202020204" pitchFamily="34" charset="0"/>
              </a:rPr>
              <a:t>定义特质</a:t>
            </a:r>
            <a:endParaRPr lang="zh-CN" altLang="en-US" sz="2000" dirty="0">
              <a:latin typeface="Arial" panose="020B0604020202020204" pitchFamily="34" charset="0"/>
            </a:endParaRPr>
          </a:p>
        </p:txBody>
      </p:sp>
      <p:sp>
        <p:nvSpPr>
          <p:cNvPr id="7" name="矩形 6"/>
          <p:cNvSpPr/>
          <p:nvPr/>
        </p:nvSpPr>
        <p:spPr>
          <a:xfrm>
            <a:off x="228600" y="4267200"/>
            <a:ext cx="8569325" cy="1476375"/>
          </a:xfrm>
          <a:prstGeom prst="rect">
            <a:avLst/>
          </a:prstGeom>
        </p:spPr>
        <p:txBody>
          <a:bodyPr>
            <a:spAutoFit/>
          </a:bodyPr>
          <a:lstStyle/>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mn-ea"/>
              </a:rPr>
              <a:t>特质既可以包含抽象成员，也可以包含非抽象成员</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。包含抽象成员时，不需要</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abstract</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关键字</a:t>
            </a:r>
            <a:endPar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特质可以使用</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extends</a:t>
            </a:r>
            <a:r>
              <a:rPr kumimoji="0" lang="zh-CN" altLang="en-US"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继承其它的特质</a:t>
            </a:r>
            <a:endPar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6" name="TextBox 5"/>
          <p:cNvSpPr txBox="1"/>
          <p:nvPr/>
        </p:nvSpPr>
        <p:spPr>
          <a:xfrm>
            <a:off x="609600" y="1981200"/>
            <a:ext cx="7696200" cy="2030095"/>
          </a:xfrm>
          <a:prstGeom prst="rect">
            <a:avLst/>
          </a:prstGeom>
          <a:solidFill>
            <a:schemeClr val="bg1">
              <a:lumMod val="95000"/>
            </a:schemeClr>
          </a:solidFill>
        </p:spPr>
        <p:txBody>
          <a:bodyPr>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trait Flyable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var</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maxFlyHeight:Int</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zh-CN" altLang="zh-CN" kern="1200" cap="none" spc="0" normalizeH="0" baseline="0" noProof="0" dirty="0">
                <a:latin typeface="Arial" panose="020B0604020202020204" pitchFamily="34" charset="0"/>
                <a:ea typeface="宋体" panose="02010600030101010101" pitchFamily="2" charset="-122"/>
                <a:cs typeface="+mn-cs"/>
              </a:rPr>
              <a:t>抽象字段</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fly() //</a:t>
            </a:r>
            <a:r>
              <a:rPr kumimoji="0" lang="zh-CN" altLang="zh-CN" kern="1200" cap="none" spc="0" normalizeH="0" baseline="0" noProof="0" dirty="0">
                <a:latin typeface="Arial" panose="020B0604020202020204" pitchFamily="34" charset="0"/>
                <a:ea typeface="宋体" panose="02010600030101010101" pitchFamily="2" charset="-122"/>
                <a:cs typeface="+mn-cs"/>
              </a:rPr>
              <a:t>抽象方法</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def breathe(){ //</a:t>
            </a:r>
            <a:r>
              <a:rPr kumimoji="0" lang="zh-CN" altLang="zh-CN" kern="1200" cap="none" spc="0" normalizeH="0" baseline="0" noProof="0" dirty="0">
                <a:latin typeface="Arial" panose="020B0604020202020204" pitchFamily="34" charset="0"/>
                <a:ea typeface="宋体" panose="02010600030101010101" pitchFamily="2" charset="-122"/>
                <a:cs typeface="+mn-cs"/>
              </a:rPr>
              <a:t>具体的方法</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("I can breathe")</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667"/>
                                        </p:tgtEl>
                                        <p:attrNameLst>
                                          <p:attrName>style.visibility</p:attrName>
                                        </p:attrNameLst>
                                      </p:cBhvr>
                                      <p:to>
                                        <p:strVal val="visible"/>
                                      </p:to>
                                    </p:set>
                                    <p:animEffect transition="in" filter="blinds(horizontal)">
                                      <p:cBhvr>
                                        <p:cTn id="10" dur="500"/>
                                        <p:tgtEl>
                                          <p:spTgt spid="11366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blinds(horizontal)">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blinds(horizontal)">
                                      <p:cBhvr>
                                        <p:cTn id="2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P spid="6"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vert="horz" wrap="square" lIns="91440" tIns="45720" rIns="91440" bIns="45720" anchor="ctr"/>
          <a:lstStyle/>
          <a:p>
            <a:r>
              <a:rPr lang="en-US" altLang="zh-CN" dirty="0"/>
              <a:t>8.3.4 </a:t>
            </a:r>
            <a:r>
              <a:rPr lang="zh-CN" altLang="en-US" dirty="0"/>
              <a:t>特质（</a:t>
            </a:r>
            <a:r>
              <a:rPr lang="en-US" altLang="zh-CN" dirty="0"/>
              <a:t>trait</a:t>
            </a:r>
            <a:r>
              <a:rPr lang="zh-CN" altLang="en-US" dirty="0"/>
              <a:t>）</a:t>
            </a:r>
            <a:endParaRPr lang="zh-CN" altLang="en-US" dirty="0"/>
          </a:p>
        </p:txBody>
      </p:sp>
      <p:sp>
        <p:nvSpPr>
          <p:cNvPr id="116739" name="矩形 2"/>
          <p:cNvSpPr/>
          <p:nvPr/>
        </p:nvSpPr>
        <p:spPr>
          <a:xfrm>
            <a:off x="685800" y="1143000"/>
            <a:ext cx="2354580" cy="553085"/>
          </a:xfrm>
          <a:prstGeom prst="rect">
            <a:avLst/>
          </a:prstGeom>
          <a:noFill/>
          <a:ln w="9525">
            <a:noFill/>
          </a:ln>
        </p:spPr>
        <p:txBody>
          <a:bodyPr wrap="none">
            <a:spAutoFit/>
          </a:bodyPr>
          <a:lstStyle/>
          <a:p>
            <a:pPr>
              <a:lnSpc>
                <a:spcPct val="150000"/>
              </a:lnSpc>
            </a:pPr>
            <a:r>
              <a:rPr lang="en-US" altLang="zh-CN" sz="2000" b="1" dirty="0">
                <a:latin typeface="宋体" panose="02010600030101010101" pitchFamily="2" charset="-122"/>
              </a:rPr>
              <a:t>3. </a:t>
            </a:r>
            <a:r>
              <a:rPr lang="zh-CN" altLang="en-US" sz="2000" b="1" dirty="0">
                <a:latin typeface="宋体" panose="02010600030101010101" pitchFamily="2" charset="-122"/>
              </a:rPr>
              <a:t>把特质混入类中</a:t>
            </a:r>
            <a:endParaRPr lang="zh-CN" altLang="en-US" sz="2000" b="1" dirty="0">
              <a:latin typeface="宋体" panose="02010600030101010101" pitchFamily="2" charset="-122"/>
            </a:endParaRPr>
          </a:p>
        </p:txBody>
      </p:sp>
      <p:sp>
        <p:nvSpPr>
          <p:cNvPr id="116740" name="矩形 2"/>
          <p:cNvSpPr/>
          <p:nvPr/>
        </p:nvSpPr>
        <p:spPr>
          <a:xfrm>
            <a:off x="533400" y="1806575"/>
            <a:ext cx="7855024" cy="1198880"/>
          </a:xfrm>
          <a:prstGeom prst="rect">
            <a:avLst/>
          </a:prstGeom>
          <a:noFill/>
          <a:ln w="9525">
            <a:noFill/>
          </a:ln>
        </p:spPr>
        <p:txBody>
          <a:bodyPr wrap="square">
            <a:spAutoFit/>
          </a:bodyPr>
          <a:lstStyle/>
          <a:p>
            <a:r>
              <a:rPr lang="zh-CN" altLang="en-US" sz="2400" dirty="0">
                <a:latin typeface="Arial" panose="020B0604020202020204" pitchFamily="34" charset="0"/>
              </a:rPr>
              <a:t>可以使用</a:t>
            </a:r>
            <a:r>
              <a:rPr lang="en-US" altLang="zh-CN" sz="2400" dirty="0">
                <a:latin typeface="Arial" panose="020B0604020202020204" pitchFamily="34" charset="0"/>
              </a:rPr>
              <a:t>extends</a:t>
            </a:r>
            <a:r>
              <a:rPr lang="zh-CN" altLang="en-US" sz="2400" dirty="0">
                <a:latin typeface="Arial" panose="020B0604020202020204" pitchFamily="34" charset="0"/>
              </a:rPr>
              <a:t>或</a:t>
            </a:r>
            <a:r>
              <a:rPr lang="en-US" altLang="zh-CN" sz="2400" dirty="0">
                <a:latin typeface="Arial" panose="020B0604020202020204" pitchFamily="34" charset="0"/>
              </a:rPr>
              <a:t>with</a:t>
            </a:r>
            <a:r>
              <a:rPr lang="zh-CN" altLang="en-US" sz="2400" dirty="0">
                <a:latin typeface="Arial" panose="020B0604020202020204" pitchFamily="34" charset="0"/>
              </a:rPr>
              <a:t>关键字把特质混入类中</a:t>
            </a:r>
            <a:endParaRPr lang="en-US" altLang="zh-CN" sz="2400" dirty="0">
              <a:latin typeface="Arial" panose="020B0604020202020204" pitchFamily="34" charset="0"/>
            </a:endParaRPr>
          </a:p>
          <a:p>
            <a:r>
              <a:rPr lang="zh-CN" altLang="en-US" sz="2400" dirty="0">
                <a:latin typeface="Arial" panose="020B0604020202020204" pitchFamily="34" charset="0"/>
              </a:rPr>
              <a:t>如果特质中包含抽象成员，则该类必须为这些抽象成员提供具体实现，除非该类被定义为抽象类</a:t>
            </a:r>
            <a:endParaRPr lang="zh-CN" altLang="en-US" sz="2400" dirty="0">
              <a:latin typeface="Arial" panose="020B0604020202020204" pitchFamily="34" charset="0"/>
            </a:endParaRPr>
          </a:p>
        </p:txBody>
      </p:sp>
      <p:sp>
        <p:nvSpPr>
          <p:cNvPr id="5" name="TextBox 4"/>
          <p:cNvSpPr txBox="1"/>
          <p:nvPr/>
        </p:nvSpPr>
        <p:spPr>
          <a:xfrm>
            <a:off x="609600" y="3429000"/>
            <a:ext cx="7778824" cy="1938020"/>
          </a:xfrm>
          <a:prstGeom prst="rect">
            <a:avLst/>
          </a:prstGeom>
          <a:solidFill>
            <a:schemeClr val="bg1">
              <a:lumMod val="95000"/>
            </a:schemeClr>
          </a:solidFill>
        </p:spPr>
        <p:txBody>
          <a:bodyPr wrap="square">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class Bird(</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flyHeight:Int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extends Flyable{</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maxFlyHeight:Int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flyHeight</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zh-CN" altLang="zh-CN" sz="2000" kern="1200" cap="none" spc="0" normalizeH="0" baseline="0" noProof="0" dirty="0">
                <a:latin typeface="Arial" panose="020B0604020202020204" pitchFamily="34" charset="0"/>
                <a:ea typeface="宋体" panose="02010600030101010101" pitchFamily="2" charset="-122"/>
                <a:cs typeface="+mn-cs"/>
              </a:rPr>
              <a:t>重载特质的抽象字段</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fly(){</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printf</a:t>
            </a:r>
            <a:r>
              <a:rPr kumimoji="0" lang="en-US" altLang="zh-CN" sz="2000" kern="1200" cap="none" spc="0" normalizeH="0" baseline="0" noProof="0" dirty="0">
                <a:latin typeface="Arial" panose="020B0604020202020204" pitchFamily="34" charset="0"/>
                <a:ea typeface="宋体" panose="02010600030101010101" pitchFamily="2" charset="-122"/>
                <a:cs typeface="+mn-cs"/>
              </a:rPr>
              <a:t>("I can fly at the height of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d.",maxFlyHeight</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 //</a:t>
            </a:r>
            <a:r>
              <a:rPr kumimoji="0" lang="zh-CN" altLang="zh-CN" sz="2000" kern="1200" cap="none" spc="0" normalizeH="0" baseline="0" noProof="0" dirty="0">
                <a:latin typeface="Arial" panose="020B0604020202020204" pitchFamily="34" charset="0"/>
                <a:ea typeface="宋体" panose="02010600030101010101" pitchFamily="2" charset="-122"/>
                <a:cs typeface="+mn-cs"/>
              </a:rPr>
              <a:t>重载特质的抽象方法</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p:txBody>
          <a:bodyPr vert="horz" wrap="square" lIns="91440" tIns="45720" rIns="91440" bIns="45720" anchor="ctr"/>
          <a:lstStyle/>
          <a:p>
            <a:r>
              <a:rPr lang="en-US" altLang="zh-CN" dirty="0"/>
              <a:t>8.3.4 </a:t>
            </a:r>
            <a:r>
              <a:rPr lang="zh-CN" altLang="en-US" dirty="0"/>
              <a:t>特质（</a:t>
            </a:r>
            <a:r>
              <a:rPr lang="en-US" altLang="zh-CN" dirty="0"/>
              <a:t>trait</a:t>
            </a:r>
            <a:r>
              <a:rPr lang="zh-CN" altLang="en-US" dirty="0"/>
              <a:t>）</a:t>
            </a:r>
            <a:endParaRPr lang="zh-CN" altLang="en-US" dirty="0"/>
          </a:p>
        </p:txBody>
      </p:sp>
      <p:sp>
        <p:nvSpPr>
          <p:cNvPr id="117763" name="矩形 2"/>
          <p:cNvSpPr/>
          <p:nvPr/>
        </p:nvSpPr>
        <p:spPr>
          <a:xfrm>
            <a:off x="762000" y="1600200"/>
            <a:ext cx="7543800" cy="368300"/>
          </a:xfrm>
          <a:prstGeom prst="rect">
            <a:avLst/>
          </a:prstGeom>
          <a:noFill/>
          <a:ln w="9525">
            <a:noFill/>
          </a:ln>
        </p:spPr>
        <p:txBody>
          <a:bodyPr>
            <a:spAutoFit/>
          </a:bodyPr>
          <a:lstStyle/>
          <a:p>
            <a:r>
              <a:rPr lang="zh-CN" altLang="zh-CN" dirty="0">
                <a:latin typeface="Arial" panose="020B0604020202020204" pitchFamily="34" charset="0"/>
              </a:rPr>
              <a:t>把上面定义的特质</a:t>
            </a:r>
            <a:r>
              <a:rPr lang="en-US" altLang="zh-CN" dirty="0">
                <a:latin typeface="Arial" panose="020B0604020202020204" pitchFamily="34" charset="0"/>
              </a:rPr>
              <a:t>Flyable</a:t>
            </a:r>
            <a:r>
              <a:rPr lang="zh-CN" altLang="zh-CN" dirty="0">
                <a:latin typeface="Arial" panose="020B0604020202020204" pitchFamily="34" charset="0"/>
              </a:rPr>
              <a:t>和类</a:t>
            </a:r>
            <a:r>
              <a:rPr lang="en-US" altLang="zh-CN" dirty="0">
                <a:latin typeface="Arial" panose="020B0604020202020204" pitchFamily="34" charset="0"/>
              </a:rPr>
              <a:t>Bird</a:t>
            </a:r>
            <a:r>
              <a:rPr lang="zh-CN" altLang="zh-CN" dirty="0">
                <a:latin typeface="Arial" panose="020B0604020202020204" pitchFamily="34" charset="0"/>
              </a:rPr>
              <a:t>封装到一个代码文件</a:t>
            </a:r>
            <a:r>
              <a:rPr lang="en-US" altLang="zh-CN" dirty="0">
                <a:latin typeface="Arial" panose="020B0604020202020204" pitchFamily="34" charset="0"/>
              </a:rPr>
              <a:t>Bird.scala</a:t>
            </a:r>
            <a:r>
              <a:rPr lang="zh-CN" altLang="zh-CN" dirty="0">
                <a:latin typeface="Arial" panose="020B0604020202020204" pitchFamily="34" charset="0"/>
              </a:rPr>
              <a:t>中：</a:t>
            </a:r>
            <a:endParaRPr lang="zh-CN" altLang="en-US" dirty="0">
              <a:latin typeface="Arial" panose="020B0604020202020204" pitchFamily="34" charset="0"/>
            </a:endParaRPr>
          </a:p>
        </p:txBody>
      </p:sp>
      <p:sp>
        <p:nvSpPr>
          <p:cNvPr id="117764" name="矩形 3"/>
          <p:cNvSpPr/>
          <p:nvPr/>
        </p:nvSpPr>
        <p:spPr>
          <a:xfrm>
            <a:off x="685800" y="1143000"/>
            <a:ext cx="2138680" cy="506730"/>
          </a:xfrm>
          <a:prstGeom prst="rect">
            <a:avLst/>
          </a:prstGeom>
          <a:noFill/>
          <a:ln w="9525">
            <a:noFill/>
          </a:ln>
        </p:spPr>
        <p:txBody>
          <a:bodyPr wrap="none">
            <a:spAutoFit/>
          </a:bodyPr>
          <a:lstStyle/>
          <a:p>
            <a:pPr>
              <a:lnSpc>
                <a:spcPct val="150000"/>
              </a:lnSpc>
            </a:pPr>
            <a:r>
              <a:rPr lang="en-US" altLang="zh-CN" b="1" dirty="0">
                <a:latin typeface="宋体" panose="02010600030101010101" pitchFamily="2" charset="-122"/>
              </a:rPr>
              <a:t>3. </a:t>
            </a:r>
            <a:r>
              <a:rPr lang="zh-CN" altLang="en-US" b="1" dirty="0">
                <a:latin typeface="宋体" panose="02010600030101010101" pitchFamily="2" charset="-122"/>
              </a:rPr>
              <a:t>把特质混入类中</a:t>
            </a:r>
            <a:endParaRPr lang="zh-CN" altLang="en-US" b="1" dirty="0">
              <a:latin typeface="宋体" panose="02010600030101010101" pitchFamily="2" charset="-122"/>
            </a:endParaRPr>
          </a:p>
        </p:txBody>
      </p:sp>
      <p:sp>
        <p:nvSpPr>
          <p:cNvPr id="5" name="TextBox 4"/>
          <p:cNvSpPr txBox="1"/>
          <p:nvPr/>
        </p:nvSpPr>
        <p:spPr>
          <a:xfrm>
            <a:off x="762000" y="2133600"/>
            <a:ext cx="7467600" cy="4399915"/>
          </a:xfrm>
          <a:prstGeom prst="rect">
            <a:avLst/>
          </a:prstGeom>
          <a:solidFill>
            <a:schemeClr val="bg1">
              <a:lumMod val="9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zh-CN" sz="20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20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Bird.scala</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trait Flyable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maxFlyHeight:Int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zh-CN" altLang="zh-CN" sz="2000" kern="1200" cap="none" spc="0" normalizeH="0" baseline="0" noProof="0" dirty="0">
                <a:latin typeface="Arial" panose="020B0604020202020204" pitchFamily="34" charset="0"/>
                <a:ea typeface="宋体" panose="02010600030101010101" pitchFamily="2" charset="-122"/>
                <a:cs typeface="+mn-cs"/>
              </a:rPr>
              <a:t>抽象字段</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fly() //</a:t>
            </a:r>
            <a:r>
              <a:rPr kumimoji="0" lang="zh-CN" altLang="zh-CN" sz="2000" kern="1200" cap="none" spc="0" normalizeH="0" baseline="0" noProof="0" dirty="0">
                <a:latin typeface="Arial" panose="020B0604020202020204" pitchFamily="34" charset="0"/>
                <a:ea typeface="宋体" panose="02010600030101010101" pitchFamily="2" charset="-122"/>
                <a:cs typeface="+mn-cs"/>
              </a:rPr>
              <a:t>抽象方法</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breathe(){ //</a:t>
            </a:r>
            <a:r>
              <a:rPr kumimoji="0" lang="zh-CN" altLang="zh-CN" sz="2000" kern="1200" cap="none" spc="0" normalizeH="0" baseline="0" noProof="0" dirty="0">
                <a:latin typeface="Arial" panose="020B0604020202020204" pitchFamily="34" charset="0"/>
                <a:ea typeface="宋体" panose="02010600030101010101" pitchFamily="2" charset="-122"/>
                <a:cs typeface="+mn-cs"/>
              </a:rPr>
              <a:t>具体的方法</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2000" kern="1200" cap="none" spc="0" normalizeH="0" baseline="0" noProof="0" dirty="0">
                <a:latin typeface="Arial" panose="020B0604020202020204" pitchFamily="34" charset="0"/>
                <a:ea typeface="宋体" panose="02010600030101010101" pitchFamily="2" charset="-122"/>
                <a:cs typeface="+mn-cs"/>
              </a:rPr>
              <a:t>("I can breathe")</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class Bird(</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flyHeight:Int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extends Flyable{</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maxFlyHeight:Int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flyHeight</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zh-CN" altLang="zh-CN" sz="2000" kern="1200" cap="none" spc="0" normalizeH="0" baseline="0" noProof="0" dirty="0">
                <a:latin typeface="Arial" panose="020B0604020202020204" pitchFamily="34" charset="0"/>
                <a:ea typeface="宋体" panose="02010600030101010101" pitchFamily="2" charset="-122"/>
                <a:cs typeface="+mn-cs"/>
              </a:rPr>
              <a:t>重载特质的抽象字段</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def fly(){</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printf</a:t>
            </a:r>
            <a:r>
              <a:rPr kumimoji="0" lang="en-US" altLang="zh-CN" sz="2000" kern="1200" cap="none" spc="0" normalizeH="0" baseline="0" noProof="0" dirty="0">
                <a:latin typeface="Arial" panose="020B0604020202020204" pitchFamily="34" charset="0"/>
                <a:ea typeface="宋体" panose="02010600030101010101" pitchFamily="2" charset="-122"/>
                <a:cs typeface="+mn-cs"/>
              </a:rPr>
              <a:t>("I can fly at the height of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d",maxFlyHeight</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 //</a:t>
            </a:r>
            <a:r>
              <a:rPr kumimoji="0" lang="zh-CN" altLang="zh-CN" sz="2000" kern="1200" cap="none" spc="0" normalizeH="0" baseline="0" noProof="0" dirty="0">
                <a:latin typeface="Arial" panose="020B0604020202020204" pitchFamily="34" charset="0"/>
                <a:ea typeface="宋体" panose="02010600030101010101" pitchFamily="2" charset="-122"/>
                <a:cs typeface="+mn-cs"/>
              </a:rPr>
              <a:t>重载特质的抽象方法</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vert="horz" wrap="square" lIns="91440" tIns="45720" rIns="91440" bIns="45720" anchor="ctr"/>
          <a:lstStyle/>
          <a:p>
            <a:r>
              <a:rPr lang="en-US" altLang="zh-CN" dirty="0"/>
              <a:t>8.3.4 </a:t>
            </a:r>
            <a:r>
              <a:rPr lang="zh-CN" altLang="en-US" dirty="0"/>
              <a:t>特质（</a:t>
            </a:r>
            <a:r>
              <a:rPr lang="en-US" altLang="zh-CN" dirty="0"/>
              <a:t>trait</a:t>
            </a:r>
            <a:r>
              <a:rPr lang="zh-CN" altLang="en-US" dirty="0"/>
              <a:t>）</a:t>
            </a:r>
            <a:endParaRPr lang="zh-CN" altLang="en-US" dirty="0"/>
          </a:p>
        </p:txBody>
      </p:sp>
      <p:sp>
        <p:nvSpPr>
          <p:cNvPr id="119811" name="矩形 2"/>
          <p:cNvSpPr/>
          <p:nvPr/>
        </p:nvSpPr>
        <p:spPr>
          <a:xfrm>
            <a:off x="685800" y="990600"/>
            <a:ext cx="2138680" cy="506730"/>
          </a:xfrm>
          <a:prstGeom prst="rect">
            <a:avLst/>
          </a:prstGeom>
          <a:noFill/>
          <a:ln w="9525">
            <a:noFill/>
          </a:ln>
        </p:spPr>
        <p:txBody>
          <a:bodyPr wrap="none">
            <a:spAutoFit/>
          </a:bodyPr>
          <a:lstStyle/>
          <a:p>
            <a:pPr>
              <a:lnSpc>
                <a:spcPct val="150000"/>
              </a:lnSpc>
            </a:pPr>
            <a:r>
              <a:rPr lang="en-US" altLang="zh-CN" b="1" dirty="0">
                <a:latin typeface="宋体" panose="02010600030101010101" pitchFamily="2" charset="-122"/>
              </a:rPr>
              <a:t>3. </a:t>
            </a:r>
            <a:r>
              <a:rPr lang="zh-CN" altLang="en-US" b="1" dirty="0">
                <a:latin typeface="宋体" panose="02010600030101010101" pitchFamily="2" charset="-122"/>
              </a:rPr>
              <a:t>把特质混入类中</a:t>
            </a:r>
            <a:endParaRPr lang="zh-CN" altLang="en-US" b="1" dirty="0">
              <a:latin typeface="宋体" panose="02010600030101010101" pitchFamily="2" charset="-122"/>
            </a:endParaRPr>
          </a:p>
        </p:txBody>
      </p:sp>
      <p:sp>
        <p:nvSpPr>
          <p:cNvPr id="119812" name="矩形 2"/>
          <p:cNvSpPr/>
          <p:nvPr/>
        </p:nvSpPr>
        <p:spPr>
          <a:xfrm>
            <a:off x="685800" y="1428750"/>
            <a:ext cx="8153400" cy="398780"/>
          </a:xfrm>
          <a:prstGeom prst="rect">
            <a:avLst/>
          </a:prstGeom>
          <a:noFill/>
          <a:ln w="9525">
            <a:noFill/>
          </a:ln>
        </p:spPr>
        <p:txBody>
          <a:bodyPr>
            <a:spAutoFit/>
          </a:bodyPr>
          <a:lstStyle/>
          <a:p>
            <a:r>
              <a:rPr lang="zh-CN" altLang="en-US" sz="2000" dirty="0">
                <a:solidFill>
                  <a:srgbClr val="FF0000"/>
                </a:solidFill>
                <a:latin typeface="Arial" panose="020B0604020202020204" pitchFamily="34" charset="0"/>
              </a:rPr>
              <a:t>如果要混入多个特质，可以连续使用多个</a:t>
            </a:r>
            <a:r>
              <a:rPr lang="en-US" altLang="zh-CN" sz="2000" dirty="0">
                <a:solidFill>
                  <a:srgbClr val="FF0000"/>
                </a:solidFill>
                <a:latin typeface="Arial" panose="020B0604020202020204" pitchFamily="34" charset="0"/>
              </a:rPr>
              <a:t>with</a:t>
            </a:r>
            <a:endParaRPr lang="zh-CN" altLang="en-US" sz="2000" dirty="0">
              <a:solidFill>
                <a:srgbClr val="FF0000"/>
              </a:solidFill>
              <a:latin typeface="Arial" panose="020B0604020202020204" pitchFamily="34" charset="0"/>
            </a:endParaRPr>
          </a:p>
        </p:txBody>
      </p:sp>
      <p:sp>
        <p:nvSpPr>
          <p:cNvPr id="8" name="TextBox 7"/>
          <p:cNvSpPr txBox="1"/>
          <p:nvPr/>
        </p:nvSpPr>
        <p:spPr>
          <a:xfrm>
            <a:off x="762000" y="1828800"/>
            <a:ext cx="6629400" cy="4831080"/>
          </a:xfrm>
          <a:prstGeom prst="rect">
            <a:avLst/>
          </a:prstGeom>
          <a:solidFill>
            <a:schemeClr val="bg1">
              <a:lumMod val="95000"/>
            </a:schemeClr>
          </a:solidFill>
        </p:spPr>
        <p:txBody>
          <a:bodyPr>
            <a:spAutoFit/>
          </a:bodyPr>
          <a:lstStyle/>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zh-CN" altLang="zh-CN" sz="14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14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1400" kern="1200" cap="none" spc="0" normalizeH="0" baseline="0" noProof="0" dirty="0">
                <a:latin typeface="Arial" panose="020B0604020202020204" pitchFamily="34" charset="0"/>
                <a:ea typeface="宋体" panose="02010600030101010101" pitchFamily="2" charset="-122"/>
                <a:cs typeface="+mn-cs"/>
              </a:rPr>
              <a:t>/Bird2.scala</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trait Flyable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maxFlyHeight:Int</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zh-CN" altLang="zh-CN" sz="1400" kern="1200" cap="none" spc="0" normalizeH="0" baseline="0" noProof="0" dirty="0">
                <a:latin typeface="Arial" panose="020B0604020202020204" pitchFamily="34" charset="0"/>
                <a:ea typeface="宋体" panose="02010600030101010101" pitchFamily="2" charset="-122"/>
                <a:cs typeface="+mn-cs"/>
              </a:rPr>
              <a:t>抽象字段</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fly() //</a:t>
            </a:r>
            <a:r>
              <a:rPr kumimoji="0" lang="zh-CN" altLang="zh-CN" sz="1400" kern="1200" cap="none" spc="0" normalizeH="0" baseline="0" noProof="0" dirty="0">
                <a:latin typeface="Arial" panose="020B0604020202020204" pitchFamily="34" charset="0"/>
                <a:ea typeface="宋体" panose="02010600030101010101" pitchFamily="2" charset="-122"/>
                <a:cs typeface="+mn-cs"/>
              </a:rPr>
              <a:t>抽象方法</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breathe(){ //</a:t>
            </a:r>
            <a:r>
              <a:rPr kumimoji="0" lang="zh-CN" altLang="zh-CN" sz="1400" kern="1200" cap="none" spc="0" normalizeH="0" baseline="0" noProof="0" dirty="0">
                <a:latin typeface="Arial" panose="020B0604020202020204" pitchFamily="34" charset="0"/>
                <a:ea typeface="宋体" panose="02010600030101010101" pitchFamily="2" charset="-122"/>
                <a:cs typeface="+mn-cs"/>
              </a:rPr>
              <a:t>具体的方法</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1400" kern="1200" cap="none" spc="0" normalizeH="0" baseline="0" noProof="0" dirty="0">
                <a:latin typeface="Arial" panose="020B0604020202020204" pitchFamily="34" charset="0"/>
                <a:ea typeface="宋体" panose="02010600030101010101" pitchFamily="2" charset="-122"/>
                <a:cs typeface="+mn-cs"/>
              </a:rPr>
              <a:t>("I can breathe")</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trait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HasLegs</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legs:Int</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zh-CN" altLang="zh-CN" sz="1400" kern="1200" cap="none" spc="0" normalizeH="0" baseline="0" noProof="0" dirty="0">
                <a:latin typeface="Arial" panose="020B0604020202020204" pitchFamily="34" charset="0"/>
                <a:ea typeface="宋体" panose="02010600030101010101" pitchFamily="2" charset="-122"/>
                <a:cs typeface="+mn-cs"/>
              </a:rPr>
              <a:t>抽象字段</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move(){</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printf</a:t>
            </a:r>
            <a:r>
              <a:rPr kumimoji="0" lang="en-US" altLang="zh-CN" sz="1400" kern="1200" cap="none" spc="0" normalizeH="0" baseline="0" noProof="0" dirty="0">
                <a:latin typeface="Arial" panose="020B0604020202020204" pitchFamily="34" charset="0"/>
                <a:ea typeface="宋体" panose="02010600030101010101" pitchFamily="2" charset="-122"/>
                <a:cs typeface="+mn-cs"/>
              </a:rPr>
              <a:t>("I can walk with %d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legs",legs</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class Animal(</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category:String</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info(){</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1400" kern="1200" cap="none" spc="0" normalizeH="0" baseline="0" noProof="0" dirty="0">
                <a:latin typeface="Arial" panose="020B0604020202020204" pitchFamily="34" charset="0"/>
                <a:ea typeface="宋体" panose="02010600030101010101" pitchFamily="2" charset="-122"/>
                <a:cs typeface="+mn-cs"/>
              </a:rPr>
              <a:t>("This is a "+category)}</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class Bird(</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flyHeight:Int</a:t>
            </a:r>
            <a:r>
              <a:rPr kumimoji="0" lang="en-US" altLang="zh-CN" sz="1400" kern="1200" cap="none" spc="0" normalizeH="0" baseline="0" noProof="0" dirty="0">
                <a:latin typeface="Arial" panose="020B0604020202020204" pitchFamily="34" charset="0"/>
                <a:ea typeface="宋体" panose="02010600030101010101" pitchFamily="2" charset="-122"/>
                <a:cs typeface="+mn-cs"/>
              </a:rPr>
              <a:t>) extends Animal("Bird") with Flyable with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HasLegs</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var</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maxFlyHeight:Int</a:t>
            </a:r>
            <a:r>
              <a:rPr kumimoji="0" lang="en-US" altLang="zh-CN" sz="1400" kern="1200" cap="none" spc="0" normalizeH="0" baseline="0" noProof="0" dirty="0">
                <a:latin typeface="Arial" panose="020B0604020202020204" pitchFamily="34" charset="0"/>
                <a:ea typeface="宋体" panose="02010600030101010101" pitchFamily="2" charset="-122"/>
                <a:cs typeface="+mn-cs"/>
              </a:rPr>
              <a:t> =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flyHeight</a:t>
            </a: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zh-CN" altLang="zh-CN" sz="1400" kern="1200" cap="none" spc="0" normalizeH="0" baseline="0" noProof="0" dirty="0">
                <a:latin typeface="Arial" panose="020B0604020202020204" pitchFamily="34" charset="0"/>
                <a:ea typeface="宋体" panose="02010600030101010101" pitchFamily="2" charset="-122"/>
                <a:cs typeface="+mn-cs"/>
              </a:rPr>
              <a:t>重载特质的抽象字段</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1400" kern="1200" cap="none" spc="0" normalizeH="0" baseline="0" noProof="0" dirty="0">
                <a:latin typeface="Arial" panose="020B0604020202020204" pitchFamily="34" charset="0"/>
                <a:ea typeface="宋体" panose="02010600030101010101" pitchFamily="2" charset="-122"/>
                <a:cs typeface="+mn-cs"/>
              </a:rPr>
              <a:t> legs=2 //</a:t>
            </a:r>
            <a:r>
              <a:rPr kumimoji="0" lang="zh-CN" altLang="zh-CN" sz="1400" kern="1200" cap="none" spc="0" normalizeH="0" baseline="0" noProof="0" dirty="0">
                <a:latin typeface="Arial" panose="020B0604020202020204" pitchFamily="34" charset="0"/>
                <a:ea typeface="宋体" panose="02010600030101010101" pitchFamily="2" charset="-122"/>
                <a:cs typeface="+mn-cs"/>
              </a:rPr>
              <a:t>重载特质的抽象字段</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def fly(){</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printf</a:t>
            </a:r>
            <a:r>
              <a:rPr kumimoji="0" lang="en-US" altLang="zh-CN" sz="1400" kern="1200" cap="none" spc="0" normalizeH="0" baseline="0" noProof="0" dirty="0">
                <a:latin typeface="Arial" panose="020B0604020202020204" pitchFamily="34" charset="0"/>
                <a:ea typeface="宋体" panose="02010600030101010101" pitchFamily="2" charset="-122"/>
                <a:cs typeface="+mn-cs"/>
              </a:rPr>
              <a:t>("I can fly at the height of %</a:t>
            </a:r>
            <a:r>
              <a:rPr kumimoji="0" lang="en-US" altLang="zh-CN" sz="1400" kern="1200" cap="none" spc="0" normalizeH="0" baseline="0" noProof="0" dirty="0" err="1">
                <a:latin typeface="Arial" panose="020B0604020202020204" pitchFamily="34" charset="0"/>
                <a:ea typeface="宋体" panose="02010600030101010101" pitchFamily="2" charset="-122"/>
                <a:cs typeface="+mn-cs"/>
              </a:rPr>
              <a:t>d",maxFlyHeight</a:t>
            </a: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         }//</a:t>
            </a:r>
            <a:r>
              <a:rPr kumimoji="0" lang="zh-CN" altLang="zh-CN" sz="1400" kern="1200" cap="none" spc="0" normalizeH="0" baseline="0" noProof="0" dirty="0">
                <a:latin typeface="Arial" panose="020B0604020202020204" pitchFamily="34" charset="0"/>
                <a:ea typeface="宋体" panose="02010600030101010101" pitchFamily="2" charset="-122"/>
                <a:cs typeface="+mn-cs"/>
              </a:rPr>
              <a:t>重载特质的抽象方法</a:t>
            </a:r>
            <a:endParaRPr kumimoji="0" lang="zh-CN" altLang="zh-CN" sz="1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400" kern="1200" cap="none" spc="0" normalizeH="0" baseline="0" noProof="0" dirty="0">
                <a:latin typeface="Arial" panose="020B0604020202020204" pitchFamily="34" charset="0"/>
                <a:ea typeface="宋体" panose="02010600030101010101" pitchFamily="2" charset="-122"/>
                <a:cs typeface="+mn-cs"/>
              </a:rPr>
              <a:t>}</a:t>
            </a:r>
            <a:endParaRPr kumimoji="0" lang="zh-CN" altLang="en-US" sz="14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8.3.5 </a:t>
            </a:r>
            <a:r>
              <a:rPr lang="zh-CN" altLang="en-US" dirty="0"/>
              <a:t>模式匹配</a:t>
            </a:r>
            <a:endParaRPr lang="zh-CN" altLang="en-US" dirty="0"/>
          </a:p>
        </p:txBody>
      </p:sp>
      <p:sp>
        <p:nvSpPr>
          <p:cNvPr id="4" name="内容占位符 3"/>
          <p:cNvSpPr>
            <a:spLocks noGrp="1"/>
          </p:cNvSpPr>
          <p:nvPr>
            <p:ph idx="1"/>
          </p:nvPr>
        </p:nvSpPr>
        <p:spPr/>
        <p:txBody>
          <a:bodyPr/>
          <a:lstStyle/>
          <a:p>
            <a:pPr marL="514350" indent="-514350">
              <a:buAutoNum type="arabicPeriod"/>
            </a:pPr>
            <a:r>
              <a:rPr lang="en-US" altLang="zh-CN" dirty="0">
                <a:latin typeface="Arial" panose="020B0604020202020204" pitchFamily="34" charset="0"/>
              </a:rPr>
              <a:t>match</a:t>
            </a:r>
            <a:r>
              <a:rPr lang="zh-CN" altLang="en-US" dirty="0">
                <a:latin typeface="Arial" panose="020B0604020202020204" pitchFamily="34" charset="0"/>
              </a:rPr>
              <a:t>语句</a:t>
            </a:r>
            <a:endParaRPr lang="en-US" altLang="zh-CN" dirty="0">
              <a:latin typeface="Arial" panose="020B0604020202020204" pitchFamily="34" charset="0"/>
            </a:endParaRPr>
          </a:p>
          <a:p>
            <a:pPr marL="0" indent="0">
              <a:buNone/>
            </a:pPr>
            <a:r>
              <a:rPr lang="en-US" altLang="zh-CN" dirty="0">
                <a:latin typeface="Arial" panose="020B0604020202020204" pitchFamily="34" charset="0"/>
              </a:rPr>
              <a:t>2.  case</a:t>
            </a:r>
            <a:r>
              <a:rPr lang="zh-CN" altLang="en-US" dirty="0">
                <a:latin typeface="Arial" panose="020B0604020202020204" pitchFamily="34" charset="0"/>
              </a:rPr>
              <a:t>类</a:t>
            </a:r>
            <a:endParaRPr lang="zh-CN" altLang="en-US" dirty="0">
              <a:latin typeface="Arial" panose="020B0604020202020204" pitchFamily="34" charset="0"/>
            </a:endParaRPr>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p:cNvSpPr>
          <p:nvPr>
            <p:ph type="title"/>
          </p:nvPr>
        </p:nvSpPr>
        <p:spPr/>
        <p:txBody>
          <a:bodyPr vert="horz" wrap="square" lIns="91440" tIns="45720" rIns="91440" bIns="45720" anchor="ctr"/>
          <a:lstStyle/>
          <a:p>
            <a:r>
              <a:rPr lang="en-US" altLang="zh-CN" dirty="0"/>
              <a:t>8.3.5 </a:t>
            </a:r>
            <a:r>
              <a:rPr lang="zh-CN" altLang="en-US" dirty="0"/>
              <a:t>模式匹配</a:t>
            </a:r>
            <a:endParaRPr lang="zh-CN" altLang="en-US" dirty="0"/>
          </a:p>
        </p:txBody>
      </p:sp>
      <p:sp>
        <p:nvSpPr>
          <p:cNvPr id="122883" name="矩形 2"/>
          <p:cNvSpPr/>
          <p:nvPr/>
        </p:nvSpPr>
        <p:spPr>
          <a:xfrm>
            <a:off x="611505" y="1063625"/>
            <a:ext cx="2031365" cy="460375"/>
          </a:xfrm>
          <a:prstGeom prst="rect">
            <a:avLst/>
          </a:prstGeom>
          <a:noFill/>
          <a:ln w="9525">
            <a:noFill/>
          </a:ln>
        </p:spPr>
        <p:txBody>
          <a:bodyPr wrap="none">
            <a:spAutoFit/>
          </a:bodyPr>
          <a:lstStyle/>
          <a:p>
            <a:pPr marL="514350" indent="-514350"/>
            <a:r>
              <a:rPr lang="en-US" altLang="zh-CN" sz="2400" b="1" dirty="0">
                <a:latin typeface="Arial" panose="020B0604020202020204" pitchFamily="34" charset="0"/>
              </a:rPr>
              <a:t>1. match</a:t>
            </a:r>
            <a:r>
              <a:rPr lang="zh-CN" altLang="en-US" sz="2400" b="1" dirty="0">
                <a:latin typeface="Arial" panose="020B0604020202020204" pitchFamily="34" charset="0"/>
              </a:rPr>
              <a:t>语句</a:t>
            </a:r>
            <a:endParaRPr lang="zh-CN" altLang="en-US" sz="2400" b="1" dirty="0">
              <a:latin typeface="Arial" panose="020B0604020202020204" pitchFamily="34" charset="0"/>
            </a:endParaRPr>
          </a:p>
        </p:txBody>
      </p:sp>
      <p:sp>
        <p:nvSpPr>
          <p:cNvPr id="8" name="矩形 2"/>
          <p:cNvSpPr/>
          <p:nvPr/>
        </p:nvSpPr>
        <p:spPr>
          <a:xfrm>
            <a:off x="457200" y="1524000"/>
            <a:ext cx="7931224" cy="706755"/>
          </a:xfrm>
          <a:prstGeom prst="rect">
            <a:avLst/>
          </a:prstGeom>
          <a:noFill/>
          <a:ln w="9525">
            <a:noFill/>
          </a:ln>
        </p:spPr>
        <p:txBody>
          <a:bodyPr wrap="square">
            <a:spAutoFit/>
          </a:bodyPr>
          <a:lstStyle/>
          <a:p>
            <a:r>
              <a:rPr lang="zh-CN" altLang="en-US" sz="2000" dirty="0">
                <a:latin typeface="Arial" panose="020B0604020202020204" pitchFamily="34" charset="0"/>
              </a:rPr>
              <a:t>最常见的模式匹配是</a:t>
            </a:r>
            <a:r>
              <a:rPr lang="en-US" altLang="zh-CN" sz="2000" dirty="0">
                <a:latin typeface="Arial" panose="020B0604020202020204" pitchFamily="34" charset="0"/>
              </a:rPr>
              <a:t>match</a:t>
            </a:r>
            <a:r>
              <a:rPr lang="zh-CN" altLang="en-US" sz="2000" dirty="0">
                <a:latin typeface="Arial" panose="020B0604020202020204" pitchFamily="34" charset="0"/>
              </a:rPr>
              <a:t>语句，</a:t>
            </a:r>
            <a:r>
              <a:rPr lang="en-US" altLang="zh-CN" sz="2000" dirty="0">
                <a:solidFill>
                  <a:srgbClr val="FF0000"/>
                </a:solidFill>
                <a:latin typeface="Arial" panose="020B0604020202020204" pitchFamily="34" charset="0"/>
              </a:rPr>
              <a:t>match</a:t>
            </a:r>
            <a:r>
              <a:rPr lang="zh-CN" altLang="en-US" sz="2000" dirty="0">
                <a:solidFill>
                  <a:srgbClr val="FF0000"/>
                </a:solidFill>
                <a:latin typeface="Arial" panose="020B0604020202020204" pitchFamily="34" charset="0"/>
              </a:rPr>
              <a:t>语句用在当需要从多个分支中进行选择的场景</a:t>
            </a:r>
            <a:endParaRPr lang="zh-CN" altLang="en-US" sz="2000" dirty="0">
              <a:solidFill>
                <a:srgbClr val="FF0000"/>
              </a:solidFill>
              <a:latin typeface="Arial" panose="020B0604020202020204" pitchFamily="34" charset="0"/>
            </a:endParaRPr>
          </a:p>
        </p:txBody>
      </p:sp>
      <p:sp>
        <p:nvSpPr>
          <p:cNvPr id="9" name="矩形 8"/>
          <p:cNvSpPr/>
          <p:nvPr/>
        </p:nvSpPr>
        <p:spPr>
          <a:xfrm>
            <a:off x="457200" y="5562600"/>
            <a:ext cx="7772400" cy="1014730"/>
          </a:xfrm>
          <a:prstGeom prst="rect">
            <a:avLst/>
          </a:prstGeom>
        </p:spPr>
        <p:txBody>
          <a:bodyPr>
            <a:spAutoFit/>
          </a:body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通配符</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_</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相当于</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Java</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中的</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default</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分支</a:t>
            </a:r>
            <a:endPar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match</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结构中不需要</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break</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语句来跳出判断，</a:t>
            </a:r>
            <a:r>
              <a:rPr kumimoji="0" lang="en-US"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Scala</a:t>
            </a: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从前往后匹配到一个分支后，会自动跳出判断</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TextBox 9"/>
          <p:cNvSpPr txBox="1"/>
          <p:nvPr/>
        </p:nvSpPr>
        <p:spPr>
          <a:xfrm>
            <a:off x="533400" y="2297113"/>
            <a:ext cx="7772400" cy="3138170"/>
          </a:xfrm>
          <a:prstGeom prst="rect">
            <a:avLst/>
          </a:prstGeom>
          <a:solidFill>
            <a:schemeClr val="bg1">
              <a:lumMod val="95000"/>
            </a:schemeClr>
          </a:solidFill>
        </p:spPr>
        <p:txBody>
          <a:bodyPr wrap="squar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usr</a:t>
            </a:r>
            <a:r>
              <a:rPr kumimoji="0" lang="en-US" altLang="zh-CN" kern="1200" cap="none" spc="0" normalizeH="0" baseline="0" noProof="0" dirty="0">
                <a:latin typeface="Arial" panose="020B0604020202020204" pitchFamily="34" charset="0"/>
                <a:ea typeface="宋体" panose="02010600030101010101" pitchFamily="2" charset="-122"/>
                <a:cs typeface="+mn-cs"/>
              </a:rPr>
              <a:t>/local/</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TestMatch.scala</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import </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scala.io.StdIn</a:t>
            </a:r>
            <a:r>
              <a:rPr kumimoji="0" lang="en-US" altLang="zh-CN" kern="1200" cap="none" spc="0" normalizeH="0" baseline="0" noProof="0" dirty="0">
                <a:latin typeface="Arial" panose="020B0604020202020204" pitchFamily="34" charset="0"/>
                <a:ea typeface="宋体" panose="02010600030101010101" pitchFamily="2" charset="-122"/>
                <a:cs typeface="+mn-cs"/>
              </a:rPr>
              <a:t>._</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("Please input the score:")</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grade=</a:t>
            </a:r>
            <a:r>
              <a:rPr kumimoji="0" lang="en-US" altLang="zh-CN" kern="1200" cap="none" spc="0" normalizeH="0" baseline="0" noProof="0" dirty="0" err="1">
                <a:latin typeface="Arial" panose="020B0604020202020204" pitchFamily="34" charset="0"/>
                <a:ea typeface="宋体" panose="02010600030101010101" pitchFamily="2" charset="-122"/>
                <a:cs typeface="+mn-cs"/>
              </a:rPr>
              <a:t>readChar</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grade match{</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'A'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("85-100")</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'B'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("70-84")</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'C'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("60-69")</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'D'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("&lt;60")</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_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("error input!")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p:txBody>
          <a:bodyPr vert="horz" wrap="square" lIns="91440" tIns="45720" rIns="91440" bIns="45720" anchor="ctr"/>
          <a:lstStyle/>
          <a:p>
            <a:r>
              <a:rPr lang="en-US" altLang="zh-CN" dirty="0"/>
              <a:t>8.3.5 </a:t>
            </a:r>
            <a:r>
              <a:rPr lang="zh-CN" altLang="en-US" dirty="0"/>
              <a:t>模式匹配</a:t>
            </a:r>
            <a:endParaRPr lang="zh-CN" altLang="en-US" dirty="0"/>
          </a:p>
        </p:txBody>
      </p:sp>
      <p:sp>
        <p:nvSpPr>
          <p:cNvPr id="123907" name="矩形 6"/>
          <p:cNvSpPr/>
          <p:nvPr/>
        </p:nvSpPr>
        <p:spPr>
          <a:xfrm>
            <a:off x="755015" y="1052195"/>
            <a:ext cx="2031365" cy="460375"/>
          </a:xfrm>
          <a:prstGeom prst="rect">
            <a:avLst/>
          </a:prstGeom>
          <a:noFill/>
          <a:ln w="9525">
            <a:noFill/>
          </a:ln>
        </p:spPr>
        <p:txBody>
          <a:bodyPr wrap="none">
            <a:spAutoFit/>
          </a:bodyPr>
          <a:lstStyle/>
          <a:p>
            <a:pPr marL="514350" indent="-514350"/>
            <a:r>
              <a:rPr lang="en-US" altLang="zh-CN" sz="2400" b="1" dirty="0">
                <a:latin typeface="Arial" panose="020B0604020202020204" pitchFamily="34" charset="0"/>
              </a:rPr>
              <a:t>1. match</a:t>
            </a:r>
            <a:r>
              <a:rPr lang="zh-CN" altLang="en-US" sz="2400" b="1" dirty="0">
                <a:latin typeface="Arial" panose="020B0604020202020204" pitchFamily="34" charset="0"/>
              </a:rPr>
              <a:t>语句</a:t>
            </a:r>
            <a:endParaRPr lang="zh-CN" altLang="en-US" sz="2400" b="1" dirty="0">
              <a:latin typeface="Arial" panose="020B0604020202020204" pitchFamily="34" charset="0"/>
            </a:endParaRPr>
          </a:p>
        </p:txBody>
      </p:sp>
      <p:sp>
        <p:nvSpPr>
          <p:cNvPr id="8" name="矩形 2"/>
          <p:cNvSpPr/>
          <p:nvPr/>
        </p:nvSpPr>
        <p:spPr>
          <a:xfrm>
            <a:off x="685800" y="1504950"/>
            <a:ext cx="8229600" cy="398780"/>
          </a:xfrm>
          <a:prstGeom prst="rect">
            <a:avLst/>
          </a:prstGeom>
          <a:noFill/>
          <a:ln w="9525">
            <a:noFill/>
          </a:ln>
        </p:spPr>
        <p:txBody>
          <a:bodyPr>
            <a:spAutoFit/>
          </a:bodyPr>
          <a:lstStyle/>
          <a:p>
            <a:r>
              <a:rPr lang="en-US" altLang="zh-CN" sz="2000" dirty="0">
                <a:latin typeface="Arial" panose="020B0604020202020204" pitchFamily="34" charset="0"/>
              </a:rPr>
              <a:t>case</a:t>
            </a:r>
            <a:r>
              <a:rPr lang="zh-CN" altLang="en-US" sz="2000" dirty="0">
                <a:latin typeface="Arial" panose="020B0604020202020204" pitchFamily="34" charset="0"/>
              </a:rPr>
              <a:t>后面的表达式可以是任何类型的常量，而不要求是整数类型</a:t>
            </a:r>
            <a:endParaRPr lang="zh-CN" altLang="en-US" sz="2000" dirty="0">
              <a:latin typeface="Arial" panose="020B0604020202020204" pitchFamily="34" charset="0"/>
            </a:endParaRPr>
          </a:p>
        </p:txBody>
      </p:sp>
      <p:sp>
        <p:nvSpPr>
          <p:cNvPr id="9" name="TextBox 8"/>
          <p:cNvSpPr txBox="1"/>
          <p:nvPr/>
        </p:nvSpPr>
        <p:spPr>
          <a:xfrm>
            <a:off x="838200" y="2209800"/>
            <a:ext cx="7086600" cy="2861310"/>
          </a:xfrm>
          <a:prstGeom prst="rect">
            <a:avLst/>
          </a:prstGeom>
          <a:solidFill>
            <a:schemeClr val="bg1">
              <a:lumMod val="95000"/>
            </a:schemeClr>
          </a:solidFill>
        </p:spPr>
        <p:txBody>
          <a:bodyPr>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usr</a:t>
            </a:r>
            <a:r>
              <a:rPr kumimoji="0" lang="en-US" altLang="zh-CN" kern="1200" cap="none" spc="0" normalizeH="0" baseline="0" noProof="0" dirty="0">
                <a:latin typeface="Arial" panose="020B0604020202020204" pitchFamily="34" charset="0"/>
                <a:ea typeface="宋体" panose="02010600030101010101" pitchFamily="2" charset="-122"/>
                <a:cs typeface="+mn-cs"/>
              </a:rPr>
              <a:t>/local/</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kern="1200" cap="none" spc="0" normalizeH="0" baseline="0" noProof="0" dirty="0">
                <a:latin typeface="Arial" panose="020B0604020202020204" pitchFamily="34" charset="0"/>
                <a:ea typeface="宋体" panose="02010600030101010101" pitchFamily="2" charset="-122"/>
                <a:cs typeface="+mn-cs"/>
              </a:rPr>
              <a:t>/TestMatch1.scala</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import </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scala.io.StdIn</a:t>
            </a:r>
            <a:r>
              <a:rPr kumimoji="0" lang="en-US" altLang="zh-CN" kern="1200" cap="none" spc="0" normalizeH="0" baseline="0" noProof="0" dirty="0">
                <a:latin typeface="Arial" panose="020B0604020202020204" pitchFamily="34" charset="0"/>
                <a:ea typeface="宋体" panose="02010600030101010101" pitchFamily="2" charset="-122"/>
                <a:cs typeface="+mn-cs"/>
              </a:rPr>
              <a:t>._</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("Please input a country:")</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country=</a:t>
            </a:r>
            <a:r>
              <a:rPr kumimoji="0" lang="en-US" altLang="zh-CN" kern="1200" cap="none" spc="0" normalizeH="0" baseline="0" noProof="0" dirty="0" err="1">
                <a:latin typeface="Arial" panose="020B0604020202020204" pitchFamily="34" charset="0"/>
                <a:ea typeface="宋体" panose="02010600030101010101" pitchFamily="2" charset="-122"/>
                <a:cs typeface="+mn-cs"/>
              </a:rPr>
              <a:t>readLine</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country match{</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"China"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中国</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"America"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美国</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"Japan"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日本</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_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我不认识</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p:txBody>
          <a:bodyPr vert="horz" wrap="square" lIns="91440" tIns="45720" rIns="91440" bIns="45720" anchor="ctr"/>
          <a:lstStyle/>
          <a:p>
            <a:r>
              <a:rPr lang="en-US" altLang="zh-CN" dirty="0"/>
              <a:t>8.3.5 </a:t>
            </a:r>
            <a:r>
              <a:rPr lang="zh-CN" altLang="en-US" dirty="0"/>
              <a:t>模式匹配</a:t>
            </a:r>
            <a:endParaRPr lang="zh-CN" altLang="en-US" dirty="0"/>
          </a:p>
        </p:txBody>
      </p:sp>
      <p:sp>
        <p:nvSpPr>
          <p:cNvPr id="124931" name="矩形 2"/>
          <p:cNvSpPr/>
          <p:nvPr/>
        </p:nvSpPr>
        <p:spPr>
          <a:xfrm>
            <a:off x="685800" y="1124585"/>
            <a:ext cx="2031365" cy="460375"/>
          </a:xfrm>
          <a:prstGeom prst="rect">
            <a:avLst/>
          </a:prstGeom>
          <a:noFill/>
          <a:ln w="9525">
            <a:noFill/>
          </a:ln>
        </p:spPr>
        <p:txBody>
          <a:bodyPr wrap="none">
            <a:spAutoFit/>
          </a:bodyPr>
          <a:lstStyle/>
          <a:p>
            <a:pPr marL="514350" indent="-514350"/>
            <a:r>
              <a:rPr lang="en-US" altLang="zh-CN" sz="2400" b="1" dirty="0">
                <a:latin typeface="Arial" panose="020B0604020202020204" pitchFamily="34" charset="0"/>
              </a:rPr>
              <a:t>1. match</a:t>
            </a:r>
            <a:r>
              <a:rPr lang="zh-CN" altLang="en-US" sz="2400" b="1" dirty="0">
                <a:latin typeface="Arial" panose="020B0604020202020204" pitchFamily="34" charset="0"/>
              </a:rPr>
              <a:t>语句</a:t>
            </a:r>
            <a:endParaRPr lang="zh-CN" altLang="en-US" sz="2400" b="1" dirty="0">
              <a:latin typeface="Arial" panose="020B0604020202020204" pitchFamily="34" charset="0"/>
            </a:endParaRPr>
          </a:p>
        </p:txBody>
      </p:sp>
      <p:sp>
        <p:nvSpPr>
          <p:cNvPr id="124932" name="矩形 2"/>
          <p:cNvSpPr/>
          <p:nvPr/>
        </p:nvSpPr>
        <p:spPr>
          <a:xfrm>
            <a:off x="685800" y="1504950"/>
            <a:ext cx="8229600" cy="398780"/>
          </a:xfrm>
          <a:prstGeom prst="rect">
            <a:avLst/>
          </a:prstGeom>
          <a:noFill/>
          <a:ln w="9525">
            <a:noFill/>
          </a:ln>
        </p:spPr>
        <p:txBody>
          <a:bodyPr>
            <a:spAutoFit/>
          </a:bodyPr>
          <a:lstStyle/>
          <a:p>
            <a:r>
              <a:rPr lang="zh-CN" altLang="en-US" sz="2000" dirty="0">
                <a:latin typeface="Arial" panose="020B0604020202020204" pitchFamily="34" charset="0"/>
              </a:rPr>
              <a:t>除了匹配特定的常量，还能匹配某种类型的所有值</a:t>
            </a:r>
            <a:endParaRPr lang="zh-CN" altLang="en-US" sz="2000" dirty="0">
              <a:latin typeface="Arial" panose="020B0604020202020204" pitchFamily="34" charset="0"/>
            </a:endParaRPr>
          </a:p>
        </p:txBody>
      </p:sp>
      <p:sp>
        <p:nvSpPr>
          <p:cNvPr id="5" name="TextBox 4"/>
          <p:cNvSpPr txBox="1"/>
          <p:nvPr/>
        </p:nvSpPr>
        <p:spPr>
          <a:xfrm>
            <a:off x="685800" y="1981200"/>
            <a:ext cx="7451090" cy="3138170"/>
          </a:xfrm>
          <a:prstGeom prst="rect">
            <a:avLst/>
          </a:prstGeom>
          <a:solidFill>
            <a:schemeClr val="bg1">
              <a:lumMod val="95000"/>
            </a:schemeClr>
          </a:solidFill>
        </p:spPr>
        <p:txBody>
          <a:bodyPr wrap="non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usr</a:t>
            </a:r>
            <a:r>
              <a:rPr kumimoji="0" lang="en-US" altLang="zh-CN" kern="1200" cap="none" spc="0" normalizeH="0" baseline="0" noProof="0" dirty="0">
                <a:latin typeface="Arial" panose="020B0604020202020204" pitchFamily="34" charset="0"/>
                <a:ea typeface="宋体" panose="02010600030101010101" pitchFamily="2" charset="-122"/>
                <a:cs typeface="+mn-cs"/>
              </a:rPr>
              <a:t>/local/</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kern="1200" cap="none" spc="0" normalizeH="0" baseline="0" noProof="0" dirty="0">
                <a:latin typeface="Arial" panose="020B0604020202020204" pitchFamily="34" charset="0"/>
                <a:ea typeface="宋体" panose="02010600030101010101" pitchFamily="2" charset="-122"/>
                <a:cs typeface="+mn-cs"/>
              </a:rPr>
              <a:t>/TestMatch2.scala</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for (</a:t>
            </a:r>
            <a:r>
              <a:rPr kumimoji="0" lang="en-US" altLang="zh-CN" kern="1200" cap="none" spc="0" normalizeH="0" baseline="0" noProof="0" dirty="0" err="1">
                <a:latin typeface="Arial" panose="020B0604020202020204" pitchFamily="34" charset="0"/>
                <a:ea typeface="宋体" panose="02010600030101010101" pitchFamily="2" charset="-122"/>
                <a:cs typeface="+mn-cs"/>
              </a:rPr>
              <a:t>elem</a:t>
            </a:r>
            <a:r>
              <a:rPr kumimoji="0" lang="en-US" altLang="zh-CN" kern="1200" cap="none" spc="0" normalizeH="0" baseline="0" noProof="0" dirty="0">
                <a:latin typeface="Arial" panose="020B0604020202020204" pitchFamily="34" charset="0"/>
                <a:ea typeface="宋体" panose="02010600030101010101" pitchFamily="2" charset="-122"/>
                <a:cs typeface="+mn-cs"/>
              </a:rPr>
              <a:t> &lt;- List(6,9,0.618,"Spark","Hadoop",'Hello)){</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str</a:t>
            </a:r>
            <a:r>
              <a:rPr kumimoji="0" lang="en-US" altLang="zh-CN" kern="1200" cap="none" spc="0" normalizeH="0" baseline="0" noProof="0" dirty="0">
                <a:latin typeface="Arial" panose="020B0604020202020204" pitchFamily="34" charset="0"/>
                <a:ea typeface="宋体" panose="02010600030101010101" pitchFamily="2" charset="-122"/>
                <a:cs typeface="+mn-cs"/>
              </a:rPr>
              <a:t>  = </a:t>
            </a:r>
            <a:r>
              <a:rPr kumimoji="0" lang="en-US" altLang="zh-CN" kern="1200" cap="none" spc="0" normalizeH="0" baseline="0" noProof="0" dirty="0" err="1">
                <a:latin typeface="Arial" panose="020B0604020202020204" pitchFamily="34" charset="0"/>
                <a:ea typeface="宋体" panose="02010600030101010101" pitchFamily="2" charset="-122"/>
                <a:cs typeface="+mn-cs"/>
              </a:rPr>
              <a:t>elem</a:t>
            </a:r>
            <a:r>
              <a:rPr kumimoji="0" lang="en-US" altLang="zh-CN" kern="1200" cap="none" spc="0" normalizeH="0" baseline="0" noProof="0" dirty="0">
                <a:latin typeface="Arial" panose="020B0604020202020204" pitchFamily="34" charset="0"/>
                <a:ea typeface="宋体" panose="02010600030101010101" pitchFamily="2" charset="-122"/>
                <a:cs typeface="+mn-cs"/>
              </a:rPr>
              <a:t> match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a:t>
            </a:r>
            <a:r>
              <a:rPr kumimoji="0" lang="en-US" altLang="zh-CN" kern="1200" cap="none" spc="0" normalizeH="0" baseline="0" noProof="0" dirty="0" err="1">
                <a:latin typeface="Arial" panose="020B0604020202020204" pitchFamily="34" charset="0"/>
                <a:ea typeface="宋体" panose="02010600030101010101" pitchFamily="2" charset="-122"/>
                <a:cs typeface="+mn-cs"/>
              </a:rPr>
              <a:t>i</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=&gt; </a:t>
            </a:r>
            <a:r>
              <a:rPr kumimoji="0" lang="en-US" altLang="zh-CN" kern="1200" cap="none" spc="0" normalizeH="0" baseline="0" noProof="0" dirty="0" err="1">
                <a:latin typeface="Arial" panose="020B0604020202020204" pitchFamily="34" charset="0"/>
                <a:ea typeface="宋体" panose="02010600030101010101" pitchFamily="2" charset="-122"/>
                <a:cs typeface="+mn-cs"/>
              </a:rPr>
              <a:t>i</a:t>
            </a:r>
            <a:r>
              <a:rPr kumimoji="0" lang="en-US" altLang="zh-CN" kern="1200" cap="none" spc="0" normalizeH="0" baseline="0" noProof="0" dirty="0">
                <a:latin typeface="Arial" panose="020B0604020202020204" pitchFamily="34" charset="0"/>
                <a:ea typeface="宋体" panose="02010600030101010101" pitchFamily="2" charset="-122"/>
                <a:cs typeface="+mn-cs"/>
              </a:rPr>
              <a:t> + " is an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value."//</a:t>
            </a:r>
            <a:r>
              <a:rPr kumimoji="0" lang="zh-CN" altLang="zh-CN" kern="1200" cap="none" spc="0" normalizeH="0" baseline="0" noProof="0" dirty="0">
                <a:latin typeface="Arial" panose="020B0604020202020204" pitchFamily="34" charset="0"/>
                <a:ea typeface="宋体" panose="02010600030101010101" pitchFamily="2" charset="-122"/>
                <a:cs typeface="+mn-cs"/>
              </a:rPr>
              <a:t>匹配整型的值，并赋值给</a:t>
            </a:r>
            <a:r>
              <a:rPr kumimoji="0" lang="en-US" altLang="zh-CN" kern="1200" cap="none" spc="0" normalizeH="0" baseline="0" noProof="0" dirty="0" err="1">
                <a:latin typeface="Arial" panose="020B0604020202020204" pitchFamily="34" charset="0"/>
                <a:ea typeface="宋体" panose="02010600030101010101" pitchFamily="2" charset="-122"/>
                <a:cs typeface="+mn-cs"/>
              </a:rPr>
              <a:t>i</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d: Double =&gt; d + " is a double value." //</a:t>
            </a:r>
            <a:r>
              <a:rPr kumimoji="0" lang="zh-CN" altLang="zh-CN" kern="1200" cap="none" spc="0" normalizeH="0" baseline="0" noProof="0" dirty="0">
                <a:latin typeface="Arial" panose="020B0604020202020204" pitchFamily="34" charset="0"/>
                <a:ea typeface="宋体" panose="02010600030101010101" pitchFamily="2" charset="-122"/>
                <a:cs typeface="+mn-cs"/>
              </a:rPr>
              <a:t>匹配浮点型的值</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"Spark"=&gt;"Spark is found." //</a:t>
            </a:r>
            <a:r>
              <a:rPr kumimoji="0" lang="zh-CN" altLang="zh-CN" kern="1200" cap="none" spc="0" normalizeH="0" baseline="0" noProof="0" dirty="0">
                <a:latin typeface="Arial" panose="020B0604020202020204" pitchFamily="34" charset="0"/>
                <a:ea typeface="宋体" panose="02010600030101010101" pitchFamily="2" charset="-122"/>
                <a:cs typeface="+mn-cs"/>
              </a:rPr>
              <a:t>匹配特定的字符串</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s: String =&gt; s + " is a string value." //</a:t>
            </a:r>
            <a:r>
              <a:rPr kumimoji="0" lang="zh-CN" altLang="zh-CN" kern="1200" cap="none" spc="0" normalizeH="0" baseline="0" noProof="0" dirty="0">
                <a:latin typeface="Arial" panose="020B0604020202020204" pitchFamily="34" charset="0"/>
                <a:ea typeface="宋体" panose="02010600030101010101" pitchFamily="2" charset="-122"/>
                <a:cs typeface="+mn-cs"/>
              </a:rPr>
              <a:t>匹配其它字符串</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_ =&gt;"unexpected value</a:t>
            </a:r>
            <a:r>
              <a:rPr kumimoji="0" lang="zh-CN"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elem</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zh-CN" altLang="zh-CN" kern="1200" cap="none" spc="0" normalizeH="0" baseline="0" noProof="0" dirty="0">
                <a:latin typeface="Arial" panose="020B0604020202020204" pitchFamily="34" charset="0"/>
                <a:ea typeface="宋体" panose="02010600030101010101" pitchFamily="2" charset="-122"/>
                <a:cs typeface="+mn-cs"/>
              </a:rPr>
              <a:t>与以上都不匹配</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str</a:t>
            </a: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124934" name="TextBox 5"/>
          <p:cNvSpPr txBox="1"/>
          <p:nvPr/>
        </p:nvSpPr>
        <p:spPr>
          <a:xfrm>
            <a:off x="4067944" y="4653136"/>
            <a:ext cx="2766695" cy="1753235"/>
          </a:xfrm>
          <a:prstGeom prst="rect">
            <a:avLst/>
          </a:prstGeom>
          <a:solidFill>
            <a:schemeClr val="tx1"/>
          </a:solidFill>
          <a:ln w="9525">
            <a:noFill/>
          </a:ln>
        </p:spPr>
        <p:txBody>
          <a:bodyPr wrap="none">
            <a:spAutoFit/>
          </a:bodyPr>
          <a:lstStyle/>
          <a:p>
            <a:r>
              <a:rPr lang="en-US" altLang="zh-CN" dirty="0">
                <a:solidFill>
                  <a:schemeClr val="bg1"/>
                </a:solidFill>
                <a:latin typeface="Arial" panose="020B0604020202020204" pitchFamily="34" charset="0"/>
              </a:rPr>
              <a:t>6 is an int value.</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9 is an int value.</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0.618 is a double value.</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Spark is found.</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Hadoop is a string value.</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unexpected value</a:t>
            </a:r>
            <a:r>
              <a:rPr lang="zh-CN" altLang="zh-CN" dirty="0">
                <a:solidFill>
                  <a:schemeClr val="bg1"/>
                </a:solidFill>
                <a:latin typeface="Arial" panose="020B0604020202020204" pitchFamily="34" charset="0"/>
              </a:rPr>
              <a:t>：</a:t>
            </a:r>
            <a:r>
              <a:rPr lang="en-US" altLang="zh-CN" dirty="0">
                <a:solidFill>
                  <a:schemeClr val="bg1"/>
                </a:solidFill>
                <a:latin typeface="Arial" panose="020B0604020202020204" pitchFamily="34" charset="0"/>
              </a:rPr>
              <a:t>'Hello</a:t>
            </a:r>
            <a:endParaRPr lang="zh-CN" altLang="en-US" dirty="0">
              <a:solidFill>
                <a:schemeClr val="bg1"/>
              </a:solidFill>
              <a:latin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p:txBody>
          <a:bodyPr vert="horz" wrap="square" lIns="91440" tIns="45720" rIns="91440" bIns="45720" anchor="ctr"/>
          <a:lstStyle/>
          <a:p>
            <a:r>
              <a:rPr lang="en-US" altLang="zh-CN" dirty="0"/>
              <a:t>8.3.5 </a:t>
            </a:r>
            <a:r>
              <a:rPr lang="zh-CN" altLang="en-US" dirty="0"/>
              <a:t>模式匹配</a:t>
            </a:r>
            <a:endParaRPr lang="zh-CN" altLang="en-US" dirty="0"/>
          </a:p>
        </p:txBody>
      </p:sp>
      <p:sp>
        <p:nvSpPr>
          <p:cNvPr id="125955" name="矩形 2"/>
          <p:cNvSpPr/>
          <p:nvPr/>
        </p:nvSpPr>
        <p:spPr>
          <a:xfrm>
            <a:off x="755650" y="1050925"/>
            <a:ext cx="2031365" cy="460375"/>
          </a:xfrm>
          <a:prstGeom prst="rect">
            <a:avLst/>
          </a:prstGeom>
          <a:noFill/>
          <a:ln w="9525">
            <a:noFill/>
          </a:ln>
        </p:spPr>
        <p:txBody>
          <a:bodyPr wrap="none">
            <a:spAutoFit/>
          </a:bodyPr>
          <a:lstStyle/>
          <a:p>
            <a:pPr marL="514350" indent="-514350"/>
            <a:r>
              <a:rPr lang="en-US" altLang="zh-CN" sz="2400" b="1" dirty="0">
                <a:latin typeface="Arial" panose="020B0604020202020204" pitchFamily="34" charset="0"/>
              </a:rPr>
              <a:t>1. match</a:t>
            </a:r>
            <a:r>
              <a:rPr lang="zh-CN" altLang="en-US" sz="2400" b="1" dirty="0">
                <a:latin typeface="Arial" panose="020B0604020202020204" pitchFamily="34" charset="0"/>
              </a:rPr>
              <a:t>语句</a:t>
            </a:r>
            <a:endParaRPr lang="zh-CN" altLang="en-US" sz="2400" b="1" dirty="0">
              <a:latin typeface="Arial" panose="020B0604020202020204" pitchFamily="34" charset="0"/>
            </a:endParaRPr>
          </a:p>
        </p:txBody>
      </p:sp>
      <p:sp>
        <p:nvSpPr>
          <p:cNvPr id="125956" name="矩形 2"/>
          <p:cNvSpPr/>
          <p:nvPr/>
        </p:nvSpPr>
        <p:spPr>
          <a:xfrm>
            <a:off x="725489" y="1600200"/>
            <a:ext cx="7662936" cy="706755"/>
          </a:xfrm>
          <a:prstGeom prst="rect">
            <a:avLst/>
          </a:prstGeom>
          <a:noFill/>
          <a:ln w="9525">
            <a:noFill/>
          </a:ln>
        </p:spPr>
        <p:txBody>
          <a:bodyPr wrap="square">
            <a:spAutoFit/>
          </a:bodyPr>
          <a:lstStyle/>
          <a:p>
            <a:r>
              <a:rPr lang="zh-CN" altLang="en-US" sz="2000" dirty="0">
                <a:latin typeface="Arial" panose="020B0604020202020204" pitchFamily="34" charset="0"/>
              </a:rPr>
              <a:t>可以在</a:t>
            </a:r>
            <a:r>
              <a:rPr lang="en-US" altLang="zh-CN" sz="2000" dirty="0">
                <a:latin typeface="Arial" panose="020B0604020202020204" pitchFamily="34" charset="0"/>
              </a:rPr>
              <a:t>match</a:t>
            </a:r>
            <a:r>
              <a:rPr lang="zh-CN" altLang="en-US" sz="2000" dirty="0">
                <a:latin typeface="Arial" panose="020B0604020202020204" pitchFamily="34" charset="0"/>
              </a:rPr>
              <a:t>表达式的</a:t>
            </a:r>
            <a:r>
              <a:rPr lang="en-US" altLang="zh-CN" sz="2000" dirty="0">
                <a:latin typeface="Arial" panose="020B0604020202020204" pitchFamily="34" charset="0"/>
              </a:rPr>
              <a:t>case</a:t>
            </a:r>
            <a:r>
              <a:rPr lang="zh-CN" altLang="en-US" sz="2000" dirty="0">
                <a:latin typeface="Arial" panose="020B0604020202020204" pitchFamily="34" charset="0"/>
              </a:rPr>
              <a:t>中使用守卫式（</a:t>
            </a:r>
            <a:r>
              <a:rPr lang="en-US" altLang="zh-CN" sz="2000" dirty="0">
                <a:latin typeface="Arial" panose="020B0604020202020204" pitchFamily="34" charset="0"/>
              </a:rPr>
              <a:t>guard</a:t>
            </a:r>
            <a:r>
              <a:rPr lang="zh-CN" altLang="en-US" sz="2000" dirty="0">
                <a:latin typeface="Arial" panose="020B0604020202020204" pitchFamily="34" charset="0"/>
              </a:rPr>
              <a:t>）添加一些过滤逻辑</a:t>
            </a:r>
            <a:endParaRPr lang="zh-CN" altLang="en-US" sz="2000" dirty="0">
              <a:latin typeface="Arial" panose="020B0604020202020204" pitchFamily="34" charset="0"/>
            </a:endParaRPr>
          </a:p>
        </p:txBody>
      </p:sp>
      <p:sp>
        <p:nvSpPr>
          <p:cNvPr id="5" name="TextBox 4"/>
          <p:cNvSpPr txBox="1"/>
          <p:nvPr/>
        </p:nvSpPr>
        <p:spPr>
          <a:xfrm>
            <a:off x="838200" y="2286000"/>
            <a:ext cx="7162800" cy="2245360"/>
          </a:xfrm>
          <a:prstGeom prst="rect">
            <a:avLst/>
          </a:prstGeom>
          <a:solidFill>
            <a:schemeClr val="bg1">
              <a:lumMod val="9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zh-CN" sz="2000"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usr</a:t>
            </a:r>
            <a:r>
              <a:rPr kumimoji="0" lang="en-US" altLang="zh-CN" sz="2000" kern="1200" cap="none" spc="0" normalizeH="0" baseline="0" noProof="0" dirty="0">
                <a:latin typeface="Arial" panose="020B0604020202020204" pitchFamily="34" charset="0"/>
                <a:ea typeface="宋体" panose="02010600030101010101" pitchFamily="2" charset="-122"/>
                <a:cs typeface="+mn-cs"/>
              </a:rPr>
              <a:t>/local/</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sz="2000" kern="1200" cap="none" spc="0" normalizeH="0" baseline="0" noProof="0" dirty="0">
                <a:latin typeface="Arial" panose="020B0604020202020204" pitchFamily="34" charset="0"/>
                <a:ea typeface="宋体" panose="02010600030101010101" pitchFamily="2" charset="-122"/>
                <a:cs typeface="+mn-cs"/>
              </a:rPr>
              <a:t>/TestMatch3.scala</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for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elem</a:t>
            </a:r>
            <a:r>
              <a:rPr kumimoji="0" lang="en-US" altLang="zh-CN" sz="2000" kern="1200" cap="none" spc="0" normalizeH="0" baseline="0" noProof="0" dirty="0">
                <a:latin typeface="Arial" panose="020B0604020202020204" pitchFamily="34" charset="0"/>
                <a:ea typeface="宋体" panose="02010600030101010101" pitchFamily="2" charset="-122"/>
                <a:cs typeface="+mn-cs"/>
              </a:rPr>
              <a:t> &lt;- List(1,2,3,4)){</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elem</a:t>
            </a:r>
            <a:r>
              <a:rPr kumimoji="0" lang="en-US" altLang="zh-CN" sz="2000" kern="1200" cap="none" spc="0" normalizeH="0" baseline="0" noProof="0" dirty="0">
                <a:latin typeface="Arial" panose="020B0604020202020204" pitchFamily="34" charset="0"/>
                <a:ea typeface="宋体" panose="02010600030101010101" pitchFamily="2" charset="-122"/>
                <a:cs typeface="+mn-cs"/>
              </a:rPr>
              <a:t> match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case _ if (elem%2==0) =&gt;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elem</a:t>
            </a:r>
            <a:r>
              <a:rPr kumimoji="0" lang="en-US" altLang="zh-CN" sz="2000" kern="1200" cap="none" spc="0" normalizeH="0" baseline="0" noProof="0" dirty="0">
                <a:latin typeface="Arial" panose="020B0604020202020204" pitchFamily="34" charset="0"/>
                <a:ea typeface="宋体" panose="02010600030101010101" pitchFamily="2" charset="-122"/>
                <a:cs typeface="+mn-cs"/>
              </a:rPr>
              <a:t> + " is even.")</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case _ =&gt;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elem</a:t>
            </a:r>
            <a:r>
              <a:rPr kumimoji="0" lang="en-US" altLang="zh-CN" sz="2000" kern="1200" cap="none" spc="0" normalizeH="0" baseline="0" noProof="0" dirty="0">
                <a:latin typeface="Arial" panose="020B0604020202020204" pitchFamily="34" charset="0"/>
                <a:ea typeface="宋体" panose="02010600030101010101" pitchFamily="2" charset="-122"/>
                <a:cs typeface="+mn-cs"/>
              </a:rPr>
              <a:t> + " is odd.")</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endParaRPr kumimoji="0" lang="zh-CN"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125958" name="TextBox 6"/>
          <p:cNvSpPr txBox="1"/>
          <p:nvPr/>
        </p:nvSpPr>
        <p:spPr>
          <a:xfrm>
            <a:off x="6400800" y="4572000"/>
            <a:ext cx="1600200" cy="1322070"/>
          </a:xfrm>
          <a:prstGeom prst="rect">
            <a:avLst/>
          </a:prstGeom>
          <a:solidFill>
            <a:schemeClr val="tx1"/>
          </a:solidFill>
          <a:ln w="9525">
            <a:noFill/>
          </a:ln>
        </p:spPr>
        <p:txBody>
          <a:bodyPr>
            <a:spAutoFit/>
          </a:bodyPr>
          <a:lstStyle/>
          <a:p>
            <a:r>
              <a:rPr lang="en-US" altLang="zh-CN" sz="2000" dirty="0">
                <a:solidFill>
                  <a:schemeClr val="bg1"/>
                </a:solidFill>
                <a:latin typeface="Arial" panose="020B0604020202020204" pitchFamily="34" charset="0"/>
              </a:rPr>
              <a:t>1 is odd.</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2 is even.</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3 is odd.</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4 is even.</a:t>
            </a:r>
            <a:endParaRPr lang="zh-CN" altLang="en-US" sz="2000" dirty="0">
              <a:solidFill>
                <a:schemeClr val="bg1"/>
              </a:solidFill>
              <a:latin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p:cNvSpPr>
            <a:spLocks noGrp="1"/>
          </p:cNvSpPr>
          <p:nvPr>
            <p:ph type="title"/>
          </p:nvPr>
        </p:nvSpPr>
        <p:spPr/>
        <p:txBody>
          <a:bodyPr vert="horz" wrap="square" lIns="91440" tIns="45720" rIns="91440" bIns="45720" anchor="ctr"/>
          <a:lstStyle/>
          <a:p>
            <a:r>
              <a:rPr lang="en-US" altLang="zh-CN" dirty="0"/>
              <a:t>8.3.5 </a:t>
            </a:r>
            <a:r>
              <a:rPr lang="zh-CN" altLang="en-US" dirty="0"/>
              <a:t>模式匹配</a:t>
            </a:r>
            <a:endParaRPr lang="zh-CN" altLang="en-US" dirty="0"/>
          </a:p>
        </p:txBody>
      </p:sp>
      <p:sp>
        <p:nvSpPr>
          <p:cNvPr id="126979" name="矩形 2"/>
          <p:cNvSpPr/>
          <p:nvPr/>
        </p:nvSpPr>
        <p:spPr>
          <a:xfrm>
            <a:off x="828040" y="1124585"/>
            <a:ext cx="1590040" cy="460375"/>
          </a:xfrm>
          <a:prstGeom prst="rect">
            <a:avLst/>
          </a:prstGeom>
          <a:noFill/>
          <a:ln w="9525">
            <a:noFill/>
          </a:ln>
        </p:spPr>
        <p:txBody>
          <a:bodyPr wrap="none">
            <a:spAutoFit/>
          </a:bodyPr>
          <a:lstStyle/>
          <a:p>
            <a:pPr marL="514350" indent="-514350"/>
            <a:r>
              <a:rPr lang="en-US" altLang="zh-CN" sz="2400" b="1" dirty="0">
                <a:latin typeface="Arial" panose="020B0604020202020204" pitchFamily="34" charset="0"/>
              </a:rPr>
              <a:t>2.  case</a:t>
            </a:r>
            <a:r>
              <a:rPr lang="zh-CN" altLang="en-US" sz="2400" b="1" dirty="0">
                <a:latin typeface="Arial" panose="020B0604020202020204" pitchFamily="34" charset="0"/>
              </a:rPr>
              <a:t>类</a:t>
            </a:r>
            <a:endParaRPr lang="zh-CN" altLang="en-US" sz="2400" b="1" dirty="0">
              <a:latin typeface="Arial" panose="020B0604020202020204" pitchFamily="34" charset="0"/>
            </a:endParaRPr>
          </a:p>
        </p:txBody>
      </p:sp>
      <p:sp>
        <p:nvSpPr>
          <p:cNvPr id="4" name="矩形 2"/>
          <p:cNvSpPr/>
          <p:nvPr/>
        </p:nvSpPr>
        <p:spPr>
          <a:xfrm>
            <a:off x="685800" y="1371600"/>
            <a:ext cx="7772400" cy="5723890"/>
          </a:xfrm>
          <a:prstGeom prst="rect">
            <a:avLst/>
          </a:prstGeom>
          <a:noFill/>
          <a:ln w="9525">
            <a:noFill/>
          </a:ln>
        </p:spPr>
        <p:txBody>
          <a:bodyPr>
            <a:spAutoFit/>
          </a:bodyPr>
          <a:lstStyle/>
          <a:p>
            <a:pPr marL="285750" indent="-285750">
              <a:lnSpc>
                <a:spcPct val="150000"/>
              </a:lnSpc>
              <a:buFontTx/>
              <a:buChar char="•"/>
            </a:pPr>
            <a:r>
              <a:rPr lang="en-US" altLang="zh-CN" sz="2000" dirty="0">
                <a:latin typeface="Arial" panose="020B0604020202020204" pitchFamily="34" charset="0"/>
              </a:rPr>
              <a:t>case</a:t>
            </a:r>
            <a:r>
              <a:rPr lang="zh-CN" altLang="en-US" sz="2000" dirty="0">
                <a:latin typeface="Arial" panose="020B0604020202020204" pitchFamily="34" charset="0"/>
              </a:rPr>
              <a:t>类是一种特殊的类，它们经过优化以被用于模式匹配</a:t>
            </a:r>
            <a:endParaRPr lang="en-US" altLang="zh-CN" sz="2000" dirty="0">
              <a:latin typeface="Arial" panose="020B0604020202020204" pitchFamily="34" charset="0"/>
            </a:endParaRPr>
          </a:p>
          <a:p>
            <a:pPr marL="285750" indent="-285750">
              <a:lnSpc>
                <a:spcPct val="150000"/>
              </a:lnSpc>
              <a:buFontTx/>
              <a:buChar char="•"/>
            </a:pPr>
            <a:r>
              <a:rPr lang="zh-CN" altLang="en-US" sz="2000" dirty="0">
                <a:latin typeface="Arial" panose="020B0604020202020204" pitchFamily="34" charset="0"/>
              </a:rPr>
              <a:t>当定义一个类时，如果在</a:t>
            </a:r>
            <a:r>
              <a:rPr lang="en-US" altLang="zh-CN" sz="2000" dirty="0">
                <a:latin typeface="Arial" panose="020B0604020202020204" pitchFamily="34" charset="0"/>
              </a:rPr>
              <a:t>class</a:t>
            </a:r>
            <a:r>
              <a:rPr lang="zh-CN" altLang="en-US" sz="2000" dirty="0">
                <a:latin typeface="Arial" panose="020B0604020202020204" pitchFamily="34" charset="0"/>
              </a:rPr>
              <a:t>关键字前加上</a:t>
            </a:r>
            <a:r>
              <a:rPr lang="en-US" altLang="zh-CN" sz="2000" dirty="0">
                <a:latin typeface="Arial" panose="020B0604020202020204" pitchFamily="34" charset="0"/>
              </a:rPr>
              <a:t>case</a:t>
            </a:r>
            <a:r>
              <a:rPr lang="zh-CN" altLang="en-US" sz="2000" dirty="0">
                <a:latin typeface="Arial" panose="020B0604020202020204" pitchFamily="34" charset="0"/>
              </a:rPr>
              <a:t>关键字，则该类称为</a:t>
            </a:r>
            <a:r>
              <a:rPr lang="en-US" altLang="zh-CN" sz="2000" dirty="0">
                <a:latin typeface="Arial" panose="020B0604020202020204" pitchFamily="34" charset="0"/>
              </a:rPr>
              <a:t>case</a:t>
            </a:r>
            <a:r>
              <a:rPr lang="zh-CN" altLang="en-US" sz="2000" dirty="0">
                <a:latin typeface="Arial" panose="020B0604020202020204" pitchFamily="34" charset="0"/>
              </a:rPr>
              <a:t>类</a:t>
            </a:r>
            <a:endParaRPr lang="en-US" altLang="zh-CN" sz="2000" dirty="0">
              <a:latin typeface="Arial" panose="020B0604020202020204" pitchFamily="34" charset="0"/>
            </a:endParaRPr>
          </a:p>
          <a:p>
            <a:pPr marL="285750" indent="-285750">
              <a:lnSpc>
                <a:spcPct val="150000"/>
              </a:lnSpc>
              <a:buFontTx/>
              <a:buChar char="•"/>
            </a:pPr>
            <a:r>
              <a:rPr lang="en-US" altLang="zh-CN" sz="2000" dirty="0">
                <a:latin typeface="Arial" panose="020B0604020202020204" pitchFamily="34" charset="0"/>
              </a:rPr>
              <a:t>Scala</a:t>
            </a:r>
            <a:r>
              <a:rPr lang="zh-CN" altLang="en-US" sz="2000" dirty="0">
                <a:latin typeface="Arial" panose="020B0604020202020204" pitchFamily="34" charset="0"/>
              </a:rPr>
              <a:t>为</a:t>
            </a:r>
            <a:r>
              <a:rPr lang="en-US" altLang="zh-CN" sz="2000" dirty="0">
                <a:latin typeface="Arial" panose="020B0604020202020204" pitchFamily="34" charset="0"/>
              </a:rPr>
              <a:t>case</a:t>
            </a:r>
            <a:r>
              <a:rPr lang="zh-CN" altLang="en-US" sz="2000" dirty="0">
                <a:latin typeface="Arial" panose="020B0604020202020204" pitchFamily="34" charset="0"/>
              </a:rPr>
              <a:t>类自动重载了许多实用的方法，包括</a:t>
            </a:r>
            <a:r>
              <a:rPr lang="en-US" altLang="zh-CN" sz="2000" dirty="0">
                <a:latin typeface="Arial" panose="020B0604020202020204" pitchFamily="34" charset="0"/>
              </a:rPr>
              <a:t>toString</a:t>
            </a:r>
            <a:r>
              <a:rPr lang="zh-CN" altLang="en-US" sz="2000" dirty="0">
                <a:latin typeface="Arial" panose="020B0604020202020204" pitchFamily="34" charset="0"/>
              </a:rPr>
              <a:t>、</a:t>
            </a:r>
            <a:r>
              <a:rPr lang="en-US" altLang="zh-CN" sz="2000" dirty="0">
                <a:latin typeface="Arial" panose="020B0604020202020204" pitchFamily="34" charset="0"/>
              </a:rPr>
              <a:t>equals</a:t>
            </a:r>
            <a:r>
              <a:rPr lang="zh-CN" altLang="en-US" sz="2000" dirty="0">
                <a:latin typeface="Arial" panose="020B0604020202020204" pitchFamily="34" charset="0"/>
              </a:rPr>
              <a:t>和</a:t>
            </a:r>
            <a:r>
              <a:rPr lang="en-US" altLang="zh-CN" sz="2000" dirty="0">
                <a:latin typeface="Arial" panose="020B0604020202020204" pitchFamily="34" charset="0"/>
              </a:rPr>
              <a:t>hashcode</a:t>
            </a:r>
            <a:r>
              <a:rPr lang="zh-CN" altLang="en-US" sz="2000" dirty="0">
                <a:latin typeface="Arial" panose="020B0604020202020204" pitchFamily="34" charset="0"/>
              </a:rPr>
              <a:t>方法</a:t>
            </a:r>
            <a:endParaRPr lang="en-US" altLang="zh-CN" sz="2000" dirty="0">
              <a:latin typeface="Arial" panose="020B0604020202020204" pitchFamily="34" charset="0"/>
            </a:endParaRPr>
          </a:p>
          <a:p>
            <a:pPr marL="285750" indent="-285750">
              <a:lnSpc>
                <a:spcPct val="150000"/>
              </a:lnSpc>
              <a:buFontTx/>
              <a:buChar char="•"/>
            </a:pPr>
            <a:r>
              <a:rPr lang="en-US" altLang="zh-CN" sz="2000" dirty="0">
                <a:latin typeface="Arial" panose="020B0604020202020204" pitchFamily="34" charset="0"/>
              </a:rPr>
              <a:t>Scala</a:t>
            </a:r>
            <a:r>
              <a:rPr lang="zh-CN" altLang="en-US" sz="2000" dirty="0">
                <a:latin typeface="Arial" panose="020B0604020202020204" pitchFamily="34" charset="0"/>
              </a:rPr>
              <a:t>为每一个</a:t>
            </a:r>
            <a:r>
              <a:rPr lang="en-US" altLang="zh-CN" sz="2000" dirty="0">
                <a:latin typeface="Arial" panose="020B0604020202020204" pitchFamily="34" charset="0"/>
              </a:rPr>
              <a:t>case</a:t>
            </a:r>
            <a:r>
              <a:rPr lang="zh-CN" altLang="en-US" sz="2000" dirty="0">
                <a:latin typeface="Arial" panose="020B0604020202020204" pitchFamily="34" charset="0"/>
              </a:rPr>
              <a:t>类自动生成一个伴生对象，其包括模板代码</a:t>
            </a:r>
            <a:endParaRPr lang="en-US" altLang="zh-CN" sz="2000" dirty="0">
              <a:latin typeface="Arial" panose="020B0604020202020204" pitchFamily="34" charset="0"/>
            </a:endParaRPr>
          </a:p>
          <a:p>
            <a:pPr marL="1028700" lvl="1" indent="-285750" eaLnBrk="1" hangingPunct="1">
              <a:lnSpc>
                <a:spcPct val="150000"/>
              </a:lnSpc>
              <a:buFontTx/>
              <a:buChar char="–"/>
            </a:pPr>
            <a:r>
              <a:rPr lang="en-US" altLang="zh-CN" dirty="0">
                <a:latin typeface="Arial" panose="020B0604020202020204" pitchFamily="34" charset="0"/>
              </a:rPr>
              <a:t>1</a:t>
            </a:r>
            <a:r>
              <a:rPr lang="zh-CN" altLang="en-US" dirty="0">
                <a:latin typeface="Arial" panose="020B0604020202020204" pitchFamily="34" charset="0"/>
              </a:rPr>
              <a:t>个</a:t>
            </a:r>
            <a:r>
              <a:rPr lang="en-US" altLang="zh-CN" dirty="0">
                <a:latin typeface="Arial" panose="020B0604020202020204" pitchFamily="34" charset="0"/>
              </a:rPr>
              <a:t>apply</a:t>
            </a:r>
            <a:r>
              <a:rPr lang="zh-CN" altLang="en-US" dirty="0">
                <a:latin typeface="Arial" panose="020B0604020202020204" pitchFamily="34" charset="0"/>
              </a:rPr>
              <a:t>方法，因此，实例化</a:t>
            </a:r>
            <a:r>
              <a:rPr lang="en-US" altLang="zh-CN" dirty="0">
                <a:latin typeface="Arial" panose="020B0604020202020204" pitchFamily="34" charset="0"/>
              </a:rPr>
              <a:t>case</a:t>
            </a:r>
            <a:r>
              <a:rPr lang="zh-CN" altLang="en-US" dirty="0">
                <a:latin typeface="Arial" panose="020B0604020202020204" pitchFamily="34" charset="0"/>
              </a:rPr>
              <a:t>类的时候无需使用</a:t>
            </a:r>
            <a:r>
              <a:rPr lang="en-US" altLang="zh-CN" dirty="0">
                <a:latin typeface="Arial" panose="020B0604020202020204" pitchFamily="34" charset="0"/>
              </a:rPr>
              <a:t>new</a:t>
            </a:r>
            <a:r>
              <a:rPr lang="zh-CN" altLang="en-US" dirty="0">
                <a:latin typeface="Arial" panose="020B0604020202020204" pitchFamily="34" charset="0"/>
              </a:rPr>
              <a:t>关键字</a:t>
            </a:r>
            <a:endParaRPr lang="zh-CN" altLang="en-US" dirty="0">
              <a:latin typeface="Arial" panose="020B0604020202020204" pitchFamily="34" charset="0"/>
            </a:endParaRPr>
          </a:p>
          <a:p>
            <a:pPr marL="1028700" lvl="1" indent="-285750" eaLnBrk="1" hangingPunct="1">
              <a:lnSpc>
                <a:spcPct val="150000"/>
              </a:lnSpc>
              <a:buFontTx/>
              <a:buChar char="–"/>
            </a:pPr>
            <a:r>
              <a:rPr lang="en-US" altLang="zh-CN" dirty="0">
                <a:latin typeface="Arial" panose="020B0604020202020204" pitchFamily="34" charset="0"/>
              </a:rPr>
              <a:t>1</a:t>
            </a:r>
            <a:r>
              <a:rPr lang="zh-CN" altLang="en-US" dirty="0">
                <a:latin typeface="Arial" panose="020B0604020202020204" pitchFamily="34" charset="0"/>
              </a:rPr>
              <a:t>个</a:t>
            </a:r>
            <a:r>
              <a:rPr lang="en-US" altLang="zh-CN" dirty="0">
                <a:latin typeface="Arial" panose="020B0604020202020204" pitchFamily="34" charset="0"/>
              </a:rPr>
              <a:t>unapply</a:t>
            </a:r>
            <a:r>
              <a:rPr lang="zh-CN" altLang="en-US" dirty="0">
                <a:latin typeface="Arial" panose="020B0604020202020204" pitchFamily="34" charset="0"/>
              </a:rPr>
              <a:t>方法，该方法包含一个类型为伴生类的参数，返回的结果是</a:t>
            </a:r>
            <a:r>
              <a:rPr lang="en-US" altLang="zh-CN" dirty="0">
                <a:latin typeface="Arial" panose="020B0604020202020204" pitchFamily="34" charset="0"/>
              </a:rPr>
              <a:t>Option</a:t>
            </a:r>
            <a:r>
              <a:rPr lang="zh-CN" altLang="en-US" dirty="0">
                <a:latin typeface="Arial" panose="020B0604020202020204" pitchFamily="34" charset="0"/>
              </a:rPr>
              <a:t>类型，对应的类型参数是</a:t>
            </a:r>
            <a:r>
              <a:rPr lang="en-US" altLang="zh-CN" dirty="0">
                <a:latin typeface="Arial" panose="020B0604020202020204" pitchFamily="34" charset="0"/>
              </a:rPr>
              <a:t>N</a:t>
            </a:r>
            <a:r>
              <a:rPr lang="zh-CN" altLang="en-US" dirty="0">
                <a:latin typeface="Arial" panose="020B0604020202020204" pitchFamily="34" charset="0"/>
              </a:rPr>
              <a:t>元组，</a:t>
            </a:r>
            <a:r>
              <a:rPr lang="en-US" altLang="zh-CN" dirty="0">
                <a:latin typeface="Arial" panose="020B0604020202020204" pitchFamily="34" charset="0"/>
              </a:rPr>
              <a:t>N</a:t>
            </a:r>
            <a:r>
              <a:rPr lang="zh-CN" altLang="en-US" dirty="0">
                <a:latin typeface="Arial" panose="020B0604020202020204" pitchFamily="34" charset="0"/>
              </a:rPr>
              <a:t>是伴生类中主构造器参数的个数。</a:t>
            </a:r>
            <a:r>
              <a:rPr lang="en-US" altLang="zh-CN" dirty="0">
                <a:latin typeface="Arial" panose="020B0604020202020204" pitchFamily="34" charset="0"/>
              </a:rPr>
              <a:t>Unapply</a:t>
            </a:r>
            <a:r>
              <a:rPr lang="zh-CN" altLang="en-US" dirty="0">
                <a:latin typeface="Arial" panose="020B0604020202020204" pitchFamily="34" charset="0"/>
              </a:rPr>
              <a:t>方法用于对对象进行解构操作，在</a:t>
            </a:r>
            <a:r>
              <a:rPr lang="en-US" altLang="zh-CN" dirty="0">
                <a:latin typeface="Arial" panose="020B0604020202020204" pitchFamily="34" charset="0"/>
              </a:rPr>
              <a:t>case</a:t>
            </a:r>
            <a:r>
              <a:rPr lang="zh-CN" altLang="en-US" dirty="0">
                <a:latin typeface="Arial" panose="020B0604020202020204" pitchFamily="34" charset="0"/>
              </a:rPr>
              <a:t>类模式匹配中，该方法被自动调用，并将待匹配的对象作为参数传递给它</a:t>
            </a:r>
            <a:endParaRPr lang="zh-CN" altLang="en-US" dirty="0">
              <a:latin typeface="Arial" panose="020B0604020202020204" pitchFamily="34" charset="0"/>
            </a:endParaRPr>
          </a:p>
          <a:p>
            <a:pPr marL="1028700" lvl="1" indent="-285750" eaLnBrk="1" hangingPunct="1">
              <a:lnSpc>
                <a:spcPct val="150000"/>
              </a:lnSpc>
              <a:buFontTx/>
              <a:buChar char="–"/>
            </a:pPr>
            <a:endParaRPr lang="zh-CN" altLang="en-US" sz="16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blinds(horizontal)">
                                      <p:cBhvr>
                                        <p:cTn id="25" dur="500"/>
                                        <p:tgtEl>
                                          <p:spTgt spid="4">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blinds(horizontal)">
                                      <p:cBhvr>
                                        <p:cTn id="2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p:txBody>
          <a:bodyPr vert="horz" wrap="square" lIns="91440" tIns="45720" rIns="91440" bIns="45720" anchor="ctr"/>
          <a:lstStyle/>
          <a:p>
            <a:r>
              <a:rPr lang="en-US" altLang="zh-CN" dirty="0"/>
              <a:t>8.3.5 </a:t>
            </a:r>
            <a:r>
              <a:rPr lang="zh-CN" altLang="en-US" dirty="0"/>
              <a:t>模式匹配</a:t>
            </a:r>
            <a:endParaRPr lang="zh-CN" altLang="en-US" dirty="0"/>
          </a:p>
        </p:txBody>
      </p:sp>
      <p:sp>
        <p:nvSpPr>
          <p:cNvPr id="128003" name="矩形 2"/>
          <p:cNvSpPr/>
          <p:nvPr/>
        </p:nvSpPr>
        <p:spPr>
          <a:xfrm>
            <a:off x="600075" y="1493838"/>
            <a:ext cx="7772400" cy="645160"/>
          </a:xfrm>
          <a:prstGeom prst="rect">
            <a:avLst/>
          </a:prstGeom>
          <a:noFill/>
          <a:ln w="9525">
            <a:noFill/>
          </a:ln>
        </p:spPr>
        <p:txBody>
          <a:bodyPr>
            <a:spAutoFit/>
          </a:bodyPr>
          <a:lstStyle/>
          <a:p>
            <a:pPr marL="0" lvl="1" indent="0" algn="just" eaLnBrk="1" hangingPunct="1">
              <a:lnSpc>
                <a:spcPct val="150000"/>
              </a:lnSpc>
            </a:pPr>
            <a:r>
              <a:rPr lang="zh-CN" altLang="en-US" sz="2400" dirty="0">
                <a:latin typeface="Arial" panose="020B0604020202020204" pitchFamily="34" charset="0"/>
              </a:rPr>
              <a:t>例如，假设有如下定义的一个</a:t>
            </a:r>
            <a:r>
              <a:rPr lang="en-US" altLang="zh-CN" sz="2400" dirty="0">
                <a:latin typeface="Arial" panose="020B0604020202020204" pitchFamily="34" charset="0"/>
              </a:rPr>
              <a:t>case</a:t>
            </a:r>
            <a:r>
              <a:rPr lang="zh-CN" altLang="en-US" sz="2400" dirty="0">
                <a:latin typeface="Arial" panose="020B0604020202020204" pitchFamily="34" charset="0"/>
              </a:rPr>
              <a:t>类：</a:t>
            </a:r>
            <a:endParaRPr lang="zh-CN" altLang="en-US" sz="2400" dirty="0">
              <a:latin typeface="Arial" panose="020B0604020202020204" pitchFamily="34" charset="0"/>
            </a:endParaRPr>
          </a:p>
        </p:txBody>
      </p:sp>
      <p:sp>
        <p:nvSpPr>
          <p:cNvPr id="5" name="TextBox 4"/>
          <p:cNvSpPr txBox="1"/>
          <p:nvPr/>
        </p:nvSpPr>
        <p:spPr>
          <a:xfrm>
            <a:off x="676275" y="2205038"/>
            <a:ext cx="7673975" cy="460375"/>
          </a:xfrm>
          <a:prstGeom prst="rect">
            <a:avLst/>
          </a:prstGeom>
          <a:solidFill>
            <a:schemeClr val="bg1">
              <a:lumMod val="95000"/>
            </a:schemeClr>
          </a:solidFill>
        </p:spPr>
        <p:txBody>
          <a:bodyPr>
            <a:spAutoFit/>
          </a:bodyPr>
          <a:lstStyle/>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case class Car(brand: String, price: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
        <p:nvSpPr>
          <p:cNvPr id="6" name="矩形 5"/>
          <p:cNvSpPr/>
          <p:nvPr/>
        </p:nvSpPr>
        <p:spPr>
          <a:xfrm>
            <a:off x="635635" y="2830513"/>
            <a:ext cx="3992880" cy="398780"/>
          </a:xfrm>
          <a:prstGeom prst="rect">
            <a:avLst/>
          </a:prstGeom>
        </p:spPr>
        <p:txBody>
          <a:bodyPr wrap="none">
            <a:spAutoFit/>
          </a:bodyPr>
          <a:lstStyle/>
          <a:p>
            <a:pPr marL="0" marR="0" lvl="0" indent="0" algn="just"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rPr>
              <a:t>则编译器自动生成的伴生对象是：</a:t>
            </a:r>
            <a:endParaRPr kumimoji="0" lang="zh-CN" altLang="zh-CN" sz="2000" b="0" i="0" u="none" strike="noStrike" kern="100" cap="none" spc="0" normalizeH="0" baseline="0" noProof="0" dirty="0">
              <a:ln>
                <a:noFill/>
              </a:ln>
              <a:solidFill>
                <a:schemeClr val="tx1"/>
              </a:solidFill>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7" name="TextBox 6"/>
          <p:cNvSpPr txBox="1"/>
          <p:nvPr/>
        </p:nvSpPr>
        <p:spPr>
          <a:xfrm>
            <a:off x="609600" y="3399155"/>
            <a:ext cx="7740650" cy="1198880"/>
          </a:xfrm>
          <a:prstGeom prst="rect">
            <a:avLst/>
          </a:prstGeom>
          <a:solidFill>
            <a:schemeClr val="bg1">
              <a:lumMod val="95000"/>
            </a:schemeClr>
          </a:solidFill>
        </p:spPr>
        <p:txBody>
          <a:bodyPr wrap="square">
            <a:spAutoFit/>
          </a:bodyPr>
          <a:lstStyle/>
          <a:p>
            <a:pPr marR="0" defTabSz="914400">
              <a:buClrTx/>
              <a:buSzTx/>
              <a:defRPr/>
            </a:pPr>
            <a:r>
              <a:rPr kumimoji="0" lang="en-US" altLang="zh-CN" sz="1800" kern="1200" cap="none" spc="0" normalizeH="0" baseline="0" noProof="0" dirty="0">
                <a:latin typeface="Arial" panose="020B0604020202020204" pitchFamily="34" charset="0"/>
                <a:ea typeface="宋体" panose="02010600030101010101" pitchFamily="2" charset="-122"/>
                <a:cs typeface="+mn-cs"/>
              </a:rPr>
              <a:t>object  Car{</a:t>
            </a:r>
            <a:endParaRPr kumimoji="0" lang="zh-CN" altLang="zh-CN" sz="18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800" kern="1200" cap="none" spc="0" normalizeH="0" baseline="0" noProof="0" dirty="0">
                <a:latin typeface="Arial" panose="020B0604020202020204" pitchFamily="34" charset="0"/>
                <a:ea typeface="宋体" panose="02010600030101010101" pitchFamily="2" charset="-122"/>
                <a:cs typeface="+mn-cs"/>
              </a:rPr>
              <a:t>            def apply(</a:t>
            </a:r>
            <a:r>
              <a:rPr kumimoji="0" lang="en-US" altLang="zh-CN" sz="1800" kern="1200" cap="none" spc="0" normalizeH="0" baseline="0" noProof="0" dirty="0" err="1">
                <a:latin typeface="Arial" panose="020B0604020202020204" pitchFamily="34" charset="0"/>
                <a:ea typeface="宋体" panose="02010600030101010101" pitchFamily="2" charset="-122"/>
                <a:cs typeface="+mn-cs"/>
              </a:rPr>
              <a:t>brand:String,price:Int</a:t>
            </a:r>
            <a:r>
              <a:rPr kumimoji="0" lang="en-US" altLang="zh-CN" sz="1800" kern="1200" cap="none" spc="0" normalizeH="0" baseline="0" noProof="0" dirty="0">
                <a:latin typeface="Arial" panose="020B0604020202020204" pitchFamily="34" charset="0"/>
                <a:ea typeface="宋体" panose="02010600030101010101" pitchFamily="2" charset="-122"/>
                <a:cs typeface="+mn-cs"/>
              </a:rPr>
              <a:t>)= new Car(</a:t>
            </a:r>
            <a:r>
              <a:rPr kumimoji="0" lang="en-US" altLang="zh-CN" sz="1800" kern="1200" cap="none" spc="0" normalizeH="0" baseline="0" noProof="0" dirty="0" err="1">
                <a:latin typeface="Arial" panose="020B0604020202020204" pitchFamily="34" charset="0"/>
                <a:ea typeface="宋体" panose="02010600030101010101" pitchFamily="2" charset="-122"/>
                <a:cs typeface="+mn-cs"/>
              </a:rPr>
              <a:t>brand,price</a:t>
            </a:r>
            <a:r>
              <a:rPr kumimoji="0" lang="en-US" altLang="zh-CN" sz="18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8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800" kern="1200" cap="none" spc="0" normalizeH="0" baseline="0" noProof="0" dirty="0">
                <a:latin typeface="Arial" panose="020B0604020202020204" pitchFamily="34" charset="0"/>
                <a:ea typeface="宋体" panose="02010600030101010101" pitchFamily="2" charset="-122"/>
                <a:cs typeface="+mn-cs"/>
              </a:rPr>
              <a:t>            def </a:t>
            </a:r>
            <a:r>
              <a:rPr kumimoji="0" lang="en-US" altLang="zh-CN" sz="1800" kern="1200" cap="none" spc="0" normalizeH="0" baseline="0" noProof="0" dirty="0" err="1">
                <a:latin typeface="Arial" panose="020B0604020202020204" pitchFamily="34" charset="0"/>
                <a:ea typeface="宋体" panose="02010600030101010101" pitchFamily="2" charset="-122"/>
                <a:cs typeface="+mn-cs"/>
              </a:rPr>
              <a:t>unapply</a:t>
            </a:r>
            <a:r>
              <a:rPr kumimoji="0" lang="en-US" altLang="zh-CN" sz="1800" kern="1200" cap="none" spc="0" normalizeH="0" baseline="0" noProof="0" dirty="0">
                <a:latin typeface="Arial" panose="020B0604020202020204" pitchFamily="34" charset="0"/>
                <a:ea typeface="宋体" panose="02010600030101010101" pitchFamily="2" charset="-122"/>
                <a:cs typeface="+mn-cs"/>
              </a:rPr>
              <a:t>(c:Car):Option[(</a:t>
            </a:r>
            <a:r>
              <a:rPr kumimoji="0" lang="en-US" altLang="zh-CN" sz="1800" kern="1200" cap="none" spc="0" normalizeH="0" baseline="0" noProof="0" dirty="0" err="1">
                <a:latin typeface="Arial" panose="020B0604020202020204" pitchFamily="34" charset="0"/>
                <a:ea typeface="宋体" panose="02010600030101010101" pitchFamily="2" charset="-122"/>
                <a:cs typeface="+mn-cs"/>
              </a:rPr>
              <a:t>String,Int</a:t>
            </a:r>
            <a:r>
              <a:rPr kumimoji="0" lang="en-US" altLang="zh-CN" sz="1800" kern="1200" cap="none" spc="0" normalizeH="0" baseline="0" noProof="0" dirty="0">
                <a:latin typeface="Arial" panose="020B0604020202020204" pitchFamily="34" charset="0"/>
                <a:ea typeface="宋体" panose="02010600030101010101" pitchFamily="2" charset="-122"/>
                <a:cs typeface="+mn-cs"/>
              </a:rPr>
              <a:t>)]=Some((</a:t>
            </a:r>
            <a:r>
              <a:rPr kumimoji="0" lang="en-US" altLang="zh-CN" sz="1800" kern="1200" cap="none" spc="0" normalizeH="0" baseline="0" noProof="0" dirty="0" err="1">
                <a:latin typeface="Arial" panose="020B0604020202020204" pitchFamily="34" charset="0"/>
                <a:ea typeface="宋体" panose="02010600030101010101" pitchFamily="2" charset="-122"/>
                <a:cs typeface="+mn-cs"/>
              </a:rPr>
              <a:t>c.brand,c.price</a:t>
            </a:r>
            <a:r>
              <a:rPr kumimoji="0" lang="en-US" altLang="zh-CN" sz="18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8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800" kern="1200" cap="none" spc="0" normalizeH="0" baseline="0" noProof="0" dirty="0">
                <a:latin typeface="Arial" panose="020B0604020202020204" pitchFamily="34" charset="0"/>
                <a:ea typeface="宋体" panose="02010600030101010101" pitchFamily="2" charset="-122"/>
                <a:cs typeface="+mn-cs"/>
              </a:rPr>
              <a:t>}</a:t>
            </a:r>
            <a:endParaRPr kumimoji="0" lang="en-US" altLang="zh-CN" sz="1800" kern="1200" cap="none" spc="0" normalizeH="0" baseline="0" noProof="0" dirty="0">
              <a:latin typeface="Arial" panose="020B0604020202020204" pitchFamily="34" charset="0"/>
              <a:ea typeface="宋体" panose="02010600030101010101" pitchFamily="2" charset="-122"/>
              <a:cs typeface="+mn-cs"/>
            </a:endParaRPr>
          </a:p>
        </p:txBody>
      </p:sp>
      <p:sp>
        <p:nvSpPr>
          <p:cNvPr id="128007" name="矩形 7"/>
          <p:cNvSpPr/>
          <p:nvPr/>
        </p:nvSpPr>
        <p:spPr>
          <a:xfrm>
            <a:off x="685800" y="1143000"/>
            <a:ext cx="1238250" cy="368300"/>
          </a:xfrm>
          <a:prstGeom prst="rect">
            <a:avLst/>
          </a:prstGeom>
          <a:noFill/>
          <a:ln w="9525">
            <a:noFill/>
          </a:ln>
        </p:spPr>
        <p:txBody>
          <a:bodyPr wrap="none">
            <a:spAutoFit/>
          </a:bodyPr>
          <a:lstStyle/>
          <a:p>
            <a:pPr marL="514350" indent="-514350"/>
            <a:r>
              <a:rPr lang="en-US" altLang="zh-CN" b="1" dirty="0">
                <a:latin typeface="Arial" panose="020B0604020202020204" pitchFamily="34" charset="0"/>
              </a:rPr>
              <a:t>2.  case</a:t>
            </a:r>
            <a:r>
              <a:rPr lang="zh-CN" altLang="en-US" b="1" dirty="0">
                <a:latin typeface="Arial" panose="020B0604020202020204" pitchFamily="34" charset="0"/>
              </a:rPr>
              <a:t>类</a:t>
            </a:r>
            <a:endParaRPr lang="zh-CN" altLang="en-US" b="1" dirty="0">
              <a:latin typeface="Arial"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p:txBody>
          <a:bodyPr vert="horz" wrap="square" lIns="91440" tIns="45720" rIns="91440" bIns="45720" anchor="ctr"/>
          <a:lstStyle/>
          <a:p>
            <a:r>
              <a:rPr lang="en-US" altLang="zh-CN" dirty="0"/>
              <a:t>8.3.5 </a:t>
            </a:r>
            <a:r>
              <a:rPr lang="zh-CN" altLang="en-US" dirty="0"/>
              <a:t>模式匹配</a:t>
            </a:r>
            <a:endParaRPr lang="zh-CN" altLang="en-US" dirty="0"/>
          </a:p>
        </p:txBody>
      </p:sp>
      <p:sp>
        <p:nvSpPr>
          <p:cNvPr id="129027" name="矩形 2"/>
          <p:cNvSpPr/>
          <p:nvPr/>
        </p:nvSpPr>
        <p:spPr>
          <a:xfrm>
            <a:off x="685800" y="1143000"/>
            <a:ext cx="1238250" cy="368300"/>
          </a:xfrm>
          <a:prstGeom prst="rect">
            <a:avLst/>
          </a:prstGeom>
          <a:noFill/>
          <a:ln w="9525">
            <a:noFill/>
          </a:ln>
        </p:spPr>
        <p:txBody>
          <a:bodyPr wrap="none">
            <a:spAutoFit/>
          </a:bodyPr>
          <a:lstStyle/>
          <a:p>
            <a:pPr marL="514350" indent="-514350"/>
            <a:r>
              <a:rPr lang="en-US" altLang="zh-CN" b="1" dirty="0">
                <a:latin typeface="Arial" panose="020B0604020202020204" pitchFamily="34" charset="0"/>
              </a:rPr>
              <a:t>2.  case</a:t>
            </a:r>
            <a:r>
              <a:rPr lang="zh-CN" altLang="en-US" b="1" dirty="0">
                <a:latin typeface="Arial" panose="020B0604020202020204" pitchFamily="34" charset="0"/>
              </a:rPr>
              <a:t>类</a:t>
            </a:r>
            <a:endParaRPr lang="zh-CN" altLang="en-US" b="1" dirty="0">
              <a:latin typeface="Arial" panose="020B0604020202020204" pitchFamily="34" charset="0"/>
            </a:endParaRPr>
          </a:p>
        </p:txBody>
      </p:sp>
      <p:sp>
        <p:nvSpPr>
          <p:cNvPr id="4" name="TextBox 3"/>
          <p:cNvSpPr txBox="1"/>
          <p:nvPr/>
        </p:nvSpPr>
        <p:spPr>
          <a:xfrm>
            <a:off x="762000" y="1676400"/>
            <a:ext cx="7554416" cy="3692525"/>
          </a:xfrm>
          <a:prstGeom prst="rect">
            <a:avLst/>
          </a:prstGeom>
          <a:solidFill>
            <a:schemeClr val="bg1">
              <a:lumMod val="95000"/>
            </a:schemeClr>
          </a:solidFill>
        </p:spPr>
        <p:txBody>
          <a:bodyPr wrap="squar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代码文件为</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usr</a:t>
            </a:r>
            <a:r>
              <a:rPr kumimoji="0" lang="en-US" altLang="zh-CN" kern="1200" cap="none" spc="0" normalizeH="0" baseline="0" noProof="0" dirty="0">
                <a:latin typeface="Arial" panose="020B0604020202020204" pitchFamily="34" charset="0"/>
                <a:ea typeface="宋体" panose="02010600030101010101" pitchFamily="2" charset="-122"/>
                <a:cs typeface="+mn-cs"/>
              </a:rPr>
              <a:t>/local/</a:t>
            </a: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mycode</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TestCase.scala</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case class Car(brand: String, price: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myBYDCar</a:t>
            </a:r>
            <a:r>
              <a:rPr kumimoji="0" lang="en-US" altLang="zh-CN" kern="1200" cap="none" spc="0" normalizeH="0" baseline="0" noProof="0" dirty="0">
                <a:latin typeface="Arial" panose="020B0604020202020204" pitchFamily="34" charset="0"/>
                <a:ea typeface="宋体" panose="02010600030101010101" pitchFamily="2" charset="-122"/>
                <a:cs typeface="+mn-cs"/>
              </a:rPr>
              <a:t> = Car("BYD", 89000)</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myBMWCar</a:t>
            </a:r>
            <a:r>
              <a:rPr kumimoji="0" lang="en-US" altLang="zh-CN" kern="1200" cap="none" spc="0" normalizeH="0" baseline="0" noProof="0" dirty="0">
                <a:latin typeface="Arial" panose="020B0604020202020204" pitchFamily="34" charset="0"/>
                <a:ea typeface="宋体" panose="02010600030101010101" pitchFamily="2" charset="-122"/>
                <a:cs typeface="+mn-cs"/>
              </a:rPr>
              <a:t> = Car("BMW", 1200000)</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val</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myBenzCar</a:t>
            </a:r>
            <a:r>
              <a:rPr kumimoji="0" lang="en-US" altLang="zh-CN" kern="1200" cap="none" spc="0" normalizeH="0" baseline="0" noProof="0" dirty="0">
                <a:latin typeface="Arial" panose="020B0604020202020204" pitchFamily="34" charset="0"/>
                <a:ea typeface="宋体" panose="02010600030101010101" pitchFamily="2" charset="-122"/>
                <a:cs typeface="+mn-cs"/>
              </a:rPr>
              <a:t> = Car("Benz", 1500000)</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for (car &lt;- List(</a:t>
            </a:r>
            <a:r>
              <a:rPr kumimoji="0" lang="en-US" altLang="zh-CN" kern="1200" cap="none" spc="0" normalizeH="0" baseline="0" noProof="0" dirty="0" err="1">
                <a:latin typeface="Arial" panose="020B0604020202020204" pitchFamily="34" charset="0"/>
                <a:ea typeface="宋体" panose="02010600030101010101" pitchFamily="2" charset="-122"/>
                <a:cs typeface="+mn-cs"/>
              </a:rPr>
              <a:t>myBYDCar</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myBMWCar</a:t>
            </a:r>
            <a:r>
              <a:rPr kumimoji="0" lang="en-US" altLang="zh-CN" kern="1200" cap="none" spc="0" normalizeH="0" baseline="0" noProof="0" dirty="0">
                <a:latin typeface="Arial" panose="020B0604020202020204" pitchFamily="34" charset="0"/>
                <a:ea typeface="宋体" panose="02010600030101010101" pitchFamily="2" charset="-122"/>
                <a:cs typeface="+mn-cs"/>
              </a:rPr>
              <a:t>, </a:t>
            </a:r>
            <a:r>
              <a:rPr kumimoji="0" lang="en-US" altLang="zh-CN" kern="1200" cap="none" spc="0" normalizeH="0" baseline="0" noProof="0" dirty="0" err="1">
                <a:latin typeface="Arial" panose="020B0604020202020204" pitchFamily="34" charset="0"/>
                <a:ea typeface="宋体" panose="02010600030101010101" pitchFamily="2" charset="-122"/>
                <a:cs typeface="+mn-cs"/>
              </a:rPr>
              <a:t>myBenzCar</a:t>
            </a: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car match{</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Car("BYD", 89000)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("Hello, BYD!")</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Car("BMW", 1200000)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("Hello, BMW!")</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case Car(brand, price)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(“Brand:”+ brand +“, Price:”+price+“, do you want it?”)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129029" name="TextBox 5"/>
          <p:cNvSpPr txBox="1"/>
          <p:nvPr/>
        </p:nvSpPr>
        <p:spPr>
          <a:xfrm>
            <a:off x="3716020" y="5445125"/>
            <a:ext cx="4640580" cy="922020"/>
          </a:xfrm>
          <a:prstGeom prst="rect">
            <a:avLst/>
          </a:prstGeom>
          <a:solidFill>
            <a:schemeClr val="tx1"/>
          </a:solidFill>
          <a:ln w="9525">
            <a:noFill/>
          </a:ln>
        </p:spPr>
        <p:txBody>
          <a:bodyPr wrap="none">
            <a:spAutoFit/>
          </a:bodyPr>
          <a:lstStyle/>
          <a:p>
            <a:r>
              <a:rPr lang="en-US" altLang="zh-CN" dirty="0">
                <a:solidFill>
                  <a:schemeClr val="bg1"/>
                </a:solidFill>
                <a:latin typeface="Arial" panose="020B0604020202020204" pitchFamily="34" charset="0"/>
              </a:rPr>
              <a:t>Hello, BYD!</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Hello, BMW!</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Brand:Benz, Price:1500000, do you want it?</a:t>
            </a:r>
            <a:endParaRPr lang="zh-CN" altLang="en-US" dirty="0">
              <a:solidFill>
                <a:schemeClr val="bg1"/>
              </a:solidFill>
              <a:latin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endParaRPr lang="zh-CN" altLang="en-US" dirty="0"/>
          </a:p>
        </p:txBody>
      </p:sp>
      <p:sp>
        <p:nvSpPr>
          <p:cNvPr id="3" name="内容占位符 2"/>
          <p:cNvSpPr>
            <a:spLocks noGrp="1"/>
          </p:cNvSpPr>
          <p:nvPr>
            <p:ph idx="1"/>
          </p:nvPr>
        </p:nvSpPr>
        <p:spPr/>
        <p:txBody>
          <a:bodyPr/>
          <a:lstStyle/>
          <a:p>
            <a:pPr marL="0" indent="0">
              <a:buNone/>
            </a:pPr>
            <a:r>
              <a:rPr lang="en-US" altLang="zh-CN" dirty="0"/>
              <a:t>8.1 Scala</a:t>
            </a:r>
            <a:r>
              <a:rPr lang="zh-CN" altLang="en-US" dirty="0"/>
              <a:t>语言概述</a:t>
            </a:r>
            <a:endParaRPr lang="en-US" altLang="zh-CN" dirty="0"/>
          </a:p>
          <a:p>
            <a:pPr marL="0" indent="0">
              <a:buNone/>
            </a:pPr>
            <a:r>
              <a:rPr lang="en-US" altLang="zh-CN" dirty="0"/>
              <a:t>8.2 Scala</a:t>
            </a:r>
            <a:r>
              <a:rPr lang="zh-CN" altLang="en-US" dirty="0"/>
              <a:t>语言基础</a:t>
            </a:r>
            <a:endParaRPr lang="zh-CN" altLang="en-US" dirty="0"/>
          </a:p>
          <a:p>
            <a:pPr marL="0" indent="0">
              <a:buNone/>
            </a:pPr>
            <a:r>
              <a:rPr lang="en-US" altLang="zh-CN" dirty="0"/>
              <a:t>8.3 </a:t>
            </a:r>
            <a:r>
              <a:rPr lang="zh-CN" altLang="en-US" dirty="0"/>
              <a:t>面向对象编程</a:t>
            </a:r>
            <a:endParaRPr lang="en-US" altLang="zh-CN" dirty="0"/>
          </a:p>
          <a:p>
            <a:pPr marL="0" indent="0">
              <a:buNone/>
            </a:pPr>
            <a:r>
              <a:rPr lang="en-US" altLang="zh-CN" dirty="0">
                <a:solidFill>
                  <a:srgbClr val="FF0000"/>
                </a:solidFill>
                <a:sym typeface="+mn-ea"/>
              </a:rPr>
              <a:t>8.4 </a:t>
            </a:r>
            <a:r>
              <a:rPr lang="zh-CN" altLang="en-US" dirty="0">
                <a:solidFill>
                  <a:srgbClr val="FF0000"/>
                </a:solidFill>
              </a:rPr>
              <a:t>函数式编程</a:t>
            </a:r>
            <a:endParaRPr lang="zh-CN" altLang="en-US" dirty="0">
              <a:solidFill>
                <a:srgbClr val="FF0000"/>
              </a:solidFill>
            </a:endParaRPr>
          </a:p>
          <a:p>
            <a:pPr marL="0" indent="0">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 </a:t>
            </a:r>
            <a:r>
              <a:rPr lang="zh-CN" altLang="en-US" dirty="0"/>
              <a:t>函数式编程</a:t>
            </a:r>
            <a:endParaRPr lang="zh-CN" altLang="en-US" dirty="0"/>
          </a:p>
        </p:txBody>
      </p:sp>
      <p:sp>
        <p:nvSpPr>
          <p:cNvPr id="3" name="内容占位符 2"/>
          <p:cNvSpPr>
            <a:spLocks noGrp="1"/>
          </p:cNvSpPr>
          <p:nvPr>
            <p:ph idx="1"/>
          </p:nvPr>
        </p:nvSpPr>
        <p:spPr/>
        <p:txBody>
          <a:bodyPr/>
          <a:lstStyle/>
          <a:p>
            <a:r>
              <a:rPr lang="en-US" altLang="zh-CN" dirty="0">
                <a:latin typeface="Arial" panose="020B0604020202020204" pitchFamily="34" charset="0"/>
              </a:rPr>
              <a:t>8.4.1 </a:t>
            </a:r>
            <a:r>
              <a:rPr lang="zh-CN" altLang="en-US" dirty="0">
                <a:latin typeface="Arial" panose="020B0604020202020204" pitchFamily="34" charset="0"/>
              </a:rPr>
              <a:t>函数定义与使用</a:t>
            </a:r>
            <a:endParaRPr lang="en-US" altLang="zh-CN" dirty="0">
              <a:latin typeface="Arial" panose="020B0604020202020204" pitchFamily="34" charset="0"/>
            </a:endParaRPr>
          </a:p>
          <a:p>
            <a:r>
              <a:rPr lang="en-US" altLang="zh-CN" dirty="0">
                <a:latin typeface="Arial" panose="020B0604020202020204" pitchFamily="34" charset="0"/>
              </a:rPr>
              <a:t>8.4.2 </a:t>
            </a:r>
            <a:r>
              <a:rPr lang="zh-CN" altLang="en-US" dirty="0">
                <a:latin typeface="Arial" panose="020B0604020202020204" pitchFamily="34" charset="0"/>
              </a:rPr>
              <a:t>高阶函数</a:t>
            </a:r>
            <a:endParaRPr lang="zh-CN" altLang="en-US" dirty="0">
              <a:latin typeface="Arial" panose="020B0604020202020204" pitchFamily="34" charset="0"/>
            </a:endParaRPr>
          </a:p>
          <a:p>
            <a:r>
              <a:rPr lang="en-US" altLang="zh-CN" dirty="0">
                <a:latin typeface="Arial" panose="020B0604020202020204" pitchFamily="34" charset="0"/>
              </a:rPr>
              <a:t>8.4.3 </a:t>
            </a:r>
            <a:r>
              <a:rPr lang="zh-CN" altLang="en-US" dirty="0">
                <a:latin typeface="Arial" panose="020B0604020202020204" pitchFamily="34" charset="0"/>
              </a:rPr>
              <a:t>针对容器的操作</a:t>
            </a:r>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fld>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p>
        </p:txBody>
      </p:sp>
      <p:pic>
        <p:nvPicPr>
          <p:cNvPr id="135171" name="Picture 2" descr="http://img.blog.csdn.net/20150818092829083"/>
          <p:cNvPicPr>
            <a:picLocks noChangeAspect="1"/>
          </p:cNvPicPr>
          <p:nvPr/>
        </p:nvPicPr>
        <p:blipFill>
          <a:blip r:embed="rId1"/>
          <a:stretch>
            <a:fillRect/>
          </a:stretch>
        </p:blipFill>
        <p:spPr>
          <a:xfrm>
            <a:off x="973138" y="2743200"/>
            <a:ext cx="7332662" cy="3733800"/>
          </a:xfrm>
          <a:prstGeom prst="rect">
            <a:avLst/>
          </a:prstGeom>
          <a:noFill/>
          <a:ln w="9525">
            <a:noFill/>
          </a:ln>
        </p:spPr>
      </p:pic>
      <p:sp>
        <p:nvSpPr>
          <p:cNvPr id="135172" name="矩形 3"/>
          <p:cNvSpPr/>
          <p:nvPr/>
        </p:nvSpPr>
        <p:spPr>
          <a:xfrm>
            <a:off x="914400" y="1219200"/>
            <a:ext cx="7010400" cy="1322070"/>
          </a:xfrm>
          <a:prstGeom prst="rect">
            <a:avLst/>
          </a:prstGeom>
          <a:noFill/>
          <a:ln w="9525">
            <a:noFill/>
          </a:ln>
        </p:spPr>
        <p:txBody>
          <a:bodyPr>
            <a:spAutoFit/>
          </a:bodyPr>
          <a:lstStyle/>
          <a:p>
            <a:r>
              <a:rPr lang="zh-CN" altLang="zh-CN" sz="2000" dirty="0">
                <a:latin typeface="Arial" panose="020B0604020202020204" pitchFamily="34" charset="0"/>
              </a:rPr>
              <a:t>定义函数最通用的方法是作为某个类或者对象的成员，这种函数被称为方法，其定义的基本语法为</a:t>
            </a:r>
            <a:endParaRPr lang="en-US" altLang="zh-CN" sz="2000" dirty="0">
              <a:latin typeface="Arial" panose="020B0604020202020204" pitchFamily="34" charset="0"/>
            </a:endParaRPr>
          </a:p>
          <a:p>
            <a:endParaRPr lang="en-US" altLang="zh-CN" sz="2000" dirty="0">
              <a:latin typeface="Arial" panose="020B0604020202020204" pitchFamily="34" charset="0"/>
            </a:endParaRPr>
          </a:p>
          <a:p>
            <a:r>
              <a:rPr lang="en-US" altLang="zh-CN" sz="2000" b="1" dirty="0">
                <a:latin typeface="Arial" panose="020B0604020202020204" pitchFamily="34" charset="0"/>
              </a:rPr>
              <a:t>def </a:t>
            </a:r>
            <a:r>
              <a:rPr lang="zh-CN" altLang="zh-CN" sz="2000" b="1" dirty="0">
                <a:latin typeface="Arial" panose="020B0604020202020204" pitchFamily="34" charset="0"/>
              </a:rPr>
              <a:t>方法名</a:t>
            </a:r>
            <a:r>
              <a:rPr lang="en-US" altLang="zh-CN" sz="2000" b="1" dirty="0">
                <a:latin typeface="Arial" panose="020B0604020202020204" pitchFamily="34" charset="0"/>
              </a:rPr>
              <a:t>(</a:t>
            </a:r>
            <a:r>
              <a:rPr lang="zh-CN" altLang="zh-CN" sz="2000" b="1" dirty="0">
                <a:latin typeface="Arial" panose="020B0604020202020204" pitchFamily="34" charset="0"/>
              </a:rPr>
              <a:t>参数列表</a:t>
            </a:r>
            <a:r>
              <a:rPr lang="en-US" altLang="zh-CN" sz="2000" b="1" dirty="0">
                <a:latin typeface="Arial" panose="020B0604020202020204" pitchFamily="34" charset="0"/>
              </a:rPr>
              <a:t>):</a:t>
            </a:r>
            <a:r>
              <a:rPr lang="zh-CN" altLang="zh-CN" sz="2000" b="1" dirty="0">
                <a:latin typeface="Arial" panose="020B0604020202020204" pitchFamily="34" charset="0"/>
              </a:rPr>
              <a:t>结果类型</a:t>
            </a:r>
            <a:r>
              <a:rPr lang="en-US" altLang="zh-CN" sz="2000" b="1" dirty="0">
                <a:latin typeface="Arial" panose="020B0604020202020204" pitchFamily="34" charset="0"/>
              </a:rPr>
              <a:t>={</a:t>
            </a:r>
            <a:r>
              <a:rPr lang="zh-CN" altLang="zh-CN" sz="2000" b="1" dirty="0">
                <a:latin typeface="Arial" panose="020B0604020202020204" pitchFamily="34" charset="0"/>
              </a:rPr>
              <a:t>方法体</a:t>
            </a:r>
            <a:r>
              <a:rPr lang="en-US" altLang="zh-CN" sz="2000" b="1" dirty="0">
                <a:latin typeface="Arial" panose="020B0604020202020204" pitchFamily="34" charset="0"/>
              </a:rPr>
              <a:t>}</a:t>
            </a:r>
            <a:endParaRPr lang="zh-CN" altLang="en-US" sz="2000" b="1" dirty="0">
              <a:latin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p>
        </p:txBody>
      </p:sp>
      <p:sp>
        <p:nvSpPr>
          <p:cNvPr id="137219" name="矩形 3"/>
          <p:cNvSpPr/>
          <p:nvPr/>
        </p:nvSpPr>
        <p:spPr>
          <a:xfrm>
            <a:off x="647700" y="1268730"/>
            <a:ext cx="7848600" cy="2306955"/>
          </a:xfrm>
          <a:prstGeom prst="rect">
            <a:avLst/>
          </a:prstGeom>
          <a:noFill/>
          <a:ln w="9525">
            <a:noFill/>
          </a:ln>
        </p:spPr>
        <p:txBody>
          <a:bodyPr>
            <a:spAutoFit/>
          </a:bodyPr>
          <a:lstStyle/>
          <a:p>
            <a:pPr>
              <a:buChar char="•"/>
            </a:pPr>
            <a:r>
              <a:rPr lang="zh-CN" altLang="en-US" sz="2400" dirty="0">
                <a:latin typeface="Arial" panose="020B0604020202020204" pitchFamily="34" charset="0"/>
              </a:rPr>
              <a:t>函数字面量可以体现函数式编程的核心理念</a:t>
            </a:r>
            <a:endParaRPr lang="en-US" altLang="zh-CN" sz="2400" dirty="0">
              <a:latin typeface="Arial" panose="020B0604020202020204" pitchFamily="34" charset="0"/>
            </a:endParaRPr>
          </a:p>
          <a:p>
            <a:pPr>
              <a:buChar char="•"/>
            </a:pPr>
            <a:r>
              <a:rPr lang="zh-CN" altLang="en-US" sz="2400" dirty="0">
                <a:latin typeface="Arial" panose="020B0604020202020204" pitchFamily="34" charset="0"/>
              </a:rPr>
              <a:t>在函数式编程中，函数是“头等公民”，可以像任何其他数据类型一样被传递和操作，也就是说，函数的使用方式和其他数据类型的使用方式完全一致了</a:t>
            </a:r>
            <a:endParaRPr lang="en-US" altLang="zh-CN" sz="2400" dirty="0">
              <a:latin typeface="Arial" panose="020B0604020202020204" pitchFamily="34" charset="0"/>
            </a:endParaRPr>
          </a:p>
          <a:p>
            <a:pPr>
              <a:buChar char="•"/>
            </a:pPr>
            <a:r>
              <a:rPr lang="zh-CN" altLang="en-US" sz="2400" dirty="0">
                <a:latin typeface="Arial" panose="020B0604020202020204" pitchFamily="34" charset="0"/>
              </a:rPr>
              <a:t>函数式编程中，函数的“类型”和“值”也成为两个分开的概念，函数的“值”，就是“函数字面量”</a:t>
            </a:r>
            <a:endParaRPr lang="zh-CN" altLang="en-US" sz="2400" dirty="0">
              <a:latin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p>
        </p:txBody>
      </p:sp>
      <p:sp>
        <p:nvSpPr>
          <p:cNvPr id="3" name="矩形 2"/>
          <p:cNvSpPr/>
          <p:nvPr/>
        </p:nvSpPr>
        <p:spPr>
          <a:xfrm>
            <a:off x="533400" y="1306513"/>
            <a:ext cx="7783016" cy="398780"/>
          </a:xfrm>
          <a:prstGeom prst="rect">
            <a:avLst/>
          </a:prstGeom>
          <a:noFill/>
          <a:ln w="9525">
            <a:noFill/>
          </a:ln>
        </p:spPr>
        <p:txBody>
          <a:bodyPr wrap="square">
            <a:spAutoFit/>
          </a:bodyPr>
          <a:lstStyle/>
          <a:p>
            <a:r>
              <a:rPr lang="zh-CN" altLang="en-US" sz="2000" dirty="0">
                <a:latin typeface="Arial" panose="020B0604020202020204" pitchFamily="34" charset="0"/>
              </a:rPr>
              <a:t>定义一个传统函数：</a:t>
            </a:r>
            <a:endParaRPr lang="zh-CN" altLang="en-US" sz="2000" dirty="0">
              <a:latin typeface="Arial" panose="020B0604020202020204" pitchFamily="34" charset="0"/>
            </a:endParaRPr>
          </a:p>
        </p:txBody>
      </p:sp>
      <p:sp>
        <p:nvSpPr>
          <p:cNvPr id="5" name="矩形 4"/>
          <p:cNvSpPr/>
          <p:nvPr/>
        </p:nvSpPr>
        <p:spPr>
          <a:xfrm>
            <a:off x="461645" y="2354898"/>
            <a:ext cx="2891790" cy="398780"/>
          </a:xfrm>
          <a:prstGeom prst="rect">
            <a:avLst/>
          </a:prstGeom>
          <a:noFill/>
          <a:ln w="9525">
            <a:noFill/>
          </a:ln>
        </p:spPr>
        <p:txBody>
          <a:bodyPr wrap="none">
            <a:spAutoFit/>
          </a:bodyPr>
          <a:lstStyle/>
          <a:p>
            <a:r>
              <a:rPr lang="zh-CN" altLang="en-US" sz="2000" dirty="0">
                <a:latin typeface="Arial" panose="020B0604020202020204" pitchFamily="34" charset="0"/>
              </a:rPr>
              <a:t>这个函数的“类型”如下：</a:t>
            </a:r>
            <a:endParaRPr lang="zh-CN" altLang="en-US" sz="2000" dirty="0">
              <a:latin typeface="Arial" panose="020B0604020202020204" pitchFamily="34" charset="0"/>
            </a:endParaRPr>
          </a:p>
        </p:txBody>
      </p:sp>
      <p:sp>
        <p:nvSpPr>
          <p:cNvPr id="7" name="矩形 6"/>
          <p:cNvSpPr/>
          <p:nvPr/>
        </p:nvSpPr>
        <p:spPr>
          <a:xfrm>
            <a:off x="461645" y="3388360"/>
            <a:ext cx="7783016" cy="706755"/>
          </a:xfrm>
          <a:prstGeom prst="rect">
            <a:avLst/>
          </a:prstGeom>
          <a:noFill/>
          <a:ln w="9525">
            <a:noFill/>
          </a:ln>
        </p:spPr>
        <p:txBody>
          <a:bodyPr wrap="square">
            <a:spAutoFit/>
          </a:bodyPr>
          <a:lstStyle/>
          <a:p>
            <a:r>
              <a:rPr lang="zh-CN" altLang="en-US" sz="2000" dirty="0">
                <a:latin typeface="Arial" panose="020B0604020202020204" pitchFamily="34" charset="0"/>
              </a:rPr>
              <a:t>实际上，只有多个参数时（不同参数之间用逗号隔开），圆括号才是必须的，当参数只有一个时，圆括号可以省略，如下：</a:t>
            </a:r>
            <a:endParaRPr lang="zh-CN" altLang="en-US" sz="2000" dirty="0">
              <a:latin typeface="Arial" panose="020B0604020202020204" pitchFamily="34" charset="0"/>
            </a:endParaRPr>
          </a:p>
        </p:txBody>
      </p:sp>
      <p:sp>
        <p:nvSpPr>
          <p:cNvPr id="9" name="矩形 8"/>
          <p:cNvSpPr/>
          <p:nvPr/>
        </p:nvSpPr>
        <p:spPr>
          <a:xfrm>
            <a:off x="461645" y="4763135"/>
            <a:ext cx="7696200" cy="398780"/>
          </a:xfrm>
          <a:prstGeom prst="rect">
            <a:avLst/>
          </a:prstGeom>
          <a:noFill/>
          <a:ln w="9525">
            <a:noFill/>
          </a:ln>
        </p:spPr>
        <p:txBody>
          <a:bodyPr>
            <a:spAutoFit/>
          </a:bodyPr>
          <a:lstStyle/>
          <a:p>
            <a:r>
              <a:rPr lang="zh-CN" altLang="en-US" sz="2000" dirty="0">
                <a:latin typeface="Arial" panose="020B0604020202020204" pitchFamily="34" charset="0"/>
              </a:rPr>
              <a:t>上面就得到了函数的“类型”</a:t>
            </a:r>
            <a:endParaRPr lang="zh-CN" altLang="en-US" sz="2000" dirty="0">
              <a:latin typeface="Arial" panose="020B0604020202020204" pitchFamily="34" charset="0"/>
            </a:endParaRPr>
          </a:p>
        </p:txBody>
      </p:sp>
      <p:sp>
        <p:nvSpPr>
          <p:cNvPr id="10" name="TextBox 9"/>
          <p:cNvSpPr txBox="1"/>
          <p:nvPr/>
        </p:nvSpPr>
        <p:spPr>
          <a:xfrm>
            <a:off x="614045" y="1734185"/>
            <a:ext cx="6019800" cy="398780"/>
          </a:xfrm>
          <a:prstGeom prst="rect">
            <a:avLst/>
          </a:prstGeom>
          <a:solidFill>
            <a:schemeClr val="bg1">
              <a:lumMod val="8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def counter(value: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 { value += 1}</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11" name="TextBox 10"/>
          <p:cNvSpPr txBox="1"/>
          <p:nvPr/>
        </p:nvSpPr>
        <p:spPr>
          <a:xfrm>
            <a:off x="614045" y="2877185"/>
            <a:ext cx="2895600" cy="398780"/>
          </a:xfrm>
          <a:prstGeom prst="rect">
            <a:avLst/>
          </a:prstGeom>
          <a:solidFill>
            <a:schemeClr val="bg1">
              <a:lumMod val="85000"/>
            </a:schemeClr>
          </a:solidFill>
        </p:spPr>
        <p:txBody>
          <a:bodyPr>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=&gt;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12" name="TextBox 11"/>
          <p:cNvSpPr txBox="1"/>
          <p:nvPr/>
        </p:nvSpPr>
        <p:spPr>
          <a:xfrm>
            <a:off x="614045" y="4153535"/>
            <a:ext cx="2667000" cy="398780"/>
          </a:xfrm>
          <a:prstGeom prst="rect">
            <a:avLst/>
          </a:prstGeom>
          <a:solidFill>
            <a:schemeClr val="bg1">
              <a:lumMod val="85000"/>
            </a:schemeClr>
          </a:solidFill>
        </p:spPr>
        <p:txBody>
          <a:bodyPr>
            <a:spAutoFit/>
          </a:bodyPr>
          <a:lstStyle/>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=&gt;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0" grpId="0" bldLvl="0" animBg="1"/>
      <p:bldP spid="11" grpId="0" bldLvl="0" animBg="1"/>
      <p:bldP spid="12"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p>
        </p:txBody>
      </p:sp>
      <p:sp>
        <p:nvSpPr>
          <p:cNvPr id="139268" name="矩形 3"/>
          <p:cNvSpPr/>
          <p:nvPr/>
        </p:nvSpPr>
        <p:spPr>
          <a:xfrm>
            <a:off x="466090" y="1397318"/>
            <a:ext cx="8001000" cy="829945"/>
          </a:xfrm>
          <a:prstGeom prst="rect">
            <a:avLst/>
          </a:prstGeom>
          <a:noFill/>
          <a:ln w="9525">
            <a:noFill/>
          </a:ln>
        </p:spPr>
        <p:txBody>
          <a:bodyPr>
            <a:spAutoFit/>
          </a:bodyPr>
          <a:lstStyle/>
          <a:p>
            <a:r>
              <a:rPr lang="zh-CN" altLang="en-US" sz="2400" dirty="0">
                <a:latin typeface="Arial" panose="020B0604020202020204" pitchFamily="34" charset="0"/>
              </a:rPr>
              <a:t>把函数定义中的类型声明部分去除，剩下的就是函数的“值”，如下：</a:t>
            </a:r>
            <a:endParaRPr lang="zh-CN" altLang="en-US" sz="2400" dirty="0">
              <a:latin typeface="Arial" panose="020B0604020202020204" pitchFamily="34" charset="0"/>
            </a:endParaRPr>
          </a:p>
        </p:txBody>
      </p:sp>
      <p:sp>
        <p:nvSpPr>
          <p:cNvPr id="139269" name="矩形 5"/>
          <p:cNvSpPr/>
          <p:nvPr/>
        </p:nvSpPr>
        <p:spPr>
          <a:xfrm>
            <a:off x="466090" y="3073718"/>
            <a:ext cx="8077200" cy="829945"/>
          </a:xfrm>
          <a:prstGeom prst="rect">
            <a:avLst/>
          </a:prstGeom>
          <a:noFill/>
          <a:ln w="9525">
            <a:noFill/>
          </a:ln>
        </p:spPr>
        <p:txBody>
          <a:bodyPr>
            <a:spAutoFit/>
          </a:bodyPr>
          <a:lstStyle/>
          <a:p>
            <a:r>
              <a:rPr lang="zh-CN" altLang="en-US" sz="2400" dirty="0">
                <a:latin typeface="Arial" panose="020B0604020202020204" pitchFamily="34" charset="0"/>
              </a:rPr>
              <a:t>注意：上面就是函数的“值”，需要注意的是，采用“</a:t>
            </a:r>
            <a:r>
              <a:rPr lang="en-US" altLang="zh-CN" sz="2400" dirty="0">
                <a:latin typeface="Arial" panose="020B0604020202020204" pitchFamily="34" charset="0"/>
              </a:rPr>
              <a:t>=&gt;”</a:t>
            </a:r>
            <a:r>
              <a:rPr lang="zh-CN" altLang="en-US" sz="2400" dirty="0">
                <a:latin typeface="Arial" panose="020B0604020202020204" pitchFamily="34" charset="0"/>
              </a:rPr>
              <a:t>而不是“</a:t>
            </a:r>
            <a:r>
              <a:rPr lang="en-US" altLang="zh-CN" sz="2400" dirty="0">
                <a:latin typeface="Arial" panose="020B0604020202020204" pitchFamily="34" charset="0"/>
              </a:rPr>
              <a:t>=”</a:t>
            </a:r>
            <a:r>
              <a:rPr lang="zh-CN" altLang="en-US" sz="2400" dirty="0">
                <a:latin typeface="Arial" panose="020B0604020202020204" pitchFamily="34" charset="0"/>
              </a:rPr>
              <a:t>，这是</a:t>
            </a:r>
            <a:r>
              <a:rPr lang="en-US" altLang="zh-CN" sz="2400" dirty="0">
                <a:latin typeface="Arial" panose="020B0604020202020204" pitchFamily="34" charset="0"/>
              </a:rPr>
              <a:t>Scala</a:t>
            </a:r>
            <a:r>
              <a:rPr lang="zh-CN" altLang="en-US" sz="2400" dirty="0">
                <a:latin typeface="Arial" panose="020B0604020202020204" pitchFamily="34" charset="0"/>
              </a:rPr>
              <a:t>的语法要求</a:t>
            </a:r>
            <a:endParaRPr lang="zh-CN" altLang="en-US" sz="2400" dirty="0">
              <a:latin typeface="Arial" panose="020B0604020202020204" pitchFamily="34" charset="0"/>
            </a:endParaRPr>
          </a:p>
        </p:txBody>
      </p:sp>
      <p:sp>
        <p:nvSpPr>
          <p:cNvPr id="7" name="TextBox 6"/>
          <p:cNvSpPr txBox="1"/>
          <p:nvPr/>
        </p:nvSpPr>
        <p:spPr>
          <a:xfrm>
            <a:off x="466090" y="2379980"/>
            <a:ext cx="7778824" cy="398780"/>
          </a:xfrm>
          <a:prstGeom prst="rect">
            <a:avLst/>
          </a:prstGeom>
          <a:solidFill>
            <a:schemeClr val="bg1">
              <a:lumMod val="85000"/>
            </a:schemeClr>
          </a:solidFill>
        </p:spPr>
        <p:txBody>
          <a:bodyPr wrap="square">
            <a:spAutoFit/>
          </a:bodyPr>
          <a:lstStyle/>
          <a:p>
            <a:pPr marR="0" defTabSz="914400">
              <a:buClrTx/>
              <a:buSzTx/>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(value) =&gt; {value += 1} //</a:t>
            </a:r>
            <a:r>
              <a:rPr kumimoji="0" lang="zh-CN" altLang="en-US" sz="2000" kern="1200" cap="none" spc="0" normalizeH="0" baseline="0" noProof="0" dirty="0">
                <a:latin typeface="Arial" panose="020B0604020202020204" pitchFamily="34" charset="0"/>
                <a:ea typeface="宋体" panose="02010600030101010101" pitchFamily="2" charset="-122"/>
                <a:cs typeface="+mn-cs"/>
              </a:rPr>
              <a:t>只有一条语句时，大括号可以省略</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p>
        </p:txBody>
      </p:sp>
      <p:sp>
        <p:nvSpPr>
          <p:cNvPr id="3" name="矩形 2"/>
          <p:cNvSpPr/>
          <p:nvPr/>
        </p:nvSpPr>
        <p:spPr>
          <a:xfrm>
            <a:off x="609600" y="1238250"/>
            <a:ext cx="7924800" cy="460375"/>
          </a:xfrm>
          <a:prstGeom prst="rect">
            <a:avLst/>
          </a:prstGeom>
          <a:noFill/>
          <a:ln w="9525">
            <a:noFill/>
          </a:ln>
        </p:spPr>
        <p:txBody>
          <a:bodyPr>
            <a:spAutoFit/>
          </a:bodyPr>
          <a:lstStyle/>
          <a:p>
            <a:r>
              <a:rPr lang="zh-CN" altLang="en-US" sz="2400" dirty="0">
                <a:latin typeface="Arial" panose="020B0604020202020204" pitchFamily="34" charset="0"/>
              </a:rPr>
              <a:t>采用</a:t>
            </a:r>
            <a:r>
              <a:rPr lang="en-US" altLang="zh-CN" sz="2400" dirty="0">
                <a:latin typeface="Arial" panose="020B0604020202020204" pitchFamily="34" charset="0"/>
              </a:rPr>
              <a:t>Scala</a:t>
            </a:r>
            <a:r>
              <a:rPr lang="zh-CN" altLang="en-US" sz="2400" dirty="0">
                <a:latin typeface="Arial" panose="020B0604020202020204" pitchFamily="34" charset="0"/>
              </a:rPr>
              <a:t>语法来定义一个函数：</a:t>
            </a:r>
            <a:endParaRPr lang="zh-CN" altLang="en-US" sz="2400" dirty="0">
              <a:latin typeface="Arial" panose="020B0604020202020204" pitchFamily="34" charset="0"/>
            </a:endParaRPr>
          </a:p>
        </p:txBody>
      </p:sp>
      <p:sp>
        <p:nvSpPr>
          <p:cNvPr id="7" name="矩形 6"/>
          <p:cNvSpPr/>
          <p:nvPr/>
        </p:nvSpPr>
        <p:spPr>
          <a:xfrm>
            <a:off x="531495" y="2424748"/>
            <a:ext cx="7772400" cy="1938020"/>
          </a:xfrm>
          <a:prstGeom prst="rect">
            <a:avLst/>
          </a:prstGeom>
          <a:noFill/>
          <a:ln w="9525">
            <a:noFill/>
          </a:ln>
        </p:spPr>
        <p:txBody>
          <a:bodyPr>
            <a:spAutoFit/>
          </a:bodyPr>
          <a:lstStyle/>
          <a:p>
            <a:r>
              <a:rPr lang="zh-CN" altLang="en-US" sz="2400" dirty="0">
                <a:latin typeface="Arial" panose="020B0604020202020204" pitchFamily="34" charset="0"/>
              </a:rPr>
              <a:t>从上面可以看出，在</a:t>
            </a:r>
            <a:r>
              <a:rPr lang="en-US" altLang="zh-CN" sz="2400" dirty="0">
                <a:latin typeface="Arial" panose="020B0604020202020204" pitchFamily="34" charset="0"/>
              </a:rPr>
              <a:t>Scala</a:t>
            </a:r>
            <a:r>
              <a:rPr lang="zh-CN" altLang="en-US" sz="2400" dirty="0">
                <a:latin typeface="Arial" panose="020B0604020202020204" pitchFamily="34" charset="0"/>
              </a:rPr>
              <a:t>中，函数已经是“头等公民”，单独剥离出来了“值”的概念，一个函数“值”就是函数字面量。这样，只要在某个需要声明函数的地方声明一个函数类型，在调用的时候传一个对应的函数字面量即可，和使用普通变量一模一样</a:t>
            </a:r>
            <a:endParaRPr lang="zh-CN" altLang="en-US" sz="2400" dirty="0">
              <a:latin typeface="Arial" panose="020B0604020202020204" pitchFamily="34" charset="0"/>
            </a:endParaRPr>
          </a:p>
        </p:txBody>
      </p:sp>
      <p:sp>
        <p:nvSpPr>
          <p:cNvPr id="9" name="TextBox 8"/>
          <p:cNvSpPr txBox="1"/>
          <p:nvPr/>
        </p:nvSpPr>
        <p:spPr>
          <a:xfrm>
            <a:off x="683895" y="1772285"/>
            <a:ext cx="6707188" cy="460375"/>
          </a:xfrm>
          <a:prstGeom prst="rect">
            <a:avLst/>
          </a:prstGeom>
          <a:solidFill>
            <a:schemeClr val="bg1">
              <a:lumMod val="85000"/>
            </a:schemeClr>
          </a:solidFill>
        </p:spPr>
        <p:txBody>
          <a:bodyPr>
            <a:spAutoFit/>
          </a:bodyPr>
          <a:lstStyle/>
          <a:p>
            <a:pPr marR="0" defTabSz="914400">
              <a:buClrTx/>
              <a:buSzTx/>
              <a:defRPr/>
            </a:pPr>
            <a:r>
              <a:rPr kumimoji="0" lang="en-US" altLang="zh-CN" sz="24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2400" kern="1200" cap="none" spc="0" normalizeH="0" baseline="0" noProof="0" dirty="0">
                <a:latin typeface="Arial" panose="020B0604020202020204" pitchFamily="34" charset="0"/>
                <a:ea typeface="宋体" panose="02010600030101010101" pitchFamily="2" charset="-122"/>
                <a:cs typeface="+mn-cs"/>
              </a:rPr>
              <a:t> counter: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400" kern="1200" cap="none" spc="0" normalizeH="0" baseline="0" noProof="0" dirty="0">
                <a:latin typeface="Arial" panose="020B0604020202020204" pitchFamily="34" charset="0"/>
                <a:ea typeface="宋体" panose="02010600030101010101" pitchFamily="2" charset="-122"/>
                <a:cs typeface="+mn-cs"/>
              </a:rPr>
              <a:t> =&gt;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400" kern="1200" cap="none" spc="0" normalizeH="0" baseline="0" noProof="0" dirty="0">
                <a:latin typeface="Arial" panose="020B0604020202020204" pitchFamily="34" charset="0"/>
                <a:ea typeface="宋体" panose="02010600030101010101" pitchFamily="2" charset="-122"/>
                <a:cs typeface="+mn-cs"/>
              </a:rPr>
              <a:t> = { (value) =&gt; value += 1 }</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p>
        </p:txBody>
      </p:sp>
      <p:sp>
        <p:nvSpPr>
          <p:cNvPr id="141315" name="矩形 2"/>
          <p:cNvSpPr/>
          <p:nvPr/>
        </p:nvSpPr>
        <p:spPr>
          <a:xfrm>
            <a:off x="838200" y="1143000"/>
            <a:ext cx="7391400" cy="829945"/>
          </a:xfrm>
          <a:prstGeom prst="rect">
            <a:avLst/>
          </a:prstGeom>
          <a:noFill/>
          <a:ln w="9525">
            <a:noFill/>
          </a:ln>
        </p:spPr>
        <p:txBody>
          <a:bodyPr>
            <a:spAutoFit/>
          </a:bodyPr>
          <a:lstStyle/>
          <a:p>
            <a:r>
              <a:rPr lang="zh-CN" altLang="en-US" sz="2400" dirty="0">
                <a:latin typeface="Arial" panose="020B0604020202020204" pitchFamily="34" charset="0"/>
              </a:rPr>
              <a:t>可以不需要给每个函数命名，这时就可以使用匿名函数，如下：</a:t>
            </a:r>
            <a:endParaRPr lang="zh-CN" altLang="en-US" sz="2400" dirty="0">
              <a:latin typeface="Arial" panose="020B0604020202020204" pitchFamily="34" charset="0"/>
            </a:endParaRPr>
          </a:p>
        </p:txBody>
      </p:sp>
      <p:sp>
        <p:nvSpPr>
          <p:cNvPr id="141316" name="矩形 4"/>
          <p:cNvSpPr/>
          <p:nvPr/>
        </p:nvSpPr>
        <p:spPr>
          <a:xfrm>
            <a:off x="762000" y="2544763"/>
            <a:ext cx="7626424" cy="829945"/>
          </a:xfrm>
          <a:prstGeom prst="rect">
            <a:avLst/>
          </a:prstGeom>
          <a:noFill/>
          <a:ln w="9525">
            <a:noFill/>
          </a:ln>
        </p:spPr>
        <p:txBody>
          <a:bodyPr wrap="square">
            <a:spAutoFit/>
          </a:bodyPr>
          <a:lstStyle/>
          <a:p>
            <a:r>
              <a:rPr lang="zh-CN" altLang="en-US" sz="2400" dirty="0">
                <a:latin typeface="Arial" panose="020B0604020202020204" pitchFamily="34" charset="0"/>
              </a:rPr>
              <a:t>上面这种匿名函数的定义形式，我们经常称为“</a:t>
            </a:r>
            <a:r>
              <a:rPr lang="en-US" altLang="zh-CN" sz="2400" dirty="0">
                <a:solidFill>
                  <a:srgbClr val="FF0000"/>
                </a:solidFill>
                <a:latin typeface="Arial" panose="020B0604020202020204" pitchFamily="34" charset="0"/>
              </a:rPr>
              <a:t>Lambda</a:t>
            </a:r>
            <a:r>
              <a:rPr lang="zh-CN" altLang="en-US" sz="2400" dirty="0">
                <a:solidFill>
                  <a:srgbClr val="FF0000"/>
                </a:solidFill>
                <a:latin typeface="Arial" panose="020B0604020202020204" pitchFamily="34" charset="0"/>
              </a:rPr>
              <a:t>表达式</a:t>
            </a:r>
            <a:r>
              <a:rPr lang="zh-CN" altLang="en-US" sz="2400" dirty="0">
                <a:latin typeface="Arial" panose="020B0604020202020204" pitchFamily="34" charset="0"/>
              </a:rPr>
              <a:t>”。“</a:t>
            </a:r>
            <a:r>
              <a:rPr lang="en-US" altLang="zh-CN" sz="2400" dirty="0">
                <a:latin typeface="Arial" panose="020B0604020202020204" pitchFamily="34" charset="0"/>
              </a:rPr>
              <a:t>Lambda</a:t>
            </a:r>
            <a:r>
              <a:rPr lang="zh-CN" altLang="en-US" sz="2400" dirty="0">
                <a:latin typeface="Arial" panose="020B0604020202020204" pitchFamily="34" charset="0"/>
              </a:rPr>
              <a:t>表达式”的形式如下：</a:t>
            </a:r>
            <a:endParaRPr lang="zh-CN" altLang="en-US" sz="2400" dirty="0">
              <a:latin typeface="Arial" panose="020B0604020202020204" pitchFamily="34" charset="0"/>
            </a:endParaRPr>
          </a:p>
        </p:txBody>
      </p:sp>
      <p:sp>
        <p:nvSpPr>
          <p:cNvPr id="9" name="TextBox 8"/>
          <p:cNvSpPr txBox="1"/>
          <p:nvPr/>
        </p:nvSpPr>
        <p:spPr>
          <a:xfrm>
            <a:off x="914400" y="2057400"/>
            <a:ext cx="5638800" cy="460375"/>
          </a:xfrm>
          <a:prstGeom prst="rect">
            <a:avLst/>
          </a:prstGeom>
          <a:solidFill>
            <a:schemeClr val="bg1">
              <a:lumMod val="85000"/>
            </a:schemeClr>
          </a:solidFill>
        </p:spPr>
        <p:txBody>
          <a:bodyPr>
            <a:spAutoFit/>
          </a:bodyPr>
          <a:lstStyle/>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(num: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400" kern="1200" cap="none" spc="0" normalizeH="0" baseline="0" noProof="0" dirty="0">
                <a:latin typeface="Arial" panose="020B0604020202020204" pitchFamily="34" charset="0"/>
                <a:ea typeface="宋体" panose="02010600030101010101" pitchFamily="2" charset="-122"/>
                <a:cs typeface="+mn-cs"/>
              </a:rPr>
              <a:t>) =&gt; num * 2</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
        <p:nvSpPr>
          <p:cNvPr id="10" name="TextBox 9"/>
          <p:cNvSpPr txBox="1"/>
          <p:nvPr/>
        </p:nvSpPr>
        <p:spPr>
          <a:xfrm>
            <a:off x="914400" y="3356928"/>
            <a:ext cx="7391400" cy="829945"/>
          </a:xfrm>
          <a:prstGeom prst="rect">
            <a:avLst/>
          </a:prstGeom>
          <a:solidFill>
            <a:schemeClr val="bg1">
              <a:lumMod val="85000"/>
            </a:schemeClr>
          </a:solidFill>
        </p:spPr>
        <p:txBody>
          <a:bodyPr>
            <a:spAutoFit/>
          </a:bodyPr>
          <a:lstStyle/>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r>
              <a:rPr kumimoji="0" lang="zh-CN" altLang="en-US" sz="2400" kern="1200" cap="none" spc="0" normalizeH="0" baseline="0" noProof="0" dirty="0">
                <a:latin typeface="Arial" panose="020B0604020202020204" pitchFamily="34" charset="0"/>
                <a:ea typeface="宋体" panose="02010600030101010101" pitchFamily="2" charset="-122"/>
                <a:cs typeface="+mn-cs"/>
              </a:rPr>
              <a:t>参数</a:t>
            </a:r>
            <a:r>
              <a:rPr kumimoji="0" lang="en-US" altLang="zh-CN" sz="2400" kern="1200" cap="none" spc="0" normalizeH="0" baseline="0" noProof="0" dirty="0">
                <a:latin typeface="Arial" panose="020B0604020202020204" pitchFamily="34" charset="0"/>
                <a:ea typeface="宋体" panose="02010600030101010101" pitchFamily="2" charset="-122"/>
                <a:cs typeface="+mn-cs"/>
              </a:rPr>
              <a:t>) =&gt; </a:t>
            </a:r>
            <a:r>
              <a:rPr kumimoji="0" lang="zh-CN" altLang="en-US" sz="2400" kern="1200" cap="none" spc="0" normalizeH="0" baseline="0" noProof="0" dirty="0">
                <a:latin typeface="Arial" panose="020B0604020202020204" pitchFamily="34" charset="0"/>
                <a:ea typeface="宋体" panose="02010600030101010101" pitchFamily="2" charset="-122"/>
                <a:cs typeface="+mn-cs"/>
              </a:rPr>
              <a:t>表达式</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r>
              <a:rPr kumimoji="0" lang="zh-CN" altLang="en-US" sz="2400" kern="1200" cap="none" spc="0" normalizeH="0" baseline="0" noProof="0" dirty="0">
                <a:latin typeface="Arial" panose="020B0604020202020204" pitchFamily="34" charset="0"/>
                <a:ea typeface="宋体" panose="02010600030101010101" pitchFamily="2" charset="-122"/>
                <a:cs typeface="+mn-cs"/>
              </a:rPr>
              <a:t>如果参数只有一个，参数的圆括号可以省略</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sp>
        <p:nvSpPr>
          <p:cNvPr id="142339" name="矩形 2"/>
          <p:cNvSpPr/>
          <p:nvPr/>
        </p:nvSpPr>
        <p:spPr>
          <a:xfrm>
            <a:off x="838200" y="4364990"/>
            <a:ext cx="7518400" cy="460375"/>
          </a:xfrm>
          <a:prstGeom prst="rect">
            <a:avLst/>
          </a:prstGeom>
          <a:noFill/>
          <a:ln w="9525">
            <a:noFill/>
          </a:ln>
        </p:spPr>
        <p:txBody>
          <a:bodyPr wrap="square">
            <a:spAutoFit/>
          </a:bodyPr>
          <a:p>
            <a:r>
              <a:rPr lang="zh-CN" altLang="en-US" sz="2400" dirty="0">
                <a:latin typeface="Arial" panose="020B0604020202020204" pitchFamily="34" charset="0"/>
              </a:rPr>
              <a:t>可以直接把匿名函数存放到变量中</a:t>
            </a:r>
            <a:endParaRPr lang="zh-CN" altLang="en-US" sz="2400" dirty="0">
              <a:latin typeface="Arial" panose="020B0604020202020204" pitchFamily="34" charset="0"/>
            </a:endParaRPr>
          </a:p>
        </p:txBody>
      </p:sp>
      <p:sp>
        <p:nvSpPr>
          <p:cNvPr id="142340" name="TextBox 4"/>
          <p:cNvSpPr txBox="1"/>
          <p:nvPr/>
        </p:nvSpPr>
        <p:spPr>
          <a:xfrm>
            <a:off x="918210" y="4796790"/>
            <a:ext cx="7358063" cy="1476375"/>
          </a:xfrm>
          <a:prstGeom prst="rect">
            <a:avLst/>
          </a:prstGeom>
          <a:solidFill>
            <a:schemeClr val="tx1"/>
          </a:solidFill>
          <a:ln w="9525">
            <a:noFill/>
          </a:ln>
        </p:spPr>
        <p:txBody>
          <a:bodyPr>
            <a:spAutoFit/>
          </a:bodyPr>
          <a:p>
            <a:r>
              <a:rPr lang="en-US" altLang="zh-CN" sz="1800" dirty="0">
                <a:solidFill>
                  <a:schemeClr val="bg1"/>
                </a:solidFill>
                <a:latin typeface="Arial" panose="020B0604020202020204" pitchFamily="34" charset="0"/>
              </a:rPr>
              <a:t>scala&gt; val myNumFunc: Int=&gt;Int = (num: Int) =&gt; num * 2 </a:t>
            </a:r>
            <a:endParaRPr lang="en-US"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myNumFunc: Int =&gt; Int = &lt;function1&gt; </a:t>
            </a:r>
            <a:r>
              <a:rPr lang="en-US" altLang="zh-CN" sz="1800" i="1" dirty="0">
                <a:solidFill>
                  <a:schemeClr val="bg1"/>
                </a:solidFill>
                <a:latin typeface="Arial" panose="020B0604020202020204" pitchFamily="34" charset="0"/>
              </a:rPr>
              <a:t>//</a:t>
            </a:r>
            <a:r>
              <a:rPr lang="zh-CN" altLang="en-US" sz="1800" i="1" dirty="0">
                <a:solidFill>
                  <a:schemeClr val="bg1"/>
                </a:solidFill>
                <a:latin typeface="Arial" panose="020B0604020202020204" pitchFamily="34" charset="0"/>
              </a:rPr>
              <a:t>这行是执行返回的结果</a:t>
            </a:r>
            <a:endParaRPr lang="zh-CN" altLang="en-US"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scala&gt; println(myNumFunc(3)) </a:t>
            </a:r>
            <a:endParaRPr lang="en-US" altLang="zh-CN" sz="1800" dirty="0">
              <a:solidFill>
                <a:schemeClr val="bg1"/>
              </a:solidFill>
              <a:latin typeface="Arial" panose="020B0604020202020204" pitchFamily="34" charset="0"/>
            </a:endParaRPr>
          </a:p>
          <a:p>
            <a:r>
              <a:rPr lang="en-US" altLang="zh-CN" sz="1800" i="1" dirty="0">
                <a:solidFill>
                  <a:schemeClr val="bg1"/>
                </a:solidFill>
                <a:latin typeface="Arial" panose="020B0604020202020204" pitchFamily="34" charset="0"/>
              </a:rPr>
              <a:t>//myNumFunc</a:t>
            </a:r>
            <a:r>
              <a:rPr lang="zh-CN" altLang="en-US" sz="1800" i="1" dirty="0">
                <a:solidFill>
                  <a:schemeClr val="bg1"/>
                </a:solidFill>
                <a:latin typeface="Arial" panose="020B0604020202020204" pitchFamily="34" charset="0"/>
              </a:rPr>
              <a:t>函数调用的时候，需要给出参数的值，这里传入</a:t>
            </a:r>
            <a:r>
              <a:rPr lang="en-US" altLang="zh-CN" sz="1800" i="1" dirty="0">
                <a:solidFill>
                  <a:schemeClr val="bg1"/>
                </a:solidFill>
                <a:latin typeface="Arial" panose="020B0604020202020204" pitchFamily="34" charset="0"/>
              </a:rPr>
              <a:t>3</a:t>
            </a:r>
            <a:endParaRPr lang="en-US" altLang="zh-CN" sz="1800" i="1"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6</a:t>
            </a:r>
            <a:endParaRPr lang="en-US" altLang="zh-CN" sz="1800" dirty="0">
              <a:solidFill>
                <a:schemeClr val="bg1"/>
              </a:solidFill>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p>
        </p:txBody>
      </p:sp>
      <p:sp>
        <p:nvSpPr>
          <p:cNvPr id="142339" name="矩形 2"/>
          <p:cNvSpPr/>
          <p:nvPr/>
        </p:nvSpPr>
        <p:spPr>
          <a:xfrm>
            <a:off x="685800" y="1219200"/>
            <a:ext cx="7848600" cy="829945"/>
          </a:xfrm>
          <a:prstGeom prst="rect">
            <a:avLst/>
          </a:prstGeom>
          <a:noFill/>
          <a:ln w="9525">
            <a:noFill/>
          </a:ln>
        </p:spPr>
        <p:txBody>
          <a:bodyPr>
            <a:spAutoFit/>
          </a:bodyPr>
          <a:lstStyle/>
          <a:p>
            <a:r>
              <a:rPr lang="zh-CN" altLang="en-US" sz="2400" dirty="0">
                <a:latin typeface="Arial" panose="020B0604020202020204" pitchFamily="34" charset="0"/>
              </a:rPr>
              <a:t>实际上，</a:t>
            </a:r>
            <a:r>
              <a:rPr lang="en-US" altLang="zh-CN" sz="2400" dirty="0">
                <a:latin typeface="Arial" panose="020B0604020202020204" pitchFamily="34" charset="0"/>
              </a:rPr>
              <a:t>Scala</a:t>
            </a:r>
            <a:r>
              <a:rPr lang="zh-CN" altLang="en-US" sz="2400" dirty="0">
                <a:latin typeface="Arial" panose="020B0604020202020204" pitchFamily="34" charset="0"/>
              </a:rPr>
              <a:t>具有类型推断机制，可以自动推断变量类型，比如下面两条语句都是可以的：</a:t>
            </a:r>
            <a:endParaRPr lang="zh-CN" altLang="en-US" sz="2400" dirty="0">
              <a:latin typeface="Arial" panose="020B0604020202020204" pitchFamily="34" charset="0"/>
            </a:endParaRPr>
          </a:p>
        </p:txBody>
      </p:sp>
      <p:sp>
        <p:nvSpPr>
          <p:cNvPr id="142341" name="矩形 4"/>
          <p:cNvSpPr/>
          <p:nvPr/>
        </p:nvSpPr>
        <p:spPr>
          <a:xfrm>
            <a:off x="685800" y="3124200"/>
            <a:ext cx="8001000" cy="829945"/>
          </a:xfrm>
          <a:prstGeom prst="rect">
            <a:avLst/>
          </a:prstGeom>
          <a:noFill/>
          <a:ln w="9525">
            <a:noFill/>
          </a:ln>
        </p:spPr>
        <p:txBody>
          <a:bodyPr>
            <a:spAutoFit/>
          </a:bodyPr>
          <a:lstStyle/>
          <a:p>
            <a:r>
              <a:rPr lang="zh-CN" altLang="en-US" sz="2400" dirty="0">
                <a:latin typeface="Arial" panose="020B0604020202020204" pitchFamily="34" charset="0"/>
              </a:rPr>
              <a:t>所以，上面的定义中，可以</a:t>
            </a:r>
            <a:r>
              <a:rPr lang="en-US" altLang="zh-CN" sz="2400" dirty="0">
                <a:latin typeface="Arial" panose="020B0604020202020204" pitchFamily="34" charset="0"/>
              </a:rPr>
              <a:t>myNumFunc</a:t>
            </a:r>
            <a:r>
              <a:rPr lang="zh-CN" altLang="en-US" sz="2400" dirty="0">
                <a:latin typeface="Arial" panose="020B0604020202020204" pitchFamily="34" charset="0"/>
              </a:rPr>
              <a:t>的类型声明，也就是去掉“</a:t>
            </a:r>
            <a:r>
              <a:rPr lang="en-US" altLang="zh-CN" sz="2400" dirty="0">
                <a:latin typeface="Arial" panose="020B0604020202020204" pitchFamily="34" charset="0"/>
              </a:rPr>
              <a:t>Int=&gt;Int”</a:t>
            </a:r>
            <a:endParaRPr lang="zh-CN" altLang="en-US" sz="2400" dirty="0">
              <a:latin typeface="Arial" panose="020B0604020202020204" pitchFamily="34" charset="0"/>
            </a:endParaRPr>
          </a:p>
        </p:txBody>
      </p:sp>
      <p:sp>
        <p:nvSpPr>
          <p:cNvPr id="7" name="TextBox 6"/>
          <p:cNvSpPr txBox="1"/>
          <p:nvPr/>
        </p:nvSpPr>
        <p:spPr>
          <a:xfrm>
            <a:off x="838200" y="2209800"/>
            <a:ext cx="7239000" cy="706755"/>
          </a:xfrm>
          <a:prstGeom prst="rect">
            <a:avLst/>
          </a:prstGeom>
          <a:solidFill>
            <a:schemeClr val="bg1">
              <a:lumMod val="85000"/>
            </a:schemeClr>
          </a:solidFill>
        </p:spPr>
        <p:txBody>
          <a:bodyPr>
            <a:spAutoFit/>
          </a:bodyPr>
          <a:lstStyle/>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2000" kern="1200" cap="none" spc="0" normalizeH="0" baseline="0" noProof="0" dirty="0">
                <a:latin typeface="Arial" panose="020B0604020202020204" pitchFamily="34" charset="0"/>
                <a:ea typeface="宋体" panose="02010600030101010101" pitchFamily="2" charset="-122"/>
                <a:cs typeface="+mn-cs"/>
              </a:rPr>
              <a:t> number: </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2000" kern="1200" cap="none" spc="0" normalizeH="0" baseline="0" noProof="0" dirty="0">
                <a:latin typeface="Arial" panose="020B0604020202020204" pitchFamily="34" charset="0"/>
                <a:ea typeface="宋体" panose="02010600030101010101" pitchFamily="2" charset="-122"/>
                <a:cs typeface="+mn-cs"/>
              </a:rPr>
              <a:t> = 5</a:t>
            </a:r>
            <a:endParaRPr kumimoji="0" lang="en-US" altLang="zh-CN" sz="20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2000" kern="1200" cap="none" spc="0" normalizeH="0" baseline="0" noProof="0" dirty="0" err="1">
                <a:latin typeface="Arial" panose="020B0604020202020204" pitchFamily="34" charset="0"/>
                <a:ea typeface="宋体" panose="02010600030101010101" pitchFamily="2" charset="-122"/>
                <a:cs typeface="+mn-cs"/>
              </a:rPr>
              <a:t>val</a:t>
            </a:r>
            <a:r>
              <a:rPr kumimoji="0" lang="en-US" altLang="zh-CN" sz="2000" kern="1200" cap="none" spc="0" normalizeH="0" baseline="0" noProof="0" dirty="0">
                <a:latin typeface="Arial" panose="020B0604020202020204" pitchFamily="34" charset="0"/>
                <a:ea typeface="宋体" panose="02010600030101010101" pitchFamily="2" charset="-122"/>
                <a:cs typeface="+mn-cs"/>
              </a:rPr>
              <a:t> number =5 //</a:t>
            </a:r>
            <a:r>
              <a:rPr kumimoji="0" lang="zh-CN" altLang="en-US" sz="2000" kern="1200" cap="none" spc="0" normalizeH="0" baseline="0" noProof="0" dirty="0">
                <a:latin typeface="Arial" panose="020B0604020202020204" pitchFamily="34" charset="0"/>
                <a:ea typeface="宋体" panose="02010600030101010101" pitchFamily="2" charset="-122"/>
                <a:cs typeface="+mn-cs"/>
              </a:rPr>
              <a:t>省略</a:t>
            </a:r>
            <a:r>
              <a:rPr kumimoji="0" lang="en-US" altLang="zh-CN" sz="2000" kern="1200" cap="none" spc="0" normalizeH="0" baseline="0" noProof="0" dirty="0" err="1">
                <a:latin typeface="Arial" panose="020B0604020202020204" pitchFamily="34" charset="0"/>
                <a:ea typeface="宋体" panose="02010600030101010101" pitchFamily="2" charset="-122"/>
                <a:cs typeface="+mn-cs"/>
              </a:rPr>
              <a:t>Int</a:t>
            </a:r>
            <a:r>
              <a:rPr kumimoji="0" lang="zh-CN" altLang="en-US" sz="2000" kern="1200" cap="none" spc="0" normalizeH="0" baseline="0" noProof="0" dirty="0">
                <a:latin typeface="Arial" panose="020B0604020202020204" pitchFamily="34" charset="0"/>
                <a:ea typeface="宋体" panose="02010600030101010101" pitchFamily="2" charset="-122"/>
                <a:cs typeface="+mn-cs"/>
              </a:rPr>
              <a:t>类型声明</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8" name="TextBox 7"/>
          <p:cNvSpPr txBox="1"/>
          <p:nvPr/>
        </p:nvSpPr>
        <p:spPr>
          <a:xfrm>
            <a:off x="787400" y="3932555"/>
            <a:ext cx="7239000" cy="1630045"/>
          </a:xfrm>
          <a:prstGeom prst="rect">
            <a:avLst/>
          </a:prstGeom>
          <a:solidFill>
            <a:schemeClr val="tx1"/>
          </a:solidFill>
          <a:ln w="9525">
            <a:noFill/>
          </a:ln>
        </p:spPr>
        <p:txBody>
          <a:bodyPr>
            <a:spAutoFit/>
          </a:bodyPr>
          <a:lstStyle/>
          <a:p>
            <a:r>
              <a:rPr lang="en-US" altLang="zh-CN" sz="2000" dirty="0">
                <a:solidFill>
                  <a:schemeClr val="bg1"/>
                </a:solidFill>
                <a:latin typeface="Arial" panose="020B0604020202020204" pitchFamily="34" charset="0"/>
              </a:rPr>
              <a:t>scala&gt; val myNumFunc = (num: Int) =&gt; num * 2</a:t>
            </a:r>
            <a:endParaRPr lang="en-US"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myNumFunc: Int =&gt; Int = &lt;function1&gt;</a:t>
            </a:r>
            <a:endParaRPr lang="en-US"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scala&gt; println(myNumFunc(3))</a:t>
            </a:r>
            <a:endParaRPr lang="en-US"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6</a:t>
            </a:r>
            <a:endParaRPr lang="en-US" altLang="zh-CN" sz="2000" dirty="0">
              <a:solidFill>
                <a:schemeClr val="bg1"/>
              </a:solidFill>
              <a:latin typeface="Arial" panose="020B0604020202020204" pitchFamily="34" charset="0"/>
            </a:endParaRPr>
          </a:p>
          <a:p>
            <a:endParaRPr lang="zh-CN" altLang="en-US" sz="2000" dirty="0">
              <a:solidFill>
                <a:schemeClr val="bg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2339"/>
                                        </p:tgtEl>
                                        <p:attrNameLst>
                                          <p:attrName>style.visibility</p:attrName>
                                        </p:attrNameLst>
                                      </p:cBhvr>
                                      <p:to>
                                        <p:strVal val="visible"/>
                                      </p:to>
                                    </p:set>
                                    <p:animEffect transition="in" filter="blinds(horizontal)">
                                      <p:cBhvr>
                                        <p:cTn id="7" dur="500"/>
                                        <p:tgtEl>
                                          <p:spTgt spid="14233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2341"/>
                                        </p:tgtEl>
                                        <p:attrNameLst>
                                          <p:attrName>style.visibility</p:attrName>
                                        </p:attrNameLst>
                                      </p:cBhvr>
                                      <p:to>
                                        <p:strVal val="visible"/>
                                      </p:to>
                                    </p:set>
                                    <p:animEffect transition="in" filter="blinds(horizontal)">
                                      <p:cBhvr>
                                        <p:cTn id="15" dur="500"/>
                                        <p:tgtEl>
                                          <p:spTgt spid="14234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p:bldP spid="142341" grpId="0"/>
      <p:bldP spid="7" grpId="0" bldLvl="0" animBg="1"/>
      <p:bldP spid="8"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p:cNvSpPr>
            <a:spLocks noGrp="1"/>
          </p:cNvSpPr>
          <p:nvPr>
            <p:ph type="title"/>
          </p:nvPr>
        </p:nvSpPr>
        <p:spPr/>
        <p:txBody>
          <a:bodyPr vert="horz" wrap="square" lIns="91440" tIns="45720" rIns="91440" bIns="45720" anchor="ctr"/>
          <a:lstStyle/>
          <a:p>
            <a:r>
              <a:rPr lang="en-US" altLang="zh-CN" dirty="0"/>
              <a:t>8.4.1 </a:t>
            </a:r>
            <a:r>
              <a:rPr lang="zh-CN" altLang="en-US" dirty="0"/>
              <a:t>函数定义与使用</a:t>
            </a:r>
            <a:endParaRPr lang="zh-CN" altLang="en-US" dirty="0">
              <a:sym typeface="宋体" panose="02010600030101010101" pitchFamily="2" charset="-122"/>
            </a:endParaRPr>
          </a:p>
        </p:txBody>
      </p:sp>
      <p:sp>
        <p:nvSpPr>
          <p:cNvPr id="146435" name="文本框 7"/>
          <p:cNvSpPr txBox="1"/>
          <p:nvPr/>
        </p:nvSpPr>
        <p:spPr>
          <a:xfrm>
            <a:off x="184150" y="1319530"/>
            <a:ext cx="8172450" cy="1014730"/>
          </a:xfrm>
          <a:prstGeom prst="rect">
            <a:avLst/>
          </a:prstGeom>
          <a:noFill/>
          <a:ln w="9525">
            <a:noFill/>
          </a:ln>
        </p:spPr>
        <p:txBody>
          <a:bodyPr wrap="square">
            <a:spAutoFit/>
          </a:bodyPr>
          <a:lstStyle/>
          <a:p>
            <a:pPr marL="342900" indent="-342900">
              <a:buFontTx/>
              <a:buChar char="•"/>
            </a:pPr>
            <a:r>
              <a:rPr lang="zh-CN" altLang="en-US" sz="2000" dirty="0">
                <a:latin typeface="宋体" panose="02010600030101010101" pitchFamily="2" charset="-122"/>
              </a:rPr>
              <a:t>当函数的每个参数在函数字面量内仅出现一次，可以省略“=&gt;”并用下划线</a:t>
            </a:r>
            <a:r>
              <a:rPr lang="en-US" altLang="zh-CN" sz="2000" dirty="0">
                <a:latin typeface="宋体" panose="02010600030101010101" pitchFamily="2" charset="-122"/>
              </a:rPr>
              <a:t>“_”</a:t>
            </a:r>
            <a:r>
              <a:rPr lang="zh-CN" altLang="en-US" sz="2000" dirty="0">
                <a:latin typeface="宋体" panose="02010600030101010101" pitchFamily="2" charset="-122"/>
              </a:rPr>
              <a:t>作为参数的占位符来简化函数字面量的表示，第一个下划线代表第一个参数，第二个下划线代表第二个参数，依此类推</a:t>
            </a:r>
            <a:endParaRPr lang="zh-CN" altLang="en-US" sz="2000" dirty="0">
              <a:latin typeface="宋体" panose="02010600030101010101" pitchFamily="2" charset="-122"/>
            </a:endParaRPr>
          </a:p>
        </p:txBody>
      </p:sp>
      <p:sp>
        <p:nvSpPr>
          <p:cNvPr id="146436" name="TextBox 4"/>
          <p:cNvSpPr txBox="1"/>
          <p:nvPr/>
        </p:nvSpPr>
        <p:spPr>
          <a:xfrm>
            <a:off x="505460" y="2334260"/>
            <a:ext cx="7802880" cy="2306955"/>
          </a:xfrm>
          <a:prstGeom prst="rect">
            <a:avLst/>
          </a:prstGeom>
          <a:solidFill>
            <a:schemeClr val="tx1"/>
          </a:solidFill>
          <a:ln w="9525">
            <a:noFill/>
          </a:ln>
        </p:spPr>
        <p:txBody>
          <a:bodyPr wrap="square">
            <a:spAutoFit/>
          </a:bodyPr>
          <a:lstStyle/>
          <a:p>
            <a:r>
              <a:rPr lang="en-US" altLang="zh-CN" sz="1600" dirty="0">
                <a:solidFill>
                  <a:schemeClr val="bg1"/>
                </a:solidFill>
                <a:latin typeface="Arial" panose="020B0604020202020204" pitchFamily="34" charset="0"/>
              </a:rPr>
              <a:t>scala&gt; val counter = (_:Int) + 1 //</a:t>
            </a:r>
            <a:r>
              <a:rPr lang="zh-CN" altLang="zh-CN" sz="1600" dirty="0">
                <a:solidFill>
                  <a:schemeClr val="bg1"/>
                </a:solidFill>
                <a:latin typeface="Arial" panose="020B0604020202020204" pitchFamily="34" charset="0"/>
              </a:rPr>
              <a:t>有类型时括号不能省略，等效于“</a:t>
            </a:r>
            <a:r>
              <a:rPr lang="en-US" altLang="zh-CN" sz="1600" dirty="0">
                <a:solidFill>
                  <a:schemeClr val="bg1"/>
                </a:solidFill>
                <a:latin typeface="Arial" panose="020B0604020202020204" pitchFamily="34" charset="0"/>
              </a:rPr>
              <a:t>x:Int=&gt;x+1</a:t>
            </a:r>
            <a:r>
              <a:rPr lang="zh-CN" altLang="zh-CN" sz="1600" dirty="0">
                <a:solidFill>
                  <a:schemeClr val="bg1"/>
                </a:solidFill>
                <a:latin typeface="Arial" panose="020B0604020202020204" pitchFamily="34" charset="0"/>
              </a:rPr>
              <a:t>”</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counter: Int =&gt; Int = &lt;function1&gt;</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val add = (_:Int) + (_:Int) //</a:t>
            </a:r>
            <a:r>
              <a:rPr lang="zh-CN" altLang="zh-CN" sz="1600" dirty="0">
                <a:solidFill>
                  <a:schemeClr val="bg1"/>
                </a:solidFill>
                <a:latin typeface="Arial" panose="020B0604020202020204" pitchFamily="34" charset="0"/>
              </a:rPr>
              <a:t>等效于“</a:t>
            </a:r>
            <a:r>
              <a:rPr lang="en-US" altLang="zh-CN" sz="1600" dirty="0">
                <a:solidFill>
                  <a:schemeClr val="bg1"/>
                </a:solidFill>
                <a:latin typeface="Arial" panose="020B0604020202020204" pitchFamily="34" charset="0"/>
              </a:rPr>
              <a:t>(a:Int,b:Int)=&gt;a+b</a:t>
            </a:r>
            <a:r>
              <a:rPr lang="zh-CN" altLang="zh-CN" sz="1600" dirty="0">
                <a:solidFill>
                  <a:schemeClr val="bg1"/>
                </a:solidFill>
                <a:latin typeface="Arial" panose="020B0604020202020204" pitchFamily="34" charset="0"/>
              </a:rPr>
              <a:t>”</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add: (Int, Int) =&gt; Int = &lt;function2&gt;</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 val m1=List(1,2,3)</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m1: List[Int] = List(1, 2, 3)</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scala&gt;val m2=m1.map(_*2)//map</a:t>
            </a:r>
            <a:r>
              <a:rPr lang="zh-CN" altLang="zh-CN" sz="1600" dirty="0">
                <a:solidFill>
                  <a:schemeClr val="bg1"/>
                </a:solidFill>
                <a:latin typeface="Arial" panose="020B0604020202020204" pitchFamily="34" charset="0"/>
              </a:rPr>
              <a:t>接受一个函数作为参数，相当于“</a:t>
            </a:r>
            <a:r>
              <a:rPr lang="en-US" altLang="zh-CN" sz="1600" dirty="0">
                <a:solidFill>
                  <a:schemeClr val="bg1"/>
                </a:solidFill>
                <a:latin typeface="Arial" panose="020B0604020202020204" pitchFamily="34" charset="0"/>
              </a:rPr>
              <a:t>m1.map(x=&gt;x*2)</a:t>
            </a:r>
            <a:r>
              <a:rPr lang="zh-CN" altLang="zh-CN" sz="1600" dirty="0">
                <a:solidFill>
                  <a:schemeClr val="bg1"/>
                </a:solidFill>
                <a:latin typeface="Arial" panose="020B0604020202020204" pitchFamily="34" charset="0"/>
              </a:rPr>
              <a:t>”，参数的类型可以根据</a:t>
            </a:r>
            <a:r>
              <a:rPr lang="en-US" altLang="zh-CN" sz="1600" dirty="0">
                <a:solidFill>
                  <a:schemeClr val="bg1"/>
                </a:solidFill>
                <a:latin typeface="Arial" panose="020B0604020202020204" pitchFamily="34" charset="0"/>
              </a:rPr>
              <a:t>m1</a:t>
            </a:r>
            <a:r>
              <a:rPr lang="zh-CN" altLang="zh-CN" sz="1600" dirty="0">
                <a:solidFill>
                  <a:schemeClr val="bg1"/>
                </a:solidFill>
                <a:latin typeface="Arial" panose="020B0604020202020204" pitchFamily="34" charset="0"/>
              </a:rPr>
              <a:t>的元素类型推断出，所以可以省略。</a:t>
            </a:r>
            <a:endParaRPr lang="zh-CN" altLang="zh-CN" sz="1600" dirty="0">
              <a:solidFill>
                <a:schemeClr val="bg1"/>
              </a:solidFill>
              <a:latin typeface="Arial" panose="020B0604020202020204" pitchFamily="34" charset="0"/>
            </a:endParaRPr>
          </a:p>
          <a:p>
            <a:r>
              <a:rPr lang="en-US" altLang="zh-CN" sz="1600" dirty="0">
                <a:solidFill>
                  <a:schemeClr val="bg1"/>
                </a:solidFill>
                <a:latin typeface="Arial" panose="020B0604020202020204" pitchFamily="34" charset="0"/>
              </a:rPr>
              <a:t>m2: List[Int] = List(2, 4, 6)</a:t>
            </a:r>
            <a:endParaRPr lang="en-US" altLang="zh-CN" sz="1600" dirty="0">
              <a:solidFill>
                <a:schemeClr val="bg1"/>
              </a:solidFill>
              <a:latin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标题 1"/>
          <p:cNvSpPr>
            <a:spLocks noGrp="1"/>
          </p:cNvSpPr>
          <p:nvPr>
            <p:ph type="title"/>
          </p:nvPr>
        </p:nvSpPr>
        <p:spPr/>
        <p:txBody>
          <a:bodyPr vert="horz" wrap="square" lIns="91440" tIns="45720" rIns="91440" bIns="45720" anchor="ctr"/>
          <a:lstStyle/>
          <a:p>
            <a:r>
              <a:rPr lang="en-US" altLang="zh-CN" dirty="0"/>
              <a:t>8.4.2 </a:t>
            </a:r>
            <a:r>
              <a:rPr lang="zh-CN" altLang="en-US" dirty="0"/>
              <a:t>高阶函数</a:t>
            </a:r>
            <a:endParaRPr lang="zh-CN" altLang="en-US" dirty="0"/>
          </a:p>
        </p:txBody>
      </p:sp>
      <p:sp>
        <p:nvSpPr>
          <p:cNvPr id="146435" name="文本框 7"/>
          <p:cNvSpPr txBox="1"/>
          <p:nvPr/>
        </p:nvSpPr>
        <p:spPr>
          <a:xfrm>
            <a:off x="184150" y="1319530"/>
            <a:ext cx="8172450" cy="768350"/>
          </a:xfrm>
          <a:prstGeom prst="rect">
            <a:avLst/>
          </a:prstGeom>
          <a:noFill/>
          <a:ln w="9525">
            <a:noFill/>
          </a:ln>
        </p:spPr>
        <p:txBody>
          <a:bodyPr wrap="square">
            <a:spAutoFit/>
          </a:bodyPr>
          <a:lstStyle/>
          <a:p>
            <a:pPr marL="342900" indent="-342900">
              <a:buFontTx/>
              <a:buChar char="•"/>
            </a:pPr>
            <a:r>
              <a:rPr lang="zh-CN" altLang="zh-CN" sz="2000" dirty="0">
                <a:latin typeface="宋体" panose="02010600030101010101" pitchFamily="2" charset="-122"/>
              </a:rPr>
              <a:t>高阶函数</a:t>
            </a:r>
            <a:r>
              <a:rPr lang="zh-CN" altLang="zh-CN" sz="2400" dirty="0">
                <a:latin typeface="宋体" panose="02010600030101010101" pitchFamily="2" charset="-122"/>
              </a:rPr>
              <a:t>：</a:t>
            </a:r>
            <a:r>
              <a:rPr lang="zh-CN" altLang="zh-CN" sz="2000" dirty="0">
                <a:latin typeface="宋体" panose="02010600030101010101" pitchFamily="2" charset="-122"/>
              </a:rPr>
              <a:t>当一个函数包含其它函数作为其参数或者返回结果为一个函数时，该函数被称为</a:t>
            </a:r>
            <a:r>
              <a:rPr lang="zh-CN" altLang="zh-CN" sz="2000" dirty="0">
                <a:solidFill>
                  <a:srgbClr val="FF0000"/>
                </a:solidFill>
                <a:latin typeface="宋体" panose="02010600030101010101" pitchFamily="2" charset="-122"/>
              </a:rPr>
              <a:t>高阶函数</a:t>
            </a:r>
            <a:endParaRPr lang="zh-CN" altLang="zh-CN" sz="2000" dirty="0">
              <a:solidFill>
                <a:srgbClr val="FF0000"/>
              </a:solidFill>
              <a:latin typeface="宋体" panose="02010600030101010101" pitchFamily="2" charset="-122"/>
            </a:endParaRPr>
          </a:p>
        </p:txBody>
      </p:sp>
      <p:sp>
        <p:nvSpPr>
          <p:cNvPr id="2" name="文本框 1"/>
          <p:cNvSpPr txBox="1"/>
          <p:nvPr/>
        </p:nvSpPr>
        <p:spPr>
          <a:xfrm>
            <a:off x="534988" y="2209800"/>
            <a:ext cx="7542212" cy="706755"/>
          </a:xfrm>
          <a:prstGeom prst="rect">
            <a:avLst/>
          </a:prstGeom>
          <a:noFill/>
          <a:ln w="9525">
            <a:noFill/>
          </a:ln>
        </p:spPr>
        <p:txBody>
          <a:bodyPr>
            <a:spAutoFit/>
          </a:bodyPr>
          <a:lstStyle/>
          <a:p>
            <a:r>
              <a:rPr lang="zh-CN" altLang="zh-CN" sz="2000" dirty="0">
                <a:latin typeface="宋体" panose="02010600030101010101" pitchFamily="2" charset="-122"/>
              </a:rPr>
              <a:t>例：假设需要分别计算从一个整数到另一个整数的“连加和”、“平方和”以及“2的幂次和”</a:t>
            </a:r>
            <a:endParaRPr lang="zh-CN" altLang="zh-CN" sz="2000" dirty="0">
              <a:latin typeface="宋体" panose="02010600030101010101" pitchFamily="2" charset="-122"/>
            </a:endParaRPr>
          </a:p>
        </p:txBody>
      </p:sp>
      <p:sp>
        <p:nvSpPr>
          <p:cNvPr id="4" name="文本框 3"/>
          <p:cNvSpPr txBox="1"/>
          <p:nvPr/>
        </p:nvSpPr>
        <p:spPr>
          <a:xfrm>
            <a:off x="533400" y="2971800"/>
            <a:ext cx="3001963" cy="368300"/>
          </a:xfrm>
          <a:prstGeom prst="rect">
            <a:avLst/>
          </a:prstGeom>
          <a:noFill/>
          <a:ln w="9525">
            <a:noFill/>
          </a:ln>
        </p:spPr>
        <p:txBody>
          <a:bodyPr>
            <a:spAutoFit/>
          </a:bodyPr>
          <a:lstStyle/>
          <a:p>
            <a:r>
              <a:rPr lang="zh-CN" altLang="zh-CN" dirty="0">
                <a:latin typeface="宋体" panose="02010600030101010101" pitchFamily="2" charset="-122"/>
              </a:rPr>
              <a:t>方案一：不采用高阶函数</a:t>
            </a:r>
            <a:endParaRPr lang="zh-CN" altLang="zh-CN" dirty="0">
              <a:latin typeface="宋体" panose="02010600030101010101" pitchFamily="2" charset="-122"/>
            </a:endParaRPr>
          </a:p>
        </p:txBody>
      </p:sp>
      <p:sp>
        <p:nvSpPr>
          <p:cNvPr id="7" name="TextBox 6"/>
          <p:cNvSpPr txBox="1"/>
          <p:nvPr/>
        </p:nvSpPr>
        <p:spPr>
          <a:xfrm>
            <a:off x="609600" y="3462655"/>
            <a:ext cx="7717155" cy="2553335"/>
          </a:xfrm>
          <a:prstGeom prst="rect">
            <a:avLst/>
          </a:prstGeom>
          <a:solidFill>
            <a:schemeClr val="bg1">
              <a:lumMod val="95000"/>
            </a:schemeClr>
          </a:solidFill>
        </p:spPr>
        <p:txBody>
          <a:bodyPr wrap="square">
            <a:spAutoFit/>
          </a:bodyPr>
          <a:lstStyle/>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def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powerOfTwo</a:t>
            </a:r>
            <a:r>
              <a:rPr kumimoji="0" lang="en-US" altLang="zh-CN" sz="1600" kern="1200" cap="none" spc="0" normalizeH="0" baseline="0" noProof="0" dirty="0">
                <a:latin typeface="Arial" panose="020B0604020202020204" pitchFamily="34" charset="0"/>
                <a:ea typeface="宋体" panose="02010600030101010101" pitchFamily="2" charset="-122"/>
                <a:cs typeface="+mn-cs"/>
              </a:rPr>
              <a:t>(x: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 {if(x == 0) 1 else 2 *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powerOfTwo</a:t>
            </a:r>
            <a:r>
              <a:rPr kumimoji="0" lang="en-US" altLang="zh-CN" sz="1600" kern="1200" cap="none" spc="0" normalizeH="0" baseline="0" noProof="0" dirty="0">
                <a:latin typeface="Arial" panose="020B0604020202020204" pitchFamily="34" charset="0"/>
                <a:ea typeface="宋体" panose="02010600030101010101" pitchFamily="2" charset="-122"/>
                <a:cs typeface="+mn-cs"/>
              </a:rPr>
              <a:t>(x-1)}</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def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sumInts</a:t>
            </a:r>
            <a:r>
              <a:rPr kumimoji="0" lang="en-US" altLang="zh-CN" sz="1600" kern="1200" cap="none" spc="0" normalizeH="0" baseline="0" noProof="0" dirty="0">
                <a:latin typeface="Arial" panose="020B0604020202020204" pitchFamily="34" charset="0"/>
                <a:ea typeface="宋体" panose="02010600030101010101" pitchFamily="2" charset="-122"/>
                <a:cs typeface="+mn-cs"/>
              </a:rPr>
              <a:t>(a: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b: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if(a &gt; b) 0 else a +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sumInts</a:t>
            </a:r>
            <a:r>
              <a:rPr kumimoji="0" lang="en-US" altLang="zh-CN" sz="1600" kern="1200" cap="none" spc="0" normalizeH="0" baseline="0" noProof="0" dirty="0">
                <a:latin typeface="Arial" panose="020B0604020202020204" pitchFamily="34" charset="0"/>
                <a:ea typeface="宋体" panose="02010600030101010101" pitchFamily="2" charset="-122"/>
                <a:cs typeface="+mn-cs"/>
              </a:rPr>
              <a:t>(a + 1, b)</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def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sumSquares</a:t>
            </a:r>
            <a:r>
              <a:rPr kumimoji="0" lang="en-US" altLang="zh-CN" sz="1600" kern="1200" cap="none" spc="0" normalizeH="0" baseline="0" noProof="0" dirty="0">
                <a:latin typeface="Arial" panose="020B0604020202020204" pitchFamily="34" charset="0"/>
                <a:ea typeface="宋体" panose="02010600030101010101" pitchFamily="2" charset="-122"/>
                <a:cs typeface="+mn-cs"/>
              </a:rPr>
              <a:t>(a: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b: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if(a &gt; b) 0 else a*a +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sumSquares</a:t>
            </a:r>
            <a:r>
              <a:rPr kumimoji="0" lang="en-US" altLang="zh-CN" sz="1600" kern="1200" cap="none" spc="0" normalizeH="0" baseline="0" noProof="0" dirty="0">
                <a:latin typeface="Arial" panose="020B0604020202020204" pitchFamily="34" charset="0"/>
                <a:ea typeface="宋体" panose="02010600030101010101" pitchFamily="2" charset="-122"/>
                <a:cs typeface="+mn-cs"/>
              </a:rPr>
              <a:t>(a + 1, b)</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def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sumPowersOfTwo</a:t>
            </a:r>
            <a:r>
              <a:rPr kumimoji="0" lang="en-US" altLang="zh-CN" sz="1600" kern="1200" cap="none" spc="0" normalizeH="0" baseline="0" noProof="0" dirty="0">
                <a:latin typeface="Arial" panose="020B0604020202020204" pitchFamily="34" charset="0"/>
                <a:ea typeface="宋体" panose="02010600030101010101" pitchFamily="2" charset="-122"/>
                <a:cs typeface="+mn-cs"/>
              </a:rPr>
              <a:t>(a: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b: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Int</a:t>
            </a:r>
            <a:r>
              <a:rPr kumimoji="0" lang="en-US" altLang="zh-CN" sz="1600" kern="1200" cap="none" spc="0" normalizeH="0" baseline="0" noProof="0" dirty="0">
                <a:latin typeface="Arial" panose="020B0604020202020204" pitchFamily="34" charset="0"/>
                <a:ea typeface="宋体" panose="02010600030101010101" pitchFamily="2" charset="-122"/>
                <a:cs typeface="+mn-cs"/>
              </a:rPr>
              <a:t> = {</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		if(a &gt; b) 0 else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powerOfTwo</a:t>
            </a:r>
            <a:r>
              <a:rPr kumimoji="0" lang="en-US" altLang="zh-CN" sz="1600" kern="1200" cap="none" spc="0" normalizeH="0" baseline="0" noProof="0" dirty="0">
                <a:latin typeface="Arial" panose="020B0604020202020204" pitchFamily="34" charset="0"/>
                <a:ea typeface="宋体" panose="02010600030101010101" pitchFamily="2" charset="-122"/>
                <a:cs typeface="+mn-cs"/>
              </a:rPr>
              <a:t>(a) + </a:t>
            </a:r>
            <a:r>
              <a:rPr kumimoji="0" lang="en-US" altLang="zh-CN" sz="1600" kern="1200" cap="none" spc="0" normalizeH="0" baseline="0" noProof="0" dirty="0" err="1">
                <a:latin typeface="Arial" panose="020B0604020202020204" pitchFamily="34" charset="0"/>
                <a:ea typeface="宋体" panose="02010600030101010101" pitchFamily="2" charset="-122"/>
                <a:cs typeface="+mn-cs"/>
              </a:rPr>
              <a:t>sumPowersOfTwo</a:t>
            </a:r>
            <a:r>
              <a:rPr kumimoji="0" lang="en-US" altLang="zh-CN" sz="1600" kern="1200" cap="none" spc="0" normalizeH="0" baseline="0" noProof="0" dirty="0">
                <a:latin typeface="Arial" panose="020B0604020202020204" pitchFamily="34" charset="0"/>
                <a:ea typeface="宋体" panose="02010600030101010101" pitchFamily="2" charset="-122"/>
                <a:cs typeface="+mn-cs"/>
              </a:rPr>
              <a:t>(a+1, b)</a:t>
            </a:r>
            <a:endParaRPr kumimoji="0" lang="zh-CN" altLang="zh-CN" sz="1600"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sz="1600" kern="1200" cap="none" spc="0" normalizeH="0" baseline="0" noProof="0" dirty="0">
                <a:latin typeface="Arial" panose="020B0604020202020204" pitchFamily="34" charset="0"/>
                <a:ea typeface="宋体" panose="02010600030101010101" pitchFamily="2" charset="-122"/>
                <a:cs typeface="+mn-cs"/>
              </a:rPr>
              <a:t>}</a:t>
            </a:r>
            <a:endParaRPr kumimoji="0" lang="en-US" altLang="zh-CN" sz="16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6435"/>
                                        </p:tgtEl>
                                        <p:attrNameLst>
                                          <p:attrName>style.visibility</p:attrName>
                                        </p:attrNameLst>
                                      </p:cBhvr>
                                      <p:to>
                                        <p:strVal val="visible"/>
                                      </p:to>
                                    </p:set>
                                    <p:animEffect transition="in" filter="blinds(horizontal)">
                                      <p:cBhvr>
                                        <p:cTn id="7" dur="500"/>
                                        <p:tgtEl>
                                          <p:spTgt spid="1464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p:bldP spid="2" grpId="0"/>
      <p:bldP spid="4" grpId="0"/>
      <p:bldP spid="7"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标题 1"/>
          <p:cNvSpPr>
            <a:spLocks noGrp="1"/>
          </p:cNvSpPr>
          <p:nvPr>
            <p:ph type="title"/>
          </p:nvPr>
        </p:nvSpPr>
        <p:spPr/>
        <p:txBody>
          <a:bodyPr vert="horz" wrap="square" lIns="91440" tIns="45720" rIns="91440" bIns="45720" anchor="ctr"/>
          <a:lstStyle/>
          <a:p>
            <a:r>
              <a:rPr lang="en-US" altLang="zh-CN" dirty="0"/>
              <a:t>8.4.2 </a:t>
            </a:r>
            <a:r>
              <a:rPr lang="zh-CN" altLang="en-US" dirty="0"/>
              <a:t>高阶函数</a:t>
            </a:r>
            <a:endParaRPr lang="zh-CN" altLang="en-US" dirty="0">
              <a:sym typeface="宋体" panose="02010600030101010101" pitchFamily="2" charset="-122"/>
            </a:endParaRPr>
          </a:p>
        </p:txBody>
      </p:sp>
      <p:sp>
        <p:nvSpPr>
          <p:cNvPr id="148483" name="文本框 3"/>
          <p:cNvSpPr txBox="1"/>
          <p:nvPr/>
        </p:nvSpPr>
        <p:spPr>
          <a:xfrm>
            <a:off x="730250" y="1905000"/>
            <a:ext cx="3003550" cy="368300"/>
          </a:xfrm>
          <a:prstGeom prst="rect">
            <a:avLst/>
          </a:prstGeom>
          <a:noFill/>
          <a:ln w="9525">
            <a:noFill/>
          </a:ln>
        </p:spPr>
        <p:txBody>
          <a:bodyPr>
            <a:spAutoFit/>
          </a:bodyPr>
          <a:lstStyle/>
          <a:p>
            <a:r>
              <a:rPr lang="zh-CN" altLang="zh-CN" b="1" dirty="0">
                <a:latin typeface="宋体" panose="02010600030101010101" pitchFamily="2" charset="-122"/>
              </a:rPr>
              <a:t>方案二：采用高阶函数</a:t>
            </a:r>
            <a:endParaRPr lang="zh-CN" altLang="zh-CN" b="1" dirty="0">
              <a:latin typeface="宋体" panose="02010600030101010101" pitchFamily="2" charset="-122"/>
            </a:endParaRPr>
          </a:p>
        </p:txBody>
      </p:sp>
      <p:sp>
        <p:nvSpPr>
          <p:cNvPr id="7" name="TextBox 6"/>
          <p:cNvSpPr txBox="1"/>
          <p:nvPr/>
        </p:nvSpPr>
        <p:spPr>
          <a:xfrm>
            <a:off x="838200" y="2616200"/>
            <a:ext cx="7315200" cy="922020"/>
          </a:xfrm>
          <a:prstGeom prst="rect">
            <a:avLst/>
          </a:prstGeom>
          <a:solidFill>
            <a:schemeClr val="bg1">
              <a:lumMod val="85000"/>
            </a:schemeClr>
          </a:solidFill>
        </p:spPr>
        <p:txBody>
          <a:bodyPr>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def sum(f: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=&gt;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a: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b: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 {</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	if(a &gt; b) 0 else f(a) + sum(f, a+1, b)</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8" name="TextBox 7"/>
          <p:cNvSpPr txBox="1"/>
          <p:nvPr/>
        </p:nvSpPr>
        <p:spPr>
          <a:xfrm>
            <a:off x="838200" y="4064000"/>
            <a:ext cx="7239000" cy="2030095"/>
          </a:xfrm>
          <a:prstGeom prst="rect">
            <a:avLst/>
          </a:prstGeom>
          <a:solidFill>
            <a:schemeClr val="bg1">
              <a:lumMod val="85000"/>
            </a:schemeClr>
          </a:solidFill>
        </p:spPr>
        <p:txBody>
          <a:bodyPr>
            <a:spAutoFit/>
          </a:bodyPr>
          <a:lstStyle/>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&gt; sum(x=&gt;x,1,5) //</a:t>
            </a:r>
            <a:r>
              <a:rPr kumimoji="0" lang="zh-CN" altLang="zh-CN" kern="1200" cap="none" spc="0" normalizeH="0" baseline="0" noProof="0" dirty="0">
                <a:latin typeface="Arial" panose="020B0604020202020204" pitchFamily="34" charset="0"/>
                <a:ea typeface="宋体" panose="02010600030101010101" pitchFamily="2" charset="-122"/>
                <a:cs typeface="+mn-cs"/>
              </a:rPr>
              <a:t>直接传入一个匿名函数</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a:t>
            </a:r>
            <a:r>
              <a:rPr kumimoji="0" lang="zh-CN" altLang="zh-CN" kern="1200" cap="none" spc="0" normalizeH="0" baseline="0" noProof="0" dirty="0">
                <a:latin typeface="Arial" panose="020B0604020202020204" pitchFamily="34" charset="0"/>
                <a:ea typeface="宋体" panose="02010600030101010101" pitchFamily="2" charset="-122"/>
                <a:cs typeface="+mn-cs"/>
              </a:rPr>
              <a:t>且省略了参数</a:t>
            </a:r>
            <a:r>
              <a:rPr kumimoji="0" lang="en-US" altLang="zh-CN" kern="1200" cap="none" spc="0" normalizeH="0" baseline="0" noProof="0" dirty="0">
                <a:latin typeface="Arial" panose="020B0604020202020204" pitchFamily="34" charset="0"/>
                <a:ea typeface="宋体" panose="02010600030101010101" pitchFamily="2" charset="-122"/>
                <a:cs typeface="+mn-cs"/>
              </a:rPr>
              <a:t>x</a:t>
            </a:r>
            <a:r>
              <a:rPr kumimoji="0" lang="zh-CN" altLang="zh-CN" kern="1200" cap="none" spc="0" normalizeH="0" baseline="0" noProof="0" dirty="0">
                <a:latin typeface="Arial" panose="020B0604020202020204" pitchFamily="34" charset="0"/>
                <a:ea typeface="宋体" panose="02010600030101010101" pitchFamily="2" charset="-122"/>
                <a:cs typeface="+mn-cs"/>
              </a:rPr>
              <a:t>的类型，因为可以由</a:t>
            </a:r>
            <a:r>
              <a:rPr kumimoji="0" lang="en-US" altLang="zh-CN" kern="1200" cap="none" spc="0" normalizeH="0" baseline="0" noProof="0" dirty="0">
                <a:latin typeface="Arial" panose="020B0604020202020204" pitchFamily="34" charset="0"/>
                <a:ea typeface="宋体" panose="02010600030101010101" pitchFamily="2" charset="-122"/>
                <a:cs typeface="+mn-cs"/>
              </a:rPr>
              <a:t>sum</a:t>
            </a:r>
            <a:r>
              <a:rPr kumimoji="0" lang="zh-CN" altLang="zh-CN" kern="1200" cap="none" spc="0" normalizeH="0" baseline="0" noProof="0" dirty="0">
                <a:latin typeface="Arial" panose="020B0604020202020204" pitchFamily="34" charset="0"/>
                <a:ea typeface="宋体" panose="02010600030101010101" pitchFamily="2" charset="-122"/>
                <a:cs typeface="+mn-cs"/>
              </a:rPr>
              <a:t>的参数类型推断出来</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res8: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 15</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&gt; sum(x=&gt;x*x,1,5) //</a:t>
            </a:r>
            <a:r>
              <a:rPr kumimoji="0" lang="zh-CN" altLang="zh-CN" kern="1200" cap="none" spc="0" normalizeH="0" baseline="0" noProof="0" dirty="0">
                <a:latin typeface="Arial" panose="020B0604020202020204" pitchFamily="34" charset="0"/>
                <a:ea typeface="宋体" panose="02010600030101010101" pitchFamily="2" charset="-122"/>
                <a:cs typeface="+mn-cs"/>
              </a:rPr>
              <a:t>直接传入另一个匿名函数</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res9: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 55</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err="1">
                <a:latin typeface="Arial" panose="020B0604020202020204" pitchFamily="34" charset="0"/>
                <a:ea typeface="宋体" panose="02010600030101010101" pitchFamily="2" charset="-122"/>
                <a:cs typeface="+mn-cs"/>
              </a:rPr>
              <a:t>scala</a:t>
            </a:r>
            <a:r>
              <a:rPr kumimoji="0" lang="en-US" altLang="zh-CN" kern="1200" cap="none" spc="0" normalizeH="0" baseline="0" noProof="0" dirty="0">
                <a:latin typeface="Arial" panose="020B0604020202020204" pitchFamily="34" charset="0"/>
                <a:ea typeface="宋体" panose="02010600030101010101" pitchFamily="2" charset="-122"/>
                <a:cs typeface="+mn-cs"/>
              </a:rPr>
              <a:t>&gt; sum(powerOfTwo,1,5) //</a:t>
            </a:r>
            <a:r>
              <a:rPr kumimoji="0" lang="zh-CN" altLang="zh-CN" kern="1200" cap="none" spc="0" normalizeH="0" baseline="0" noProof="0" dirty="0">
                <a:latin typeface="Arial" panose="020B0604020202020204" pitchFamily="34" charset="0"/>
                <a:ea typeface="宋体" panose="02010600030101010101" pitchFamily="2" charset="-122"/>
                <a:cs typeface="+mn-cs"/>
              </a:rPr>
              <a:t>传入一个已经定义好的方法</a:t>
            </a:r>
            <a:endParaRPr kumimoji="0" lang="zh-CN" altLang="zh-CN"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res10: </a:t>
            </a:r>
            <a:r>
              <a:rPr kumimoji="0" lang="en-US" altLang="zh-CN" kern="1200" cap="none" spc="0" normalizeH="0" baseline="0" noProof="0" dirty="0" err="1">
                <a:latin typeface="Arial" panose="020B0604020202020204" pitchFamily="34" charset="0"/>
                <a:ea typeface="宋体" panose="02010600030101010101" pitchFamily="2" charset="-122"/>
                <a:cs typeface="+mn-cs"/>
              </a:rPr>
              <a:t>Int</a:t>
            </a:r>
            <a:r>
              <a:rPr kumimoji="0" lang="en-US" altLang="zh-CN" kern="1200" cap="none" spc="0" normalizeH="0" baseline="0" noProof="0" dirty="0">
                <a:latin typeface="Arial" panose="020B0604020202020204" pitchFamily="34" charset="0"/>
                <a:ea typeface="宋体" panose="02010600030101010101" pitchFamily="2" charset="-122"/>
                <a:cs typeface="+mn-cs"/>
              </a:rPr>
              <a:t> = 62</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148486" name="文本框 1"/>
          <p:cNvSpPr txBox="1"/>
          <p:nvPr/>
        </p:nvSpPr>
        <p:spPr>
          <a:xfrm>
            <a:off x="687388" y="1143000"/>
            <a:ext cx="7542212" cy="706755"/>
          </a:xfrm>
          <a:prstGeom prst="rect">
            <a:avLst/>
          </a:prstGeom>
          <a:noFill/>
          <a:ln w="9525">
            <a:noFill/>
          </a:ln>
        </p:spPr>
        <p:txBody>
          <a:bodyPr>
            <a:spAutoFit/>
          </a:bodyPr>
          <a:lstStyle/>
          <a:p>
            <a:r>
              <a:rPr lang="zh-CN" altLang="zh-CN" sz="2000" dirty="0">
                <a:latin typeface="宋体" panose="02010600030101010101" pitchFamily="2" charset="-122"/>
              </a:rPr>
              <a:t>例：假设需要分别计算从一个整数到另一个整数的“连加和”、“平方和”以及“2的幂次和”</a:t>
            </a:r>
            <a:endParaRPr lang="zh-CN" altLang="zh-CN" sz="2000" dirty="0">
              <a:latin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8.4.3 </a:t>
            </a:r>
            <a:r>
              <a:rPr lang="zh-CN" altLang="en-US" dirty="0"/>
              <a:t>针对容器的操作</a:t>
            </a:r>
            <a:endParaRPr lang="zh-CN" altLang="en-US" dirty="0"/>
          </a:p>
        </p:txBody>
      </p:sp>
      <p:sp>
        <p:nvSpPr>
          <p:cNvPr id="4" name="内容占位符 3"/>
          <p:cNvSpPr>
            <a:spLocks noGrp="1"/>
          </p:cNvSpPr>
          <p:nvPr>
            <p:ph idx="1"/>
          </p:nvPr>
        </p:nvSpPr>
        <p:spPr/>
        <p:txBody>
          <a:bodyPr/>
          <a:lstStyle/>
          <a:p>
            <a:pPr>
              <a:lnSpc>
                <a:spcPct val="150000"/>
              </a:lnSpc>
            </a:pPr>
            <a:r>
              <a:rPr lang="en-US" altLang="zh-CN" dirty="0">
                <a:latin typeface="Arial" panose="020B0604020202020204" pitchFamily="34" charset="0"/>
              </a:rPr>
              <a:t>1. </a:t>
            </a:r>
            <a:r>
              <a:rPr lang="zh-CN" altLang="en-US" dirty="0">
                <a:latin typeface="Arial" panose="020B0604020202020204" pitchFamily="34" charset="0"/>
              </a:rPr>
              <a:t>遍历操作</a:t>
            </a:r>
            <a:endParaRPr lang="zh-CN" altLang="en-US" dirty="0">
              <a:latin typeface="Arial" panose="020B0604020202020204" pitchFamily="34" charset="0"/>
            </a:endParaRPr>
          </a:p>
          <a:p>
            <a:pPr>
              <a:lnSpc>
                <a:spcPct val="150000"/>
              </a:lnSpc>
            </a:pPr>
            <a:r>
              <a:rPr lang="en-US" altLang="zh-CN" dirty="0">
                <a:latin typeface="Arial" panose="020B0604020202020204" pitchFamily="34" charset="0"/>
              </a:rPr>
              <a:t>2. </a:t>
            </a:r>
            <a:r>
              <a:rPr lang="zh-CN" altLang="en-US" dirty="0">
                <a:latin typeface="Arial" panose="020B0604020202020204" pitchFamily="34" charset="0"/>
              </a:rPr>
              <a:t>映射操作</a:t>
            </a:r>
            <a:endParaRPr lang="zh-CN" altLang="en-US" dirty="0">
              <a:latin typeface="Arial" panose="020B0604020202020204" pitchFamily="34" charset="0"/>
            </a:endParaRPr>
          </a:p>
          <a:p>
            <a:pPr>
              <a:lnSpc>
                <a:spcPct val="150000"/>
              </a:lnSpc>
            </a:pPr>
            <a:r>
              <a:rPr lang="en-US" altLang="zh-CN" dirty="0">
                <a:latin typeface="Arial" panose="020B0604020202020204" pitchFamily="34" charset="0"/>
              </a:rPr>
              <a:t>3. </a:t>
            </a:r>
            <a:r>
              <a:rPr lang="zh-CN" altLang="en-US" dirty="0">
                <a:latin typeface="Arial" panose="020B0604020202020204" pitchFamily="34" charset="0"/>
              </a:rPr>
              <a:t>过滤操作</a:t>
            </a:r>
            <a:endParaRPr lang="zh-CN" altLang="en-US" dirty="0">
              <a:latin typeface="Arial" panose="020B0604020202020204" pitchFamily="34" charset="0"/>
            </a:endParaRPr>
          </a:p>
          <a:p>
            <a:pPr>
              <a:lnSpc>
                <a:spcPct val="150000"/>
              </a:lnSpc>
            </a:pPr>
            <a:r>
              <a:rPr lang="en-US" altLang="zh-CN" dirty="0">
                <a:latin typeface="Arial" panose="020B0604020202020204" pitchFamily="34" charset="0"/>
              </a:rPr>
              <a:t>4. </a:t>
            </a:r>
            <a:r>
              <a:rPr lang="zh-CN" altLang="en-US" dirty="0">
                <a:latin typeface="Arial" panose="020B0604020202020204" pitchFamily="34" charset="0"/>
              </a:rPr>
              <a:t>规约操作</a:t>
            </a:r>
            <a:endParaRPr lang="zh-CN" altLang="en-US" dirty="0">
              <a:latin typeface="Arial" panose="020B0604020202020204" pitchFamily="34" charset="0"/>
            </a:endParaRPr>
          </a:p>
          <a:p>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150531" name="文本框 7"/>
          <p:cNvSpPr txBox="1"/>
          <p:nvPr/>
        </p:nvSpPr>
        <p:spPr>
          <a:xfrm>
            <a:off x="230188" y="1698625"/>
            <a:ext cx="8532812" cy="398780"/>
          </a:xfrm>
          <a:prstGeom prst="rect">
            <a:avLst/>
          </a:prstGeom>
          <a:noFill/>
          <a:ln w="9525">
            <a:noFill/>
          </a:ln>
        </p:spPr>
        <p:txBody>
          <a:bodyPr>
            <a:spAutoFit/>
          </a:bodyPr>
          <a:lstStyle/>
          <a:p>
            <a:pPr marL="342900" indent="-342900">
              <a:buFontTx/>
              <a:buChar char="•"/>
            </a:pPr>
            <a:r>
              <a:rPr lang="zh-CN" altLang="zh-CN" sz="2000" dirty="0">
                <a:latin typeface="宋体" panose="02010600030101010101" pitchFamily="2" charset="-122"/>
              </a:rPr>
              <a:t>Scala容器的标准遍历方法foreach</a:t>
            </a:r>
            <a:endParaRPr lang="zh-CN" altLang="zh-CN" sz="2000" dirty="0">
              <a:latin typeface="宋体" panose="02010600030101010101" pitchFamily="2" charset="-122"/>
            </a:endParaRPr>
          </a:p>
        </p:txBody>
      </p:sp>
      <p:sp>
        <p:nvSpPr>
          <p:cNvPr id="150532" name="文本框 4"/>
          <p:cNvSpPr txBox="1"/>
          <p:nvPr/>
        </p:nvSpPr>
        <p:spPr>
          <a:xfrm>
            <a:off x="565150" y="5818188"/>
            <a:ext cx="8045450" cy="368300"/>
          </a:xfrm>
          <a:prstGeom prst="rect">
            <a:avLst/>
          </a:prstGeom>
          <a:noFill/>
          <a:ln w="9525">
            <a:noFill/>
          </a:ln>
        </p:spPr>
        <p:txBody>
          <a:bodyPr>
            <a:spAutoFit/>
          </a:bodyPr>
          <a:lstStyle/>
          <a:p>
            <a:r>
              <a:rPr lang="zh-CN" altLang="zh-CN" dirty="0">
                <a:latin typeface="宋体" panose="02010600030101010101" pitchFamily="2" charset="-122"/>
              </a:rPr>
              <a:t>简化写法：“list foreach(i=&gt;println(i))”或“list foreach println”</a:t>
            </a:r>
            <a:endParaRPr lang="zh-CN" altLang="zh-CN" dirty="0">
              <a:latin typeface="宋体" panose="02010600030101010101" pitchFamily="2" charset="-122"/>
            </a:endParaRPr>
          </a:p>
        </p:txBody>
      </p:sp>
      <p:sp>
        <p:nvSpPr>
          <p:cNvPr id="150533" name="TextBox 6"/>
          <p:cNvSpPr txBox="1"/>
          <p:nvPr/>
        </p:nvSpPr>
        <p:spPr>
          <a:xfrm>
            <a:off x="533400" y="1143000"/>
            <a:ext cx="1415415" cy="398780"/>
          </a:xfrm>
          <a:prstGeom prst="rect">
            <a:avLst/>
          </a:prstGeom>
          <a:noFill/>
          <a:ln w="9525">
            <a:noFill/>
          </a:ln>
        </p:spPr>
        <p:txBody>
          <a:bodyPr wrap="none">
            <a:spAutoFit/>
          </a:bodyPr>
          <a:lstStyle/>
          <a:p>
            <a:r>
              <a:rPr lang="en-US" altLang="zh-CN" sz="2000" b="1" dirty="0">
                <a:latin typeface="Arial" panose="020B0604020202020204" pitchFamily="34" charset="0"/>
              </a:rPr>
              <a:t>1.</a:t>
            </a:r>
            <a:r>
              <a:rPr lang="zh-CN" altLang="en-US" sz="2000" b="1" dirty="0">
                <a:latin typeface="Arial" panose="020B0604020202020204" pitchFamily="34" charset="0"/>
              </a:rPr>
              <a:t>遍历操作</a:t>
            </a:r>
            <a:endParaRPr lang="zh-CN" altLang="en-US" sz="2000" b="1" dirty="0">
              <a:latin typeface="Arial" panose="020B0604020202020204" pitchFamily="34" charset="0"/>
            </a:endParaRPr>
          </a:p>
        </p:txBody>
      </p:sp>
      <p:sp>
        <p:nvSpPr>
          <p:cNvPr id="8" name="TextBox 7"/>
          <p:cNvSpPr txBox="1"/>
          <p:nvPr/>
        </p:nvSpPr>
        <p:spPr>
          <a:xfrm>
            <a:off x="609600" y="2286000"/>
            <a:ext cx="7467600" cy="368300"/>
          </a:xfrm>
          <a:prstGeom prst="rect">
            <a:avLst/>
          </a:prstGeom>
          <a:solidFill>
            <a:schemeClr val="bg1">
              <a:lumMod val="85000"/>
            </a:schemeClr>
          </a:solidFill>
        </p:spPr>
        <p:txBody>
          <a:bodyPr>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def </a:t>
            </a:r>
            <a:r>
              <a:rPr kumimoji="0" lang="en-US" altLang="zh-CN" kern="1200" cap="none" spc="0" normalizeH="0" baseline="0" noProof="0" dirty="0" err="1">
                <a:latin typeface="Arial" panose="020B0604020202020204" pitchFamily="34" charset="0"/>
                <a:ea typeface="宋体" panose="02010600030101010101" pitchFamily="2" charset="-122"/>
                <a:cs typeface="+mn-cs"/>
              </a:rPr>
              <a:t>foreach</a:t>
            </a:r>
            <a:r>
              <a:rPr kumimoji="0" lang="en-US" altLang="zh-CN" kern="1200" cap="none" spc="0" normalizeH="0" baseline="0" noProof="0" dirty="0">
                <a:latin typeface="Arial" panose="020B0604020202020204" pitchFamily="34" charset="0"/>
                <a:ea typeface="宋体" panose="02010600030101010101" pitchFamily="2" charset="-122"/>
                <a:cs typeface="+mn-cs"/>
              </a:rPr>
              <a:t>[U](f: Elem =&gt; U) :Unit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150535" name="TextBox 8"/>
          <p:cNvSpPr txBox="1"/>
          <p:nvPr/>
        </p:nvSpPr>
        <p:spPr>
          <a:xfrm>
            <a:off x="685800" y="3124200"/>
            <a:ext cx="7391400" cy="2306955"/>
          </a:xfrm>
          <a:prstGeom prst="rect">
            <a:avLst/>
          </a:prstGeom>
          <a:solidFill>
            <a:schemeClr val="tx1"/>
          </a:solidFill>
          <a:ln w="9525">
            <a:noFill/>
          </a:ln>
        </p:spPr>
        <p:txBody>
          <a:bodyPr>
            <a:spAutoFit/>
          </a:bodyPr>
          <a:lstStyle/>
          <a:p>
            <a:r>
              <a:rPr lang="en-US" altLang="zh-CN" sz="1800" dirty="0">
                <a:solidFill>
                  <a:schemeClr val="bg1"/>
                </a:solidFill>
                <a:latin typeface="Arial" panose="020B0604020202020204" pitchFamily="34" charset="0"/>
              </a:rPr>
              <a:t>scala&gt; val list = List(1, 2, 3)</a:t>
            </a:r>
            <a:endParaRPr lang="zh-CN"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list: List[Int] = List(1, 2, 3)</a:t>
            </a:r>
            <a:endParaRPr lang="zh-CN"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scala&gt; val f=(i:Int)=&gt;println(i)</a:t>
            </a:r>
            <a:endParaRPr lang="zh-CN"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f: Int =&gt; Unit = &lt;function1&gt;</a:t>
            </a:r>
            <a:endParaRPr lang="zh-CN"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scala&gt; list.foreach(f)</a:t>
            </a:r>
            <a:endParaRPr lang="zh-CN"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1</a:t>
            </a:r>
            <a:endParaRPr lang="zh-CN"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2</a:t>
            </a:r>
            <a:endParaRPr lang="zh-CN" altLang="zh-CN" sz="1800" dirty="0">
              <a:solidFill>
                <a:schemeClr val="bg1"/>
              </a:solidFill>
              <a:latin typeface="Arial" panose="020B0604020202020204" pitchFamily="34" charset="0"/>
            </a:endParaRPr>
          </a:p>
          <a:p>
            <a:r>
              <a:rPr lang="en-US" altLang="zh-CN" sz="1800" dirty="0">
                <a:solidFill>
                  <a:schemeClr val="bg1"/>
                </a:solidFill>
                <a:latin typeface="Arial" panose="020B0604020202020204" pitchFamily="34" charset="0"/>
              </a:rPr>
              <a:t>3</a:t>
            </a:r>
            <a:endParaRPr lang="en-US" altLang="zh-CN" sz="1800" dirty="0">
              <a:solidFill>
                <a:schemeClr val="bg1"/>
              </a:solidFill>
              <a:latin typeface="Arial" panose="020B0604020202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5" name="文本框 4"/>
          <p:cNvSpPr txBox="1"/>
          <p:nvPr/>
        </p:nvSpPr>
        <p:spPr>
          <a:xfrm>
            <a:off x="533400" y="3954463"/>
            <a:ext cx="7507288" cy="368300"/>
          </a:xfrm>
          <a:prstGeom prst="rect">
            <a:avLst/>
          </a:prstGeom>
          <a:noFill/>
          <a:ln w="9525">
            <a:noFill/>
          </a:ln>
        </p:spPr>
        <p:txBody>
          <a:bodyPr>
            <a:spAutoFit/>
          </a:bodyPr>
          <a:lstStyle/>
          <a:p>
            <a:r>
              <a:rPr lang="zh-CN" altLang="zh-CN" dirty="0">
                <a:latin typeface="宋体" panose="02010600030101010101" pitchFamily="2" charset="-122"/>
              </a:rPr>
              <a:t>简化写法：</a:t>
            </a:r>
            <a:endParaRPr lang="zh-CN" altLang="zh-CN" dirty="0">
              <a:latin typeface="宋体" panose="02010600030101010101" pitchFamily="2" charset="-122"/>
            </a:endParaRPr>
          </a:p>
        </p:txBody>
      </p:sp>
      <p:sp>
        <p:nvSpPr>
          <p:cNvPr id="149508" name="TextBox 6"/>
          <p:cNvSpPr txBox="1"/>
          <p:nvPr/>
        </p:nvSpPr>
        <p:spPr>
          <a:xfrm>
            <a:off x="609600" y="1625600"/>
            <a:ext cx="7706816" cy="2030095"/>
          </a:xfrm>
          <a:prstGeom prst="rect">
            <a:avLst/>
          </a:prstGeom>
          <a:solidFill>
            <a:schemeClr val="tx1"/>
          </a:solidFill>
          <a:ln w="9525">
            <a:noFill/>
          </a:ln>
        </p:spPr>
        <p:txBody>
          <a:bodyPr wrap="square">
            <a:spAutoFit/>
          </a:bodyPr>
          <a:lstStyle/>
          <a:p>
            <a:r>
              <a:rPr lang="en-US" altLang="zh-CN" dirty="0">
                <a:solidFill>
                  <a:schemeClr val="bg1"/>
                </a:solidFill>
                <a:latin typeface="Arial" panose="020B0604020202020204" pitchFamily="34" charset="0"/>
              </a:rPr>
              <a:t>scala&gt; val university = Map("XMU" -&gt;"Xiamen University", "THU" -&gt;"Tsinghua University","PKU"-&gt;"Peking University")</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university: scala.collection.mutable.Map[String,String] = ...</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university foreach{kv =&gt; println(kv._1+":"+kv._2)}</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XMU:Xiamen University</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THU:Tsinghua University</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PKU:Peking University</a:t>
            </a:r>
            <a:endParaRPr lang="zh-CN" altLang="en-US" dirty="0">
              <a:solidFill>
                <a:schemeClr val="bg1"/>
              </a:solidFill>
              <a:latin typeface="Arial" panose="020B0604020202020204" pitchFamily="34" charset="0"/>
            </a:endParaRPr>
          </a:p>
        </p:txBody>
      </p:sp>
      <p:sp>
        <p:nvSpPr>
          <p:cNvPr id="151557" name="TextBox 7"/>
          <p:cNvSpPr txBox="1"/>
          <p:nvPr/>
        </p:nvSpPr>
        <p:spPr>
          <a:xfrm>
            <a:off x="533400" y="1143000"/>
            <a:ext cx="1415415" cy="398780"/>
          </a:xfrm>
          <a:prstGeom prst="rect">
            <a:avLst/>
          </a:prstGeom>
          <a:noFill/>
          <a:ln w="9525">
            <a:noFill/>
          </a:ln>
        </p:spPr>
        <p:txBody>
          <a:bodyPr wrap="none">
            <a:spAutoFit/>
          </a:bodyPr>
          <a:lstStyle/>
          <a:p>
            <a:r>
              <a:rPr lang="en-US" altLang="zh-CN" sz="2000" b="1" dirty="0">
                <a:latin typeface="Arial" panose="020B0604020202020204" pitchFamily="34" charset="0"/>
              </a:rPr>
              <a:t>1.</a:t>
            </a:r>
            <a:r>
              <a:rPr lang="zh-CN" altLang="en-US" sz="2000" b="1" dirty="0">
                <a:latin typeface="Arial" panose="020B0604020202020204" pitchFamily="34" charset="0"/>
              </a:rPr>
              <a:t>遍历操作</a:t>
            </a:r>
            <a:endParaRPr lang="zh-CN" altLang="en-US" sz="2000" b="1" dirty="0">
              <a:latin typeface="Arial" panose="020B0604020202020204" pitchFamily="34" charset="0"/>
            </a:endParaRPr>
          </a:p>
        </p:txBody>
      </p:sp>
      <p:sp>
        <p:nvSpPr>
          <p:cNvPr id="9" name="TextBox 8"/>
          <p:cNvSpPr txBox="1"/>
          <p:nvPr/>
        </p:nvSpPr>
        <p:spPr>
          <a:xfrm>
            <a:off x="609600" y="5192713"/>
            <a:ext cx="7706816" cy="368300"/>
          </a:xfrm>
          <a:prstGeom prst="rect">
            <a:avLst/>
          </a:prstGeom>
          <a:solidFill>
            <a:schemeClr val="bg1">
              <a:lumMod val="85000"/>
            </a:schemeClr>
          </a:solidFill>
        </p:spPr>
        <p:txBody>
          <a:bodyPr wrap="squar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university </a:t>
            </a:r>
            <a:r>
              <a:rPr kumimoji="0" lang="en-US" altLang="zh-CN" kern="1200" cap="none" spc="0" normalizeH="0" baseline="0" noProof="0" dirty="0" err="1">
                <a:latin typeface="Arial" panose="020B0604020202020204" pitchFamily="34" charset="0"/>
                <a:ea typeface="宋体" panose="02010600030101010101" pitchFamily="2" charset="-122"/>
                <a:cs typeface="+mn-cs"/>
              </a:rPr>
              <a:t>foreach</a:t>
            </a:r>
            <a:r>
              <a:rPr kumimoji="0" lang="en-US" altLang="zh-CN" kern="1200" cap="none" spc="0" normalizeH="0" baseline="0" noProof="0" dirty="0">
                <a:latin typeface="Arial" panose="020B0604020202020204" pitchFamily="34" charset="0"/>
                <a:ea typeface="宋体" panose="02010600030101010101" pitchFamily="2" charset="-122"/>
                <a:cs typeface="+mn-cs"/>
              </a:rPr>
              <a:t>{case (</a:t>
            </a:r>
            <a:r>
              <a:rPr kumimoji="0" lang="en-US" altLang="zh-CN" kern="1200" cap="none" spc="0" normalizeH="0" baseline="0" noProof="0" dirty="0" err="1">
                <a:latin typeface="Arial" panose="020B0604020202020204" pitchFamily="34" charset="0"/>
                <a:ea typeface="宋体" panose="02010600030101010101" pitchFamily="2" charset="-122"/>
                <a:cs typeface="+mn-cs"/>
              </a:rPr>
              <a:t>k,v</a:t>
            </a:r>
            <a:r>
              <a:rPr kumimoji="0" lang="en-US" altLang="zh-CN" kern="1200" cap="none" spc="0" normalizeH="0" baseline="0" noProof="0" dirty="0">
                <a:latin typeface="Arial" panose="020B0604020202020204" pitchFamily="34" charset="0"/>
                <a:ea typeface="宋体" panose="02010600030101010101" pitchFamily="2" charset="-122"/>
                <a:cs typeface="+mn-cs"/>
              </a:rPr>
              <a:t>)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(k+":"+v)}</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10" name="TextBox 9"/>
          <p:cNvSpPr txBox="1"/>
          <p:nvPr/>
        </p:nvSpPr>
        <p:spPr>
          <a:xfrm>
            <a:off x="609600" y="4572000"/>
            <a:ext cx="7706816" cy="368300"/>
          </a:xfrm>
          <a:prstGeom prst="rect">
            <a:avLst/>
          </a:prstGeom>
          <a:solidFill>
            <a:schemeClr val="bg1">
              <a:lumMod val="85000"/>
            </a:schemeClr>
          </a:solidFill>
        </p:spPr>
        <p:txBody>
          <a:bodyPr wrap="square">
            <a:spAutoFit/>
          </a:bodyPr>
          <a:lstStyle/>
          <a:p>
            <a:pPr marR="0" defTabSz="914400">
              <a:buClrTx/>
              <a:buSzTx/>
              <a:defRPr/>
            </a:pPr>
            <a:r>
              <a:rPr kumimoji="0" lang="en-US" altLang="zh-CN" kern="1200" cap="none" spc="0" normalizeH="0" baseline="0" noProof="0" dirty="0">
                <a:latin typeface="Arial" panose="020B0604020202020204" pitchFamily="34" charset="0"/>
                <a:ea typeface="宋体" panose="02010600030101010101" pitchFamily="2" charset="-122"/>
                <a:cs typeface="+mn-cs"/>
              </a:rPr>
              <a:t>university </a:t>
            </a:r>
            <a:r>
              <a:rPr kumimoji="0" lang="en-US" altLang="zh-CN" kern="1200" cap="none" spc="0" normalizeH="0" baseline="0" noProof="0" dirty="0" err="1">
                <a:latin typeface="Arial" panose="020B0604020202020204" pitchFamily="34" charset="0"/>
                <a:ea typeface="宋体" panose="02010600030101010101" pitchFamily="2" charset="-122"/>
                <a:cs typeface="+mn-cs"/>
              </a:rPr>
              <a:t>foreach</a:t>
            </a:r>
            <a:r>
              <a:rPr kumimoji="0" lang="en-US" altLang="zh-CN" kern="1200" cap="none" spc="0" normalizeH="0" baseline="0" noProof="0" dirty="0">
                <a:latin typeface="Arial" panose="020B0604020202020204" pitchFamily="34" charset="0"/>
                <a:ea typeface="宋体" panose="02010600030101010101" pitchFamily="2" charset="-122"/>
                <a:cs typeface="+mn-cs"/>
              </a:rPr>
              <a:t>{x=&gt;x match {case (</a:t>
            </a:r>
            <a:r>
              <a:rPr kumimoji="0" lang="en-US" altLang="zh-CN" kern="1200" cap="none" spc="0" normalizeH="0" baseline="0" noProof="0" dirty="0" err="1">
                <a:latin typeface="Arial" panose="020B0604020202020204" pitchFamily="34" charset="0"/>
                <a:ea typeface="宋体" panose="02010600030101010101" pitchFamily="2" charset="-122"/>
                <a:cs typeface="+mn-cs"/>
              </a:rPr>
              <a:t>k,v</a:t>
            </a:r>
            <a:r>
              <a:rPr kumimoji="0" lang="en-US" altLang="zh-CN" kern="1200" cap="none" spc="0" normalizeH="0" baseline="0" noProof="0" dirty="0">
                <a:latin typeface="Arial" panose="020B0604020202020204" pitchFamily="34" charset="0"/>
                <a:ea typeface="宋体" panose="02010600030101010101" pitchFamily="2" charset="-122"/>
                <a:cs typeface="+mn-cs"/>
              </a:rPr>
              <a:t>) =&gt; </a:t>
            </a:r>
            <a:r>
              <a:rPr kumimoji="0" lang="en-US" altLang="zh-CN" kern="1200" cap="none" spc="0" normalizeH="0" baseline="0" noProof="0" dirty="0" err="1">
                <a:latin typeface="Arial" panose="020B0604020202020204" pitchFamily="34" charset="0"/>
                <a:ea typeface="宋体" panose="02010600030101010101" pitchFamily="2" charset="-122"/>
                <a:cs typeface="+mn-cs"/>
              </a:rPr>
              <a:t>println</a:t>
            </a:r>
            <a:r>
              <a:rPr kumimoji="0" lang="en-US" altLang="zh-CN" kern="1200" cap="none" spc="0" normalizeH="0" baseline="0" noProof="0" dirty="0">
                <a:latin typeface="Arial" panose="020B0604020202020204" pitchFamily="34" charset="0"/>
                <a:ea typeface="宋体" panose="02010600030101010101" pitchFamily="2" charset="-122"/>
                <a:cs typeface="+mn-cs"/>
              </a:rPr>
              <a:t>(k+":"+v)}}</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9508"/>
                                        </p:tgtEl>
                                        <p:attrNameLst>
                                          <p:attrName>style.visibility</p:attrName>
                                        </p:attrNameLst>
                                      </p:cBhvr>
                                      <p:to>
                                        <p:strVal val="visible"/>
                                      </p:to>
                                    </p:set>
                                    <p:animEffect transition="in" filter="blinds(horizontal)">
                                      <p:cBhvr>
                                        <p:cTn id="7" dur="500"/>
                                        <p:tgtEl>
                                          <p:spTgt spid="1495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9508" grpId="0" bldLvl="0" animBg="1"/>
      <p:bldP spid="9" grpId="0" bldLvl="0" animBg="1"/>
      <p:bldP spid="10"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8" name="文本框 7"/>
          <p:cNvSpPr txBox="1"/>
          <p:nvPr/>
        </p:nvSpPr>
        <p:spPr>
          <a:xfrm>
            <a:off x="224155" y="1710055"/>
            <a:ext cx="8158480" cy="1630045"/>
          </a:xfrm>
          <a:prstGeom prst="rect">
            <a:avLst/>
          </a:prstGeom>
          <a:noFill/>
          <a:ln w="9525">
            <a:noFill/>
          </a:ln>
        </p:spPr>
        <p:txBody>
          <a:bodyPr wrap="square">
            <a:spAutoFit/>
          </a:bodyPr>
          <a:lstStyle/>
          <a:p>
            <a:pPr marL="342900" indent="-342900">
              <a:lnSpc>
                <a:spcPct val="100000"/>
              </a:lnSpc>
              <a:buFontTx/>
              <a:buChar char="•"/>
            </a:pPr>
            <a:r>
              <a:rPr lang="zh-CN" altLang="zh-CN" sz="2000" dirty="0">
                <a:latin typeface="宋体" panose="02010600030101010101" pitchFamily="2" charset="-122"/>
              </a:rPr>
              <a:t>映射是指通过对容器中的元素进行某些运算来生成一个新的容器。两个典型的映射操作是map方法和flatMap方法</a:t>
            </a:r>
            <a:endParaRPr lang="zh-CN" altLang="zh-CN" sz="2000" dirty="0">
              <a:latin typeface="宋体" panose="02010600030101010101" pitchFamily="2" charset="-122"/>
            </a:endParaRPr>
          </a:p>
          <a:p>
            <a:pPr marL="342900" indent="-342900">
              <a:lnSpc>
                <a:spcPct val="100000"/>
              </a:lnSpc>
              <a:buFontTx/>
              <a:buChar char="•"/>
            </a:pPr>
            <a:r>
              <a:rPr lang="zh-CN" altLang="zh-CN" sz="2000" dirty="0">
                <a:latin typeface="宋体" panose="02010600030101010101" pitchFamily="2" charset="-122"/>
              </a:rPr>
              <a:t>map方法（一对一映射）：将某个函数应用到集合中的每个元素，映射得到一个新的元素，map方法会返回一个与原容器类型大小都相同的新容器，只不过元素的类型可能不同</a:t>
            </a:r>
            <a:endParaRPr lang="zh-CN" altLang="zh-CN" sz="2000" dirty="0">
              <a:latin typeface="宋体" panose="02010600030101010101" pitchFamily="2" charset="-122"/>
            </a:endParaRPr>
          </a:p>
        </p:txBody>
      </p:sp>
      <p:sp>
        <p:nvSpPr>
          <p:cNvPr id="152580" name="矩形 4"/>
          <p:cNvSpPr/>
          <p:nvPr/>
        </p:nvSpPr>
        <p:spPr>
          <a:xfrm>
            <a:off x="550863" y="1143000"/>
            <a:ext cx="1415415" cy="553085"/>
          </a:xfrm>
          <a:prstGeom prst="rect">
            <a:avLst/>
          </a:prstGeom>
          <a:noFill/>
          <a:ln w="9525">
            <a:noFill/>
          </a:ln>
        </p:spPr>
        <p:txBody>
          <a:bodyPr wrap="none">
            <a:spAutoFit/>
          </a:bodyPr>
          <a:lstStyle/>
          <a:p>
            <a:pPr>
              <a:lnSpc>
                <a:spcPct val="150000"/>
              </a:lnSpc>
            </a:pPr>
            <a:r>
              <a:rPr lang="en-US" altLang="zh-CN" sz="2000" b="1" dirty="0">
                <a:latin typeface="Arial" panose="020B0604020202020204" pitchFamily="34" charset="0"/>
              </a:rPr>
              <a:t>2 </a:t>
            </a:r>
            <a:r>
              <a:rPr lang="zh-CN" altLang="en-US" sz="2000" b="1" dirty="0">
                <a:latin typeface="Arial" panose="020B0604020202020204" pitchFamily="34" charset="0"/>
              </a:rPr>
              <a:t>映射操作</a:t>
            </a:r>
            <a:endParaRPr lang="zh-CN" altLang="en-US" sz="2000" b="1" dirty="0">
              <a:latin typeface="Arial" panose="020B0604020202020204" pitchFamily="34" charset="0"/>
            </a:endParaRPr>
          </a:p>
        </p:txBody>
      </p:sp>
      <p:sp>
        <p:nvSpPr>
          <p:cNvPr id="153603" name="TextBox 2"/>
          <p:cNvSpPr txBox="1"/>
          <p:nvPr/>
        </p:nvSpPr>
        <p:spPr>
          <a:xfrm>
            <a:off x="683895" y="3429000"/>
            <a:ext cx="7391400" cy="2030095"/>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scala&gt; val books =List("Hadoop","Hive","HDFS")</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books: List[String] = List(Hadoop, Hive, HDFS)</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books.map(s =&gt; s.toUpperCase)</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//toUpperCase</a:t>
            </a:r>
            <a:r>
              <a:rPr lang="zh-CN" altLang="zh-CN" dirty="0">
                <a:solidFill>
                  <a:schemeClr val="bg1"/>
                </a:solidFill>
                <a:latin typeface="Arial" panose="020B0604020202020204" pitchFamily="34" charset="0"/>
              </a:rPr>
              <a:t>方法将一个字符串中的每个字母都变成大写字母</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res56: List[String] = List(HADOOP, HIVE, HDFS)</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books.map(s =&gt; s.length) //</a:t>
            </a:r>
            <a:r>
              <a:rPr lang="zh-CN" altLang="zh-CN" dirty="0">
                <a:solidFill>
                  <a:schemeClr val="bg1"/>
                </a:solidFill>
                <a:latin typeface="Arial" panose="020B0604020202020204" pitchFamily="34" charset="0"/>
              </a:rPr>
              <a:t>将字符串映射到它的长度</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res57: List[Int] = List(6, 4, 4) //</a:t>
            </a:r>
            <a:r>
              <a:rPr lang="zh-CN" altLang="zh-CN" dirty="0">
                <a:solidFill>
                  <a:schemeClr val="bg1"/>
                </a:solidFill>
                <a:latin typeface="Arial" panose="020B0604020202020204" pitchFamily="34" charset="0"/>
              </a:rPr>
              <a:t>新列表的元素类型为</a:t>
            </a:r>
            <a:r>
              <a:rPr lang="en-US" altLang="zh-CN" dirty="0">
                <a:solidFill>
                  <a:schemeClr val="bg1"/>
                </a:solidFill>
                <a:latin typeface="Arial" panose="020B0604020202020204" pitchFamily="34" charset="0"/>
              </a:rPr>
              <a:t>Int</a:t>
            </a:r>
            <a:endParaRPr lang="zh-CN" altLang="en-US" dirty="0">
              <a:solidFill>
                <a:schemeClr val="bg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wipe(left)">
                                      <p:cBhvr>
                                        <p:cTn id="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154627" name="文本框 7"/>
          <p:cNvSpPr txBox="1"/>
          <p:nvPr/>
        </p:nvSpPr>
        <p:spPr>
          <a:xfrm>
            <a:off x="152400" y="1981200"/>
            <a:ext cx="8204200" cy="1938020"/>
          </a:xfrm>
          <a:prstGeom prst="rect">
            <a:avLst/>
          </a:prstGeom>
          <a:noFill/>
          <a:ln w="9525">
            <a:noFill/>
          </a:ln>
        </p:spPr>
        <p:txBody>
          <a:bodyPr wrap="square">
            <a:spAutoFit/>
          </a:bodyPr>
          <a:lstStyle/>
          <a:p>
            <a:pPr marL="342900" indent="-342900">
              <a:buFontTx/>
              <a:buChar char="•"/>
            </a:pPr>
            <a:r>
              <a:rPr lang="zh-CN" altLang="zh-CN" sz="2400" dirty="0">
                <a:latin typeface="宋体" panose="02010600030101010101" pitchFamily="2" charset="-122"/>
              </a:rPr>
              <a:t>flatMap方法（一对多映射）：将某个函数应用到容器中的元素时，对每个元素都会返回一个容器（而不是一个元素），然后，flatMap把生成的多个容器“拍扁”成为一个容器并返回。返回的容器与原容器类型相同，但大小可能不同，其中元素的类型也可能不同</a:t>
            </a:r>
            <a:endParaRPr lang="zh-CN" altLang="zh-CN" sz="2400" dirty="0">
              <a:latin typeface="宋体" panose="02010600030101010101" pitchFamily="2" charset="-122"/>
            </a:endParaRPr>
          </a:p>
        </p:txBody>
      </p:sp>
      <p:sp>
        <p:nvSpPr>
          <p:cNvPr id="154628" name="矩形 4"/>
          <p:cNvSpPr/>
          <p:nvPr/>
        </p:nvSpPr>
        <p:spPr>
          <a:xfrm>
            <a:off x="550863" y="1143000"/>
            <a:ext cx="1661160"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2 </a:t>
            </a:r>
            <a:r>
              <a:rPr lang="zh-CN" altLang="en-US" sz="2400" b="1" dirty="0">
                <a:latin typeface="Arial" panose="020B0604020202020204" pitchFamily="34" charset="0"/>
              </a:rPr>
              <a:t>映射操作</a:t>
            </a:r>
            <a:endParaRPr lang="zh-CN" altLang="en-US" sz="2400" b="1" dirty="0">
              <a:latin typeface="Arial" panose="020B0604020202020204" pitchFamily="34" charset="0"/>
            </a:endParaRPr>
          </a:p>
        </p:txBody>
      </p:sp>
      <p:sp>
        <p:nvSpPr>
          <p:cNvPr id="154629" name="TextBox 6"/>
          <p:cNvSpPr txBox="1"/>
          <p:nvPr/>
        </p:nvSpPr>
        <p:spPr>
          <a:xfrm>
            <a:off x="611505" y="3932555"/>
            <a:ext cx="7679690" cy="706755"/>
          </a:xfrm>
          <a:prstGeom prst="rect">
            <a:avLst/>
          </a:prstGeom>
          <a:solidFill>
            <a:schemeClr val="tx1"/>
          </a:solidFill>
          <a:ln w="9525">
            <a:noFill/>
          </a:ln>
        </p:spPr>
        <p:txBody>
          <a:bodyPr wrap="square">
            <a:spAutoFit/>
          </a:bodyPr>
          <a:lstStyle/>
          <a:p>
            <a:r>
              <a:rPr lang="en-US" altLang="zh-CN" sz="2000" dirty="0">
                <a:solidFill>
                  <a:schemeClr val="bg1"/>
                </a:solidFill>
                <a:latin typeface="Arial" panose="020B0604020202020204" pitchFamily="34" charset="0"/>
              </a:rPr>
              <a:t>scala&gt; books flatMap (s =&gt; s.toList)</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res58: List[Char] = List(H, a, d, o, o, p, H, i, v, e, H, D, F, S)</a:t>
            </a:r>
            <a:endParaRPr lang="en-US" altLang="zh-CN" sz="2000" dirty="0">
              <a:solidFill>
                <a:schemeClr val="bg1"/>
              </a:solidFill>
              <a:latin typeface="Arial" panose="020B0604020202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155651" name="文本框 7"/>
          <p:cNvSpPr txBox="1"/>
          <p:nvPr/>
        </p:nvSpPr>
        <p:spPr>
          <a:xfrm>
            <a:off x="539750" y="1643063"/>
            <a:ext cx="7918450" cy="1938020"/>
          </a:xfrm>
          <a:prstGeom prst="rect">
            <a:avLst/>
          </a:prstGeom>
          <a:noFill/>
          <a:ln w="9525">
            <a:noFill/>
          </a:ln>
        </p:spPr>
        <p:txBody>
          <a:bodyPr>
            <a:spAutoFit/>
          </a:bodyPr>
          <a:lstStyle/>
          <a:p>
            <a:pPr marL="342900" indent="-342900">
              <a:lnSpc>
                <a:spcPct val="100000"/>
              </a:lnSpc>
              <a:buFontTx/>
              <a:buChar char="•"/>
            </a:pPr>
            <a:r>
              <a:rPr lang="zh-CN" altLang="zh-CN" sz="2400" dirty="0">
                <a:latin typeface="宋体" panose="02010600030101010101" pitchFamily="2" charset="-122"/>
              </a:rPr>
              <a:t>过滤：遍历一个容器，从中获取满足指定条件的元素，返回一个新的容器</a:t>
            </a:r>
            <a:endParaRPr lang="zh-CN" altLang="zh-CN" sz="2400" dirty="0">
              <a:latin typeface="宋体" panose="02010600030101010101" pitchFamily="2" charset="-122"/>
            </a:endParaRPr>
          </a:p>
          <a:p>
            <a:pPr marL="342900" indent="-342900">
              <a:lnSpc>
                <a:spcPct val="100000"/>
              </a:lnSpc>
              <a:buFontTx/>
              <a:buChar char="•"/>
            </a:pPr>
            <a:r>
              <a:rPr lang="zh-CN" altLang="zh-CN" sz="2400" dirty="0">
                <a:latin typeface="宋体" panose="02010600030101010101" pitchFamily="2" charset="-122"/>
              </a:rPr>
              <a:t>filter方法：接受一个返回布尔值的函数f作为参数，并将f作用到每个元素上，将f返回真值的元素组成一个新容器返回</a:t>
            </a:r>
            <a:endParaRPr lang="zh-CN" altLang="zh-CN" sz="2400" dirty="0">
              <a:latin typeface="宋体" panose="02010600030101010101" pitchFamily="2" charset="-122"/>
            </a:endParaRPr>
          </a:p>
        </p:txBody>
      </p:sp>
      <p:sp>
        <p:nvSpPr>
          <p:cNvPr id="155652" name="矩形 4"/>
          <p:cNvSpPr/>
          <p:nvPr/>
        </p:nvSpPr>
        <p:spPr>
          <a:xfrm>
            <a:off x="685800" y="1066800"/>
            <a:ext cx="1415415" cy="553085"/>
          </a:xfrm>
          <a:prstGeom prst="rect">
            <a:avLst/>
          </a:prstGeom>
          <a:noFill/>
          <a:ln w="9525">
            <a:noFill/>
          </a:ln>
        </p:spPr>
        <p:txBody>
          <a:bodyPr wrap="none">
            <a:spAutoFit/>
          </a:bodyPr>
          <a:lstStyle/>
          <a:p>
            <a:pPr>
              <a:lnSpc>
                <a:spcPct val="150000"/>
              </a:lnSpc>
            </a:pPr>
            <a:r>
              <a:rPr lang="en-US" altLang="zh-CN" sz="2000" b="1" dirty="0">
                <a:latin typeface="Arial" panose="020B0604020202020204" pitchFamily="34" charset="0"/>
              </a:rPr>
              <a:t>3 </a:t>
            </a:r>
            <a:r>
              <a:rPr lang="zh-CN" altLang="en-US" sz="2000" b="1" dirty="0">
                <a:latin typeface="Arial" panose="020B0604020202020204" pitchFamily="34" charset="0"/>
              </a:rPr>
              <a:t>过滤操作</a:t>
            </a:r>
            <a:endParaRPr lang="zh-CN" altLang="en-US" sz="2000" b="1" dirty="0">
              <a:latin typeface="Arial" panose="020B0604020202020204" pitchFamily="34" charset="0"/>
            </a:endParaRPr>
          </a:p>
        </p:txBody>
      </p:sp>
      <p:sp>
        <p:nvSpPr>
          <p:cNvPr id="156676" name="TextBox 4"/>
          <p:cNvSpPr txBox="1"/>
          <p:nvPr/>
        </p:nvSpPr>
        <p:spPr>
          <a:xfrm>
            <a:off x="650875" y="3572193"/>
            <a:ext cx="7696200" cy="2861310"/>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scala&gt; val university = Map("XMU" -&gt;"Xiamen University", "THU" -&gt;"Tsinghua University","PKU"-&gt;"Peking University","XMUT"-&gt;"Xiamen University of Technology")</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university: scala.collection.immutable.Map[String,String] = ...</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a:t>
            </a:r>
            <a:r>
              <a:rPr lang="zh-CN" altLang="zh-CN" dirty="0">
                <a:solidFill>
                  <a:schemeClr val="bg1"/>
                </a:solidFill>
                <a:latin typeface="Arial" panose="020B0604020202020204" pitchFamily="34" charset="0"/>
              </a:rPr>
              <a:t>过滤出值中包含“</a:t>
            </a:r>
            <a:r>
              <a:rPr lang="en-US" altLang="zh-CN" dirty="0">
                <a:solidFill>
                  <a:schemeClr val="bg1"/>
                </a:solidFill>
                <a:latin typeface="Arial" panose="020B0604020202020204" pitchFamily="34" charset="0"/>
              </a:rPr>
              <a:t>Xiamen</a:t>
            </a:r>
            <a:r>
              <a:rPr lang="zh-CN" altLang="zh-CN" dirty="0">
                <a:solidFill>
                  <a:schemeClr val="bg1"/>
                </a:solidFill>
                <a:latin typeface="Arial" panose="020B0604020202020204" pitchFamily="34" charset="0"/>
              </a:rPr>
              <a:t>”的元素，</a:t>
            </a:r>
            <a:r>
              <a:rPr lang="en-US" altLang="zh-CN" dirty="0">
                <a:solidFill>
                  <a:schemeClr val="bg1"/>
                </a:solidFill>
                <a:latin typeface="Arial" panose="020B0604020202020204" pitchFamily="34" charset="0"/>
              </a:rPr>
              <a:t>contains</a:t>
            </a:r>
            <a:r>
              <a:rPr lang="zh-CN" altLang="zh-CN" dirty="0">
                <a:solidFill>
                  <a:schemeClr val="bg1"/>
                </a:solidFill>
                <a:latin typeface="Arial" panose="020B0604020202020204" pitchFamily="34" charset="0"/>
              </a:rPr>
              <a:t>为</a:t>
            </a:r>
            <a:r>
              <a:rPr lang="en-US" altLang="zh-CN" dirty="0">
                <a:solidFill>
                  <a:schemeClr val="bg1"/>
                </a:solidFill>
                <a:latin typeface="Arial" panose="020B0604020202020204" pitchFamily="34" charset="0"/>
              </a:rPr>
              <a:t>String</a:t>
            </a:r>
            <a:r>
              <a:rPr lang="zh-CN" altLang="zh-CN" dirty="0">
                <a:solidFill>
                  <a:schemeClr val="bg1"/>
                </a:solidFill>
                <a:latin typeface="Arial" panose="020B0604020202020204" pitchFamily="34" charset="0"/>
              </a:rPr>
              <a:t>的方法</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val xmus = university filter {kv =&gt; kv._2 contains "Xiamen"}</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universityOfXiamen: scala.collection.immutable.Map[String,String] = Map(XMU -&gt; Xiamen University, XMUT -&gt; Xiamen University of Technology)</a:t>
            </a:r>
            <a:endParaRPr lang="zh-CN" altLang="en-US" dirty="0">
              <a:solidFill>
                <a:schemeClr val="bg1"/>
              </a:solidFill>
              <a:latin typeface="Arial"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157699" name="文本框 7"/>
          <p:cNvSpPr txBox="1"/>
          <p:nvPr/>
        </p:nvSpPr>
        <p:spPr>
          <a:xfrm>
            <a:off x="304800" y="1905000"/>
            <a:ext cx="8083624" cy="2306955"/>
          </a:xfrm>
          <a:prstGeom prst="rect">
            <a:avLst/>
          </a:prstGeom>
          <a:noFill/>
          <a:ln w="9525">
            <a:noFill/>
          </a:ln>
        </p:spPr>
        <p:txBody>
          <a:bodyPr wrap="square">
            <a:spAutoFit/>
          </a:bodyPr>
          <a:lstStyle/>
          <a:p>
            <a:pPr marL="342900" indent="-342900">
              <a:lnSpc>
                <a:spcPct val="100000"/>
              </a:lnSpc>
              <a:buFontTx/>
              <a:buChar char="•"/>
            </a:pPr>
            <a:r>
              <a:rPr lang="zh-CN" altLang="zh-CN" sz="2400" dirty="0">
                <a:latin typeface="宋体" panose="02010600030101010101" pitchFamily="2" charset="-122"/>
              </a:rPr>
              <a:t>规约操作是对容器元素进行两两运算，将其“规约”为一个值</a:t>
            </a:r>
            <a:endParaRPr lang="zh-CN" altLang="zh-CN" sz="2400" dirty="0">
              <a:latin typeface="宋体" panose="02010600030101010101" pitchFamily="2" charset="-122"/>
            </a:endParaRPr>
          </a:p>
          <a:p>
            <a:pPr marL="342900" indent="-342900">
              <a:lnSpc>
                <a:spcPct val="100000"/>
              </a:lnSpc>
              <a:buFontTx/>
              <a:buChar char="•"/>
            </a:pPr>
            <a:r>
              <a:rPr lang="zh-CN" altLang="zh-CN" sz="2400" dirty="0">
                <a:latin typeface="宋体" panose="02010600030101010101" pitchFamily="2" charset="-122"/>
              </a:rPr>
              <a:t>reduce方法：接受一个二元函数f作为参数，首先将f作用在某两个元素上并返回一个值，然后再将f作用在上一个返回值和容器的下一个元素上，再返回一个值，依此类推，最后容器中的所有值会被规约为一个值</a:t>
            </a:r>
            <a:endParaRPr lang="zh-CN" altLang="zh-CN" sz="2400" dirty="0">
              <a:latin typeface="宋体" panose="02010600030101010101" pitchFamily="2" charset="-122"/>
            </a:endParaRPr>
          </a:p>
        </p:txBody>
      </p:sp>
      <p:sp>
        <p:nvSpPr>
          <p:cNvPr id="157700" name="矩形 4"/>
          <p:cNvSpPr/>
          <p:nvPr/>
        </p:nvSpPr>
        <p:spPr>
          <a:xfrm>
            <a:off x="762000" y="1143000"/>
            <a:ext cx="1661160"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规约操作</a:t>
            </a:r>
            <a:endParaRPr lang="zh-CN" altLang="en-US" sz="2400" b="1" dirty="0">
              <a:latin typeface="Arial" panose="020B0604020202020204" pitchFamily="34" charset="0"/>
            </a:endParaRPr>
          </a:p>
        </p:txBody>
      </p:sp>
      <p:sp>
        <p:nvSpPr>
          <p:cNvPr id="158724" name="TextBox 4"/>
          <p:cNvSpPr txBox="1"/>
          <p:nvPr/>
        </p:nvSpPr>
        <p:spPr>
          <a:xfrm>
            <a:off x="762000" y="4211955"/>
            <a:ext cx="7239000" cy="2306955"/>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scala&gt; val list =List(1,2,3,4,5)</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list: List[Int] = List(1, 2, 3, 4, 5)</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list.reduce(_ + _) //</a:t>
            </a:r>
            <a:r>
              <a:rPr lang="zh-CN" altLang="zh-CN" dirty="0">
                <a:solidFill>
                  <a:schemeClr val="bg1"/>
                </a:solidFill>
                <a:latin typeface="Arial" panose="020B0604020202020204" pitchFamily="34" charset="0"/>
              </a:rPr>
              <a:t>将列表元素累加，使用了占位符语法</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res16: Int = 15</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list.reduce(_ * _) //</a:t>
            </a:r>
            <a:r>
              <a:rPr lang="zh-CN" altLang="zh-CN" dirty="0">
                <a:solidFill>
                  <a:schemeClr val="bg1"/>
                </a:solidFill>
                <a:latin typeface="Arial" panose="020B0604020202020204" pitchFamily="34" charset="0"/>
              </a:rPr>
              <a:t>将列表元素连乘</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res17: Int = 120</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list map (_.toString) reduce ((x,y)=&gt;s"f($x,$y)")</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res5: String = f(f(f(f(1,2),3),4),5) //f</a:t>
            </a:r>
            <a:r>
              <a:rPr lang="zh-CN" altLang="zh-CN" dirty="0">
                <a:solidFill>
                  <a:schemeClr val="bg1"/>
                </a:solidFill>
                <a:latin typeface="Arial" panose="020B0604020202020204" pitchFamily="34" charset="0"/>
              </a:rPr>
              <a:t>表示传入</a:t>
            </a:r>
            <a:r>
              <a:rPr lang="en-US" altLang="zh-CN" dirty="0">
                <a:solidFill>
                  <a:schemeClr val="bg1"/>
                </a:solidFill>
                <a:latin typeface="Arial" panose="020B0604020202020204" pitchFamily="34" charset="0"/>
              </a:rPr>
              <a:t>reduce</a:t>
            </a:r>
            <a:r>
              <a:rPr lang="zh-CN" altLang="zh-CN" dirty="0">
                <a:solidFill>
                  <a:schemeClr val="bg1"/>
                </a:solidFill>
                <a:latin typeface="Arial" panose="020B0604020202020204" pitchFamily="34" charset="0"/>
              </a:rPr>
              <a:t>的二元函数</a:t>
            </a:r>
            <a:endParaRPr lang="zh-CN" altLang="en-US" dirty="0">
              <a:solidFill>
                <a:schemeClr val="bg1"/>
              </a:solidFill>
              <a:latin typeface="Arial" panose="020B060402020202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159747" name="文本框 7"/>
          <p:cNvSpPr txBox="1"/>
          <p:nvPr/>
        </p:nvSpPr>
        <p:spPr>
          <a:xfrm>
            <a:off x="463550" y="1684338"/>
            <a:ext cx="7689850" cy="829945"/>
          </a:xfrm>
          <a:prstGeom prst="rect">
            <a:avLst/>
          </a:prstGeom>
          <a:noFill/>
          <a:ln w="9525">
            <a:noFill/>
          </a:ln>
        </p:spPr>
        <p:txBody>
          <a:bodyPr>
            <a:spAutoFit/>
          </a:bodyPr>
          <a:lstStyle/>
          <a:p>
            <a:pPr marL="342900" indent="-342900">
              <a:buFontTx/>
              <a:buChar char="•"/>
            </a:pPr>
            <a:r>
              <a:rPr lang="zh-CN" altLang="zh-CN" sz="2400" dirty="0">
                <a:latin typeface="宋体" panose="02010600030101010101" pitchFamily="2" charset="-122"/>
              </a:rPr>
              <a:t>reduceLeft和reduceRight：前者从左到右进行遍历，后者从右到左进行遍历</a:t>
            </a:r>
            <a:endParaRPr lang="zh-CN" altLang="zh-CN" sz="2400" dirty="0">
              <a:latin typeface="宋体" panose="02010600030101010101" pitchFamily="2" charset="-122"/>
            </a:endParaRPr>
          </a:p>
        </p:txBody>
      </p:sp>
      <p:pic>
        <p:nvPicPr>
          <p:cNvPr id="167940" name="图片 3"/>
          <p:cNvPicPr>
            <a:picLocks noChangeAspect="1"/>
          </p:cNvPicPr>
          <p:nvPr/>
        </p:nvPicPr>
        <p:blipFill>
          <a:blip r:embed="rId1"/>
          <a:stretch>
            <a:fillRect/>
          </a:stretch>
        </p:blipFill>
        <p:spPr>
          <a:xfrm>
            <a:off x="568325" y="2725738"/>
            <a:ext cx="7748091" cy="3574497"/>
          </a:xfrm>
          <a:prstGeom prst="rect">
            <a:avLst/>
          </a:prstGeom>
          <a:noFill/>
          <a:ln w="9525">
            <a:noFill/>
          </a:ln>
        </p:spPr>
      </p:pic>
      <p:sp>
        <p:nvSpPr>
          <p:cNvPr id="159749" name="矩形 4"/>
          <p:cNvSpPr/>
          <p:nvPr/>
        </p:nvSpPr>
        <p:spPr>
          <a:xfrm>
            <a:off x="762000" y="1066800"/>
            <a:ext cx="1661160"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规约操作</a:t>
            </a:r>
            <a:endParaRPr lang="zh-CN" altLang="en-US" sz="24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940"/>
                                        </p:tgtEl>
                                        <p:attrNameLst>
                                          <p:attrName>style.visibility</p:attrName>
                                        </p:attrNameLst>
                                      </p:cBhvr>
                                      <p:to>
                                        <p:strVal val="visible"/>
                                      </p:to>
                                    </p:set>
                                    <p:anim calcmode="lin" valueType="num">
                                      <p:cBhvr additive="base">
                                        <p:cTn id="7" dur="500" fill="hold"/>
                                        <p:tgtEl>
                                          <p:spTgt spid="167940"/>
                                        </p:tgtEl>
                                        <p:attrNameLst>
                                          <p:attrName>ppt_x</p:attrName>
                                        </p:attrNameLst>
                                      </p:cBhvr>
                                      <p:tavLst>
                                        <p:tav tm="0">
                                          <p:val>
                                            <p:strVal val="#ppt_x"/>
                                          </p:val>
                                        </p:tav>
                                        <p:tav tm="100000">
                                          <p:val>
                                            <p:strVal val="#ppt_x"/>
                                          </p:val>
                                        </p:tav>
                                      </p:tavLst>
                                    </p:anim>
                                    <p:anim calcmode="lin" valueType="num">
                                      <p:cBhvr additive="base">
                                        <p:cTn id="8" dur="500" fill="hold"/>
                                        <p:tgtEl>
                                          <p:spTgt spid="1679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160771" name="TextBox 3"/>
          <p:cNvSpPr txBox="1"/>
          <p:nvPr/>
        </p:nvSpPr>
        <p:spPr>
          <a:xfrm>
            <a:off x="855663" y="1981200"/>
            <a:ext cx="6916737" cy="3415030"/>
          </a:xfrm>
          <a:prstGeom prst="rect">
            <a:avLst/>
          </a:prstGeom>
          <a:solidFill>
            <a:schemeClr val="tx1"/>
          </a:solidFill>
          <a:ln w="9525">
            <a:noFill/>
          </a:ln>
        </p:spPr>
        <p:txBody>
          <a:bodyPr>
            <a:spAutoFit/>
          </a:bodyPr>
          <a:lstStyle/>
          <a:p>
            <a:r>
              <a:rPr lang="en-US" altLang="zh-CN" dirty="0">
                <a:solidFill>
                  <a:schemeClr val="bg1"/>
                </a:solidFill>
                <a:latin typeface="Arial" panose="020B0604020202020204" pitchFamily="34" charset="0"/>
              </a:rPr>
              <a:t>scala&gt; val list = List(1,2,3,4,5)</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list: List[Int] = List(1, 2, 3, 4, 5)</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list reduceLeft {_-_}</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res24: Int = -13</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list reduceRight {_-_}</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res25: Int = 3</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val s = list map (_.toString)  //</a:t>
            </a:r>
            <a:r>
              <a:rPr lang="zh-CN" altLang="zh-CN" dirty="0">
                <a:solidFill>
                  <a:schemeClr val="bg1"/>
                </a:solidFill>
                <a:latin typeface="Arial" panose="020B0604020202020204" pitchFamily="34" charset="0"/>
              </a:rPr>
              <a:t>将整型列表转换成字符串列表</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 List[String] = List(1, 2, 3, 4, 5)</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s reduceLeft {(accu,x)=&gt;s"($accu-$x)"}</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res28: String = ((((1-2)-3)-4)-5)//list reduceLeft{_-_}</a:t>
            </a:r>
            <a:r>
              <a:rPr lang="zh-CN" altLang="zh-CN" dirty="0">
                <a:solidFill>
                  <a:schemeClr val="bg1"/>
                </a:solidFill>
                <a:latin typeface="Arial" panose="020B0604020202020204" pitchFamily="34" charset="0"/>
              </a:rPr>
              <a:t>的计算过程</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scala&gt; s reduceRight {(x,accu)=&gt;s"($x-$accu)"}</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res30: String = (1-(2-(3-(4-5))))//list reduceRight{_-_}</a:t>
            </a:r>
            <a:r>
              <a:rPr lang="zh-CN" altLang="zh-CN" dirty="0">
                <a:solidFill>
                  <a:schemeClr val="bg1"/>
                </a:solidFill>
                <a:latin typeface="Arial" panose="020B0604020202020204" pitchFamily="34" charset="0"/>
              </a:rPr>
              <a:t>的计算过程</a:t>
            </a:r>
            <a:endParaRPr lang="zh-CN" altLang="en-US" dirty="0">
              <a:solidFill>
                <a:schemeClr val="bg1"/>
              </a:solidFill>
              <a:latin typeface="Arial" panose="020B0604020202020204" pitchFamily="34" charset="0"/>
            </a:endParaRPr>
          </a:p>
        </p:txBody>
      </p:sp>
      <p:sp>
        <p:nvSpPr>
          <p:cNvPr id="160772" name="矩形 4"/>
          <p:cNvSpPr/>
          <p:nvPr/>
        </p:nvSpPr>
        <p:spPr>
          <a:xfrm>
            <a:off x="762000" y="1143000"/>
            <a:ext cx="1661160"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规约操作</a:t>
            </a:r>
            <a:endParaRPr lang="zh-CN" altLang="en-US" sz="2400" b="1" dirty="0">
              <a:latin typeface="Arial" panose="020B0604020202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8" name="文本框 7"/>
          <p:cNvSpPr txBox="1"/>
          <p:nvPr/>
        </p:nvSpPr>
        <p:spPr>
          <a:xfrm>
            <a:off x="292100" y="1495425"/>
            <a:ext cx="8089900" cy="1630045"/>
          </a:xfrm>
          <a:prstGeom prst="rect">
            <a:avLst/>
          </a:prstGeom>
          <a:noFill/>
          <a:ln w="9525">
            <a:noFill/>
          </a:ln>
        </p:spPr>
        <p:txBody>
          <a:bodyPr wrap="square">
            <a:spAutoFit/>
          </a:bodyPr>
          <a:lstStyle/>
          <a:p>
            <a:pPr marL="342900" indent="-342900">
              <a:buFontTx/>
              <a:buChar char="•"/>
            </a:pPr>
            <a:r>
              <a:rPr lang="zh-CN" altLang="zh-CN" sz="2000" dirty="0">
                <a:latin typeface="宋体" panose="02010600030101010101" pitchFamily="2" charset="-122"/>
              </a:rPr>
              <a:t>fold方法：一个双参数列表的函数，从提供的初始值开始规约。第一个参数列表接受一个规约的初始值，第二个参数列表接受与reduce中一样的二元函数参数</a:t>
            </a:r>
            <a:endParaRPr lang="zh-CN" altLang="zh-CN" sz="2000" dirty="0">
              <a:latin typeface="宋体" panose="02010600030101010101" pitchFamily="2" charset="-122"/>
            </a:endParaRPr>
          </a:p>
          <a:p>
            <a:pPr marL="342900" indent="-342900">
              <a:buFontTx/>
              <a:buChar char="•"/>
            </a:pPr>
            <a:r>
              <a:rPr lang="zh-CN" altLang="zh-CN" sz="2000" dirty="0">
                <a:latin typeface="宋体" panose="02010600030101010101" pitchFamily="2" charset="-122"/>
              </a:rPr>
              <a:t>foldLeft和foldRight：前者从左到右进行遍历，后者从右到左进行遍历</a:t>
            </a:r>
            <a:endParaRPr lang="zh-CN" altLang="zh-CN" sz="2000" dirty="0">
              <a:latin typeface="宋体" panose="02010600030101010101" pitchFamily="2" charset="-122"/>
            </a:endParaRPr>
          </a:p>
        </p:txBody>
      </p:sp>
      <p:pic>
        <p:nvPicPr>
          <p:cNvPr id="169988" name="图片 1"/>
          <p:cNvPicPr>
            <a:picLocks noChangeAspect="1"/>
          </p:cNvPicPr>
          <p:nvPr/>
        </p:nvPicPr>
        <p:blipFill>
          <a:blip r:embed="rId1"/>
          <a:stretch>
            <a:fillRect/>
          </a:stretch>
        </p:blipFill>
        <p:spPr>
          <a:xfrm>
            <a:off x="1062038" y="2994025"/>
            <a:ext cx="7254378" cy="3482975"/>
          </a:xfrm>
          <a:prstGeom prst="rect">
            <a:avLst/>
          </a:prstGeom>
          <a:noFill/>
          <a:ln w="9525">
            <a:noFill/>
          </a:ln>
        </p:spPr>
      </p:pic>
      <p:sp>
        <p:nvSpPr>
          <p:cNvPr id="161797" name="矩形 4"/>
          <p:cNvSpPr/>
          <p:nvPr/>
        </p:nvSpPr>
        <p:spPr>
          <a:xfrm>
            <a:off x="762000" y="990600"/>
            <a:ext cx="1661160"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规约操作</a:t>
            </a:r>
            <a:endParaRPr lang="zh-CN" altLang="en-US" sz="24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wipe(left)">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9988"/>
                                        </p:tgtEl>
                                        <p:attrNameLst>
                                          <p:attrName>style.visibility</p:attrName>
                                        </p:attrNameLst>
                                      </p:cBhvr>
                                      <p:to>
                                        <p:strVal val="visible"/>
                                      </p:to>
                                    </p:set>
                                    <p:anim calcmode="lin" valueType="num">
                                      <p:cBhvr additive="base">
                                        <p:cTn id="12" dur="500" fill="hold"/>
                                        <p:tgtEl>
                                          <p:spTgt spid="169988"/>
                                        </p:tgtEl>
                                        <p:attrNameLst>
                                          <p:attrName>ppt_x</p:attrName>
                                        </p:attrNameLst>
                                      </p:cBhvr>
                                      <p:tavLst>
                                        <p:tav tm="0">
                                          <p:val>
                                            <p:strVal val="#ppt_x"/>
                                          </p:val>
                                        </p:tav>
                                        <p:tav tm="100000">
                                          <p:val>
                                            <p:strVal val="#ppt_x"/>
                                          </p:val>
                                        </p:tav>
                                      </p:tavLst>
                                    </p:anim>
                                    <p:anim calcmode="lin" valueType="num">
                                      <p:cBhvr additive="base">
                                        <p:cTn id="13" dur="500" fill="hold"/>
                                        <p:tgtEl>
                                          <p:spTgt spid="1699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标题 1"/>
          <p:cNvSpPr>
            <a:spLocks noGrp="1"/>
          </p:cNvSpPr>
          <p:nvPr>
            <p:ph type="title"/>
          </p:nvPr>
        </p:nvSpPr>
        <p:spPr/>
        <p:txBody>
          <a:bodyPr vert="horz" wrap="square" lIns="91440" tIns="45720" rIns="91440" bIns="45720" anchor="ctr"/>
          <a:lstStyle/>
          <a:p>
            <a:r>
              <a:rPr lang="en-US" altLang="zh-CN" dirty="0"/>
              <a:t>8.4.3 </a:t>
            </a:r>
            <a:r>
              <a:rPr lang="zh-CN" altLang="en-US" dirty="0"/>
              <a:t>针对容器的操作</a:t>
            </a:r>
            <a:endParaRPr lang="zh-CN" altLang="en-US" dirty="0"/>
          </a:p>
        </p:txBody>
      </p:sp>
      <p:sp>
        <p:nvSpPr>
          <p:cNvPr id="162819" name="TextBox 3"/>
          <p:cNvSpPr txBox="1"/>
          <p:nvPr/>
        </p:nvSpPr>
        <p:spPr>
          <a:xfrm>
            <a:off x="609600" y="1752600"/>
            <a:ext cx="8077200" cy="3169285"/>
          </a:xfrm>
          <a:prstGeom prst="rect">
            <a:avLst/>
          </a:prstGeom>
          <a:solidFill>
            <a:schemeClr val="tx1"/>
          </a:solidFill>
          <a:ln w="9525">
            <a:noFill/>
          </a:ln>
        </p:spPr>
        <p:txBody>
          <a:bodyPr>
            <a:spAutoFit/>
          </a:bodyPr>
          <a:lstStyle/>
          <a:p>
            <a:r>
              <a:rPr lang="en-US" altLang="zh-CN" sz="2000" dirty="0">
                <a:solidFill>
                  <a:schemeClr val="bg1"/>
                </a:solidFill>
                <a:latin typeface="Arial" panose="020B0604020202020204" pitchFamily="34" charset="0"/>
              </a:rPr>
              <a:t>scala&gt; val list =List(1,2,3,4,5)</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list: List[Int] = List(1, 2, 3, 4, 5)</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scala&gt; list.fold(10)(_*_)</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res32: Int = 1200</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scala&gt; (list fold 10)(_*_) //fold</a:t>
            </a:r>
            <a:r>
              <a:rPr lang="zh-CN" altLang="zh-CN" sz="2000" dirty="0">
                <a:solidFill>
                  <a:schemeClr val="bg1"/>
                </a:solidFill>
                <a:latin typeface="Arial" panose="020B0604020202020204" pitchFamily="34" charset="0"/>
              </a:rPr>
              <a:t>的中缀调用写法</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res33: Int = 1200</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scala&gt; (list foldLeft 10)(_-_)//</a:t>
            </a:r>
            <a:r>
              <a:rPr lang="zh-CN" altLang="zh-CN" sz="2000" dirty="0">
                <a:solidFill>
                  <a:schemeClr val="bg1"/>
                </a:solidFill>
                <a:latin typeface="Arial" panose="020B0604020202020204" pitchFamily="34" charset="0"/>
              </a:rPr>
              <a:t>计算顺序</a:t>
            </a:r>
            <a:r>
              <a:rPr lang="en-US" altLang="zh-CN" sz="2000" dirty="0">
                <a:solidFill>
                  <a:schemeClr val="bg1"/>
                </a:solidFill>
                <a:latin typeface="Arial" panose="020B0604020202020204" pitchFamily="34" charset="0"/>
              </a:rPr>
              <a:t>(((((10-1)-2)-3)-4)-5)</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res34: Int = -5 </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scala&gt; (list foldRight 10)(_-_) //</a:t>
            </a:r>
            <a:r>
              <a:rPr lang="zh-CN" altLang="zh-CN" sz="2000" dirty="0">
                <a:solidFill>
                  <a:schemeClr val="bg1"/>
                </a:solidFill>
                <a:latin typeface="Arial" panose="020B0604020202020204" pitchFamily="34" charset="0"/>
              </a:rPr>
              <a:t>计算顺序</a:t>
            </a:r>
            <a:r>
              <a:rPr lang="en-US" altLang="zh-CN" sz="2000" dirty="0">
                <a:solidFill>
                  <a:schemeClr val="bg1"/>
                </a:solidFill>
                <a:latin typeface="Arial" panose="020B0604020202020204" pitchFamily="34" charset="0"/>
              </a:rPr>
              <a:t>(1-(2-(3-(4-(5-10)))))</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res35: Int = -7</a:t>
            </a:r>
            <a:endParaRPr lang="zh-CN" altLang="zh-CN" sz="2000" dirty="0">
              <a:solidFill>
                <a:schemeClr val="bg1"/>
              </a:solidFill>
              <a:latin typeface="Arial" panose="020B0604020202020204" pitchFamily="34" charset="0"/>
            </a:endParaRPr>
          </a:p>
        </p:txBody>
      </p:sp>
      <p:sp>
        <p:nvSpPr>
          <p:cNvPr id="162820" name="矩形 4"/>
          <p:cNvSpPr/>
          <p:nvPr/>
        </p:nvSpPr>
        <p:spPr>
          <a:xfrm>
            <a:off x="762000" y="990600"/>
            <a:ext cx="1661160" cy="645160"/>
          </a:xfrm>
          <a:prstGeom prst="rect">
            <a:avLst/>
          </a:prstGeom>
          <a:noFill/>
          <a:ln w="9525">
            <a:noFill/>
          </a:ln>
        </p:spPr>
        <p:txBody>
          <a:bodyPr wrap="none">
            <a:spAutoFit/>
          </a:bodyPr>
          <a:lstStyle/>
          <a:p>
            <a:pPr>
              <a:lnSpc>
                <a:spcPct val="150000"/>
              </a:lnSpc>
            </a:pPr>
            <a:r>
              <a:rPr lang="en-US" altLang="zh-CN" sz="2400" b="1" dirty="0">
                <a:latin typeface="Arial" panose="020B0604020202020204" pitchFamily="34" charset="0"/>
              </a:rPr>
              <a:t>4 </a:t>
            </a:r>
            <a:r>
              <a:rPr lang="zh-CN" altLang="en-US" sz="2400" b="1" dirty="0">
                <a:latin typeface="Arial" panose="020B0604020202020204" pitchFamily="34" charset="0"/>
              </a:rPr>
              <a:t>规约操作</a:t>
            </a:r>
            <a:endParaRPr lang="zh-CN" altLang="en-US" sz="2400" b="1" dirty="0">
              <a:latin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subTitle" idx="1"/>
          </p:nvPr>
        </p:nvSpPr>
        <p:spPr bwMode="white">
          <a:xfrm>
            <a:off x="2819400" y="4953000"/>
            <a:ext cx="5167313" cy="414338"/>
          </a:xfrm>
          <a:extLst>
            <a:ext uri="{91240B29-F687-4F45-9708-019B960494DF}">
              <a14:hiddenLine xmlns:a14="http://schemas.microsoft.com/office/drawing/2010/main" w="9525">
                <a:solidFill>
                  <a:schemeClr val="bg1"/>
                </a:solidFill>
                <a:miter lim="800000"/>
                <a:headEnd/>
                <a:tailEnd/>
              </a14:hiddenLine>
            </a:ext>
          </a:extLst>
        </p:spPr>
        <p:txBody>
          <a:bodyPr/>
          <a:lstStyle/>
          <a:p>
            <a:pPr algn="dist">
              <a:lnSpc>
                <a:spcPct val="80000"/>
              </a:lnSpc>
            </a:pPr>
            <a:r>
              <a:rPr lang="en-US" altLang="zh-CN" sz="1800" b="1">
                <a:solidFill>
                  <a:schemeClr val="bg1"/>
                </a:solidFill>
                <a:latin typeface="Arial" panose="020B0604020202020204" pitchFamily="34" charset="0"/>
                <a:ea typeface="宋体" panose="02010600030101010101" pitchFamily="2" charset="-122"/>
              </a:rPr>
              <a:t>Click to edit company slogan .</a:t>
            </a:r>
            <a:endParaRPr lang="en-US" altLang="zh-CN" sz="1800" b="1">
              <a:solidFill>
                <a:schemeClr val="bg1"/>
              </a:solidFill>
              <a:latin typeface="Arial" panose="020B0604020202020204" pitchFamily="34" charset="0"/>
              <a:ea typeface="宋体" panose="02010600030101010101" pitchFamily="2" charset="-122"/>
            </a:endParaRPr>
          </a:p>
        </p:txBody>
      </p:sp>
      <p:sp>
        <p:nvSpPr>
          <p:cNvPr id="87045" name="WordArt 5"/>
          <p:cNvSpPr>
            <a:spLocks noChangeArrowheads="1" noChangeShapeType="1" noTextEdit="1"/>
          </p:cNvSpPr>
          <p:nvPr/>
        </p:nvSpPr>
        <p:spPr bwMode="gray">
          <a:xfrm>
            <a:off x="3674864" y="4396333"/>
            <a:ext cx="1728192" cy="587896"/>
          </a:xfrm>
          <a:prstGeom prst="rect">
            <a:avLst/>
          </a:prstGeom>
        </p:spPr>
        <p:txBody>
          <a:bodyPr wrap="none" fromWordArt="1">
            <a:prstTxWarp prst="textDeflate">
              <a:avLst>
                <a:gd name="adj" fmla="val 0"/>
              </a:avLst>
            </a:prstTxWarp>
          </a:bodyPr>
          <a:lstStyle/>
          <a:p>
            <a:pPr algn="ctr"/>
            <a:r>
              <a:rPr lang="zh-CN" altLang="en-US"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谢谢</a:t>
            </a:r>
            <a:r>
              <a:rPr lang="en-US" altLang="zh-CN"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a:t>
            </a:r>
            <a:endParaRPr lang="zh-CN" altLang="en-US"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7045"/>
                                        </p:tgtEl>
                                        <p:attrNameLst>
                                          <p:attrName>style.visibility</p:attrName>
                                        </p:attrNameLst>
                                      </p:cBhvr>
                                      <p:to>
                                        <p:strVal val="visible"/>
                                      </p:to>
                                    </p:set>
                                    <p:anim calcmode="lin" valueType="num">
                                      <p:cBhvr>
                                        <p:cTn id="7" dur="500" fill="hold"/>
                                        <p:tgtEl>
                                          <p:spTgt spid="87045"/>
                                        </p:tgtEl>
                                        <p:attrNameLst>
                                          <p:attrName>ppt_w</p:attrName>
                                        </p:attrNameLst>
                                      </p:cBhvr>
                                      <p:tavLst>
                                        <p:tav tm="0">
                                          <p:val>
                                            <p:fltVal val="0"/>
                                          </p:val>
                                        </p:tav>
                                        <p:tav tm="100000">
                                          <p:val>
                                            <p:strVal val="#ppt_w"/>
                                          </p:val>
                                        </p:tav>
                                      </p:tavLst>
                                    </p:anim>
                                    <p:anim calcmode="lin" valueType="num">
                                      <p:cBhvr>
                                        <p:cTn id="8" dur="500" fill="hold"/>
                                        <p:tgtEl>
                                          <p:spTgt spid="87045"/>
                                        </p:tgtEl>
                                        <p:attrNameLst>
                                          <p:attrName>ppt_h</p:attrName>
                                        </p:attrNameLst>
                                      </p:cBhvr>
                                      <p:tavLst>
                                        <p:tav tm="0">
                                          <p:val>
                                            <p:fltVal val="0"/>
                                          </p:val>
                                        </p:tav>
                                        <p:tav tm="100000">
                                          <p:val>
                                            <p:strVal val="#ppt_h"/>
                                          </p:val>
                                        </p:tav>
                                      </p:tavLst>
                                    </p:anim>
                                    <p:animEffect transition="in" filter="fade">
                                      <p:cBhvr>
                                        <p:cTn id="9" dur="500"/>
                                        <p:tgtEl>
                                          <p:spTgt spid="87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animBg="1"/>
    </p:bldLst>
  </p:timing>
</p:sld>
</file>

<file path=ppt/theme/theme1.xml><?xml version="1.0" encoding="utf-8"?>
<a:theme xmlns:a="http://schemas.openxmlformats.org/drawingml/2006/main" name="cdb2004c012l">
  <a:themeElements>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2CA3C8"/>
        </a:accent1>
        <a:accent2>
          <a:srgbClr val="FF9900"/>
        </a:accent2>
        <a:accent3>
          <a:srgbClr val="FFFFFF"/>
        </a:accent3>
        <a:accent4>
          <a:srgbClr val="174578"/>
        </a:accent4>
        <a:accent5>
          <a:srgbClr val="ACCE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666633"/>
        </a:dk1>
        <a:lt1>
          <a:srgbClr val="FFFFFF"/>
        </a:lt1>
        <a:dk2>
          <a:srgbClr val="000000"/>
        </a:dk2>
        <a:lt2>
          <a:srgbClr val="D1C68D"/>
        </a:lt2>
        <a:accent1>
          <a:srgbClr val="C86C62"/>
        </a:accent1>
        <a:accent2>
          <a:srgbClr val="C78DD7"/>
        </a:accent2>
        <a:accent3>
          <a:srgbClr val="FFFFFF"/>
        </a:accent3>
        <a:accent4>
          <a:srgbClr val="56562A"/>
        </a:accent4>
        <a:accent5>
          <a:srgbClr val="E0BAB7"/>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cdb2004c012l</Template>
  <TotalTime>0</TotalTime>
  <Words>20774</Words>
  <Application>WPS 演示</Application>
  <PresentationFormat>全屏显示(4:3)</PresentationFormat>
  <Paragraphs>1174</Paragraphs>
  <Slides>91</Slides>
  <Notes>27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91</vt:i4>
      </vt:variant>
    </vt:vector>
  </HeadingPairs>
  <TitlesOfParts>
    <vt:vector size="102" baseType="lpstr">
      <vt:lpstr>Arial</vt:lpstr>
      <vt:lpstr>宋体</vt:lpstr>
      <vt:lpstr>Wingdings</vt:lpstr>
      <vt:lpstr>Verdana</vt:lpstr>
      <vt:lpstr>Times New Roman</vt:lpstr>
      <vt:lpstr>微软雅黑</vt:lpstr>
      <vt:lpstr>Arial Unicode MS</vt:lpstr>
      <vt:lpstr>Calibri</vt:lpstr>
      <vt:lpstr>Courier New</vt:lpstr>
      <vt:lpstr>Arial</vt:lpstr>
      <vt:lpstr>cdb2004c012l</vt:lpstr>
      <vt:lpstr>第8章 Scala语言</vt:lpstr>
      <vt:lpstr>主要内容</vt:lpstr>
      <vt:lpstr>8.1 Scala语言概述</vt:lpstr>
      <vt:lpstr>8.1.1 什么是Scala</vt:lpstr>
      <vt:lpstr>8.1.2 安装Scala</vt:lpstr>
      <vt:lpstr>8.1.3 使用Scala</vt:lpstr>
      <vt:lpstr>8.1.3 使用Scala</vt:lpstr>
      <vt:lpstr>8.1.3 使用Scala</vt:lpstr>
      <vt:lpstr>8.1.3 使用Scala</vt:lpstr>
      <vt:lpstr>主要内容</vt:lpstr>
      <vt:lpstr>8.2 Scala语言基础</vt:lpstr>
      <vt:lpstr>8.2.1基本数据类型和变量</vt:lpstr>
      <vt:lpstr>8.2.1基本数据类型和变量</vt:lpstr>
      <vt:lpstr>8.2.1基本数据类型和变量</vt:lpstr>
      <vt:lpstr>8.2.1基本数据类型和变量</vt:lpstr>
      <vt:lpstr>8.2.1基本数据类型和变量</vt:lpstr>
      <vt:lpstr>8.8.2 控制结构</vt:lpstr>
      <vt:lpstr>8.8.3 控制结构</vt:lpstr>
      <vt:lpstr>8.8.3 控制结构</vt:lpstr>
      <vt:lpstr>8.8.3 控制结构</vt:lpstr>
      <vt:lpstr>8.8.3 控制结构</vt:lpstr>
      <vt:lpstr>8.8.3 控制结构</vt:lpstr>
      <vt:lpstr>8.8.3 控制结构</vt:lpstr>
      <vt:lpstr>8.8.3 控制结构</vt:lpstr>
      <vt:lpstr>8.8.3 控制结构</vt:lpstr>
      <vt:lpstr>主要内容</vt:lpstr>
      <vt:lpstr>8.3 面向对象编程基础</vt:lpstr>
      <vt:lpstr>8.3.1 类</vt:lpstr>
      <vt:lpstr>8.3.1 类</vt:lpstr>
      <vt:lpstr>8.3.1 类</vt:lpstr>
      <vt:lpstr>8.3.1 类</vt:lpstr>
      <vt:lpstr>8.3.1 类</vt:lpstr>
      <vt:lpstr>8.3.1 类</vt:lpstr>
      <vt:lpstr>8.3.1 类</vt:lpstr>
      <vt:lpstr>8.3.1 类</vt:lpstr>
      <vt:lpstr>8.3.1 类</vt:lpstr>
      <vt:lpstr>8.3.1 类</vt:lpstr>
      <vt:lpstr>8.3.1 类</vt:lpstr>
      <vt:lpstr>8.3.1 类</vt:lpstr>
      <vt:lpstr>8.3.1 类</vt:lpstr>
      <vt:lpstr>8.3.2 对象</vt:lpstr>
      <vt:lpstr>8.3.2 对象</vt:lpstr>
      <vt:lpstr>8.3.2 对象</vt:lpstr>
      <vt:lpstr>8.3.2 对象</vt:lpstr>
      <vt:lpstr>8.3.2 对象</vt:lpstr>
      <vt:lpstr>8.3.2 对象</vt:lpstr>
      <vt:lpstr>8.3.2 对象</vt:lpstr>
      <vt:lpstr>8.3.3 继承</vt:lpstr>
      <vt:lpstr>8.3.3 继承</vt:lpstr>
      <vt:lpstr>8.3.3 继承</vt:lpstr>
      <vt:lpstr>8.3.3 继承</vt:lpstr>
      <vt:lpstr>8.3.3 继承</vt:lpstr>
      <vt:lpstr>8.3.3 继承</vt:lpstr>
      <vt:lpstr>8.3.4 特质（trait）</vt:lpstr>
      <vt:lpstr>8.3.4 特质（trait）</vt:lpstr>
      <vt:lpstr>8.3.4 特质（trait）</vt:lpstr>
      <vt:lpstr>8.3.4 特质（trait）</vt:lpstr>
      <vt:lpstr>8.3.4 特质（trait）</vt:lpstr>
      <vt:lpstr>8.3.4 特质（trait）</vt:lpstr>
      <vt:lpstr>8.3.5 模式匹配</vt:lpstr>
      <vt:lpstr>8.3.5 模式匹配</vt:lpstr>
      <vt:lpstr>8.3.5 模式匹配</vt:lpstr>
      <vt:lpstr>8.3.5 模式匹配</vt:lpstr>
      <vt:lpstr>8.3.5 模式匹配</vt:lpstr>
      <vt:lpstr>8.3.5 模式匹配</vt:lpstr>
      <vt:lpstr>8.3.5 模式匹配</vt:lpstr>
      <vt:lpstr>8.3.5 模式匹配</vt:lpstr>
      <vt:lpstr>主要内容</vt:lpstr>
      <vt:lpstr>8.4 函数式编程</vt:lpstr>
      <vt:lpstr>8.4.1 函数定义与使用</vt:lpstr>
      <vt:lpstr>8.4.1 函数定义与使用</vt:lpstr>
      <vt:lpstr>8.4.1 函数定义与使用</vt:lpstr>
      <vt:lpstr>8.4.1 函数定义与使用</vt:lpstr>
      <vt:lpstr>8.4.1 函数定义与使用</vt:lpstr>
      <vt:lpstr>8.4.1 函数定义与使用</vt:lpstr>
      <vt:lpstr>8.4.1 函数定义与使用</vt:lpstr>
      <vt:lpstr>8.4.1 函数定义与使用</vt:lpstr>
      <vt:lpstr>8.4.2 高阶函数</vt:lpstr>
      <vt:lpstr>8.4.2 高阶函数</vt:lpstr>
      <vt:lpstr>8.4.3 针对容器的操作</vt:lpstr>
      <vt:lpstr>8.4.3 针对容器的操作</vt:lpstr>
      <vt:lpstr>8.4.3 针对容器的操作</vt:lpstr>
      <vt:lpstr>8.4.3 针对容器的操作</vt:lpstr>
      <vt:lpstr>8.4.3 针对容器的操作</vt:lpstr>
      <vt:lpstr>8.4.3 针对容器的操作</vt:lpstr>
      <vt:lpstr>8.4.3 针对容器的操作</vt:lpstr>
      <vt:lpstr>8.4.3 针对容器的操作</vt:lpstr>
      <vt:lpstr>8.4.3 针对容器的操作</vt:lpstr>
      <vt:lpstr>8.4.3 针对容器的操作</vt:lpstr>
      <vt:lpstr>8.4.3 针对容器的操作</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hadoop</dc:creator>
  <cp:lastModifiedBy>陈红顺</cp:lastModifiedBy>
  <cp:revision>499</cp:revision>
  <dcterms:created xsi:type="dcterms:W3CDTF">2017-03-03T01:55:00Z</dcterms:created>
  <dcterms:modified xsi:type="dcterms:W3CDTF">2021-05-07T03:32:59Z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2052-11.1.0.10463</vt:lpwstr>
  </property>
  <property fmtid="{D5CDD505-2E9C-101B-9397-08002B2CF9AE}" pid="3" name="ICV">
    <vt:lpwstr>F2CEF1D16FE441F189B4BA186EB5B5A0</vt:lpwstr>
  </property>
</Properties>
</file>