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56" r:id="rId2"/>
    <p:sldId id="309" r:id="rId3"/>
    <p:sldId id="599" r:id="rId4"/>
    <p:sldId id="600" r:id="rId5"/>
    <p:sldId id="313" r:id="rId6"/>
    <p:sldId id="717" r:id="rId7"/>
    <p:sldId id="718" r:id="rId8"/>
    <p:sldId id="826" r:id="rId9"/>
    <p:sldId id="939" r:id="rId10"/>
    <p:sldId id="940" r:id="rId11"/>
    <p:sldId id="941" r:id="rId12"/>
    <p:sldId id="942" r:id="rId13"/>
    <p:sldId id="943" r:id="rId14"/>
    <p:sldId id="945" r:id="rId15"/>
    <p:sldId id="946" r:id="rId16"/>
    <p:sldId id="947" r:id="rId17"/>
    <p:sldId id="948" r:id="rId18"/>
    <p:sldId id="949" r:id="rId19"/>
    <p:sldId id="835" r:id="rId20"/>
    <p:sldId id="836" r:id="rId21"/>
    <p:sldId id="937" r:id="rId22"/>
    <p:sldId id="938" r:id="rId23"/>
    <p:sldId id="921" r:id="rId24"/>
    <p:sldId id="922" r:id="rId25"/>
    <p:sldId id="923" r:id="rId26"/>
    <p:sldId id="924" r:id="rId27"/>
    <p:sldId id="925" r:id="rId28"/>
    <p:sldId id="926" r:id="rId29"/>
    <p:sldId id="927" r:id="rId30"/>
    <p:sldId id="928" r:id="rId31"/>
    <p:sldId id="930" r:id="rId32"/>
    <p:sldId id="931" r:id="rId33"/>
    <p:sldId id="932" r:id="rId34"/>
    <p:sldId id="933" r:id="rId35"/>
    <p:sldId id="934" r:id="rId36"/>
    <p:sldId id="935" r:id="rId37"/>
    <p:sldId id="936" r:id="rId38"/>
    <p:sldId id="315" r:id="rId39"/>
    <p:sldId id="731" r:id="rId40"/>
    <p:sldId id="319" r:id="rId41"/>
    <p:sldId id="320" r:id="rId42"/>
    <p:sldId id="321" r:id="rId43"/>
    <p:sldId id="322" r:id="rId44"/>
    <p:sldId id="323" r:id="rId45"/>
    <p:sldId id="325" r:id="rId46"/>
    <p:sldId id="326" r:id="rId47"/>
    <p:sldId id="327" r:id="rId48"/>
    <p:sldId id="825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16" r:id="rId66"/>
    <p:sldId id="734" r:id="rId67"/>
    <p:sldId id="735" r:id="rId68"/>
    <p:sldId id="737" r:id="rId69"/>
    <p:sldId id="738" r:id="rId70"/>
    <p:sldId id="813" r:id="rId71"/>
    <p:sldId id="739" r:id="rId72"/>
    <p:sldId id="741" r:id="rId73"/>
    <p:sldId id="411" r:id="rId74"/>
    <p:sldId id="752" r:id="rId75"/>
    <p:sldId id="754" r:id="rId76"/>
    <p:sldId id="756" r:id="rId77"/>
    <p:sldId id="757" r:id="rId78"/>
    <p:sldId id="759" r:id="rId79"/>
    <p:sldId id="761" r:id="rId80"/>
    <p:sldId id="276" r:id="rId81"/>
  </p:sldIdLst>
  <p:sldSz cx="9144000" cy="6858000" type="screen4x3"/>
  <p:notesSz cx="6858000" cy="9144000"/>
  <p:custDataLst>
    <p:tags r:id="rId8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1254" autoAdjust="0"/>
  </p:normalViewPr>
  <p:slideViewPr>
    <p:cSldViewPr showGuides="1">
      <p:cViewPr varScale="1">
        <p:scale>
          <a:sx n="95" d="100"/>
          <a:sy n="95" d="100"/>
        </p:scale>
        <p:origin x="19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  <a:t>2023/2/28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  <a:t>2023/2/28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D408B-9088-4E1B-998F-9D60A79664CB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D408B-9088-4E1B-998F-9D60A79664CB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D408B-9088-4E1B-998F-9D60A79664CB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D408B-9088-4E1B-998F-9D60A79664CB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D408B-9088-4E1B-998F-9D60A79664CB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4114800"/>
            <a:ext cx="822960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49482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09600"/>
            <a:ext cx="8128000" cy="3395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hadoop.apache.org/docs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://hadoop.apache.org/docs/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267200"/>
            <a:ext cx="8229600" cy="762000"/>
          </a:xfrm>
        </p:spPr>
        <p:txBody>
          <a:bodyPr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2</a:t>
            </a:r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章 分布式文件系统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HDFS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91113"/>
            <a:ext cx="5943600" cy="6096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 flipV="1">
            <a:off x="179388" y="4648200"/>
            <a:ext cx="1466850" cy="9525"/>
          </a:xfrm>
          <a:prstGeom prst="line">
            <a:avLst/>
          </a:prstGeom>
          <a:noFill/>
          <a:ln w="76200" cap="rnd">
            <a:solidFill>
              <a:schemeClr val="accent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596188" y="4648200"/>
            <a:ext cx="1349375" cy="1588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2.1 Hadoop</a:t>
            </a:r>
            <a:r>
              <a:rPr lang="zh-CN" altLang="en-US" dirty="0">
                <a:solidFill>
                  <a:srgbClr val="FF0000"/>
                </a:solidFill>
              </a:rPr>
              <a:t>简介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2.2 HDFS</a:t>
            </a:r>
            <a:r>
              <a:rPr lang="zh-CN" altLang="en-US" dirty="0" smtClean="0"/>
              <a:t>文件系统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 HDFS Shell</a:t>
            </a:r>
            <a:r>
              <a:rPr lang="zh-CN" altLang="en-US" dirty="0"/>
              <a:t>命令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2.4 HDFS Java API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Hadoop</a:t>
            </a:r>
            <a:r>
              <a:rPr lang="zh-CN" altLang="en-US">
                <a:ea typeface="宋体" panose="02010600030101010101" pitchFamily="2" charset="-122"/>
              </a:rP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Hadoop </a:t>
            </a: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Apache开源软件基金会开发</a:t>
            </a:r>
          </a:p>
          <a:p>
            <a:pPr lvl="1"/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运行于大规模普通服务器上</a:t>
            </a:r>
          </a:p>
          <a:p>
            <a:pPr lvl="1"/>
            <a:r>
              <a:rPr lang="zh-CN" altLang="en-US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用于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大数据存储、计算、分析</a:t>
            </a:r>
          </a:p>
          <a:p>
            <a:pPr lvl="1"/>
            <a:r>
              <a:rPr lang="zh-CN" altLang="en-US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一种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Times New Roman" panose="02020603050405020304" pitchFamily="18" charset="0"/>
              </a:rPr>
              <a:t>分布式存储系统和分布式运算框架</a:t>
            </a:r>
            <a:endParaRPr lang="zh-CN" altLang="en-US" dirty="0"/>
          </a:p>
        </p:txBody>
      </p:sp>
      <p:pic>
        <p:nvPicPr>
          <p:cNvPr id="4" name="图片 3" descr="1011838-20181214213729657-958046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870" y="4187190"/>
            <a:ext cx="4760763" cy="2372201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35420" y="984250"/>
            <a:ext cx="1821180" cy="13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Hadoop</a:t>
            </a:r>
            <a:r>
              <a:rPr lang="zh-CN" altLang="en-US">
                <a:ea typeface="宋体" panose="02010600030101010101" pitchFamily="2" charset="-122"/>
              </a:rP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Hadoop</a:t>
            </a:r>
            <a:r>
              <a:rPr lang="zh-CN" altLang="en-US" dirty="0">
                <a:ea typeface="宋体" panose="02010600030101010101" pitchFamily="2" charset="-122"/>
              </a:rPr>
              <a:t>起源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Hadoop</a:t>
            </a:r>
            <a:r>
              <a:rPr lang="zh-CN" altLang="zh-CN" dirty="0">
                <a:sym typeface="+mn-ea"/>
              </a:rPr>
              <a:t>起源于开源的网络搜索引擎</a:t>
            </a:r>
            <a:r>
              <a:rPr lang="en-US" altLang="zh-CN" dirty="0">
                <a:sym typeface="+mn-ea"/>
              </a:rPr>
              <a:t>-</a:t>
            </a:r>
            <a:r>
              <a:rPr lang="en-US" altLang="zh-CN" dirty="0" err="1">
                <a:sym typeface="+mn-ea"/>
              </a:rPr>
              <a:t>Nutch</a:t>
            </a:r>
            <a:r>
              <a:rPr lang="zh-CN" dirty="0"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Lucene</a:t>
            </a:r>
            <a:r>
              <a:rPr lang="zh-CN" altLang="zh-CN" dirty="0">
                <a:sym typeface="+mn-ea"/>
              </a:rPr>
              <a:t>项目的一部分），由毕业于美国斯坦福大学的</a:t>
            </a:r>
            <a:r>
              <a:rPr lang="en-US" altLang="zh-CN" dirty="0">
                <a:sym typeface="+mn-ea"/>
              </a:rPr>
              <a:t>Doug Cutting</a:t>
            </a:r>
            <a:r>
              <a:rPr lang="zh-CN" altLang="zh-CN" dirty="0">
                <a:sym typeface="+mn-ea"/>
              </a:rPr>
              <a:t>发起。</a:t>
            </a:r>
          </a:p>
          <a:p>
            <a:pPr lvl="1"/>
            <a:r>
              <a:rPr lang="zh-CN" altLang="en-US" dirty="0">
                <a:latin typeface="+mn-ea"/>
                <a:sym typeface="+mn-ea"/>
              </a:rPr>
              <a:t>名字不是常见的几个单词的缩写，而是</a:t>
            </a:r>
            <a:r>
              <a:rPr lang="en-US" altLang="zh-CN" dirty="0">
                <a:sym typeface="+mn-ea"/>
              </a:rPr>
              <a:t>Doug Cutting</a:t>
            </a:r>
            <a:r>
              <a:rPr lang="zh-CN" altLang="en-US" dirty="0">
                <a:latin typeface="+mn-ea"/>
                <a:sym typeface="+mn-ea"/>
              </a:rPr>
              <a:t>虚构的一个名字。</a:t>
            </a:r>
            <a:endParaRPr lang="zh-CN" altLang="zh-CN" dirty="0">
              <a:sym typeface="+mn-ea"/>
            </a:endParaRPr>
          </a:p>
          <a:p>
            <a:pPr lvl="1"/>
            <a:r>
              <a:rPr lang="zh-CN" altLang="en-US" dirty="0">
                <a:latin typeface="+mn-ea"/>
                <a:sym typeface="+mn-ea"/>
              </a:rPr>
              <a:t>是</a:t>
            </a:r>
            <a:r>
              <a:rPr lang="en-US" altLang="zh-CN" dirty="0">
                <a:latin typeface="+mn-ea"/>
                <a:sym typeface="+mn-ea"/>
              </a:rPr>
              <a:t>Google</a:t>
            </a:r>
            <a:r>
              <a:rPr lang="zh-CN" altLang="en-US" dirty="0">
                <a:latin typeface="+mn-ea"/>
                <a:sym typeface="+mn-ea"/>
              </a:rPr>
              <a:t> </a:t>
            </a:r>
            <a:r>
              <a:rPr lang="en-US" altLang="zh-CN" dirty="0">
                <a:latin typeface="+mn-ea"/>
                <a:sym typeface="+mn-ea"/>
              </a:rPr>
              <a:t>GFS</a:t>
            </a:r>
            <a:r>
              <a:rPr lang="zh-CN" altLang="en-US" dirty="0">
                <a:latin typeface="+mn-ea"/>
                <a:sym typeface="+mn-ea"/>
              </a:rPr>
              <a:t>、</a:t>
            </a:r>
            <a:r>
              <a:rPr lang="en-US" altLang="zh-CN" dirty="0">
                <a:latin typeface="+mn-ea"/>
                <a:sym typeface="+mn-ea"/>
              </a:rPr>
              <a:t>Mapreduce</a:t>
            </a:r>
            <a:r>
              <a:rPr lang="zh-CN" altLang="en-US" dirty="0">
                <a:latin typeface="+mn-ea"/>
                <a:sym typeface="+mn-ea"/>
              </a:rPr>
              <a:t>的开源实现</a:t>
            </a:r>
          </a:p>
          <a:p>
            <a:pPr lvl="1"/>
            <a:endParaRPr lang="en-US" altLang="zh-C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20" y="4732020"/>
            <a:ext cx="3014477" cy="18249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2.1 Hadoop</a:t>
            </a:r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2.2 HDFS</a:t>
            </a:r>
            <a:r>
              <a:rPr lang="zh-CN" altLang="en-US" dirty="0" smtClean="0">
                <a:solidFill>
                  <a:srgbClr val="FF0000"/>
                </a:solidFill>
              </a:rPr>
              <a:t>文件系统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2.3 HDFS Shell</a:t>
            </a:r>
            <a:r>
              <a:rPr lang="zh-CN" altLang="en-US" dirty="0"/>
              <a:t>命令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2.4 HDFS Java API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HDFS</a:t>
            </a:r>
            <a:r>
              <a:rPr lang="zh-CN" altLang="en-US">
                <a:ea typeface="宋体" panose="02010600030101010101" pitchFamily="2" charset="-122"/>
              </a:rPr>
              <a:t>文件系统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2.2.1 HDFS</a:t>
            </a:r>
            <a:r>
              <a:rPr lang="zh-CN" altLang="en-US" dirty="0">
                <a:ea typeface="宋体" panose="02010600030101010101" pitchFamily="2" charset="-122"/>
              </a:rPr>
              <a:t>概述</a:t>
            </a:r>
            <a:endParaRPr lang="en-US" altLang="zh-CN" dirty="0">
              <a:ea typeface="宋体" panose="02010600030101010101" pitchFamily="2" charset="-122"/>
            </a:endParaRPr>
          </a:p>
          <a:p>
            <a:pPr algn="l">
              <a:buSzTx/>
            </a:pPr>
            <a:r>
              <a:rPr lang="en-US" altLang="zh-CN" dirty="0" smtClean="0">
                <a:ea typeface="宋体" panose="02010600030101010101" pitchFamily="2" charset="-122"/>
                <a:sym typeface="+mn-ea"/>
              </a:rPr>
              <a:t>2.2.2 HDFS相关概念</a:t>
            </a:r>
            <a:endParaRPr lang="zh-CN" altLang="en-US" dirty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2.2.3 </a:t>
            </a:r>
            <a:r>
              <a:rPr lang="en-US" altLang="zh-CN" dirty="0">
                <a:ea typeface="宋体" panose="02010600030101010101" pitchFamily="2" charset="-122"/>
              </a:rPr>
              <a:t>HDFS</a:t>
            </a:r>
            <a:r>
              <a:rPr lang="zh-CN" altLang="en-US" dirty="0">
                <a:ea typeface="宋体" panose="02010600030101010101" pitchFamily="2" charset="-122"/>
              </a:rPr>
              <a:t>总体架构</a:t>
            </a:r>
          </a:p>
          <a:p>
            <a:r>
              <a:rPr lang="en-US" altLang="zh-CN" dirty="0" smtClean="0">
                <a:ea typeface="宋体" panose="02010600030101010101" pitchFamily="2" charset="-122"/>
                <a:sym typeface="+mn-ea"/>
              </a:rPr>
              <a:t>2.2.4 HDFS存储原理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algn="l">
              <a:buSzTx/>
            </a:pPr>
            <a:r>
              <a:rPr lang="en-US" altLang="zh-CN" dirty="0" smtClean="0">
                <a:ea typeface="宋体" panose="02010600030101010101" pitchFamily="2" charset="-122"/>
                <a:sym typeface="+mn-ea"/>
              </a:rPr>
              <a:t>2.2.5 HDFS文件读写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2.2.1 HDFS</a:t>
            </a:r>
            <a:r>
              <a:rPr lang="zh-CN" altLang="en-US" dirty="0">
                <a:ea typeface="宋体" panose="02010600030101010101" pitchFamily="2" charset="-122"/>
              </a:rPr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HDFS</a:t>
            </a:r>
          </a:p>
          <a:p>
            <a:pPr lvl="1"/>
            <a:r>
              <a:rPr lang="en-US" altLang="zh-CN" sz="2400" dirty="0">
                <a:sym typeface="+mn-ea"/>
              </a:rPr>
              <a:t>HDFS</a:t>
            </a:r>
            <a:r>
              <a:rPr lang="zh-CN" altLang="zh-CN" sz="2400" dirty="0">
                <a:sym typeface="+mn-ea"/>
              </a:rPr>
              <a:t>是</a:t>
            </a:r>
            <a:r>
              <a:rPr lang="en-US" altLang="zh-CN" sz="2400" dirty="0">
                <a:sym typeface="+mn-ea"/>
              </a:rPr>
              <a:t>Hadoop Distributed File System</a:t>
            </a:r>
            <a:r>
              <a:rPr lang="zh-CN" altLang="zh-CN" sz="2400" dirty="0">
                <a:sym typeface="+mn-ea"/>
              </a:rPr>
              <a:t>（</a:t>
            </a:r>
            <a:r>
              <a:rPr lang="en-US" altLang="zh-CN" sz="2400" dirty="0">
                <a:sym typeface="+mn-ea"/>
              </a:rPr>
              <a:t>Hadoop</a:t>
            </a:r>
            <a:r>
              <a:rPr lang="zh-CN" altLang="zh-CN" sz="2400" dirty="0">
                <a:sym typeface="+mn-ea"/>
              </a:rPr>
              <a:t>分布式文件系统）的缩写，是谷歌公司的</a:t>
            </a:r>
            <a:r>
              <a:rPr lang="en-US" altLang="zh-CN" sz="2400" dirty="0">
                <a:sym typeface="+mn-ea"/>
              </a:rPr>
              <a:t>GFS</a:t>
            </a:r>
            <a:r>
              <a:rPr lang="zh-CN" altLang="zh-CN" sz="2400" dirty="0">
                <a:sym typeface="+mn-ea"/>
              </a:rPr>
              <a:t>分布式文件系统的开源实现，是</a:t>
            </a:r>
            <a:r>
              <a:rPr lang="en-US" altLang="zh-CN" sz="2400" dirty="0">
                <a:sym typeface="+mn-ea"/>
              </a:rPr>
              <a:t>Apache Hadoop</a:t>
            </a:r>
            <a:r>
              <a:rPr lang="zh-CN" altLang="zh-CN" sz="2400" dirty="0">
                <a:sym typeface="+mn-ea"/>
              </a:rPr>
              <a:t>项目的一个子项目。</a:t>
            </a:r>
          </a:p>
          <a:p>
            <a:pPr lvl="1"/>
            <a:r>
              <a:rPr lang="en-US" altLang="zh-CN" sz="2400" dirty="0">
                <a:sym typeface="+mn-ea"/>
              </a:rPr>
              <a:t>HDFS</a:t>
            </a:r>
            <a:r>
              <a:rPr lang="zh-CN" altLang="zh-CN" sz="2400" dirty="0">
                <a:sym typeface="+mn-ea"/>
              </a:rPr>
              <a:t>支持海量数据的存储，允许用户把成百上千的计算机组成存储集群，其中的每一台计算机称为一个节点。</a:t>
            </a:r>
            <a:endParaRPr lang="en-US" altLang="zh-CN" sz="2400" dirty="0"/>
          </a:p>
          <a:p>
            <a:pPr lvl="1"/>
            <a:r>
              <a:rPr lang="zh-CN" altLang="zh-CN" sz="2400" dirty="0">
                <a:sym typeface="+mn-ea"/>
              </a:rPr>
              <a:t>用户通过</a:t>
            </a:r>
            <a:r>
              <a:rPr lang="en-US" altLang="zh-CN" sz="2400" dirty="0">
                <a:sym typeface="+mn-ea"/>
              </a:rPr>
              <a:t>HDFS</a:t>
            </a:r>
            <a:r>
              <a:rPr lang="zh-CN" altLang="zh-CN" sz="2400" dirty="0">
                <a:sym typeface="+mn-ea"/>
              </a:rPr>
              <a:t>的终端命令可以操作其中的文件和目录，如同操作本地文件系统（如</a:t>
            </a:r>
            <a:r>
              <a:rPr lang="en-US" altLang="zh-CN" sz="2400" dirty="0">
                <a:sym typeface="+mn-ea"/>
              </a:rPr>
              <a:t>Linux</a:t>
            </a:r>
            <a:r>
              <a:rPr lang="zh-CN" altLang="zh-CN" sz="2400" dirty="0">
                <a:sym typeface="+mn-ea"/>
              </a:rPr>
              <a:t>）中的文件一样。用户也可以通过</a:t>
            </a:r>
            <a:r>
              <a:rPr lang="en-US" altLang="zh-CN" sz="2400" dirty="0">
                <a:sym typeface="+mn-ea"/>
              </a:rPr>
              <a:t>HDFS API</a:t>
            </a:r>
            <a:r>
              <a:rPr lang="zh-CN" altLang="zh-CN" sz="2400" dirty="0">
                <a:sym typeface="+mn-ea"/>
              </a:rPr>
              <a:t>或</a:t>
            </a:r>
            <a:r>
              <a:rPr lang="en-US" altLang="zh-CN" sz="2400" dirty="0">
                <a:sym typeface="+mn-ea"/>
              </a:rPr>
              <a:t>MapReduce</a:t>
            </a:r>
            <a:r>
              <a:rPr lang="zh-CN" altLang="zh-CN" sz="2400" dirty="0">
                <a:sym typeface="+mn-ea"/>
              </a:rPr>
              <a:t>来编程访问其中的文件数据。</a:t>
            </a:r>
            <a:endParaRPr lang="zh-CN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2.2.1 HDFS</a:t>
            </a:r>
            <a:r>
              <a:rPr lang="zh-CN" altLang="en-US" dirty="0">
                <a:ea typeface="宋体" panose="02010600030101010101" pitchFamily="2" charset="-122"/>
              </a:rPr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 smtClean="0"/>
              <a:t>HDFS</a:t>
            </a:r>
            <a:r>
              <a:rPr lang="zh-CN" altLang="en-US" dirty="0" smtClean="0">
                <a:ea typeface="宋体" panose="02010600030101010101" pitchFamily="2" charset="-122"/>
              </a:rPr>
              <a:t>设计目标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 smtClean="0">
                <a:sym typeface="+mn-ea"/>
              </a:rPr>
              <a:t>硬件故障</a:t>
            </a:r>
            <a:endParaRPr lang="en-US" altLang="zh-CN" dirty="0" smtClean="0">
              <a:sym typeface="+mn-ea"/>
            </a:endParaRPr>
          </a:p>
          <a:p>
            <a:pPr lvl="2"/>
            <a:r>
              <a:rPr lang="zh-CN" altLang="en-US" dirty="0" smtClean="0">
                <a:sym typeface="+mn-ea"/>
              </a:rPr>
              <a:t>故障检测和快速、自动恢复是</a:t>
            </a:r>
            <a:r>
              <a:rPr lang="en-US" altLang="zh-CN" dirty="0" smtClean="0">
                <a:sym typeface="+mn-ea"/>
              </a:rPr>
              <a:t>HDFS</a:t>
            </a:r>
            <a:r>
              <a:rPr lang="zh-CN" altLang="en-US" dirty="0" smtClean="0">
                <a:sym typeface="+mn-ea"/>
              </a:rPr>
              <a:t>的核心架构目标</a:t>
            </a:r>
            <a:endParaRPr lang="en-US" altLang="zh-CN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大规模数据集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 smtClean="0">
                <a:sym typeface="+mn-ea"/>
              </a:rPr>
              <a:t>支持海量数据和大文件存储</a:t>
            </a:r>
            <a:endParaRPr lang="en-US" altLang="zh-CN" dirty="0" smtClean="0">
              <a:sym typeface="+mn-ea"/>
            </a:endParaRPr>
          </a:p>
          <a:p>
            <a:pPr lvl="1"/>
            <a:r>
              <a:rPr lang="zh-CN" altLang="en-US" dirty="0" smtClean="0">
                <a:sym typeface="+mn-ea"/>
              </a:rPr>
              <a:t>简单一致性模型</a:t>
            </a:r>
            <a:endParaRPr lang="en-US" altLang="zh-CN" dirty="0" smtClean="0">
              <a:sym typeface="+mn-ea"/>
            </a:endParaRPr>
          </a:p>
          <a:p>
            <a:pPr lvl="2"/>
            <a:r>
              <a:rPr lang="zh-CN" altLang="en-US" dirty="0" smtClean="0">
                <a:sym typeface="+mn-ea"/>
              </a:rPr>
              <a:t>“一次写入、多次读取”的文件访问模型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 smtClean="0">
                <a:latin typeface="+mn-ea"/>
                <a:ea typeface="+mn-ea"/>
                <a:sym typeface="+mn-ea"/>
              </a:rPr>
              <a:t>移动计算比移动数据容易</a:t>
            </a:r>
            <a:endParaRPr lang="zh-CN" altLang="en-US" dirty="0">
              <a:latin typeface="+mn-ea"/>
              <a:ea typeface="+mn-ea"/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海量数据的情况下移动计算比移动数据更</a:t>
            </a:r>
            <a:r>
              <a:rPr lang="zh-CN" altLang="en-US" dirty="0" smtClean="0">
                <a:sym typeface="+mn-ea"/>
              </a:rPr>
              <a:t>高效</a:t>
            </a:r>
            <a:endParaRPr lang="en-US" altLang="zh-CN" dirty="0" smtClean="0">
              <a:sym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平台的</a:t>
            </a:r>
            <a:r>
              <a:rPr lang="zh-CN" altLang="en-US" dirty="0" smtClean="0">
                <a:latin typeface="+mn-ea"/>
                <a:ea typeface="+mn-ea"/>
              </a:rPr>
              <a:t>可移植性</a:t>
            </a:r>
            <a:endParaRPr lang="en-US" altLang="zh-CN" dirty="0" smtClean="0">
              <a:latin typeface="+mn-ea"/>
              <a:ea typeface="+mn-ea"/>
            </a:endParaRPr>
          </a:p>
          <a:p>
            <a:pPr lvl="2"/>
            <a:r>
              <a:rPr lang="zh-CN" altLang="en-US" dirty="0" smtClean="0">
                <a:latin typeface="+mn-ea"/>
                <a:ea typeface="+mn-ea"/>
              </a:rPr>
              <a:t>考虑了异构软硬件平台的可移植性</a:t>
            </a:r>
            <a:endParaRPr lang="zh-CN" altLang="en-US" dirty="0">
              <a:latin typeface="+mn-ea"/>
              <a:ea typeface="+mn-ea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HDFS相关概念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块（</a:t>
            </a:r>
            <a:r>
              <a:rPr lang="en-US" altLang="zh-CN" dirty="0" smtClean="0"/>
              <a:t>block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err="1" smtClean="0"/>
              <a:t>NameNode</a:t>
            </a:r>
            <a:endParaRPr lang="en-US" altLang="zh-CN" dirty="0" smtClean="0"/>
          </a:p>
          <a:p>
            <a:r>
              <a:rPr lang="en-US" altLang="zh-CN" dirty="0" err="1" smtClean="0"/>
              <a:t>SecondaryNameNode</a:t>
            </a:r>
            <a:endParaRPr lang="en-US" altLang="zh-CN" dirty="0" smtClean="0"/>
          </a:p>
          <a:p>
            <a:r>
              <a:rPr lang="en-US" altLang="zh-CN" dirty="0" err="1" smtClean="0"/>
              <a:t>DataNode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HDFS</a:t>
            </a:r>
            <a:r>
              <a:rPr lang="zh-CN" altLang="en-US" dirty="0" smtClean="0"/>
              <a:t>将大文件切分成块</a:t>
            </a:r>
            <a:r>
              <a:rPr lang="en-US" altLang="zh-CN" dirty="0" smtClean="0"/>
              <a:t>(block)</a:t>
            </a:r>
            <a:r>
              <a:rPr lang="zh-CN" altLang="en-US" dirty="0" smtClean="0"/>
              <a:t>，这些块可以分布到不同的节点上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默认的数据块大小是128MB</a:t>
            </a:r>
            <a:r>
              <a:rPr lang="zh-CN" altLang="en-US" dirty="0">
                <a:ea typeface="宋体" panose="02010600030101010101" pitchFamily="2" charset="-122"/>
              </a:rPr>
              <a:t>（注意，在Hadoop </a:t>
            </a:r>
            <a:r>
              <a:rPr lang="en-US" altLang="zh-CN" dirty="0">
                <a:ea typeface="宋体" panose="02010600030101010101" pitchFamily="2" charset="-122"/>
              </a:rPr>
              <a:t>1.x</a:t>
            </a:r>
            <a:r>
              <a:rPr lang="zh-CN" altLang="en-US" dirty="0">
                <a:ea typeface="宋体" panose="02010600030101010101" pitchFamily="2" charset="-122"/>
              </a:rPr>
              <a:t>默认为64MB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HDFS</a:t>
            </a:r>
            <a:r>
              <a:rPr lang="zh-CN" altLang="en-US" dirty="0">
                <a:ea typeface="宋体" panose="02010600030101010101" pitchFamily="2" charset="-122"/>
              </a:rPr>
              <a:t>采用分治策略，令多个节点对逻辑层面的大文件在物理层面进行分布式存储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块的大小远远大于普通文件系统，可以最小化寻址开销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HDFS</a:t>
            </a:r>
            <a:r>
              <a:rPr lang="zh-CN" altLang="en-US" dirty="0" smtClean="0"/>
              <a:t>将大文件切分成块</a:t>
            </a:r>
            <a:r>
              <a:rPr lang="en-US" altLang="zh-CN" dirty="0" smtClean="0"/>
              <a:t>(block)</a:t>
            </a:r>
            <a:r>
              <a:rPr lang="zh-CN" altLang="en-US" dirty="0" smtClean="0"/>
              <a:t>，这些块可以分布到不同的节点上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276872"/>
            <a:ext cx="6553744" cy="4204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HDFS</a:t>
            </a:r>
            <a:r>
              <a:rPr lang="zh-CN" altLang="en-US" sz="2400" dirty="0" smtClean="0"/>
              <a:t>采用分块存储的优点：</a:t>
            </a:r>
            <a:endParaRPr lang="zh-CN" altLang="en-US" sz="2400" dirty="0"/>
          </a:p>
          <a:p>
            <a:pPr lvl="1"/>
            <a:r>
              <a:rPr lang="zh-CN" altLang="en-US" sz="2400" dirty="0" smtClean="0"/>
              <a:t>支持</a:t>
            </a:r>
            <a:r>
              <a:rPr lang="zh-CN" altLang="en-US" sz="2400" dirty="0"/>
              <a:t>大规模文件</a:t>
            </a:r>
            <a:r>
              <a:rPr lang="zh-CN" altLang="en-US" sz="2400" dirty="0" smtClean="0"/>
              <a:t>存储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文件</a:t>
            </a:r>
            <a:r>
              <a:rPr lang="zh-CN" altLang="en-US" sz="2000" dirty="0"/>
              <a:t>以块为单位进行存储，一个大规模文件可以被分拆成若干个文件块，不同的文件块可以被分发到不同的节点上，因此，一个文件的大小不会受到单个节点的存储容量的限制，可以远远大于网络中任意节点的存储容量</a:t>
            </a:r>
          </a:p>
          <a:p>
            <a:pPr lvl="1"/>
            <a:r>
              <a:rPr lang="zh-CN" altLang="en-US" sz="2400" dirty="0" smtClean="0"/>
              <a:t>简化系统设计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首先</a:t>
            </a:r>
            <a:r>
              <a:rPr lang="zh-CN" altLang="en-US" sz="2000" dirty="0"/>
              <a:t>，大大简化了存储管理，因为文件块大小是固定的，这样就可以很容易计算出一个节点可以存储多少文件块；其次，方便了元数据的管理，元数据不需要和文件块一起存储，可以由其他系统负责管理元数据</a:t>
            </a:r>
          </a:p>
          <a:p>
            <a:pPr lvl="1"/>
            <a:r>
              <a:rPr lang="zh-CN" altLang="en-US" sz="2400" dirty="0" smtClean="0"/>
              <a:t>适合</a:t>
            </a:r>
            <a:r>
              <a:rPr lang="zh-CN" altLang="en-US" sz="2400" dirty="0"/>
              <a:t>数据</a:t>
            </a:r>
            <a:r>
              <a:rPr lang="zh-CN" altLang="en-US" sz="2400" dirty="0" smtClean="0"/>
              <a:t>备份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每个</a:t>
            </a:r>
            <a:r>
              <a:rPr lang="zh-CN" altLang="en-US" sz="2000" dirty="0"/>
              <a:t>文件块都可以冗余存储到多个节点上，大大提高了系统的容错性和可用性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NameNode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HDFS</a:t>
            </a:r>
            <a:r>
              <a:rPr lang="zh-CN" altLang="en-US" sz="2400" dirty="0"/>
              <a:t>中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/>
              <a:t>NameNode</a:t>
            </a:r>
            <a:r>
              <a:rPr lang="zh-CN" altLang="en-US" sz="2400" dirty="0"/>
              <a:t>负责管理分布式文件系统的命名空间（</a:t>
            </a:r>
            <a:r>
              <a:rPr lang="en-US" altLang="zh-CN" sz="2400" dirty="0"/>
              <a:t>Namespace</a:t>
            </a:r>
            <a:r>
              <a:rPr lang="zh-CN" altLang="en-US" sz="2400" dirty="0"/>
              <a:t>），保存了两个核心的数据结构，即</a:t>
            </a:r>
            <a:r>
              <a:rPr lang="en-US" altLang="zh-CN" sz="2400" dirty="0" err="1"/>
              <a:t>FsImage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EditLog</a:t>
            </a:r>
            <a:endParaRPr lang="en-US" altLang="zh-CN" sz="2400" dirty="0"/>
          </a:p>
          <a:p>
            <a:pPr lvl="1"/>
            <a:r>
              <a:rPr lang="en-US" altLang="zh-CN" sz="2000" dirty="0" err="1"/>
              <a:t>FsImage</a:t>
            </a:r>
            <a:r>
              <a:rPr lang="zh-CN" altLang="en-US" sz="2000" dirty="0"/>
              <a:t>用于维护文件系统树以及文件树中所有的文件和文件夹的元数据</a:t>
            </a:r>
          </a:p>
          <a:p>
            <a:pPr lvl="1"/>
            <a:r>
              <a:rPr lang="zh-CN" altLang="en-US" sz="2000" dirty="0"/>
              <a:t>操作日志文件</a:t>
            </a:r>
            <a:r>
              <a:rPr lang="en-US" altLang="zh-CN" sz="2000" dirty="0" err="1"/>
              <a:t>EditLog</a:t>
            </a:r>
            <a:r>
              <a:rPr lang="zh-CN" altLang="en-US" sz="2000" dirty="0"/>
              <a:t>中记录了所有针对文件的创建、删除、重命名等操作</a:t>
            </a:r>
          </a:p>
          <a:p>
            <a:pPr lvl="1"/>
            <a:r>
              <a:rPr lang="en-US" altLang="zh-CN" sz="2000" dirty="0" err="1" smtClean="0"/>
              <a:t>NameNode</a:t>
            </a:r>
            <a:r>
              <a:rPr lang="zh-CN" altLang="en-US" sz="2000" dirty="0" smtClean="0"/>
              <a:t>记录</a:t>
            </a:r>
            <a:r>
              <a:rPr lang="zh-CN" altLang="en-US" sz="2000" dirty="0"/>
              <a:t>了每个文件中各个块所在</a:t>
            </a:r>
            <a:r>
              <a:rPr lang="zh-CN" altLang="en-US" sz="2000" dirty="0" smtClean="0"/>
              <a:t>的</a:t>
            </a:r>
            <a:r>
              <a:rPr lang="en-US" altLang="zh-CN" sz="2000" dirty="0" err="1" smtClean="0"/>
              <a:t>DataNode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位置信息</a:t>
            </a:r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685" y="4149725"/>
            <a:ext cx="4966335" cy="236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NameNode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 err="1"/>
              <a:t>FsImage</a:t>
            </a:r>
            <a:r>
              <a:rPr lang="zh-CN" altLang="en-US" sz="2400" dirty="0"/>
              <a:t>文件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FsImage</a:t>
            </a:r>
            <a:r>
              <a:rPr lang="zh-CN" altLang="en-US" sz="2400" dirty="0"/>
              <a:t>文件包含文件系统中所有目录和文件</a:t>
            </a:r>
            <a:r>
              <a:rPr lang="en-US" altLang="zh-CN" sz="2400" dirty="0" err="1"/>
              <a:t>inode</a:t>
            </a:r>
            <a:r>
              <a:rPr lang="zh-CN" altLang="en-US" sz="2400" dirty="0"/>
              <a:t>的序列化形式。</a:t>
            </a:r>
          </a:p>
          <a:p>
            <a:pPr lvl="2"/>
            <a:r>
              <a:rPr lang="zh-CN" altLang="en-US" sz="2055" dirty="0"/>
              <a:t>每个</a:t>
            </a:r>
            <a:r>
              <a:rPr lang="en-US" altLang="zh-CN" sz="2055" dirty="0" err="1"/>
              <a:t>inode</a:t>
            </a:r>
            <a:r>
              <a:rPr lang="zh-CN" altLang="en-US" sz="2055" dirty="0"/>
              <a:t>是一个文件或目录的元数据的内部表示，并包含此类信息：文件的复制等级、修改和访问时间、访问权限、块大小以及组成文件的块。对于目录，则存储修改时间、权限和配额</a:t>
            </a:r>
            <a:r>
              <a:rPr lang="zh-CN" altLang="en-US" sz="2055" dirty="0" smtClean="0"/>
              <a:t>元数据</a:t>
            </a:r>
            <a:endParaRPr lang="zh-CN" altLang="en-US" sz="2055" dirty="0"/>
          </a:p>
          <a:p>
            <a:pPr lvl="1"/>
            <a:r>
              <a:rPr lang="en-US" altLang="zh-CN" sz="2400" dirty="0" err="1"/>
              <a:t>FsImage</a:t>
            </a:r>
            <a:r>
              <a:rPr lang="zh-CN" altLang="en-US" sz="2400" dirty="0"/>
              <a:t>文件没有记录每个块存储在</a:t>
            </a:r>
            <a:r>
              <a:rPr lang="zh-CN" altLang="en-US" sz="2400" dirty="0" smtClean="0"/>
              <a:t>哪个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，</a:t>
            </a:r>
            <a:r>
              <a:rPr lang="zh-CN" altLang="en-US" sz="2400" dirty="0"/>
              <a:t>而是</a:t>
            </a:r>
            <a:r>
              <a:rPr lang="zh-CN" altLang="en-US" sz="2400" dirty="0" smtClean="0"/>
              <a:t>由</a:t>
            </a:r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把</a:t>
            </a:r>
            <a:r>
              <a:rPr lang="zh-CN" altLang="en-US" sz="2400" dirty="0"/>
              <a:t>这些映射信息保留在内存中。</a:t>
            </a:r>
          </a:p>
          <a:p>
            <a:pPr lvl="2"/>
            <a:r>
              <a:rPr lang="en-US" altLang="zh-CN" sz="2055" dirty="0" err="1" smtClean="0"/>
              <a:t>DataNode</a:t>
            </a:r>
            <a:r>
              <a:rPr lang="zh-CN" altLang="en-US" sz="2055" dirty="0" smtClean="0"/>
              <a:t>加入</a:t>
            </a:r>
            <a:r>
              <a:rPr lang="en-US" altLang="zh-CN" sz="2055" dirty="0"/>
              <a:t>HDFS</a:t>
            </a:r>
            <a:r>
              <a:rPr lang="zh-CN" altLang="en-US" sz="2055" dirty="0"/>
              <a:t>集群时</a:t>
            </a:r>
            <a:r>
              <a:rPr lang="zh-CN" altLang="en-US" sz="2055" dirty="0" smtClean="0"/>
              <a:t>，</a:t>
            </a:r>
            <a:r>
              <a:rPr lang="en-US" altLang="zh-CN" sz="2055" dirty="0" err="1" smtClean="0"/>
              <a:t>DataNode</a:t>
            </a:r>
            <a:r>
              <a:rPr lang="zh-CN" altLang="en-US" sz="2055" dirty="0" smtClean="0"/>
              <a:t>会</a:t>
            </a:r>
            <a:r>
              <a:rPr lang="zh-CN" altLang="en-US" sz="2055" dirty="0"/>
              <a:t>把自己所包含的块列表告知</a:t>
            </a:r>
            <a:r>
              <a:rPr lang="zh-CN" altLang="en-US" sz="2055" dirty="0" smtClean="0"/>
              <a:t>给</a:t>
            </a:r>
            <a:r>
              <a:rPr lang="en-US" altLang="zh-CN" sz="2055" dirty="0" err="1" smtClean="0"/>
              <a:t>NameNode</a:t>
            </a:r>
            <a:r>
              <a:rPr lang="zh-CN" altLang="en-US" sz="2055" dirty="0" smtClean="0"/>
              <a:t>，</a:t>
            </a:r>
            <a:r>
              <a:rPr lang="zh-CN" altLang="en-US" sz="2055" dirty="0"/>
              <a:t>此后会定期执行这种告知操作，以</a:t>
            </a:r>
            <a:r>
              <a:rPr lang="zh-CN" altLang="en-US" sz="2055" dirty="0" smtClean="0"/>
              <a:t>确保</a:t>
            </a:r>
            <a:r>
              <a:rPr lang="en-US" altLang="zh-CN" sz="2055" dirty="0" err="1" smtClean="0"/>
              <a:t>NameNode</a:t>
            </a:r>
            <a:r>
              <a:rPr lang="zh-CN" altLang="en-US" sz="2055" dirty="0" smtClean="0"/>
              <a:t>的</a:t>
            </a:r>
            <a:r>
              <a:rPr lang="zh-CN" altLang="en-US" sz="2055" dirty="0"/>
              <a:t>块映射是最新的。</a:t>
            </a: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NameNode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 err="1"/>
              <a:t>NameNode</a:t>
            </a:r>
            <a:r>
              <a:rPr lang="zh-CN" altLang="en-US" sz="2000" dirty="0"/>
              <a:t>的启动</a:t>
            </a:r>
          </a:p>
          <a:p>
            <a:pPr lvl="1"/>
            <a:r>
              <a:rPr lang="zh-CN" altLang="en-US" sz="2000" dirty="0" smtClean="0"/>
              <a:t>在</a:t>
            </a:r>
            <a:r>
              <a:rPr lang="en-US" altLang="zh-CN" sz="2000" dirty="0" err="1" smtClean="0"/>
              <a:t>NameNode</a:t>
            </a:r>
            <a:r>
              <a:rPr lang="zh-CN" altLang="en-US" sz="2000" dirty="0" smtClean="0"/>
              <a:t>启动</a:t>
            </a:r>
            <a:r>
              <a:rPr lang="zh-CN" altLang="en-US" sz="2000" dirty="0"/>
              <a:t>的时候，它会将</a:t>
            </a:r>
            <a:r>
              <a:rPr lang="en-US" altLang="zh-CN" sz="2000" dirty="0" err="1"/>
              <a:t>FsImage</a:t>
            </a:r>
            <a:r>
              <a:rPr lang="zh-CN" altLang="en-US" sz="2000" dirty="0"/>
              <a:t>文件中的内容加载到内存中，之后再执行</a:t>
            </a:r>
            <a:r>
              <a:rPr lang="en-US" altLang="zh-CN" sz="2000" dirty="0" err="1"/>
              <a:t>EditLog</a:t>
            </a:r>
            <a:r>
              <a:rPr lang="zh-CN" altLang="en-US" sz="2000" dirty="0"/>
              <a:t>文件中的各项操作，使得内存中的元数据和实际的同步，存在内存中的元数据支持客户端的读操作。</a:t>
            </a:r>
          </a:p>
          <a:p>
            <a:pPr lvl="1"/>
            <a:r>
              <a:rPr lang="zh-CN" altLang="en-US" sz="2000" dirty="0" smtClean="0"/>
              <a:t>一旦</a:t>
            </a:r>
            <a:r>
              <a:rPr lang="zh-CN" altLang="en-US" sz="2000" dirty="0"/>
              <a:t>在内存中成功建立文件系统元数据的映射，则创建一个新的</a:t>
            </a:r>
            <a:r>
              <a:rPr lang="en-US" altLang="zh-CN" sz="2000" dirty="0" err="1"/>
              <a:t>FsImage</a:t>
            </a:r>
            <a:r>
              <a:rPr lang="zh-CN" altLang="en-US" sz="2000" dirty="0"/>
              <a:t>文件和一个空的</a:t>
            </a:r>
            <a:r>
              <a:rPr lang="en-US" altLang="zh-CN" sz="2000" dirty="0" err="1"/>
              <a:t>EditLog</a:t>
            </a:r>
            <a:r>
              <a:rPr lang="zh-CN" altLang="en-US" sz="2000" dirty="0"/>
              <a:t>文件</a:t>
            </a:r>
          </a:p>
          <a:p>
            <a:pPr lvl="1"/>
            <a:r>
              <a:rPr lang="en-US" altLang="zh-CN" sz="2000" dirty="0" err="1" smtClean="0"/>
              <a:t>NameNode</a:t>
            </a:r>
            <a:r>
              <a:rPr lang="zh-CN" altLang="en-US" sz="2000" dirty="0" smtClean="0"/>
              <a:t>起来</a:t>
            </a:r>
            <a:r>
              <a:rPr lang="zh-CN" altLang="en-US" sz="2000" dirty="0"/>
              <a:t>之后，</a:t>
            </a:r>
            <a:r>
              <a:rPr lang="en-US" altLang="zh-CN" sz="2000" dirty="0"/>
              <a:t>HDFS</a:t>
            </a:r>
            <a:r>
              <a:rPr lang="zh-CN" altLang="en-US" sz="2000" dirty="0"/>
              <a:t>中的更新操作会重新写到</a:t>
            </a:r>
            <a:r>
              <a:rPr lang="en-US" altLang="zh-CN" sz="2000" dirty="0" err="1"/>
              <a:t>EditLog</a:t>
            </a:r>
            <a:r>
              <a:rPr lang="zh-CN" altLang="en-US" sz="2000" dirty="0"/>
              <a:t>文件中，因为</a:t>
            </a:r>
            <a:r>
              <a:rPr lang="en-US" altLang="zh-CN" sz="2000" dirty="0" err="1"/>
              <a:t>FsImage</a:t>
            </a:r>
            <a:r>
              <a:rPr lang="zh-CN" altLang="en-US" sz="2000" dirty="0"/>
              <a:t>文件一般都很大（</a:t>
            </a:r>
            <a:r>
              <a:rPr lang="en-US" altLang="zh-CN" sz="2000" dirty="0"/>
              <a:t>GB</a:t>
            </a:r>
            <a:r>
              <a:rPr lang="zh-CN" altLang="en-US" sz="2000" dirty="0"/>
              <a:t>级别的很常见），如果所有的更新操作都往</a:t>
            </a:r>
            <a:r>
              <a:rPr lang="en-US" altLang="zh-CN" sz="2000" dirty="0" err="1"/>
              <a:t>FsImage</a:t>
            </a:r>
            <a:r>
              <a:rPr lang="zh-CN" altLang="en-US" sz="2000" dirty="0"/>
              <a:t>文件中添加，这样会导致系统运行的十分缓慢，但是，如果往</a:t>
            </a:r>
            <a:r>
              <a:rPr lang="en-US" altLang="zh-CN" sz="2000" dirty="0" err="1"/>
              <a:t>EditLog</a:t>
            </a:r>
            <a:r>
              <a:rPr lang="zh-CN" altLang="en-US" sz="2000" dirty="0"/>
              <a:t>文件里面写就不会这样，因为</a:t>
            </a:r>
            <a:r>
              <a:rPr lang="en-US" altLang="zh-CN" sz="2000" dirty="0" err="1"/>
              <a:t>EditLog</a:t>
            </a:r>
            <a:r>
              <a:rPr lang="en-US" altLang="zh-CN" sz="2000" dirty="0"/>
              <a:t> </a:t>
            </a:r>
            <a:r>
              <a:rPr lang="zh-CN" altLang="en-US" sz="2000" dirty="0"/>
              <a:t>要小很多。每次执行写操作之后，且在向客户端发送成功代码之前，</a:t>
            </a:r>
            <a:r>
              <a:rPr lang="en-US" altLang="zh-CN" sz="2000" dirty="0"/>
              <a:t>edits</a:t>
            </a:r>
            <a:r>
              <a:rPr lang="zh-CN" altLang="en-US" sz="2000" dirty="0"/>
              <a:t>文件都需要同步更新</a:t>
            </a:r>
          </a:p>
          <a:p>
            <a:pPr lvl="1"/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SecondaryNameNode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zh-CN" sz="2600" dirty="0" err="1"/>
              <a:t>NameNode</a:t>
            </a:r>
            <a:r>
              <a:rPr lang="zh-CN" altLang="en-US" sz="2600" dirty="0"/>
              <a:t>运行期间</a:t>
            </a:r>
            <a:r>
              <a:rPr lang="en-US" altLang="zh-CN" sz="2600" dirty="0" err="1"/>
              <a:t>EditLog</a:t>
            </a:r>
            <a:r>
              <a:rPr lang="zh-CN" altLang="en-US" sz="2600" dirty="0"/>
              <a:t>不断变大的问题</a:t>
            </a:r>
            <a:endParaRPr lang="en-US" altLang="zh-CN" sz="2600" dirty="0"/>
          </a:p>
          <a:p>
            <a:pPr lvl="1"/>
            <a:r>
              <a:rPr lang="zh-CN" altLang="en-US" sz="2600" dirty="0" smtClean="0"/>
              <a:t>在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运行</a:t>
            </a:r>
            <a:r>
              <a:rPr lang="zh-CN" altLang="en-US" sz="2600" dirty="0"/>
              <a:t>期间，</a:t>
            </a:r>
            <a:r>
              <a:rPr lang="en-US" altLang="zh-CN" sz="2600" dirty="0"/>
              <a:t>HDFS</a:t>
            </a:r>
            <a:r>
              <a:rPr lang="zh-CN" altLang="en-US" sz="2600" dirty="0"/>
              <a:t>的所有更新操作都是直接写到</a:t>
            </a:r>
            <a:r>
              <a:rPr lang="en-US" altLang="zh-CN" sz="2600" dirty="0" err="1"/>
              <a:t>EditLog</a:t>
            </a:r>
            <a:r>
              <a:rPr lang="zh-CN" altLang="en-US" sz="2600" dirty="0"/>
              <a:t>中，久而久之， </a:t>
            </a:r>
            <a:r>
              <a:rPr lang="en-US" altLang="zh-CN" sz="2600" dirty="0" err="1"/>
              <a:t>EditLog</a:t>
            </a:r>
            <a:r>
              <a:rPr lang="zh-CN" altLang="en-US" sz="2600" dirty="0"/>
              <a:t>文件将会变得</a:t>
            </a:r>
            <a:r>
              <a:rPr lang="zh-CN" altLang="en-US" sz="2600" dirty="0" smtClean="0"/>
              <a:t>很大</a:t>
            </a:r>
            <a:endParaRPr lang="zh-CN" altLang="en-US" sz="2600" dirty="0"/>
          </a:p>
          <a:p>
            <a:pPr lvl="1"/>
            <a:r>
              <a:rPr lang="zh-CN" altLang="en-US" sz="2600" dirty="0"/>
              <a:t>虽然这</a:t>
            </a:r>
            <a:r>
              <a:rPr lang="zh-CN" altLang="en-US" sz="2600" dirty="0" smtClean="0"/>
              <a:t>对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运行</a:t>
            </a:r>
            <a:r>
              <a:rPr lang="zh-CN" altLang="en-US" sz="2600" dirty="0"/>
              <a:t>时候是没有什么明显影响的，但是，</a:t>
            </a:r>
            <a:r>
              <a:rPr lang="zh-CN" altLang="en-US" sz="2600" dirty="0" smtClean="0"/>
              <a:t>当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重</a:t>
            </a:r>
            <a:r>
              <a:rPr lang="zh-CN" altLang="en-US" sz="2600" dirty="0"/>
              <a:t>启的时候</a:t>
            </a:r>
            <a:r>
              <a:rPr lang="zh-CN" altLang="en-US" sz="2600" dirty="0" smtClean="0"/>
              <a:t>，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需要</a:t>
            </a:r>
            <a:r>
              <a:rPr lang="zh-CN" altLang="en-US" sz="2600" dirty="0"/>
              <a:t>先将</a:t>
            </a:r>
            <a:r>
              <a:rPr lang="en-US" altLang="zh-CN" sz="2600" dirty="0" err="1"/>
              <a:t>FsImage</a:t>
            </a:r>
            <a:r>
              <a:rPr lang="zh-CN" altLang="en-US" sz="2600" dirty="0"/>
              <a:t>里面的所有内容映像到内存中，然后再一条一条地执行</a:t>
            </a:r>
            <a:r>
              <a:rPr lang="en-US" altLang="zh-CN" sz="2600" dirty="0" err="1"/>
              <a:t>EditLog</a:t>
            </a:r>
            <a:r>
              <a:rPr lang="zh-CN" altLang="en-US" sz="2600" dirty="0"/>
              <a:t>中的记录，当</a:t>
            </a:r>
            <a:r>
              <a:rPr lang="en-US" altLang="zh-CN" sz="2600" dirty="0" err="1"/>
              <a:t>EditLog</a:t>
            </a:r>
            <a:r>
              <a:rPr lang="zh-CN" altLang="en-US" sz="2600" dirty="0"/>
              <a:t>文件非常大的时候，会</a:t>
            </a:r>
            <a:r>
              <a:rPr lang="zh-CN" altLang="en-US" sz="2600" dirty="0" smtClean="0"/>
              <a:t>导致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启动</a:t>
            </a:r>
            <a:r>
              <a:rPr lang="zh-CN" altLang="en-US" sz="2600" dirty="0"/>
              <a:t>操作非常慢，而在这段时间内</a:t>
            </a:r>
            <a:r>
              <a:rPr lang="en-US" altLang="zh-CN" sz="2600" dirty="0"/>
              <a:t>HDFS</a:t>
            </a:r>
            <a:r>
              <a:rPr lang="zh-CN" altLang="en-US" sz="2600" dirty="0"/>
              <a:t>系统处于安全模式，一直无法对外提供写操作，影响了用户的</a:t>
            </a:r>
            <a:r>
              <a:rPr lang="zh-CN" altLang="en-US" sz="2600" dirty="0" smtClean="0"/>
              <a:t>使用</a:t>
            </a:r>
            <a:endParaRPr lang="en-US" altLang="zh-CN" sz="2600" dirty="0" smtClean="0"/>
          </a:p>
          <a:p>
            <a:r>
              <a:rPr lang="zh-CN" altLang="en-US" sz="2600" dirty="0"/>
              <a:t>如何解决</a:t>
            </a:r>
            <a:r>
              <a:rPr lang="zh-CN" altLang="en-US" sz="2600" dirty="0" smtClean="0"/>
              <a:t>？</a:t>
            </a:r>
            <a:endParaRPr lang="en-US" altLang="zh-CN" sz="2600" dirty="0" smtClean="0"/>
          </a:p>
          <a:p>
            <a:pPr lvl="1"/>
            <a:r>
              <a:rPr lang="en-US" altLang="zh-CN" sz="2600" dirty="0" err="1"/>
              <a:t>SecondaryNameNode</a:t>
            </a:r>
            <a:r>
              <a:rPr lang="zh-CN" altLang="en-US" sz="2600" dirty="0" smtClean="0"/>
              <a:t>是</a:t>
            </a:r>
            <a:r>
              <a:rPr lang="en-US" altLang="zh-CN" sz="2600" dirty="0"/>
              <a:t>HDFS</a:t>
            </a:r>
            <a:r>
              <a:rPr lang="zh-CN" altLang="en-US" sz="2600" dirty="0"/>
              <a:t>架构中的一个组成部分，它是用来</a:t>
            </a:r>
            <a:r>
              <a:rPr lang="zh-CN" altLang="en-US" sz="2600" dirty="0" smtClean="0"/>
              <a:t>保存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中</a:t>
            </a:r>
            <a:r>
              <a:rPr lang="zh-CN" altLang="en-US" sz="2600" dirty="0"/>
              <a:t>对</a:t>
            </a:r>
            <a:r>
              <a:rPr lang="en-US" altLang="zh-CN" sz="2600" dirty="0"/>
              <a:t>HDFS </a:t>
            </a:r>
            <a:r>
              <a:rPr lang="zh-CN" altLang="en-US" sz="2600" dirty="0"/>
              <a:t>元数据信息的备份，并</a:t>
            </a:r>
            <a:r>
              <a:rPr lang="zh-CN" altLang="en-US" sz="2600" dirty="0" smtClean="0"/>
              <a:t>减少</a:t>
            </a:r>
            <a:r>
              <a:rPr lang="en-US" altLang="zh-CN" sz="2600" dirty="0" err="1" smtClean="0"/>
              <a:t>NameNode</a:t>
            </a:r>
            <a:r>
              <a:rPr lang="zh-CN" altLang="en-US" sz="2600" dirty="0" smtClean="0"/>
              <a:t>重</a:t>
            </a:r>
            <a:r>
              <a:rPr lang="zh-CN" altLang="en-US" sz="2600" dirty="0"/>
              <a:t>启的时间</a:t>
            </a:r>
            <a:r>
              <a:rPr lang="zh-CN" altLang="en-US" sz="2600" dirty="0" smtClean="0"/>
              <a:t>。一般</a:t>
            </a:r>
            <a:r>
              <a:rPr lang="zh-CN" altLang="en-US" sz="2600" dirty="0"/>
              <a:t>是单独运行在一台机器上</a:t>
            </a:r>
            <a:endParaRPr lang="en-US" altLang="zh-CN" sz="2600" dirty="0"/>
          </a:p>
          <a:p>
            <a:endParaRPr lang="zh-CN" altLang="en-US" dirty="0"/>
          </a:p>
          <a:p>
            <a:endParaRPr lang="zh-CN" altLang="en-US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/>
              <a:t>SecondaryNameNode</a:t>
            </a:r>
            <a:r>
              <a:rPr lang="en-US" altLang="zh-CN" sz="2800" dirty="0" smtClean="0"/>
              <a:t> </a:t>
            </a:r>
            <a:endParaRPr lang="zh-CN" altLang="en-US" sz="26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3800" dirty="0" err="1"/>
              <a:t>SecondaryNameNode</a:t>
            </a:r>
            <a:r>
              <a:rPr lang="zh-CN" altLang="en-US" sz="3800" dirty="0"/>
              <a:t>的工作</a:t>
            </a:r>
            <a:endParaRPr lang="en-US" altLang="zh-CN" sz="3800" dirty="0"/>
          </a:p>
          <a:p>
            <a:pPr lvl="1"/>
            <a:r>
              <a:rPr lang="zh-CN" altLang="en-US" sz="2900" dirty="0"/>
              <a:t>（</a:t>
            </a:r>
            <a:r>
              <a:rPr lang="en-US" altLang="zh-CN" sz="2900" dirty="0"/>
              <a:t>1</a:t>
            </a:r>
            <a:r>
              <a:rPr lang="zh-CN" altLang="en-US" sz="2900" dirty="0"/>
              <a:t>）</a:t>
            </a:r>
            <a:r>
              <a:rPr lang="en-US" altLang="zh-CN" sz="2900" dirty="0" err="1"/>
              <a:t>SecondaryNameNode</a:t>
            </a:r>
            <a:r>
              <a:rPr lang="zh-CN" altLang="en-US" sz="2900" dirty="0"/>
              <a:t>会定期和</a:t>
            </a:r>
            <a:r>
              <a:rPr lang="en-US" altLang="zh-CN" sz="2900" dirty="0" err="1"/>
              <a:t>NameNode</a:t>
            </a:r>
            <a:r>
              <a:rPr lang="zh-CN" altLang="en-US" sz="2900" dirty="0"/>
              <a:t>通信，请求其停止使用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文件，暂时将新的写操作写到一个新的文件</a:t>
            </a:r>
            <a:r>
              <a:rPr lang="en-US" altLang="zh-CN" sz="2900" dirty="0" err="1"/>
              <a:t>edit.new</a:t>
            </a:r>
            <a:r>
              <a:rPr lang="zh-CN" altLang="en-US" sz="2900" dirty="0"/>
              <a:t>上来，这个操作是瞬间完成，上层写日志的函数完全感觉不到差别；</a:t>
            </a:r>
          </a:p>
          <a:p>
            <a:pPr lvl="1"/>
            <a:r>
              <a:rPr lang="zh-CN" altLang="en-US" sz="2900" dirty="0" smtClean="0"/>
              <a:t>（</a:t>
            </a:r>
            <a:r>
              <a:rPr lang="en-US" altLang="zh-CN" sz="2900" dirty="0"/>
              <a:t>2</a:t>
            </a:r>
            <a:r>
              <a:rPr lang="zh-CN" altLang="en-US" sz="2900" dirty="0"/>
              <a:t>）</a:t>
            </a:r>
            <a:r>
              <a:rPr lang="en-US" altLang="zh-CN" sz="2900" dirty="0" err="1"/>
              <a:t>SecondaryNameNode</a:t>
            </a:r>
            <a:r>
              <a:rPr lang="zh-CN" altLang="en-US" sz="2900" dirty="0"/>
              <a:t>通过</a:t>
            </a:r>
            <a:r>
              <a:rPr lang="en-US" altLang="zh-CN" sz="2900" dirty="0"/>
              <a:t>HTTP GET</a:t>
            </a:r>
            <a:r>
              <a:rPr lang="zh-CN" altLang="en-US" sz="2900" dirty="0"/>
              <a:t>方式从</a:t>
            </a:r>
            <a:r>
              <a:rPr lang="en-US" altLang="zh-CN" sz="2900" dirty="0" err="1"/>
              <a:t>NameNode</a:t>
            </a:r>
            <a:r>
              <a:rPr lang="zh-CN" altLang="en-US" sz="2900" dirty="0"/>
              <a:t>上获取到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和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文件，并下载到本地的相应目录下；</a:t>
            </a:r>
          </a:p>
          <a:p>
            <a:pPr lvl="1"/>
            <a:r>
              <a:rPr lang="zh-CN" altLang="en-US" sz="2900" dirty="0" smtClean="0"/>
              <a:t>（</a:t>
            </a:r>
            <a:r>
              <a:rPr lang="en-US" altLang="zh-CN" sz="2900" dirty="0"/>
              <a:t>3</a:t>
            </a:r>
            <a:r>
              <a:rPr lang="zh-CN" altLang="en-US" sz="2900" dirty="0"/>
              <a:t>）</a:t>
            </a:r>
            <a:r>
              <a:rPr lang="en-US" altLang="zh-CN" sz="2900" dirty="0" err="1"/>
              <a:t>SecondaryNameNode</a:t>
            </a:r>
            <a:r>
              <a:rPr lang="zh-CN" altLang="en-US" sz="2900" dirty="0"/>
              <a:t>将下载下来的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载入到内存，然后一条一条地执行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文件中的各项更新操作，使得内存中的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保持最新；这个过程就是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和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文件合并；</a:t>
            </a:r>
          </a:p>
          <a:p>
            <a:pPr lvl="1"/>
            <a:r>
              <a:rPr lang="zh-CN" altLang="en-US" sz="2900" dirty="0" smtClean="0"/>
              <a:t>（</a:t>
            </a:r>
            <a:r>
              <a:rPr lang="en-US" altLang="zh-CN" sz="2900" dirty="0"/>
              <a:t>4</a:t>
            </a:r>
            <a:r>
              <a:rPr lang="zh-CN" altLang="en-US" sz="2900" dirty="0"/>
              <a:t>）</a:t>
            </a:r>
            <a:r>
              <a:rPr lang="en-US" altLang="zh-CN" sz="2900" dirty="0" err="1"/>
              <a:t>SecondaryNameNode</a:t>
            </a:r>
            <a:r>
              <a:rPr lang="zh-CN" altLang="en-US" sz="2900" dirty="0"/>
              <a:t>执行完（</a:t>
            </a:r>
            <a:r>
              <a:rPr lang="en-US" altLang="zh-CN" sz="2900" dirty="0"/>
              <a:t>3</a:t>
            </a:r>
            <a:r>
              <a:rPr lang="zh-CN" altLang="en-US" sz="2900" dirty="0"/>
              <a:t>）操作之后，会通过</a:t>
            </a:r>
            <a:r>
              <a:rPr lang="en-US" altLang="zh-CN" sz="2900" dirty="0"/>
              <a:t>post</a:t>
            </a:r>
            <a:r>
              <a:rPr lang="zh-CN" altLang="en-US" sz="2900" dirty="0"/>
              <a:t>方式将新的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文件发送到</a:t>
            </a:r>
            <a:r>
              <a:rPr lang="en-US" altLang="zh-CN" sz="2900" dirty="0" err="1"/>
              <a:t>NameNode</a:t>
            </a:r>
            <a:r>
              <a:rPr lang="zh-CN" altLang="en-US" sz="2900" dirty="0"/>
              <a:t>节点上</a:t>
            </a:r>
          </a:p>
          <a:p>
            <a:pPr lvl="1"/>
            <a:r>
              <a:rPr lang="zh-CN" altLang="en-US" sz="2900" dirty="0" smtClean="0"/>
              <a:t>（</a:t>
            </a:r>
            <a:r>
              <a:rPr lang="en-US" altLang="zh-CN" sz="2900" dirty="0"/>
              <a:t>5</a:t>
            </a:r>
            <a:r>
              <a:rPr lang="zh-CN" altLang="en-US" sz="2900" dirty="0"/>
              <a:t>）</a:t>
            </a:r>
            <a:r>
              <a:rPr lang="en-US" altLang="zh-CN" sz="2900" dirty="0" err="1"/>
              <a:t>NameNode</a:t>
            </a:r>
            <a:r>
              <a:rPr lang="zh-CN" altLang="en-US" sz="2900" dirty="0"/>
              <a:t>将从</a:t>
            </a:r>
            <a:r>
              <a:rPr lang="en-US" altLang="zh-CN" sz="2900" dirty="0" err="1"/>
              <a:t>SecondaryNameNode</a:t>
            </a:r>
            <a:r>
              <a:rPr lang="zh-CN" altLang="en-US" sz="2900" dirty="0"/>
              <a:t>接收到的新的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替换旧的</a:t>
            </a:r>
            <a:r>
              <a:rPr lang="en-US" altLang="zh-CN" sz="2900" dirty="0" err="1"/>
              <a:t>FsImage</a:t>
            </a:r>
            <a:r>
              <a:rPr lang="zh-CN" altLang="en-US" sz="2900" dirty="0"/>
              <a:t>文件，同时将</a:t>
            </a:r>
            <a:r>
              <a:rPr lang="en-US" altLang="zh-CN" sz="2900" dirty="0" err="1"/>
              <a:t>edit.new</a:t>
            </a:r>
            <a:r>
              <a:rPr lang="zh-CN" altLang="en-US" sz="2900" dirty="0"/>
              <a:t>替换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文件，通过这个过程</a:t>
            </a:r>
            <a:r>
              <a:rPr lang="en-US" altLang="zh-CN" sz="2900" dirty="0" err="1"/>
              <a:t>EditLog</a:t>
            </a:r>
            <a:r>
              <a:rPr lang="zh-CN" altLang="en-US" sz="2900" dirty="0"/>
              <a:t>就变小了</a:t>
            </a:r>
          </a:p>
          <a:p>
            <a:endParaRPr lang="zh-CN" altLang="en-US" dirty="0"/>
          </a:p>
          <a:p>
            <a:endParaRPr lang="zh-CN" altLang="en-US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589" y="1484784"/>
            <a:ext cx="3749872" cy="406976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DataNode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DataNode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DataNode</a:t>
            </a:r>
            <a:r>
              <a:rPr lang="zh-CN" altLang="en-US" dirty="0" smtClean="0"/>
              <a:t>是</a:t>
            </a:r>
            <a:r>
              <a:rPr lang="zh-CN" altLang="en-US" dirty="0"/>
              <a:t>分布式文件系统</a:t>
            </a:r>
            <a:r>
              <a:rPr lang="en-US" altLang="zh-CN" dirty="0"/>
              <a:t>HDFS</a:t>
            </a:r>
            <a:r>
              <a:rPr lang="zh-CN" altLang="en-US" dirty="0"/>
              <a:t>的工作节点，负责数据的存储和读取，会根据客户端或者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NameNode</a:t>
            </a:r>
            <a:r>
              <a:rPr lang="zh-CN" altLang="en-US" dirty="0" smtClean="0"/>
              <a:t>的</a:t>
            </a:r>
            <a:r>
              <a:rPr lang="zh-CN" altLang="en-US" dirty="0"/>
              <a:t>调度来进行数据的存储和检索，并且</a:t>
            </a:r>
            <a:r>
              <a:rPr lang="zh-CN" altLang="en-US" dirty="0" smtClean="0"/>
              <a:t>向</a:t>
            </a:r>
            <a:r>
              <a:rPr lang="en-US" altLang="zh-CN" dirty="0" err="1" smtClean="0"/>
              <a:t>NameNode</a:t>
            </a:r>
            <a:r>
              <a:rPr lang="zh-CN" altLang="en-US" dirty="0" smtClean="0"/>
              <a:t>定期</a:t>
            </a:r>
            <a:r>
              <a:rPr lang="zh-CN" altLang="en-US" dirty="0"/>
              <a:t>发送自己所存储的块的列表</a:t>
            </a:r>
          </a:p>
          <a:p>
            <a:pPr lvl="1"/>
            <a:r>
              <a:rPr lang="zh-CN" altLang="en-US" dirty="0" smtClean="0"/>
              <a:t>每个</a:t>
            </a:r>
            <a:r>
              <a:rPr lang="en-US" altLang="zh-CN" dirty="0" err="1" smtClean="0"/>
              <a:t>DataNode</a:t>
            </a:r>
            <a:r>
              <a:rPr lang="zh-CN" altLang="en-US" dirty="0" smtClean="0"/>
              <a:t>中</a:t>
            </a:r>
            <a:r>
              <a:rPr lang="zh-CN" altLang="en-US" dirty="0"/>
              <a:t>的数据会被保存在各自节点的本地</a:t>
            </a:r>
            <a:r>
              <a:rPr lang="en-US" altLang="zh-CN" dirty="0"/>
              <a:t>Linux</a:t>
            </a:r>
            <a:r>
              <a:rPr lang="zh-CN" altLang="en-US" dirty="0"/>
              <a:t>文件系统中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2.2.3 HDFS总体架构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ea typeface="宋体" panose="02010600030101010101" pitchFamily="2" charset="-122"/>
              </a:rPr>
              <a:t>HDFS采用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Master/Slave（即：主/从）架构</a:t>
            </a:r>
            <a:r>
              <a:rPr lang="zh-CN" altLang="en-US" sz="2400" dirty="0">
                <a:ea typeface="宋体" panose="02010600030101010101" pitchFamily="2" charset="-122"/>
              </a:rPr>
              <a:t>：一个HDFS集群是由一个NameNode和若干个DataNode组成。</a:t>
            </a:r>
          </a:p>
          <a:p>
            <a:pPr lvl="1"/>
            <a:r>
              <a:rPr lang="zh-CN" altLang="en-US" sz="2455" dirty="0">
                <a:ea typeface="宋体" panose="02010600030101010101" pitchFamily="2" charset="-122"/>
              </a:rPr>
              <a:t>NameNode是存储集群的主服务器，负责管理文件系统的命名空间(NameSpace)以及客户端对文件的访问。</a:t>
            </a:r>
          </a:p>
          <a:p>
            <a:pPr lvl="1"/>
            <a:r>
              <a:rPr lang="zh-CN" altLang="en-US" sz="2455" dirty="0">
                <a:ea typeface="宋体" panose="02010600030101010101" pitchFamily="2" charset="-122"/>
              </a:rPr>
              <a:t>DataNode负责处理文件系统客户端的读写。在NameNode的统一调度下进行数据块的创建、删除和复制。</a:t>
            </a:r>
          </a:p>
          <a:p>
            <a:pPr lvl="1"/>
            <a:r>
              <a:rPr lang="zh-CN" altLang="en-US" sz="2455" dirty="0">
                <a:ea typeface="宋体" panose="02010600030101010101" pitchFamily="2" charset="-122"/>
              </a:rPr>
              <a:t>HDFS的辅助元数据节点（</a:t>
            </a:r>
            <a:r>
              <a:rPr lang="zh-CN" altLang="en-US" sz="2455" dirty="0" smtClean="0">
                <a:ea typeface="宋体" panose="02010600030101010101" pitchFamily="2" charset="-122"/>
              </a:rPr>
              <a:t>SecondaryNameNode</a:t>
            </a:r>
            <a:r>
              <a:rPr lang="zh-CN" altLang="en-US" sz="2455" dirty="0">
                <a:ea typeface="宋体" panose="02010600030101010101" pitchFamily="2" charset="-122"/>
              </a:rPr>
              <a:t>）辅助NameNode处理事务日志和镜像文件。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2.2.3 HDFS总体架构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35" y="1309390"/>
            <a:ext cx="6278400" cy="4239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通信协议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2400" dirty="0">
                <a:latin typeface="宋体" panose="02010600030101010101" pitchFamily="2" charset="-122"/>
              </a:rPr>
              <a:t>HDFS</a:t>
            </a:r>
            <a:r>
              <a:rPr lang="zh-CN" altLang="en-US" sz="2400" dirty="0">
                <a:latin typeface="宋体" panose="02010600030101010101" pitchFamily="2" charset="-122"/>
              </a:rPr>
              <a:t>是一个部署在集群上的分布式文件系统，因此，很多数据需要通过网络进行</a:t>
            </a:r>
            <a:r>
              <a:rPr lang="zh-CN" altLang="en-US" sz="2400" dirty="0" smtClean="0">
                <a:latin typeface="宋体" panose="02010600030101010101" pitchFamily="2" charset="-122"/>
              </a:rPr>
              <a:t>传输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lvl="1" algn="just"/>
            <a:r>
              <a:rPr lang="zh-CN" altLang="en-US" sz="2400" dirty="0" smtClean="0">
                <a:latin typeface="宋体" panose="02010600030101010101" pitchFamily="2" charset="-122"/>
              </a:rPr>
              <a:t>所有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</a:rPr>
              <a:t>HDFS</a:t>
            </a:r>
            <a:r>
              <a:rPr lang="zh-CN" altLang="en-US" sz="2400" dirty="0">
                <a:latin typeface="宋体" panose="02010600030101010101" pitchFamily="2" charset="-122"/>
              </a:rPr>
              <a:t>通信协议都是构建在</a:t>
            </a:r>
            <a:r>
              <a:rPr lang="en-US" altLang="zh-CN" sz="2400" dirty="0">
                <a:latin typeface="宋体" panose="02010600030101010101" pitchFamily="2" charset="-122"/>
              </a:rPr>
              <a:t>TCP/IP</a:t>
            </a:r>
            <a:r>
              <a:rPr lang="zh-CN" altLang="en-US" sz="2400" dirty="0">
                <a:latin typeface="宋体" panose="02010600030101010101" pitchFamily="2" charset="-122"/>
              </a:rPr>
              <a:t>协议基础之上</a:t>
            </a:r>
            <a:r>
              <a:rPr lang="zh-CN" altLang="en-US" sz="2400" dirty="0" smtClean="0">
                <a:latin typeface="宋体" panose="02010600030101010101" pitchFamily="2" charset="-122"/>
              </a:rPr>
              <a:t>的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lvl="1" algn="just"/>
            <a:r>
              <a:rPr lang="zh-CN" altLang="en-US" sz="2400" dirty="0" smtClean="0">
                <a:latin typeface="宋体" panose="02010600030101010101" pitchFamily="2" charset="-122"/>
              </a:rPr>
              <a:t>客户端</a:t>
            </a:r>
            <a:r>
              <a:rPr lang="zh-CN" altLang="en-US" sz="2400" dirty="0">
                <a:latin typeface="宋体" panose="02010600030101010101" pitchFamily="2" charset="-122"/>
              </a:rPr>
              <a:t>通过一个可配置的端口向</a:t>
            </a:r>
            <a:r>
              <a:rPr lang="en-US" altLang="zh-CN" sz="2400" dirty="0" err="1">
                <a:latin typeface="宋体" panose="02010600030101010101" pitchFamily="2" charset="-122"/>
              </a:rPr>
              <a:t>NameNode</a:t>
            </a:r>
            <a:r>
              <a:rPr lang="zh-CN" altLang="en-US" sz="2400" dirty="0">
                <a:latin typeface="宋体" panose="02010600030101010101" pitchFamily="2" charset="-122"/>
              </a:rPr>
              <a:t>主动发起</a:t>
            </a:r>
            <a:r>
              <a:rPr lang="en-US" altLang="zh-CN" sz="2400" dirty="0">
                <a:latin typeface="宋体" panose="02010600030101010101" pitchFamily="2" charset="-122"/>
              </a:rPr>
              <a:t>TCP</a:t>
            </a:r>
            <a:r>
              <a:rPr lang="zh-CN" altLang="en-US" sz="2400" dirty="0">
                <a:latin typeface="宋体" panose="02010600030101010101" pitchFamily="2" charset="-122"/>
              </a:rPr>
              <a:t>连接，并使用客户端协议与</a:t>
            </a:r>
            <a:r>
              <a:rPr lang="en-US" altLang="zh-CN" sz="2400" dirty="0" err="1">
                <a:latin typeface="宋体" panose="02010600030101010101" pitchFamily="2" charset="-122"/>
              </a:rPr>
              <a:t>NameNode</a:t>
            </a:r>
            <a:r>
              <a:rPr lang="zh-CN" altLang="en-US" sz="2400" dirty="0">
                <a:latin typeface="宋体" panose="02010600030101010101" pitchFamily="2" charset="-122"/>
              </a:rPr>
              <a:t>进行</a:t>
            </a:r>
            <a:r>
              <a:rPr lang="zh-CN" altLang="en-US" sz="2400" dirty="0" smtClean="0">
                <a:latin typeface="宋体" panose="02010600030101010101" pitchFamily="2" charset="-122"/>
              </a:rPr>
              <a:t>交互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lvl="1" algn="just"/>
            <a:r>
              <a:rPr lang="en-US" altLang="zh-CN" sz="2400" dirty="0" err="1" smtClean="0">
                <a:latin typeface="宋体" panose="02010600030101010101" pitchFamily="2" charset="-122"/>
              </a:rPr>
              <a:t>NameNode</a:t>
            </a:r>
            <a:r>
              <a:rPr lang="zh-CN" altLang="en-US" sz="2400" dirty="0">
                <a:latin typeface="宋体" panose="02010600030101010101" pitchFamily="2" charset="-122"/>
              </a:rPr>
              <a:t>和</a:t>
            </a:r>
            <a:r>
              <a:rPr lang="en-US" altLang="zh-CN" sz="2400" dirty="0" err="1">
                <a:latin typeface="宋体" panose="02010600030101010101" pitchFamily="2" charset="-122"/>
              </a:rPr>
              <a:t>DataNode</a:t>
            </a:r>
            <a:r>
              <a:rPr lang="zh-CN" altLang="en-US" sz="2400" dirty="0">
                <a:latin typeface="宋体" panose="02010600030101010101" pitchFamily="2" charset="-122"/>
              </a:rPr>
              <a:t>之间则使用</a:t>
            </a:r>
            <a:r>
              <a:rPr lang="en-US" altLang="zh-CN" sz="2400" dirty="0" err="1">
                <a:latin typeface="宋体" panose="02010600030101010101" pitchFamily="2" charset="-122"/>
              </a:rPr>
              <a:t>DataNode</a:t>
            </a:r>
            <a:r>
              <a:rPr lang="zh-CN" altLang="en-US" sz="2400" dirty="0">
                <a:latin typeface="宋体" panose="02010600030101010101" pitchFamily="2" charset="-122"/>
              </a:rPr>
              <a:t>协议进行</a:t>
            </a:r>
            <a:r>
              <a:rPr lang="zh-CN" altLang="en-US" sz="2400" dirty="0" smtClean="0">
                <a:latin typeface="宋体" panose="02010600030101010101" pitchFamily="2" charset="-122"/>
              </a:rPr>
              <a:t>交互</a:t>
            </a:r>
            <a:endParaRPr lang="en-US" altLang="zh-CN" sz="2400" dirty="0" smtClean="0">
              <a:latin typeface="宋体" panose="02010600030101010101" pitchFamily="2" charset="-122"/>
            </a:endParaRPr>
          </a:p>
          <a:p>
            <a:pPr lvl="1" algn="just"/>
            <a:r>
              <a:rPr lang="zh-CN" altLang="en-US" sz="2400" dirty="0" smtClean="0">
                <a:latin typeface="宋体" panose="02010600030101010101" pitchFamily="2" charset="-122"/>
              </a:rPr>
              <a:t>客户端</a:t>
            </a:r>
            <a:r>
              <a:rPr lang="zh-CN" altLang="en-US" sz="2400" dirty="0">
                <a:latin typeface="宋体" panose="02010600030101010101" pitchFamily="2" charset="-122"/>
              </a:rPr>
              <a:t>与</a:t>
            </a:r>
            <a:r>
              <a:rPr lang="en-US" altLang="zh-CN" sz="2400" dirty="0" err="1">
                <a:latin typeface="宋体" panose="02010600030101010101" pitchFamily="2" charset="-122"/>
              </a:rPr>
              <a:t>DataNode</a:t>
            </a:r>
            <a:r>
              <a:rPr lang="zh-CN" altLang="en-US" sz="2400" dirty="0">
                <a:latin typeface="宋体" panose="02010600030101010101" pitchFamily="2" charset="-122"/>
              </a:rPr>
              <a:t>的交互是通过</a:t>
            </a:r>
            <a:r>
              <a:rPr lang="en-US" altLang="zh-CN" sz="2400" dirty="0">
                <a:latin typeface="宋体" panose="02010600030101010101" pitchFamily="2" charset="-122"/>
              </a:rPr>
              <a:t>RPC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Remote Procedure Call</a:t>
            </a:r>
            <a:r>
              <a:rPr lang="zh-CN" altLang="en-US" sz="2400" dirty="0">
                <a:latin typeface="宋体" panose="02010600030101010101" pitchFamily="2" charset="-122"/>
              </a:rPr>
              <a:t>）来实现的。在设计上，</a:t>
            </a:r>
            <a:r>
              <a:rPr lang="en-US" altLang="zh-CN" sz="2400" dirty="0" err="1">
                <a:latin typeface="宋体" panose="02010600030101010101" pitchFamily="2" charset="-122"/>
              </a:rPr>
              <a:t>NameNode</a:t>
            </a:r>
            <a:r>
              <a:rPr lang="zh-CN" altLang="en-US" sz="2400" dirty="0">
                <a:latin typeface="宋体" panose="02010600030101010101" pitchFamily="2" charset="-122"/>
              </a:rPr>
              <a:t>不会主动发起</a:t>
            </a:r>
            <a:r>
              <a:rPr lang="en-US" altLang="zh-CN" sz="2400" dirty="0">
                <a:latin typeface="宋体" panose="02010600030101010101" pitchFamily="2" charset="-122"/>
              </a:rPr>
              <a:t>RPC</a:t>
            </a:r>
            <a:r>
              <a:rPr lang="zh-CN" altLang="en-US" sz="2400" dirty="0">
                <a:latin typeface="宋体" panose="02010600030101010101" pitchFamily="2" charset="-122"/>
              </a:rPr>
              <a:t>，而是响应来自客户端和</a:t>
            </a:r>
            <a:r>
              <a:rPr lang="en-US" altLang="zh-CN" sz="2400" dirty="0" err="1">
                <a:latin typeface="宋体" panose="02010600030101010101" pitchFamily="2" charset="-122"/>
              </a:rPr>
              <a:t>DataNode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</a:rPr>
              <a:t>RPC</a:t>
            </a:r>
            <a:r>
              <a:rPr lang="zh-CN" altLang="en-US" sz="2400" dirty="0">
                <a:latin typeface="宋体" panose="02010600030101010101" pitchFamily="2" charset="-122"/>
              </a:rPr>
              <a:t>请求</a:t>
            </a:r>
          </a:p>
          <a:p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客户端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客户端是用户操作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最常用的方式，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在部署时都提供了客户端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客户端是一个库，暴露了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文件系统接口，这些接口隐藏了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实现中的大部分复杂性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严格来说，客户端并不算是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的一部分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客户端可以支持打开、读取、写入等常见的操作，并且提供了类似</a:t>
            </a:r>
            <a:r>
              <a:rPr lang="en-US" altLang="zh-CN" dirty="0">
                <a:latin typeface="宋体" panose="02010600030101010101" pitchFamily="2" charset="-122"/>
              </a:rPr>
              <a:t>Shell</a:t>
            </a:r>
            <a:r>
              <a:rPr lang="zh-CN" altLang="en-US" dirty="0">
                <a:latin typeface="宋体" panose="02010600030101010101" pitchFamily="2" charset="-122"/>
              </a:rPr>
              <a:t>的命令行方式来访问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中的数据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此外，</a:t>
            </a:r>
            <a:r>
              <a:rPr lang="en-US" altLang="zh-CN" dirty="0">
                <a:latin typeface="宋体" panose="02010600030101010101" pitchFamily="2" charset="-122"/>
              </a:rPr>
              <a:t>HDFS</a:t>
            </a:r>
            <a:r>
              <a:rPr lang="zh-CN" altLang="en-US" dirty="0">
                <a:latin typeface="宋体" panose="02010600030101010101" pitchFamily="2" charset="-122"/>
              </a:rPr>
              <a:t>也提供了</a:t>
            </a:r>
            <a:r>
              <a:rPr lang="en-US" altLang="zh-CN" dirty="0">
                <a:latin typeface="宋体" panose="02010600030101010101" pitchFamily="2" charset="-122"/>
              </a:rPr>
              <a:t>Java API</a:t>
            </a:r>
            <a:r>
              <a:rPr lang="zh-CN" altLang="en-US" dirty="0">
                <a:latin typeface="宋体" panose="02010600030101010101" pitchFamily="2" charset="-122"/>
              </a:rPr>
              <a:t>，作为应用程序访问文件系统的客户端编程接口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2.2.4 HDFS</a:t>
            </a:r>
            <a:r>
              <a:rPr lang="zh-CN" altLang="en-US" smtClean="0"/>
              <a:t>存储原理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冗余数据保存</a:t>
            </a:r>
          </a:p>
          <a:p>
            <a:r>
              <a:rPr lang="zh-CN" altLang="en-US" smtClean="0"/>
              <a:t>数据存取策略</a:t>
            </a:r>
          </a:p>
          <a:p>
            <a:r>
              <a:rPr lang="zh-CN" altLang="en-US" smtClean="0"/>
              <a:t>数据错误与恢复</a:t>
            </a:r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冗余数据保存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作为一个分布式文件系统，为了保证系统的容错性和可用性，</a:t>
            </a:r>
            <a:r>
              <a:rPr lang="en-US" altLang="zh-CN" dirty="0"/>
              <a:t>HDFS</a:t>
            </a:r>
            <a:r>
              <a:rPr lang="zh-CN" altLang="en-US" dirty="0"/>
              <a:t>采用了多</a:t>
            </a:r>
            <a:r>
              <a:rPr lang="zh-CN" altLang="en-US" dirty="0" smtClean="0"/>
              <a:t>副本（</a:t>
            </a:r>
            <a:r>
              <a:rPr lang="zh-CN" altLang="en-US" dirty="0" smtClean="0">
                <a:solidFill>
                  <a:srgbClr val="FF0000"/>
                </a:solidFill>
              </a:rPr>
              <a:t>默认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个副本</a:t>
            </a:r>
            <a:r>
              <a:rPr lang="zh-CN" altLang="en-US" dirty="0" smtClean="0"/>
              <a:t>）方式</a:t>
            </a:r>
            <a:r>
              <a:rPr lang="zh-CN" altLang="en-US" dirty="0"/>
              <a:t>对数据进行冗余存储，通常一个数据块的多个副本会被分布到不同的</a:t>
            </a:r>
            <a:r>
              <a:rPr lang="en-US" altLang="zh-CN" dirty="0" err="1"/>
              <a:t>DataNode</a:t>
            </a:r>
            <a:r>
              <a:rPr lang="zh-CN" altLang="en-US" dirty="0" smtClean="0"/>
              <a:t>上。这种</a:t>
            </a:r>
            <a:r>
              <a:rPr lang="zh-CN" altLang="en-US" dirty="0"/>
              <a:t>多副本方式具有以下几个优点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sz="2000" dirty="0" smtClean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）加快数据传输</a:t>
            </a:r>
            <a:r>
              <a:rPr lang="zh-CN" altLang="en-US" sz="2000" dirty="0" smtClean="0"/>
              <a:t>速度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）容易检查数据错误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）保证数据可靠性</a:t>
            </a:r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717032"/>
            <a:ext cx="3904675" cy="2249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数据存取策略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机架感知</a:t>
            </a:r>
            <a:r>
              <a:rPr lang="en-US" altLang="zh-CN" sz="2400" dirty="0">
                <a:solidFill>
                  <a:srgbClr val="FF0000"/>
                </a:solidFill>
              </a:rPr>
              <a:t>(Rack Awareness</a:t>
            </a:r>
            <a:r>
              <a:rPr lang="en-US" altLang="zh-CN" sz="2400" dirty="0" smtClean="0">
                <a:solidFill>
                  <a:srgbClr val="FF0000"/>
                </a:solidFill>
              </a:rPr>
              <a:t>)</a:t>
            </a:r>
            <a:r>
              <a:rPr lang="zh-CN" altLang="en-US" sz="2400" dirty="0" smtClean="0">
                <a:solidFill>
                  <a:srgbClr val="FF0000"/>
                </a:solidFill>
              </a:rPr>
              <a:t>策略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 smtClean="0"/>
              <a:t>数据存放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第</a:t>
            </a:r>
            <a:r>
              <a:rPr lang="en-US" altLang="zh-CN" sz="2000" dirty="0" smtClean="0"/>
              <a:t>1</a:t>
            </a:r>
            <a:r>
              <a:rPr lang="zh-CN" altLang="en-US" sz="2000" dirty="0"/>
              <a:t>个副本：放置在上传文件的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；如果是集群外提交，则随机挑选一台磁盘不太满、</a:t>
            </a:r>
            <a:r>
              <a:rPr lang="en-US" altLang="zh-CN" sz="2000" dirty="0"/>
              <a:t>CPU</a:t>
            </a:r>
            <a:r>
              <a:rPr lang="zh-CN" altLang="en-US" sz="2000" dirty="0"/>
              <a:t>不太忙的节点</a:t>
            </a:r>
          </a:p>
          <a:p>
            <a:pPr lvl="2"/>
            <a:r>
              <a:rPr lang="zh-CN" altLang="en-US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个副本：放置在与第一个副本不同的机架的节点上</a:t>
            </a:r>
          </a:p>
          <a:p>
            <a:pPr lvl="2"/>
            <a:r>
              <a:rPr lang="zh-CN" altLang="en-US" sz="2000" dirty="0"/>
              <a:t>第</a:t>
            </a:r>
            <a:r>
              <a:rPr lang="en-US" altLang="zh-CN" sz="2000" dirty="0"/>
              <a:t>3</a:t>
            </a:r>
            <a:r>
              <a:rPr lang="zh-CN" altLang="en-US" sz="2000" dirty="0"/>
              <a:t>个副本：与第一个副本相同机架的其他节点上</a:t>
            </a:r>
          </a:p>
          <a:p>
            <a:pPr lvl="2"/>
            <a:r>
              <a:rPr lang="zh-CN" altLang="en-US" sz="2000" dirty="0"/>
              <a:t>更多副本：随机节点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077072"/>
            <a:ext cx="396240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数据存取策略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机架感知</a:t>
            </a:r>
            <a:r>
              <a:rPr lang="en-US" altLang="zh-CN" dirty="0"/>
              <a:t>(Rack Awareness)</a:t>
            </a:r>
            <a:r>
              <a:rPr lang="zh-CN" altLang="en-US" dirty="0"/>
              <a:t>策略</a:t>
            </a:r>
            <a:endParaRPr lang="en-US" altLang="zh-CN" dirty="0"/>
          </a:p>
          <a:p>
            <a:pPr lvl="1"/>
            <a:r>
              <a:rPr lang="zh-CN" altLang="en-US" dirty="0" smtClean="0"/>
              <a:t>数据</a:t>
            </a:r>
            <a:r>
              <a:rPr lang="zh-CN" altLang="en-US" dirty="0"/>
              <a:t>读取</a:t>
            </a:r>
          </a:p>
          <a:p>
            <a:pPr lvl="2"/>
            <a:r>
              <a:rPr lang="en-US" altLang="zh-CN" dirty="0"/>
              <a:t>HDFS</a:t>
            </a:r>
            <a:r>
              <a:rPr lang="zh-CN" altLang="en-US" dirty="0"/>
              <a:t>提供了一个</a:t>
            </a:r>
            <a:r>
              <a:rPr lang="en-US" altLang="zh-CN" dirty="0"/>
              <a:t>API</a:t>
            </a:r>
            <a:r>
              <a:rPr lang="zh-CN" altLang="en-US" dirty="0"/>
              <a:t>可以确定一个</a:t>
            </a:r>
            <a:r>
              <a:rPr lang="en-US" altLang="zh-CN" dirty="0" err="1"/>
              <a:t>DataNode</a:t>
            </a:r>
            <a:r>
              <a:rPr lang="zh-CN" altLang="en-US" dirty="0"/>
              <a:t>所属的机架</a:t>
            </a:r>
            <a:r>
              <a:rPr lang="en-US" altLang="zh-CN" dirty="0"/>
              <a:t>ID</a:t>
            </a:r>
            <a:r>
              <a:rPr lang="zh-CN" altLang="en-US" dirty="0"/>
              <a:t>，客户端也可以调用</a:t>
            </a:r>
            <a:r>
              <a:rPr lang="en-US" altLang="zh-CN" dirty="0"/>
              <a:t>API</a:t>
            </a:r>
            <a:r>
              <a:rPr lang="zh-CN" altLang="en-US" dirty="0"/>
              <a:t>获取自己所属的机架</a:t>
            </a:r>
            <a:r>
              <a:rPr lang="en-US" altLang="zh-CN" dirty="0"/>
              <a:t>ID</a:t>
            </a:r>
          </a:p>
          <a:p>
            <a:pPr lvl="2"/>
            <a:r>
              <a:rPr lang="zh-CN" altLang="en-US" dirty="0"/>
              <a:t>当客户端读取数据时，从</a:t>
            </a:r>
            <a:r>
              <a:rPr lang="en-US" altLang="zh-CN" dirty="0" err="1"/>
              <a:t>NameNode</a:t>
            </a:r>
            <a:r>
              <a:rPr lang="zh-CN" altLang="en-US" dirty="0"/>
              <a:t>获得数据块不同副本的存放位置列表，列表中包含了副本所在的</a:t>
            </a:r>
            <a:r>
              <a:rPr lang="en-US" altLang="zh-CN" dirty="0" err="1"/>
              <a:t>DataNode</a:t>
            </a:r>
            <a:r>
              <a:rPr lang="zh-CN" altLang="en-US" dirty="0"/>
              <a:t>，可以调用</a:t>
            </a:r>
            <a:r>
              <a:rPr lang="en-US" altLang="zh-CN" dirty="0"/>
              <a:t>API</a:t>
            </a:r>
            <a:r>
              <a:rPr lang="zh-CN" altLang="en-US" dirty="0"/>
              <a:t>来确定客户端和这些</a:t>
            </a:r>
            <a:r>
              <a:rPr lang="en-US" altLang="zh-CN" dirty="0" err="1"/>
              <a:t>DataNode</a:t>
            </a:r>
            <a:r>
              <a:rPr lang="zh-CN" altLang="en-US" dirty="0"/>
              <a:t>所属的机架</a:t>
            </a:r>
            <a:r>
              <a:rPr lang="en-US" altLang="zh-CN" dirty="0"/>
              <a:t>ID</a:t>
            </a:r>
            <a:r>
              <a:rPr lang="zh-CN" altLang="en-US" dirty="0"/>
              <a:t>，当发现某个数据块副本对应的机架</a:t>
            </a:r>
            <a:r>
              <a:rPr lang="en-US" altLang="zh-CN" dirty="0"/>
              <a:t>ID</a:t>
            </a:r>
            <a:r>
              <a:rPr lang="zh-CN" altLang="en-US" dirty="0"/>
              <a:t>和客户端对应的机架</a:t>
            </a:r>
            <a:r>
              <a:rPr lang="en-US" altLang="zh-CN" dirty="0"/>
              <a:t>ID</a:t>
            </a:r>
            <a:r>
              <a:rPr lang="zh-CN" altLang="en-US" dirty="0"/>
              <a:t>相同时，就优先选择该副本读取数据，如果没有发现，就随机选择一个副本读取数据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数据错误与恢复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HDFS</a:t>
            </a:r>
            <a:r>
              <a:rPr lang="zh-CN" altLang="en-US" dirty="0"/>
              <a:t>具有较高的容错性，可以兼容廉价的硬件，它把硬件出错看作一种常态，而不是异常，并设计了相应的机制检测数据错误和进行自动恢复，主要包括以下几种情形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NameNode</a:t>
            </a:r>
            <a:r>
              <a:rPr lang="zh-CN" altLang="en-US" dirty="0" smtClean="0"/>
              <a:t>出错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DataNode</a:t>
            </a:r>
            <a:r>
              <a:rPr lang="zh-CN" altLang="en-US" dirty="0" smtClean="0"/>
              <a:t>出错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数据出错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数据错误与恢复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/>
              <a:t>NameNode</a:t>
            </a:r>
            <a:r>
              <a:rPr lang="zh-CN" altLang="en-US" sz="2400" dirty="0"/>
              <a:t>出错</a:t>
            </a:r>
          </a:p>
          <a:p>
            <a:pPr lvl="1"/>
            <a:r>
              <a:rPr lang="en-US" altLang="zh-CN" sz="2400" dirty="0" err="1" smtClean="0"/>
              <a:t>NameNode</a:t>
            </a:r>
            <a:r>
              <a:rPr lang="zh-CN" altLang="en-US" sz="2400" dirty="0"/>
              <a:t>保存了所有的元数据信息，其中，最核心的两大数据结构是</a:t>
            </a:r>
            <a:r>
              <a:rPr lang="en-US" altLang="zh-CN" sz="2400" dirty="0" err="1"/>
              <a:t>FsImage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Editlog</a:t>
            </a:r>
            <a:r>
              <a:rPr lang="zh-CN" altLang="en-US" sz="2400" dirty="0"/>
              <a:t>，如果这两个文件发生损坏，那么整个</a:t>
            </a:r>
            <a:r>
              <a:rPr lang="en-US" altLang="zh-CN" sz="2400" dirty="0"/>
              <a:t>HDFS</a:t>
            </a:r>
            <a:r>
              <a:rPr lang="zh-CN" altLang="en-US" sz="2400" dirty="0"/>
              <a:t>实例将失效。因此，</a:t>
            </a:r>
            <a:r>
              <a:rPr lang="en-US" altLang="zh-CN" sz="2400" dirty="0"/>
              <a:t>HDFS</a:t>
            </a:r>
            <a:r>
              <a:rPr lang="zh-CN" altLang="en-US" sz="2400" dirty="0"/>
              <a:t>设置了备份机制，把这些核心文件同步复制到备份服务器上。当</a:t>
            </a:r>
            <a:r>
              <a:rPr lang="en-US" altLang="zh-CN" sz="2400" dirty="0" err="1"/>
              <a:t>NameNode</a:t>
            </a:r>
            <a:r>
              <a:rPr lang="zh-CN" altLang="en-US" sz="2400" dirty="0"/>
              <a:t>出错时，就可以根据备份服务器中的</a:t>
            </a:r>
            <a:r>
              <a:rPr lang="en-US" altLang="zh-CN" sz="2400" dirty="0" err="1"/>
              <a:t>FsImage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Editlog</a:t>
            </a:r>
            <a:r>
              <a:rPr lang="zh-CN" altLang="en-US" sz="2400" dirty="0"/>
              <a:t>数据进行恢复。</a:t>
            </a:r>
          </a:p>
          <a:p>
            <a:pPr lvl="2"/>
            <a:r>
              <a:rPr lang="en-US" altLang="zh-CN" sz="2000" dirty="0" err="1" smtClean="0">
                <a:sym typeface="+mn-ea"/>
              </a:rPr>
              <a:t>SecondaryNameNode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并未保留最近的文件修改操作记录，只是</a:t>
            </a:r>
            <a:r>
              <a:rPr lang="en-US" altLang="zh-CN" sz="2000" dirty="0" err="1" smtClean="0">
                <a:sym typeface="+mn-ea"/>
              </a:rPr>
              <a:t>NameNode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冷备份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而非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热备份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，可能会造成部分文件修改操作的丢失</a:t>
            </a:r>
          </a:p>
          <a:p>
            <a:pPr lvl="2"/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Hadoop 2.x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HDFS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增加了对高可用性（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high availability,HA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）的支持，配置了活动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备用（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active-standby</a:t>
            </a:r>
            <a:r>
              <a:rPr lang="zh-CN" altLang="en-US" sz="2000" dirty="0" err="1" smtClean="0">
                <a:ea typeface="宋体" panose="02010600030101010101" pitchFamily="2" charset="-122"/>
                <a:sym typeface="+mn-ea"/>
              </a:rPr>
              <a:t>）</a:t>
            </a:r>
            <a:r>
              <a:rPr lang="en-US" altLang="zh-CN" sz="2000" dirty="0" err="1" smtClean="0">
                <a:ea typeface="宋体" panose="02010600030101010101" pitchFamily="2" charset="-122"/>
                <a:sym typeface="+mn-ea"/>
              </a:rPr>
              <a:t>NameNode</a:t>
            </a:r>
            <a:endParaRPr lang="zh-CN" altLang="en-US" sz="2000" dirty="0"/>
          </a:p>
          <a:p>
            <a:pPr lvl="2"/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数据错误与恢复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/>
              <a:t>DataNode</a:t>
            </a:r>
            <a:r>
              <a:rPr lang="zh-CN" altLang="en-US" sz="2000" dirty="0"/>
              <a:t>出错</a:t>
            </a:r>
          </a:p>
          <a:p>
            <a:pPr lvl="1"/>
            <a:r>
              <a:rPr lang="zh-CN" altLang="en-US" sz="2000" dirty="0"/>
              <a:t>每个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会定期向</a:t>
            </a:r>
            <a:r>
              <a:rPr lang="en-US" altLang="zh-CN" sz="2000" dirty="0" err="1"/>
              <a:t>NameNode</a:t>
            </a:r>
            <a:r>
              <a:rPr lang="zh-CN" altLang="en-US" sz="2000" dirty="0"/>
              <a:t>发送“心跳”信息，向</a:t>
            </a:r>
            <a:r>
              <a:rPr lang="en-US" altLang="zh-CN" sz="2000" dirty="0" err="1"/>
              <a:t>NameNode</a:t>
            </a:r>
            <a:r>
              <a:rPr lang="zh-CN" altLang="en-US" sz="2000" dirty="0"/>
              <a:t>报告自己的状态</a:t>
            </a:r>
          </a:p>
          <a:p>
            <a:pPr lvl="1"/>
            <a:r>
              <a:rPr lang="zh-CN" altLang="en-US" sz="2000" dirty="0"/>
              <a:t>当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发生故障，或者网络发生断网时，</a:t>
            </a:r>
            <a:r>
              <a:rPr lang="en-US" altLang="zh-CN" sz="2000" dirty="0" err="1"/>
              <a:t>NameNode</a:t>
            </a:r>
            <a:r>
              <a:rPr lang="zh-CN" altLang="en-US" sz="2000" dirty="0"/>
              <a:t>就无法收到来自一些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的心跳信息，这时，这些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就会被标记为“宕机”，节点上面的所有数据都会被标记为“不可读”，</a:t>
            </a:r>
            <a:r>
              <a:rPr lang="en-US" altLang="zh-CN" sz="2000" dirty="0" err="1"/>
              <a:t>NameNode</a:t>
            </a:r>
            <a:r>
              <a:rPr lang="zh-CN" altLang="en-US" sz="2000" dirty="0"/>
              <a:t>不会再给它们发送任何</a:t>
            </a:r>
            <a:r>
              <a:rPr lang="en-US" altLang="zh-CN" sz="2000" dirty="0"/>
              <a:t>I/O</a:t>
            </a:r>
            <a:r>
              <a:rPr lang="zh-CN" altLang="en-US" sz="2000" dirty="0"/>
              <a:t>请求</a:t>
            </a:r>
          </a:p>
          <a:p>
            <a:pPr lvl="1"/>
            <a:r>
              <a:rPr lang="zh-CN" altLang="en-US" sz="2000" dirty="0"/>
              <a:t>这时，有可能出现一种情形，即由于一些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的不可用，会导致一些数据块的副本数量小于冗余因子</a:t>
            </a:r>
          </a:p>
          <a:p>
            <a:pPr lvl="1"/>
            <a:r>
              <a:rPr lang="en-US" altLang="zh-CN" sz="2000" dirty="0" err="1"/>
              <a:t>NameNode</a:t>
            </a:r>
            <a:r>
              <a:rPr lang="zh-CN" altLang="en-US" sz="2000" dirty="0"/>
              <a:t>会定期检查这种情况，一旦发现某个数据块的副本数量小于冗余因子，就会启动数据冗余复制，为它生成新的副本</a:t>
            </a:r>
          </a:p>
          <a:p>
            <a:pPr lvl="1"/>
            <a:r>
              <a:rPr lang="en-US" altLang="zh-CN" sz="2000" dirty="0"/>
              <a:t>HDFS</a:t>
            </a:r>
            <a:r>
              <a:rPr lang="zh-CN" altLang="en-US" sz="2000" dirty="0"/>
              <a:t>和其它分布式文件系统的最大区别就是可以调整冗余数据的位置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数据错误与恢复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数据</a:t>
            </a:r>
            <a:r>
              <a:rPr lang="zh-CN" altLang="en-US" sz="2400" dirty="0" smtClean="0"/>
              <a:t>出错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网络传输和磁盘错误等因素，都会造成数据错误</a:t>
            </a:r>
          </a:p>
          <a:p>
            <a:pPr lvl="1"/>
            <a:r>
              <a:rPr lang="zh-CN" altLang="en-US" sz="2400" dirty="0"/>
              <a:t>客户端在读取到数据后，会采用</a:t>
            </a:r>
            <a:r>
              <a:rPr lang="en-US" altLang="zh-CN" sz="2400" dirty="0"/>
              <a:t>md5</a:t>
            </a:r>
            <a:r>
              <a:rPr lang="zh-CN" altLang="en-US" sz="2400" dirty="0"/>
              <a:t>和</a:t>
            </a:r>
            <a:r>
              <a:rPr lang="en-US" altLang="zh-CN" sz="2400" dirty="0"/>
              <a:t>sha1</a:t>
            </a:r>
            <a:r>
              <a:rPr lang="zh-CN" altLang="en-US" sz="2400" dirty="0"/>
              <a:t>对数据块进行校验，以确定读取到正确的数据</a:t>
            </a:r>
          </a:p>
          <a:p>
            <a:pPr lvl="1"/>
            <a:r>
              <a:rPr lang="zh-CN" altLang="en-US" sz="2400" dirty="0"/>
              <a:t>在文件被创建时，客户端就会对每一个文件块进行信息摘录（Message</a:t>
            </a:r>
            <a:r>
              <a:rPr lang="en-US" altLang="zh-CN" sz="2400" dirty="0"/>
              <a:t> </a:t>
            </a:r>
            <a:r>
              <a:rPr lang="zh-CN" altLang="en-US" sz="2400" dirty="0"/>
              <a:t>Digest），并把这些信息写入到同一个路径的隐藏文件里面</a:t>
            </a:r>
          </a:p>
          <a:p>
            <a:pPr lvl="1"/>
            <a:r>
              <a:rPr lang="zh-CN" altLang="en-US" sz="2400" dirty="0"/>
              <a:t>当客户端读取文件的时候，会先读取该信息文件，然后，利用该信息文件对每个读取的数据块进行校验，如果校验出错，客户端就会请求到另外一个</a:t>
            </a:r>
            <a:r>
              <a:rPr lang="en-US" altLang="zh-CN" sz="2400" dirty="0" err="1"/>
              <a:t>DataNode</a:t>
            </a:r>
            <a:r>
              <a:rPr lang="zh-CN" altLang="en-US" sz="2400" dirty="0"/>
              <a:t>读取该文件块，并且向</a:t>
            </a:r>
            <a:r>
              <a:rPr lang="en-US" altLang="zh-CN" sz="2400" dirty="0" err="1"/>
              <a:t>NameNode</a:t>
            </a:r>
            <a:r>
              <a:rPr lang="zh-CN" altLang="en-US" sz="2400" dirty="0"/>
              <a:t>报告这个文件块有错误，</a:t>
            </a:r>
            <a:r>
              <a:rPr lang="en-US" altLang="zh-CN" sz="2400" dirty="0" err="1"/>
              <a:t>NameNode</a:t>
            </a:r>
            <a:r>
              <a:rPr lang="zh-CN" altLang="en-US" sz="2400" dirty="0"/>
              <a:t>会定期检查并且重新复制这个</a:t>
            </a:r>
            <a:r>
              <a:rPr lang="zh-CN" altLang="en-US" sz="2400" dirty="0" smtClean="0"/>
              <a:t>块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2.2.5 HDFS</a:t>
            </a:r>
            <a:r>
              <a:rPr lang="zh-CN" altLang="en-US" dirty="0" smtClean="0"/>
              <a:t>文件读写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HDFS</a:t>
            </a:r>
            <a:r>
              <a:rPr lang="zh-CN" altLang="en-US" sz="2400" dirty="0" smtClean="0"/>
              <a:t>读文件</a:t>
            </a:r>
          </a:p>
          <a:p>
            <a:r>
              <a:rPr lang="en-US" altLang="zh-CN" sz="2400" dirty="0" smtClean="0"/>
              <a:t>HDFS</a:t>
            </a:r>
            <a:r>
              <a:rPr lang="zh-CN" altLang="en-US" sz="2400" dirty="0" smtClean="0"/>
              <a:t>写文件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HDFS读文件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HDFS</a:t>
            </a:r>
            <a:r>
              <a:rPr lang="zh-CN" altLang="en-US" dirty="0" smtClean="0"/>
              <a:t>读文件的过程</a:t>
            </a:r>
            <a:endParaRPr lang="zh-CN" altLang="en-US" dirty="0"/>
          </a:p>
        </p:txBody>
      </p:sp>
      <p:pic>
        <p:nvPicPr>
          <p:cNvPr id="9" name="内容占位符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600" y="1916832"/>
            <a:ext cx="6857796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HDFS读文件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HDFS</a:t>
            </a:r>
            <a:r>
              <a:rPr lang="zh-CN" altLang="en-US" sz="2400" dirty="0" smtClean="0"/>
              <a:t>读文件的过程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客户端与</a:t>
            </a:r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通信，请求读取一个文件</a:t>
            </a:r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根据文件路径等信息判断请求是否合法，如果合法则向客户端返回文件中所有数据块的存放地址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对于第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个数据块，客户端从距离最近的存放该数据块的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读取数据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当第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个数据块读取完毕后，</a:t>
            </a:r>
            <a:r>
              <a:rPr lang="zh-CN" altLang="en-US" sz="2400" dirty="0"/>
              <a:t>客户端从距离最近的存放该数据块的</a:t>
            </a:r>
            <a:r>
              <a:rPr lang="en-US" altLang="zh-CN" sz="2400" dirty="0" err="1"/>
              <a:t>DataNode</a:t>
            </a:r>
            <a:r>
              <a:rPr lang="zh-CN" altLang="en-US" sz="2400" dirty="0"/>
              <a:t>读取</a:t>
            </a:r>
            <a:r>
              <a:rPr lang="zh-CN" altLang="en-US" sz="2400" dirty="0" smtClean="0"/>
              <a:t>数据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以此类推，客户端读取下一个数据块，直到读取完所有的数据块。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HDFS写文件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HDFS</a:t>
            </a:r>
            <a:r>
              <a:rPr lang="zh-CN" altLang="en-US" sz="2400" dirty="0" smtClean="0"/>
              <a:t>写文件的过程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客户端向</a:t>
            </a:r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发起文件写入请求，</a:t>
            </a:r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会根据文件路径等信息判断写入请求是否合法。如果合法，则客户端以文件块大小的数据为单位不断地向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中写入文件块。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29000"/>
            <a:ext cx="5400000" cy="3302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HDFS写文件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客户端写入一个文件块的简化过程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客户端与</a:t>
            </a:r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通信，请求写入一个文件块</a:t>
            </a:r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NameNode</a:t>
            </a:r>
            <a:r>
              <a:rPr lang="zh-CN" altLang="en-US" sz="2400" dirty="0" smtClean="0"/>
              <a:t>根据相应策略决定存放文件块的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，并将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的位置告知客户端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客户端与第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建立连接，</a:t>
            </a:r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与第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建立连接，</a:t>
            </a:r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与第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建立连接，依次类推。客户端将文件块以流水线的方式写入这些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写入完毕后向第</a:t>
            </a:r>
            <a:r>
              <a:rPr lang="en-US" altLang="zh-CN" sz="2400" dirty="0" smtClean="0"/>
              <a:t>2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发送确认消息，</a:t>
            </a:r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随后向第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个发送</a:t>
            </a:r>
            <a:r>
              <a:rPr lang="zh-CN" altLang="en-US" sz="2400" dirty="0"/>
              <a:t>确认</a:t>
            </a:r>
            <a:r>
              <a:rPr lang="zh-CN" altLang="en-US" sz="2400" dirty="0" smtClean="0"/>
              <a:t>消息。最后</a:t>
            </a:r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向客户端发送确认消息，表明该文件块写入成功。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HDFS写文件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流水线复制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由于单个文件块通常是</a:t>
            </a:r>
            <a:r>
              <a:rPr lang="en-US" altLang="zh-CN" sz="2400" dirty="0" smtClean="0"/>
              <a:t>128MB（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64MB）</a:t>
            </a:r>
            <a:r>
              <a:rPr lang="zh-CN" altLang="en-US" sz="2400" dirty="0" smtClean="0"/>
              <a:t>甚至更大，客户端并非将整个文件块一次性传输给第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个</a:t>
            </a:r>
            <a:r>
              <a:rPr lang="en-US" altLang="zh-CN" sz="2400" dirty="0" err="1" smtClean="0"/>
              <a:t>DataNode</a:t>
            </a:r>
            <a:r>
              <a:rPr lang="zh-CN" altLang="en-US" sz="2400" dirty="0" smtClean="0"/>
              <a:t>，而是以更小（例如</a:t>
            </a:r>
            <a:r>
              <a:rPr lang="en-US" altLang="zh-CN" sz="2400" dirty="0" smtClean="0"/>
              <a:t>64KB</a:t>
            </a:r>
            <a:r>
              <a:rPr lang="zh-CN" altLang="en-US" sz="2400" dirty="0" smtClean="0"/>
              <a:t>）的数据包</a:t>
            </a:r>
            <a:r>
              <a:rPr lang="en-US" altLang="zh-CN" sz="2400" dirty="0" smtClean="0"/>
              <a:t>(packet)</a:t>
            </a:r>
            <a:r>
              <a:rPr lang="zh-CN" altLang="en-US" sz="2400" dirty="0" smtClean="0"/>
              <a:t>为单位进行传输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当</a:t>
            </a:r>
            <a:r>
              <a:rPr lang="zh-CN" altLang="en-US" sz="2000" dirty="0"/>
              <a:t>第</a:t>
            </a:r>
            <a:r>
              <a:rPr lang="en-US" altLang="zh-CN" sz="2000" dirty="0"/>
              <a:t>1</a:t>
            </a:r>
            <a:r>
              <a:rPr lang="zh-CN" altLang="en-US" sz="2000" dirty="0"/>
              <a:t>个</a:t>
            </a:r>
            <a:r>
              <a:rPr lang="en-US" altLang="zh-CN" sz="2000" dirty="0" err="1" smtClean="0"/>
              <a:t>DataNode</a:t>
            </a:r>
            <a:r>
              <a:rPr lang="zh-CN" altLang="en-US" sz="2000" dirty="0" smtClean="0"/>
              <a:t>收到一个数据包后，除写入本地缓存外，还会将该数据包立即转发给第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个</a:t>
            </a:r>
            <a:r>
              <a:rPr lang="en-US" altLang="zh-CN" sz="2000" dirty="0" err="1" smtClean="0"/>
              <a:t>DataNode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以此类推，</a:t>
            </a:r>
            <a:r>
              <a:rPr lang="zh-CN" altLang="en-US" sz="2000" dirty="0"/>
              <a:t>当</a:t>
            </a:r>
            <a:r>
              <a:rPr lang="zh-CN" altLang="en-US" sz="2000" dirty="0" smtClean="0"/>
              <a:t>第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个</a:t>
            </a:r>
            <a:r>
              <a:rPr lang="en-US" altLang="zh-CN" sz="2000" dirty="0" err="1"/>
              <a:t>DataNode</a:t>
            </a:r>
            <a:r>
              <a:rPr lang="zh-CN" altLang="en-US" sz="2000" dirty="0"/>
              <a:t>收到一个数据包后，除写入本地缓存外，还会将该数据包立即转发给</a:t>
            </a:r>
            <a:r>
              <a:rPr lang="zh-CN" altLang="en-US" sz="2000" dirty="0" smtClean="0"/>
              <a:t>第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个</a:t>
            </a:r>
            <a:r>
              <a:rPr lang="en-US" altLang="zh-CN" sz="2000" dirty="0" err="1" smtClean="0"/>
              <a:t>DataNode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当该文件块写入完毕后，客户端再次向</a:t>
            </a:r>
            <a:r>
              <a:rPr lang="en-US" altLang="zh-CN" sz="2000" dirty="0" err="1" smtClean="0"/>
              <a:t>NameNode</a:t>
            </a:r>
            <a:r>
              <a:rPr lang="zh-CN" altLang="en-US" sz="2000" dirty="0" smtClean="0"/>
              <a:t>发起通信，请求写入下一个文件块，并重复上述过程</a:t>
            </a:r>
            <a:endParaRPr lang="en-US" altLang="zh-CN" sz="2000" dirty="0" smtClean="0"/>
          </a:p>
          <a:p>
            <a:pPr lvl="1"/>
            <a:r>
              <a:rPr lang="zh-CN" altLang="en-US" sz="2400" dirty="0" smtClean="0"/>
              <a:t>单个文件以流水线方式传输，而文件块之间以非阻塞方式传输</a:t>
            </a:r>
            <a:endParaRPr lang="zh-CN" altLang="en-US" sz="2400" dirty="0"/>
          </a:p>
          <a:p>
            <a:pPr lvl="2"/>
            <a:endParaRPr lang="zh-CN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2.2.5 HDFS</a:t>
            </a:r>
            <a:r>
              <a:rPr lang="zh-CN" altLang="en-US" dirty="0"/>
              <a:t>文件读写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思考：</a:t>
            </a:r>
            <a:r>
              <a:rPr lang="en-US" altLang="zh-CN" dirty="0"/>
              <a:t> </a:t>
            </a:r>
            <a:r>
              <a:rPr lang="en-US" altLang="zh-CN" dirty="0" smtClean="0"/>
              <a:t>HDFS</a:t>
            </a:r>
            <a:r>
              <a:rPr lang="zh-CN" altLang="en-US" dirty="0" smtClean="0"/>
              <a:t>写文件时，为什么客户端在每次写入文件块之前都需要先询问</a:t>
            </a:r>
            <a:r>
              <a:rPr lang="en-US" altLang="zh-CN" dirty="0" err="1" smtClean="0"/>
              <a:t>NameNode</a:t>
            </a:r>
            <a:r>
              <a:rPr lang="zh-CN" altLang="en-US" dirty="0" smtClean="0"/>
              <a:t>该文件块的存放位置？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2.1 Hadoop</a:t>
            </a:r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2.2 HDFS</a:t>
            </a:r>
            <a:r>
              <a:rPr lang="zh-CN" altLang="en-US" dirty="0"/>
              <a:t>文件系统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2.3 HDFS Shell</a:t>
            </a:r>
            <a:r>
              <a:rPr lang="zh-CN" altLang="en-US" dirty="0">
                <a:solidFill>
                  <a:srgbClr val="FF0000"/>
                </a:solidFill>
              </a:rPr>
              <a:t>命令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2.4 HDFS Java API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HDFS Shell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2.3.1 HDFS</a:t>
            </a:r>
            <a:r>
              <a:rPr lang="zh-CN" altLang="en-US" dirty="0"/>
              <a:t> </a:t>
            </a:r>
            <a:r>
              <a:rPr lang="en-US" altLang="zh-CN" dirty="0"/>
              <a:t>Shell</a:t>
            </a:r>
            <a:r>
              <a:rPr lang="zh-CN" altLang="en-US" dirty="0"/>
              <a:t>命令介绍</a:t>
            </a:r>
            <a:endParaRPr lang="en-US" altLang="zh-CN" dirty="0"/>
          </a:p>
          <a:p>
            <a:r>
              <a:rPr lang="en-US" altLang="zh-CN" dirty="0"/>
              <a:t>2.3.2 HDFS Shell</a:t>
            </a:r>
            <a:r>
              <a:rPr lang="zh-CN" altLang="en-US" dirty="0"/>
              <a:t>帮助</a:t>
            </a:r>
            <a:endParaRPr lang="en-US" altLang="zh-CN" dirty="0"/>
          </a:p>
          <a:p>
            <a:r>
              <a:rPr lang="en-US" altLang="zh-CN" dirty="0"/>
              <a:t>2.3.3 </a:t>
            </a:r>
            <a:r>
              <a:rPr lang="zh-CN" altLang="zh-CN" dirty="0"/>
              <a:t>文件操作命令</a:t>
            </a:r>
            <a:endParaRPr lang="en-US" altLang="zh-CN" dirty="0"/>
          </a:p>
          <a:p>
            <a:r>
              <a:rPr lang="en-US" altLang="zh-CN" dirty="0"/>
              <a:t>2.3.4 </a:t>
            </a:r>
            <a:r>
              <a:rPr lang="zh-CN" altLang="zh-CN" dirty="0"/>
              <a:t>跨文件系统的交互操作命令</a:t>
            </a:r>
            <a:endParaRPr lang="en-US" altLang="zh-CN" dirty="0"/>
          </a:p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2.3.1 Shell</a:t>
            </a:r>
            <a:r>
              <a:rPr lang="zh-CN" altLang="en-US" dirty="0"/>
              <a:t>命令介绍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HDFS Shell</a:t>
            </a:r>
            <a:r>
              <a:rPr lang="zh-CN" altLang="zh-CN" dirty="0"/>
              <a:t>是由一系列类似</a:t>
            </a:r>
            <a:r>
              <a:rPr lang="en-US" altLang="zh-CN" dirty="0"/>
              <a:t>Linux Shell</a:t>
            </a:r>
            <a:r>
              <a:rPr lang="zh-CN" altLang="zh-CN" dirty="0"/>
              <a:t>的操作命令组成。借助这些命令，用户可以完成</a:t>
            </a:r>
            <a:r>
              <a:rPr lang="en-US" altLang="zh-CN" dirty="0"/>
              <a:t>HDFS</a:t>
            </a:r>
            <a:r>
              <a:rPr lang="zh-CN" altLang="zh-CN" dirty="0"/>
              <a:t>文件的复制、删除和查找等操作，也可以完成</a:t>
            </a:r>
            <a:r>
              <a:rPr lang="en-US" altLang="zh-CN" dirty="0"/>
              <a:t>HDFS</a:t>
            </a:r>
            <a:r>
              <a:rPr lang="zh-CN" altLang="zh-CN" dirty="0"/>
              <a:t>与</a:t>
            </a:r>
            <a:r>
              <a:rPr lang="en-US" altLang="zh-CN" dirty="0"/>
              <a:t>Linux</a:t>
            </a:r>
            <a:r>
              <a:rPr lang="zh-CN" altLang="zh-CN" dirty="0"/>
              <a:t>本地文件系统、</a:t>
            </a:r>
            <a:r>
              <a:rPr lang="en-US" altLang="zh-CN" dirty="0"/>
              <a:t>S3</a:t>
            </a:r>
            <a:r>
              <a:rPr lang="zh-CN" altLang="zh-CN" dirty="0"/>
              <a:t>文件系统等的交互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更多可以参考：</a:t>
            </a:r>
            <a:r>
              <a:rPr lang="en-US" altLang="zh-CN" sz="2000" dirty="0">
                <a:hlinkClick r:id="rId2"/>
              </a:rPr>
              <a:t>http://hadoop.apache.org/docs/</a:t>
            </a:r>
            <a:endParaRPr lang="en-US" altLang="zh-CN" sz="2000" dirty="0"/>
          </a:p>
          <a:p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2.3.1 Shell</a:t>
            </a:r>
            <a:r>
              <a:rPr lang="zh-CN" altLang="zh-CN" dirty="0"/>
              <a:t>命令介绍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HDFS</a:t>
            </a:r>
            <a:r>
              <a:rPr lang="zh-CN" altLang="zh-CN" dirty="0"/>
              <a:t>有关文件操作的</a:t>
            </a:r>
            <a:r>
              <a:rPr lang="en-US" altLang="zh-CN" dirty="0"/>
              <a:t>Shell</a:t>
            </a:r>
            <a:r>
              <a:rPr lang="zh-CN" altLang="zh-CN" dirty="0"/>
              <a:t>命令一般格式如下：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[</a:t>
            </a:r>
            <a:r>
              <a:rPr lang="zh-CN" altLang="zh-CN" dirty="0">
                <a:solidFill>
                  <a:srgbClr val="FF0000"/>
                </a:solidFill>
              </a:rPr>
              <a:t>通用选项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其中，“</a:t>
            </a:r>
            <a:r>
              <a:rPr lang="en-US" altLang="zh-CN" dirty="0" err="1"/>
              <a:t>hadoop</a:t>
            </a:r>
            <a:r>
              <a:rPr lang="zh-CN" altLang="zh-CN" dirty="0"/>
              <a:t>”是</a:t>
            </a:r>
            <a:r>
              <a:rPr lang="en-US" altLang="zh-CN" dirty="0"/>
              <a:t>Hadoop</a:t>
            </a:r>
            <a:r>
              <a:rPr lang="zh-CN" altLang="zh-CN" dirty="0"/>
              <a:t>系统在</a:t>
            </a:r>
            <a:r>
              <a:rPr lang="en-US" altLang="zh-CN" dirty="0"/>
              <a:t>Linux</a:t>
            </a:r>
            <a:r>
              <a:rPr lang="zh-CN" altLang="zh-CN" dirty="0"/>
              <a:t>系统中的主命令，它对应的程序文件位于</a:t>
            </a:r>
            <a:r>
              <a:rPr lang="en-US" altLang="zh-CN" dirty="0"/>
              <a:t>Hadoop</a:t>
            </a:r>
            <a:r>
              <a:rPr lang="zh-CN" altLang="zh-CN" dirty="0"/>
              <a:t>安装目录的</a:t>
            </a:r>
            <a:r>
              <a:rPr lang="en-US" altLang="zh-CN" dirty="0"/>
              <a:t>bin</a:t>
            </a:r>
            <a:r>
              <a:rPr lang="zh-CN" altLang="zh-CN" dirty="0"/>
              <a:t>子目录中。“</a:t>
            </a:r>
            <a:r>
              <a:rPr lang="en-US" altLang="zh-CN" dirty="0"/>
              <a:t>fs</a:t>
            </a:r>
            <a:r>
              <a:rPr lang="zh-CN" altLang="zh-CN" dirty="0"/>
              <a:t>”是子命令，表示执行文件系统操作。通用选项由</a:t>
            </a:r>
            <a:r>
              <a:rPr lang="en-US" altLang="zh-CN" dirty="0"/>
              <a:t>HDFS</a:t>
            </a:r>
            <a:r>
              <a:rPr lang="zh-CN" altLang="zh-CN" dirty="0"/>
              <a:t>文件操作命令和操作参数组成，不能省略，必须以英文减号字符“</a:t>
            </a:r>
            <a:r>
              <a:rPr lang="en-US" altLang="zh-CN" dirty="0"/>
              <a:t>-</a:t>
            </a:r>
            <a:r>
              <a:rPr lang="zh-CN" altLang="zh-CN" dirty="0"/>
              <a:t>”打头。操作对象在操作参数中指定。</a:t>
            </a:r>
            <a:endParaRPr lang="en-US" altLang="zh-CN" dirty="0"/>
          </a:p>
          <a:p>
            <a:pPr lvl="1"/>
            <a:r>
              <a:rPr lang="zh-CN" altLang="zh-CN" dirty="0"/>
              <a:t>例如，“</a:t>
            </a:r>
            <a:r>
              <a:rPr lang="en-US" altLang="zh-CN" dirty="0" err="1"/>
              <a:t>hadoop</a:t>
            </a:r>
            <a:r>
              <a:rPr lang="en-US" altLang="zh-CN" dirty="0"/>
              <a:t> fs -ls /</a:t>
            </a:r>
            <a:r>
              <a:rPr lang="zh-CN" altLang="zh-CN" dirty="0"/>
              <a:t>”命令表示显示</a:t>
            </a:r>
            <a:r>
              <a:rPr lang="en-US" altLang="zh-CN" dirty="0"/>
              <a:t>HDFS</a:t>
            </a:r>
            <a:r>
              <a:rPr lang="zh-CN" altLang="zh-CN" dirty="0"/>
              <a:t>文件系统的根目录信息。在该命令中，“</a:t>
            </a:r>
            <a:r>
              <a:rPr lang="en-US" altLang="zh-CN" dirty="0"/>
              <a:t>-ls</a:t>
            </a:r>
            <a:r>
              <a:rPr lang="zh-CN" altLang="zh-CN" dirty="0"/>
              <a:t>”是</a:t>
            </a:r>
            <a:r>
              <a:rPr lang="en-US" altLang="zh-CN" dirty="0"/>
              <a:t>HDFS</a:t>
            </a:r>
            <a:r>
              <a:rPr lang="zh-CN" altLang="zh-CN" dirty="0"/>
              <a:t>的文件操作命令，功能与</a:t>
            </a:r>
            <a:r>
              <a:rPr lang="en-US" altLang="zh-CN" dirty="0"/>
              <a:t>Linux</a:t>
            </a:r>
            <a:r>
              <a:rPr lang="zh-CN" altLang="zh-CN" dirty="0"/>
              <a:t>系统中的</a:t>
            </a:r>
            <a:r>
              <a:rPr lang="en-US" altLang="zh-CN" dirty="0"/>
              <a:t>ls</a:t>
            </a:r>
            <a:r>
              <a:rPr lang="zh-CN" altLang="zh-CN" dirty="0"/>
              <a:t>命令相似。“</a:t>
            </a:r>
            <a:r>
              <a:rPr lang="en-US" altLang="zh-CN" dirty="0"/>
              <a:t>/</a:t>
            </a:r>
            <a:r>
              <a:rPr lang="zh-CN" altLang="zh-CN" dirty="0"/>
              <a:t>”是操作参数，指定操作对象为</a:t>
            </a:r>
            <a:r>
              <a:rPr lang="en-US" altLang="zh-CN" dirty="0"/>
              <a:t>HDFS</a:t>
            </a:r>
            <a:r>
              <a:rPr lang="zh-CN" altLang="zh-CN" dirty="0"/>
              <a:t>文件系统的根目录。</a:t>
            </a:r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2.3.2 HDFS Shell</a:t>
            </a:r>
            <a:r>
              <a:rPr lang="zh-CN" altLang="zh-CN" dirty="0"/>
              <a:t>帮助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zh-CN" dirty="0"/>
              <a:t>显示所有帮助信息</a:t>
            </a:r>
          </a:p>
          <a:p>
            <a:pPr marL="0" indent="0">
              <a:buNone/>
            </a:pPr>
            <a:r>
              <a:rPr lang="en-US" altLang="zh-CN" dirty="0"/>
              <a:t>  $ </a:t>
            </a:r>
            <a:r>
              <a:rPr lang="en-US" altLang="zh-CN" sz="2600" dirty="0" err="1">
                <a:solidFill>
                  <a:srgbClr val="FF0000"/>
                </a:solidFill>
              </a:rPr>
              <a:t>hadoop</a:t>
            </a:r>
            <a:r>
              <a:rPr lang="en-US" altLang="zh-CN" sz="2600" dirty="0">
                <a:solidFill>
                  <a:srgbClr val="FF0000"/>
                </a:solidFill>
              </a:rPr>
              <a:t> fs –help</a:t>
            </a:r>
          </a:p>
          <a:p>
            <a:pPr marL="0" indent="0">
              <a:buNone/>
            </a:pPr>
            <a:endParaRPr lang="zh-CN" altLang="zh-CN" dirty="0"/>
          </a:p>
          <a:p>
            <a:r>
              <a:rPr lang="en-US" altLang="zh-CN" dirty="0"/>
              <a:t>2. </a:t>
            </a:r>
            <a:r>
              <a:rPr lang="zh-CN" altLang="zh-CN" dirty="0"/>
              <a:t>显示特定命令的帮助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若要显示某个特定</a:t>
            </a:r>
            <a:r>
              <a:rPr lang="en-US" altLang="zh-CN" dirty="0"/>
              <a:t>Shell</a:t>
            </a:r>
            <a:r>
              <a:rPr lang="zh-CN" altLang="zh-CN" dirty="0"/>
              <a:t>命令的帮助信息，则可在</a:t>
            </a:r>
            <a:r>
              <a:rPr lang="en-US" altLang="zh-CN" dirty="0"/>
              <a:t>help</a:t>
            </a:r>
            <a:r>
              <a:rPr lang="zh-CN" altLang="zh-CN" dirty="0"/>
              <a:t>命令之后添加该</a:t>
            </a:r>
            <a:r>
              <a:rPr lang="en-US" altLang="zh-CN" dirty="0"/>
              <a:t>Shell</a:t>
            </a:r>
            <a:r>
              <a:rPr lang="zh-CN" altLang="zh-CN" dirty="0"/>
              <a:t>命令。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例如，</a:t>
            </a:r>
            <a:r>
              <a:rPr lang="en-US" altLang="zh-CN" dirty="0"/>
              <a:t>$ </a:t>
            </a:r>
            <a:r>
              <a:rPr lang="en-US" altLang="zh-CN" sz="2600" dirty="0" err="1">
                <a:solidFill>
                  <a:srgbClr val="FF0000"/>
                </a:solidFill>
              </a:rPr>
              <a:t>hadoop</a:t>
            </a:r>
            <a:r>
              <a:rPr lang="en-US" altLang="zh-CN" sz="2600" dirty="0">
                <a:solidFill>
                  <a:srgbClr val="FF0000"/>
                </a:solidFill>
              </a:rPr>
              <a:t> fs -help ls</a:t>
            </a:r>
            <a:endParaRPr lang="zh-CN" altLang="zh-CN" sz="2600" dirty="0">
              <a:solidFill>
                <a:srgbClr val="FF0000"/>
              </a:solidFill>
            </a:endParaRPr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2.3.3 </a:t>
            </a:r>
            <a:r>
              <a:rPr lang="zh-CN" altLang="en-US" dirty="0"/>
              <a:t>文件操作命令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在</a:t>
            </a:r>
            <a:r>
              <a:rPr lang="en-US" altLang="zh-CN" dirty="0"/>
              <a:t>HDFS Shell</a:t>
            </a:r>
            <a:r>
              <a:rPr lang="zh-CN" altLang="zh-CN" dirty="0"/>
              <a:t>命令中，有关文件的操作命令比较丰富，包括目录或文件的创建、复制、重命名、显示、查找、统计等命令。</a:t>
            </a:r>
          </a:p>
          <a:p>
            <a:r>
              <a:rPr lang="en-US" altLang="zh-CN" dirty="0"/>
              <a:t>1. </a:t>
            </a:r>
            <a:r>
              <a:rPr lang="en-US" altLang="zh-CN" dirty="0">
                <a:solidFill>
                  <a:srgbClr val="FF0000"/>
                </a:solidFill>
              </a:rPr>
              <a:t>ls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lsr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-ls [-d] [-h] [-R] &lt;</a:t>
            </a:r>
            <a:r>
              <a:rPr lang="en-US" altLang="zh-CN" dirty="0" err="1">
                <a:solidFill>
                  <a:srgbClr val="FF0000"/>
                </a:solidFill>
              </a:rPr>
              <a:t>args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其中，各选项说明如下：</a:t>
            </a:r>
          </a:p>
          <a:p>
            <a:pPr lvl="1"/>
            <a:r>
              <a:rPr lang="en-US" altLang="zh-CN" dirty="0"/>
              <a:t>-d</a:t>
            </a:r>
            <a:r>
              <a:rPr lang="zh-CN" altLang="zh-CN" dirty="0"/>
              <a:t>选项</a:t>
            </a:r>
            <a:r>
              <a:rPr lang="en-US" altLang="zh-CN" dirty="0"/>
              <a:t>: </a:t>
            </a:r>
            <a:r>
              <a:rPr lang="zh-CN" altLang="zh-CN" dirty="0"/>
              <a:t>将目录显示为普通文件（</a:t>
            </a:r>
            <a:r>
              <a:rPr lang="en-US" altLang="zh-CN" dirty="0"/>
              <a:t>plain file</a:t>
            </a:r>
            <a:r>
              <a:rPr lang="zh-CN" altLang="zh-CN" dirty="0"/>
              <a:t>）；</a:t>
            </a:r>
          </a:p>
          <a:p>
            <a:pPr lvl="1"/>
            <a:r>
              <a:rPr lang="en-US" altLang="zh-CN" dirty="0"/>
              <a:t>-h</a:t>
            </a:r>
            <a:r>
              <a:rPr lang="zh-CN" altLang="zh-CN" dirty="0"/>
              <a:t>选项</a:t>
            </a:r>
            <a:r>
              <a:rPr lang="en-US" altLang="zh-CN" dirty="0"/>
              <a:t>: </a:t>
            </a:r>
            <a:r>
              <a:rPr lang="zh-CN" altLang="zh-CN" dirty="0"/>
              <a:t>使用方便人阅读的信息单位显示文件大小，例如</a:t>
            </a:r>
            <a:r>
              <a:rPr lang="en-US" altLang="zh-CN" dirty="0"/>
              <a:t>64.0m </a:t>
            </a:r>
            <a:r>
              <a:rPr lang="zh-CN" altLang="zh-CN" dirty="0"/>
              <a:t>表示</a:t>
            </a:r>
            <a:r>
              <a:rPr lang="en-US" altLang="zh-CN" dirty="0"/>
              <a:t>67108864</a:t>
            </a:r>
            <a:r>
              <a:rPr lang="zh-CN" altLang="zh-CN" dirty="0"/>
              <a:t>字节。</a:t>
            </a:r>
          </a:p>
          <a:p>
            <a:pPr lvl="1"/>
            <a:r>
              <a:rPr lang="en-US" altLang="zh-CN" dirty="0"/>
              <a:t>-R</a:t>
            </a:r>
            <a:r>
              <a:rPr lang="zh-CN" altLang="zh-CN" dirty="0"/>
              <a:t>选项</a:t>
            </a:r>
            <a:r>
              <a:rPr lang="en-US" altLang="zh-CN" dirty="0"/>
              <a:t>: </a:t>
            </a:r>
            <a:r>
              <a:rPr lang="zh-CN" altLang="zh-CN" dirty="0"/>
              <a:t>递归显示所有子目录的信息。</a:t>
            </a:r>
          </a:p>
          <a:p>
            <a:pPr lvl="1"/>
            <a:r>
              <a:rPr lang="en-US" altLang="zh-CN" dirty="0" err="1"/>
              <a:t>lsr</a:t>
            </a:r>
            <a:r>
              <a:rPr lang="zh-CN" altLang="zh-CN" dirty="0"/>
              <a:t>功能等同于</a:t>
            </a:r>
            <a:r>
              <a:rPr lang="en-US" altLang="zh-CN" dirty="0"/>
              <a:t>ls -R</a:t>
            </a:r>
            <a:r>
              <a:rPr lang="zh-CN" altLang="zh-CN" dirty="0"/>
              <a:t>命令。</a:t>
            </a:r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en-US" altLang="zh-CN" dirty="0" err="1">
                <a:solidFill>
                  <a:srgbClr val="FF0000"/>
                </a:solidFill>
              </a:rPr>
              <a:t>mkdir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mkdir</a:t>
            </a:r>
            <a:r>
              <a:rPr lang="zh-CN" altLang="zh-CN" dirty="0"/>
              <a:t>命令用来在指定的</a:t>
            </a:r>
            <a:r>
              <a:rPr lang="en-US" altLang="zh-CN" dirty="0"/>
              <a:t>path</a:t>
            </a:r>
            <a:r>
              <a:rPr lang="zh-CN" altLang="zh-CN" dirty="0"/>
              <a:t>中新建子目录。其中，创建位置</a:t>
            </a:r>
            <a:r>
              <a:rPr lang="en-US" altLang="zh-CN" dirty="0"/>
              <a:t>path</a:t>
            </a:r>
            <a:r>
              <a:rPr lang="zh-CN" altLang="zh-CN" dirty="0"/>
              <a:t>可采用</a:t>
            </a:r>
            <a:r>
              <a:rPr lang="en-US" altLang="zh-CN" dirty="0"/>
              <a:t>URI</a:t>
            </a:r>
            <a:r>
              <a:rPr lang="zh-CN" altLang="zh-CN" dirty="0"/>
              <a:t>格式进行指定。该命令功能与</a:t>
            </a:r>
            <a:r>
              <a:rPr lang="en-US" altLang="zh-CN" dirty="0"/>
              <a:t>Linux</a:t>
            </a:r>
            <a:r>
              <a:rPr lang="zh-CN" altLang="zh-CN" dirty="0"/>
              <a:t>系统的</a:t>
            </a:r>
            <a:r>
              <a:rPr lang="en-US" altLang="zh-CN" dirty="0" err="1"/>
              <a:t>mkdir</a:t>
            </a:r>
            <a:r>
              <a:rPr lang="zh-CN" altLang="zh-CN" dirty="0"/>
              <a:t>相同，允许一次创建多个子目录。一般格式如下：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</a:t>
            </a:r>
            <a:r>
              <a:rPr lang="en-US" altLang="zh-CN" dirty="0" err="1">
                <a:solidFill>
                  <a:srgbClr val="FF0000"/>
                </a:solidFill>
              </a:rPr>
              <a:t>mkdir</a:t>
            </a:r>
            <a:r>
              <a:rPr lang="en-US" altLang="zh-CN" dirty="0">
                <a:solidFill>
                  <a:srgbClr val="FF0000"/>
                </a:solidFill>
              </a:rPr>
              <a:t> [-p] &lt;paths&gt;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-p</a:t>
            </a:r>
            <a:r>
              <a:rPr lang="zh-CN" altLang="zh-CN" dirty="0"/>
              <a:t>选项表示创建子目录时先检查路径是否存在，若不存在则同时创建相应的各级目录。</a:t>
            </a:r>
          </a:p>
          <a:p>
            <a:pPr lvl="1"/>
            <a:r>
              <a:rPr lang="zh-CN" altLang="zh-CN" dirty="0"/>
              <a:t>例如，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</a:t>
            </a:r>
            <a:r>
              <a:rPr lang="en-US" altLang="zh-CN" dirty="0" err="1"/>
              <a:t>mkdir</a:t>
            </a:r>
            <a:r>
              <a:rPr lang="en-US" altLang="zh-CN" dirty="0"/>
              <a:t> /test1/test2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3. </a:t>
            </a:r>
            <a:r>
              <a:rPr lang="en-US" altLang="zh-CN" dirty="0" err="1">
                <a:solidFill>
                  <a:srgbClr val="FF0000"/>
                </a:solidFill>
              </a:rPr>
              <a:t>cp</a:t>
            </a:r>
            <a:r>
              <a:rPr lang="zh-CN" altLang="zh-CN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mv</a:t>
            </a:r>
            <a:r>
              <a:rPr lang="zh-CN" altLang="zh-CN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zh-CN" altLang="zh-CN" dirty="0">
                <a:solidFill>
                  <a:srgbClr val="FF0000"/>
                </a:solidFill>
              </a:rPr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rmdir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rmr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这</a:t>
            </a:r>
            <a:r>
              <a:rPr lang="en-US" altLang="zh-CN" dirty="0"/>
              <a:t>4</a:t>
            </a:r>
            <a:r>
              <a:rPr lang="zh-CN" altLang="zh-CN" dirty="0"/>
              <a:t>条命令类似</a:t>
            </a:r>
            <a:r>
              <a:rPr lang="en-US" altLang="zh-CN" dirty="0"/>
              <a:t>Linux</a:t>
            </a:r>
            <a:r>
              <a:rPr lang="zh-CN" altLang="zh-CN" dirty="0"/>
              <a:t>系统命令，表示复制文件、移动文件和删除文件。</a:t>
            </a:r>
          </a:p>
          <a:p>
            <a:pPr marL="0" indent="0">
              <a:buNone/>
            </a:pPr>
            <a:r>
              <a:rPr lang="en-US" altLang="zh-CN" dirty="0"/>
              <a:t>(1) </a:t>
            </a:r>
            <a:r>
              <a:rPr lang="en-US" altLang="zh-CN" dirty="0" err="1"/>
              <a:t>cp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cp</a:t>
            </a:r>
            <a:r>
              <a:rPr lang="zh-CN" altLang="zh-CN" dirty="0"/>
              <a:t>命令用于将指定</a:t>
            </a:r>
            <a:r>
              <a:rPr lang="en-US" altLang="zh-CN" dirty="0"/>
              <a:t>URI</a:t>
            </a:r>
            <a:r>
              <a:rPr lang="zh-CN" altLang="zh-CN" dirty="0"/>
              <a:t>的一个或多个源文件复制到</a:t>
            </a:r>
            <a:r>
              <a:rPr lang="en-US" altLang="zh-CN" dirty="0"/>
              <a:t>HDFS</a:t>
            </a:r>
            <a:r>
              <a:rPr lang="zh-CN" altLang="zh-CN" dirty="0"/>
              <a:t>文件系统中目标位置。该命令一般格式如下：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sz="2300" dirty="0" err="1">
                <a:solidFill>
                  <a:srgbClr val="FF0000"/>
                </a:solidFill>
              </a:rPr>
              <a:t>hadoop</a:t>
            </a:r>
            <a:r>
              <a:rPr lang="en-US" altLang="zh-CN" sz="2300" dirty="0">
                <a:solidFill>
                  <a:srgbClr val="FF0000"/>
                </a:solidFill>
              </a:rPr>
              <a:t> fs -cp [-f] [-p | -p[</a:t>
            </a:r>
            <a:r>
              <a:rPr lang="en-US" altLang="zh-CN" sz="2300" dirty="0" err="1">
                <a:solidFill>
                  <a:srgbClr val="FF0000"/>
                </a:solidFill>
              </a:rPr>
              <a:t>topax</a:t>
            </a:r>
            <a:r>
              <a:rPr lang="en-US" altLang="zh-CN" sz="2300" dirty="0">
                <a:solidFill>
                  <a:srgbClr val="FF0000"/>
                </a:solidFill>
              </a:rPr>
              <a:t>]] URI [URI ...] &lt;</a:t>
            </a:r>
            <a:r>
              <a:rPr lang="en-US" altLang="zh-CN" sz="2300" dirty="0" err="1">
                <a:solidFill>
                  <a:srgbClr val="FF0000"/>
                </a:solidFill>
              </a:rPr>
              <a:t>dest</a:t>
            </a:r>
            <a:r>
              <a:rPr lang="en-US" altLang="zh-CN" sz="2300" dirty="0">
                <a:solidFill>
                  <a:srgbClr val="FF0000"/>
                </a:solidFill>
              </a:rPr>
              <a:t>&gt;</a:t>
            </a:r>
            <a:endParaRPr lang="zh-CN" altLang="zh-CN" sz="23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其中，各选项说明如下：</a:t>
            </a:r>
          </a:p>
          <a:p>
            <a:pPr lvl="1"/>
            <a:r>
              <a:rPr lang="en-US" altLang="zh-CN" dirty="0"/>
              <a:t>-f</a:t>
            </a:r>
            <a:r>
              <a:rPr lang="zh-CN" altLang="zh-CN" dirty="0"/>
              <a:t>选项：表示如果目标文件存在，则覆盖它。</a:t>
            </a:r>
          </a:p>
          <a:p>
            <a:pPr lvl="1"/>
            <a:r>
              <a:rPr lang="en-US" altLang="zh-CN" dirty="0"/>
              <a:t>-p</a:t>
            </a:r>
            <a:r>
              <a:rPr lang="zh-CN" altLang="zh-CN" dirty="0"/>
              <a:t>选项：表示需要保存文件属性（包括文件的时间戳、拥有者、许可权限、</a:t>
            </a:r>
            <a:r>
              <a:rPr lang="en-US" altLang="zh-CN" dirty="0"/>
              <a:t>ACL</a:t>
            </a:r>
            <a:r>
              <a:rPr lang="zh-CN" altLang="zh-CN" dirty="0"/>
              <a:t>等。</a:t>
            </a:r>
          </a:p>
          <a:p>
            <a:pPr lvl="1"/>
            <a:r>
              <a:rPr lang="zh-CN" altLang="zh-CN" dirty="0"/>
              <a:t>例如，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-cp file:/home/hadoop/file1 /x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(2) mv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 mv</a:t>
            </a:r>
            <a:r>
              <a:rPr lang="zh-CN" altLang="zh-CN" dirty="0"/>
              <a:t>命令用于移动指定源文件到目标文件。当源文件和目标文件的路径相同时，该命令实质是重命名文件名。当源文件有多个文件时，目标对象必须是一个目录。该命令不允许跨越文件系统移动文件。例如，将</a:t>
            </a:r>
            <a:r>
              <a:rPr lang="en-US" altLang="zh-CN" dirty="0"/>
              <a:t>Linux</a:t>
            </a:r>
            <a:r>
              <a:rPr lang="zh-CN" altLang="zh-CN" dirty="0"/>
              <a:t>本地文件移动到</a:t>
            </a:r>
            <a:r>
              <a:rPr lang="en-US" altLang="zh-CN" dirty="0"/>
              <a:t>HDFS</a:t>
            </a:r>
            <a:r>
              <a:rPr lang="zh-CN" altLang="zh-CN" dirty="0"/>
              <a:t>中。</a:t>
            </a:r>
          </a:p>
          <a:p>
            <a:pPr marL="0" indent="0">
              <a:buNone/>
            </a:pPr>
            <a:r>
              <a:rPr lang="en-US" altLang="zh-CN" dirty="0"/>
              <a:t>   mv</a:t>
            </a:r>
            <a:r>
              <a:rPr lang="zh-CN" altLang="zh-CN" dirty="0"/>
              <a:t>命令一般格式如下：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-mv URI [URI ...] &lt;</a:t>
            </a:r>
            <a:r>
              <a:rPr lang="en-US" altLang="zh-CN" dirty="0" err="1">
                <a:solidFill>
                  <a:srgbClr val="FF0000"/>
                </a:solidFill>
              </a:rPr>
              <a:t>dest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-mv /x/file1 /x/file1.txt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(3) </a:t>
            </a:r>
            <a:r>
              <a:rPr lang="en-US" altLang="zh-CN" dirty="0" err="1"/>
              <a:t>rm</a:t>
            </a:r>
            <a:r>
              <a:rPr lang="zh-CN" altLang="zh-CN" dirty="0"/>
              <a:t>、</a:t>
            </a:r>
            <a:r>
              <a:rPr lang="en-US" altLang="zh-CN" dirty="0" err="1"/>
              <a:t>rmdir</a:t>
            </a:r>
            <a:r>
              <a:rPr lang="zh-CN" altLang="zh-CN" dirty="0"/>
              <a:t>和</a:t>
            </a:r>
            <a:r>
              <a:rPr lang="en-US" altLang="zh-CN" dirty="0" err="1"/>
              <a:t>rmr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这</a:t>
            </a:r>
            <a:r>
              <a:rPr lang="en-US" altLang="zh-CN" dirty="0"/>
              <a:t>3</a:t>
            </a:r>
            <a:r>
              <a:rPr lang="zh-CN" altLang="zh-CN" dirty="0"/>
              <a:t>条命令用来删除指定</a:t>
            </a:r>
            <a:r>
              <a:rPr lang="en-US" altLang="zh-CN" dirty="0"/>
              <a:t>URI</a:t>
            </a:r>
            <a:r>
              <a:rPr lang="zh-CN" altLang="zh-CN" dirty="0"/>
              <a:t>中的文件或目录。为安全起见，执行删除操作后，被删除的文件可放入垃圾目录（</a:t>
            </a:r>
            <a:r>
              <a:rPr lang="en-US" altLang="zh-CN" dirty="0"/>
              <a:t>trash directory</a:t>
            </a:r>
            <a:r>
              <a:rPr lang="zh-CN" altLang="zh-CN" dirty="0"/>
              <a:t>）中。需要注意的是，</a:t>
            </a:r>
            <a:r>
              <a:rPr lang="en-US" altLang="zh-CN" dirty="0"/>
              <a:t>HDFS</a:t>
            </a:r>
            <a:r>
              <a:rPr lang="zh-CN" altLang="zh-CN" dirty="0"/>
              <a:t>默认情况下关闭了垃圾目录功能，用户可以在</a:t>
            </a:r>
            <a:r>
              <a:rPr lang="en-US" altLang="zh-CN" dirty="0"/>
              <a:t>core-site.xml</a:t>
            </a:r>
            <a:r>
              <a:rPr lang="zh-CN" altLang="zh-CN" dirty="0"/>
              <a:t>文件中设置</a:t>
            </a:r>
            <a:r>
              <a:rPr lang="en-US" altLang="zh-CN" dirty="0" err="1"/>
              <a:t>fs.trash.interval</a:t>
            </a:r>
            <a:r>
              <a:rPr lang="zh-CN" altLang="zh-CN" dirty="0"/>
              <a:t>配置项的值为非零值，即可启用该功能。</a:t>
            </a:r>
            <a:r>
              <a:rPr lang="en-US" altLang="zh-CN" dirty="0" err="1"/>
              <a:t>rm</a:t>
            </a:r>
            <a:r>
              <a:rPr lang="zh-CN" altLang="zh-CN" dirty="0"/>
              <a:t>命令的一般格式如下：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sz="2400" dirty="0" err="1">
                <a:solidFill>
                  <a:srgbClr val="FF0000"/>
                </a:solidFill>
              </a:rPr>
              <a:t>hadoop</a:t>
            </a:r>
            <a:r>
              <a:rPr lang="en-US" altLang="zh-CN" sz="2400" dirty="0">
                <a:solidFill>
                  <a:srgbClr val="FF0000"/>
                </a:solidFill>
              </a:rPr>
              <a:t> fs -rm [-f] [-r |-R] [-</a:t>
            </a:r>
            <a:r>
              <a:rPr lang="en-US" altLang="zh-CN" sz="2400" dirty="0" err="1">
                <a:solidFill>
                  <a:srgbClr val="FF0000"/>
                </a:solidFill>
              </a:rPr>
              <a:t>skipTrash</a:t>
            </a:r>
            <a:r>
              <a:rPr lang="en-US" altLang="zh-CN" sz="2400" dirty="0">
                <a:solidFill>
                  <a:srgbClr val="FF0000"/>
                </a:solidFill>
              </a:rPr>
              <a:t>] URI [URI ...]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其中，各选项说明如下：</a:t>
            </a:r>
          </a:p>
          <a:p>
            <a:pPr lvl="1"/>
            <a:r>
              <a:rPr lang="en-US" altLang="zh-CN" dirty="0"/>
              <a:t>-f</a:t>
            </a:r>
            <a:r>
              <a:rPr lang="zh-CN" altLang="zh-CN" dirty="0"/>
              <a:t>选项：表示执行删除操作时不显示提示信息，包括错误提示。</a:t>
            </a:r>
          </a:p>
          <a:p>
            <a:pPr lvl="1"/>
            <a:r>
              <a:rPr lang="en-US" altLang="zh-CN" dirty="0"/>
              <a:t>-R</a:t>
            </a:r>
            <a:r>
              <a:rPr lang="zh-CN" altLang="zh-CN" dirty="0"/>
              <a:t>或</a:t>
            </a:r>
            <a:r>
              <a:rPr lang="en-US" altLang="zh-CN" dirty="0"/>
              <a:t>-r</a:t>
            </a:r>
            <a:r>
              <a:rPr lang="zh-CN" altLang="zh-CN" dirty="0"/>
              <a:t>选项：表示删除目录，连同内部文件或子目录。</a:t>
            </a:r>
          </a:p>
          <a:p>
            <a:pPr lvl="1"/>
            <a:r>
              <a:rPr lang="en-US" altLang="zh-CN" dirty="0" err="1"/>
              <a:t>rmdir</a:t>
            </a:r>
            <a:r>
              <a:rPr lang="zh-CN" altLang="zh-CN" dirty="0"/>
              <a:t>和</a:t>
            </a:r>
            <a:r>
              <a:rPr lang="en-US" altLang="zh-CN" dirty="0" err="1"/>
              <a:t>rmr</a:t>
            </a:r>
            <a:r>
              <a:rPr lang="zh-CN" altLang="zh-CN" dirty="0"/>
              <a:t>命令用于删除目录。其中，</a:t>
            </a:r>
            <a:r>
              <a:rPr lang="en-US" altLang="zh-CN" dirty="0" err="1"/>
              <a:t>rmdir</a:t>
            </a:r>
            <a:r>
              <a:rPr lang="zh-CN" altLang="zh-CN" dirty="0"/>
              <a:t>只能删除空目录，</a:t>
            </a:r>
            <a:r>
              <a:rPr lang="en-US" altLang="zh-CN" dirty="0" err="1"/>
              <a:t>rmr</a:t>
            </a:r>
            <a:r>
              <a:rPr lang="zh-CN" altLang="zh-CN" dirty="0"/>
              <a:t>与</a:t>
            </a:r>
            <a:r>
              <a:rPr lang="en-US" altLang="zh-CN" dirty="0" err="1"/>
              <a:t>rm</a:t>
            </a:r>
            <a:r>
              <a:rPr lang="en-US" altLang="zh-CN" dirty="0"/>
              <a:t> –r</a:t>
            </a:r>
            <a:r>
              <a:rPr lang="zh-CN" altLang="zh-CN" dirty="0"/>
              <a:t>功能相同。</a:t>
            </a:r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4. </a:t>
            </a:r>
            <a:r>
              <a:rPr lang="en-US" altLang="zh-CN" dirty="0" err="1">
                <a:solidFill>
                  <a:srgbClr val="FF0000"/>
                </a:solidFill>
              </a:rPr>
              <a:t>touchz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appendToFile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touchz</a:t>
            </a:r>
            <a:r>
              <a:rPr lang="zh-CN" altLang="zh-CN" dirty="0"/>
              <a:t>命令与</a:t>
            </a:r>
            <a:r>
              <a:rPr lang="en-US" altLang="zh-CN" dirty="0"/>
              <a:t>Linux</a:t>
            </a:r>
            <a:r>
              <a:rPr lang="zh-CN" altLang="zh-CN" dirty="0"/>
              <a:t>的</a:t>
            </a:r>
            <a:r>
              <a:rPr lang="en-US" altLang="zh-CN" dirty="0"/>
              <a:t>touch</a:t>
            </a:r>
            <a:r>
              <a:rPr lang="zh-CN" altLang="zh-CN" dirty="0"/>
              <a:t>命令功能相同，用于创建一个空文件。</a:t>
            </a:r>
            <a:r>
              <a:rPr lang="en-US" altLang="zh-CN" dirty="0" err="1"/>
              <a:t>appendToFile</a:t>
            </a:r>
            <a:r>
              <a:rPr lang="zh-CN" altLang="zh-CN" dirty="0"/>
              <a:t>命令用于把一个或多个</a:t>
            </a:r>
            <a:r>
              <a:rPr lang="en-US" altLang="zh-CN" dirty="0"/>
              <a:t>Linux</a:t>
            </a:r>
            <a:r>
              <a:rPr lang="zh-CN" altLang="zh-CN" dirty="0"/>
              <a:t>本地的原文件的内容追加到目标文件中。</a:t>
            </a:r>
            <a:r>
              <a:rPr lang="en-US" altLang="zh-CN" dirty="0"/>
              <a:t>2</a:t>
            </a:r>
            <a:r>
              <a:rPr lang="zh-CN" altLang="zh-CN" dirty="0"/>
              <a:t>条命令的格式分别如下：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</a:t>
            </a:r>
            <a:r>
              <a:rPr lang="en-US" altLang="zh-CN" dirty="0" err="1">
                <a:solidFill>
                  <a:srgbClr val="FF0000"/>
                </a:solidFill>
              </a:rPr>
              <a:t>touchz</a:t>
            </a:r>
            <a:r>
              <a:rPr lang="en-US" altLang="zh-CN" dirty="0">
                <a:solidFill>
                  <a:srgbClr val="FF0000"/>
                </a:solidFill>
              </a:rPr>
              <a:t> URI [URI ...]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</a:t>
            </a:r>
            <a:r>
              <a:rPr lang="en-US" altLang="zh-CN" dirty="0" err="1">
                <a:solidFill>
                  <a:srgbClr val="FF0000"/>
                </a:solidFill>
              </a:rPr>
              <a:t>appendToFile</a:t>
            </a:r>
            <a:r>
              <a:rPr lang="en-US" altLang="zh-CN" dirty="0">
                <a:solidFill>
                  <a:srgbClr val="FF0000"/>
                </a:solidFill>
              </a:rPr>
              <a:t> &lt;</a:t>
            </a:r>
            <a:r>
              <a:rPr lang="en-US" altLang="zh-CN" dirty="0" err="1">
                <a:solidFill>
                  <a:srgbClr val="FF0000"/>
                </a:solidFill>
              </a:rPr>
              <a:t>localsrc</a:t>
            </a:r>
            <a:r>
              <a:rPr lang="en-US" altLang="zh-CN" dirty="0">
                <a:solidFill>
                  <a:srgbClr val="FF0000"/>
                </a:solidFill>
              </a:rPr>
              <a:t>&gt; ... &lt;</a:t>
            </a:r>
            <a:r>
              <a:rPr lang="en-US" altLang="zh-CN" dirty="0" err="1">
                <a:solidFill>
                  <a:srgbClr val="FF0000"/>
                </a:solidFill>
              </a:rPr>
              <a:t>dst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&lt;</a:t>
            </a:r>
            <a:r>
              <a:rPr lang="en-US" altLang="zh-CN" dirty="0" err="1"/>
              <a:t>localsrc</a:t>
            </a:r>
            <a:r>
              <a:rPr lang="en-US" altLang="zh-CN" dirty="0"/>
              <a:t>&gt;</a:t>
            </a:r>
            <a:r>
              <a:rPr lang="zh-CN" altLang="zh-CN" dirty="0"/>
              <a:t>为本地源文件，</a:t>
            </a:r>
            <a:r>
              <a:rPr lang="en-US" altLang="zh-CN" dirty="0"/>
              <a:t>&lt;</a:t>
            </a:r>
            <a:r>
              <a:rPr lang="en-US" altLang="zh-CN" dirty="0" err="1"/>
              <a:t>dst</a:t>
            </a:r>
            <a:r>
              <a:rPr lang="en-US" altLang="zh-CN" dirty="0"/>
              <a:t>&gt;</a:t>
            </a:r>
            <a:r>
              <a:rPr lang="zh-CN" altLang="zh-CN" dirty="0"/>
              <a:t>为</a:t>
            </a:r>
            <a:r>
              <a:rPr lang="en-US" altLang="zh-CN" dirty="0"/>
              <a:t>HDFS</a:t>
            </a:r>
            <a:r>
              <a:rPr lang="zh-CN" altLang="zh-CN" dirty="0"/>
              <a:t>中的目标文件。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</a:t>
            </a:r>
            <a:r>
              <a:rPr lang="en-US" altLang="zh-CN" dirty="0" err="1"/>
              <a:t>touchz</a:t>
            </a:r>
            <a:r>
              <a:rPr lang="en-US" altLang="zh-CN" dirty="0"/>
              <a:t> /test1/abc.txt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 cat</a:t>
            </a:r>
            <a:r>
              <a:rPr lang="zh-CN" altLang="zh-CN" dirty="0"/>
              <a:t>、</a:t>
            </a:r>
            <a:r>
              <a:rPr lang="en-US" altLang="zh-CN" dirty="0"/>
              <a:t>tail</a:t>
            </a:r>
            <a:r>
              <a:rPr lang="zh-CN" altLang="zh-CN" dirty="0"/>
              <a:t>、</a:t>
            </a:r>
            <a:r>
              <a:rPr lang="en-US" altLang="zh-CN" dirty="0"/>
              <a:t>du</a:t>
            </a:r>
            <a:r>
              <a:rPr lang="zh-CN" altLang="zh-CN" dirty="0"/>
              <a:t>、</a:t>
            </a:r>
            <a:r>
              <a:rPr lang="en-US" altLang="zh-CN" dirty="0" err="1"/>
              <a:t>dus</a:t>
            </a:r>
            <a:r>
              <a:rPr lang="zh-CN" altLang="zh-CN" dirty="0"/>
              <a:t>、</a:t>
            </a:r>
            <a:r>
              <a:rPr lang="en-US" altLang="zh-CN" dirty="0"/>
              <a:t>stat</a:t>
            </a:r>
            <a:r>
              <a:rPr lang="zh-CN" altLang="zh-CN" dirty="0"/>
              <a:t>和</a:t>
            </a:r>
            <a:r>
              <a:rPr lang="en-US" altLang="zh-CN" dirty="0"/>
              <a:t>count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(1) </a:t>
            </a:r>
            <a:r>
              <a:rPr lang="en-US" altLang="zh-CN" dirty="0">
                <a:solidFill>
                  <a:srgbClr val="FF0000"/>
                </a:solidFill>
              </a:rPr>
              <a:t>cat</a:t>
            </a:r>
            <a:r>
              <a:rPr lang="zh-CN" altLang="zh-CN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tail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cat</a:t>
            </a:r>
            <a:r>
              <a:rPr lang="zh-CN" altLang="zh-CN" dirty="0"/>
              <a:t>命令与</a:t>
            </a:r>
            <a:r>
              <a:rPr lang="en-US" altLang="zh-CN" dirty="0"/>
              <a:t>Linux</a:t>
            </a:r>
            <a:r>
              <a:rPr lang="zh-CN" altLang="zh-CN" dirty="0"/>
              <a:t>系统的</a:t>
            </a:r>
            <a:r>
              <a:rPr lang="en-US" altLang="zh-CN" dirty="0"/>
              <a:t>cat</a:t>
            </a:r>
            <a:r>
              <a:rPr lang="zh-CN" altLang="zh-CN" dirty="0"/>
              <a:t>类似，能够输出指定文件的全部内容；而</a:t>
            </a:r>
            <a:r>
              <a:rPr lang="en-US" altLang="zh-CN" dirty="0"/>
              <a:t>tail</a:t>
            </a:r>
            <a:r>
              <a:rPr lang="zh-CN" altLang="zh-CN" dirty="0"/>
              <a:t>命令只能显示文件的最后</a:t>
            </a:r>
            <a:r>
              <a:rPr lang="en-US" altLang="zh-CN" dirty="0"/>
              <a:t>1KB</a:t>
            </a:r>
            <a:r>
              <a:rPr lang="zh-CN" altLang="zh-CN" dirty="0"/>
              <a:t>的内容。可见，当输出对象小于</a:t>
            </a:r>
            <a:r>
              <a:rPr lang="en-US" altLang="zh-CN" dirty="0"/>
              <a:t>1KB</a:t>
            </a:r>
            <a:r>
              <a:rPr lang="zh-CN" altLang="zh-CN" dirty="0"/>
              <a:t>时，</a:t>
            </a:r>
            <a:r>
              <a:rPr lang="en-US" altLang="zh-CN" dirty="0"/>
              <a:t>cat</a:t>
            </a:r>
            <a:r>
              <a:rPr lang="zh-CN" altLang="zh-CN" dirty="0"/>
              <a:t>和</a:t>
            </a:r>
            <a:r>
              <a:rPr lang="en-US" altLang="zh-CN" dirty="0"/>
              <a:t>tail</a:t>
            </a:r>
            <a:r>
              <a:rPr lang="zh-CN" altLang="zh-CN" dirty="0"/>
              <a:t>命令效果相同。</a:t>
            </a:r>
          </a:p>
          <a:p>
            <a:pPr lvl="1"/>
            <a:r>
              <a:rPr lang="zh-CN" altLang="zh-CN" dirty="0"/>
              <a:t>例如：</a:t>
            </a:r>
          </a:p>
          <a:p>
            <a:pPr lvl="1"/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-cat /x/file 1.txt</a:t>
            </a:r>
            <a:endParaRPr lang="zh-CN" altLang="zh-CN" dirty="0"/>
          </a:p>
          <a:p>
            <a:pPr lvl="1"/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-cat file:/home/hadoop/file2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(2) du</a:t>
            </a:r>
            <a:r>
              <a:rPr lang="zh-CN" altLang="zh-CN" dirty="0"/>
              <a:t>、</a:t>
            </a:r>
            <a:r>
              <a:rPr lang="en-US" altLang="zh-CN" dirty="0" err="1"/>
              <a:t>dus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du</a:t>
            </a:r>
            <a:r>
              <a:rPr lang="zh-CN" altLang="zh-CN" dirty="0"/>
              <a:t>命令用来显示文件或目录占用存储空间的大小，当目标对象是一个文件时，将输出该文件的长度。该命令的一般格式如下：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-du [-s] [-h] URI [URI ...]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其中，各选项说明如下：</a:t>
            </a:r>
          </a:p>
          <a:p>
            <a:pPr lvl="1"/>
            <a:r>
              <a:rPr lang="en-US" altLang="zh-CN" dirty="0"/>
              <a:t>-s </a:t>
            </a:r>
            <a:r>
              <a:rPr lang="zh-CN" altLang="zh-CN" dirty="0"/>
              <a:t>选项：汇总输出各目标文件的总长度，而不是单个文件的汇总。</a:t>
            </a:r>
          </a:p>
          <a:p>
            <a:pPr lvl="1"/>
            <a:r>
              <a:rPr lang="en-US" altLang="zh-CN" dirty="0"/>
              <a:t>-h</a:t>
            </a:r>
            <a:r>
              <a:rPr lang="zh-CN" altLang="zh-CN" dirty="0"/>
              <a:t>选项：以便于人阅读的信息单位显示文件大小，例如</a:t>
            </a:r>
            <a:r>
              <a:rPr lang="en-US" altLang="zh-CN" dirty="0"/>
              <a:t>MB</a:t>
            </a:r>
            <a:r>
              <a:rPr lang="zh-CN" altLang="zh-CN" dirty="0"/>
              <a:t>。</a:t>
            </a:r>
          </a:p>
          <a:p>
            <a:pPr lvl="1"/>
            <a:r>
              <a:rPr lang="en-US" altLang="zh-CN" dirty="0" err="1"/>
              <a:t>dus</a:t>
            </a:r>
            <a:r>
              <a:rPr lang="zh-CN" altLang="zh-CN" dirty="0"/>
              <a:t>命令用来输出各目标文件的总长度，与</a:t>
            </a:r>
            <a:r>
              <a:rPr lang="en-US" altLang="zh-CN" dirty="0"/>
              <a:t>du -s</a:t>
            </a:r>
            <a:r>
              <a:rPr lang="zh-CN" altLang="zh-CN" dirty="0"/>
              <a:t>功能相同。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-cat /x/y/test1/abc.txt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(3) stat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stat</a:t>
            </a:r>
            <a:r>
              <a:rPr lang="zh-CN" altLang="zh-CN" dirty="0"/>
              <a:t>命令支持以指定输出格式显示文件或目录的统计信息。该命令的一般格式如下：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-stat [format] &lt;path&gt; ...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[format]</a:t>
            </a:r>
            <a:r>
              <a:rPr lang="zh-CN" altLang="zh-CN" dirty="0"/>
              <a:t>是一个输出格式字符串，可以包含普通字符，也可以包含</a:t>
            </a:r>
            <a:r>
              <a:rPr lang="en-US" altLang="zh-CN" dirty="0"/>
              <a:t>%</a:t>
            </a:r>
            <a:r>
              <a:rPr lang="zh-CN" altLang="zh-CN" dirty="0"/>
              <a:t>打头的格式字符，例如</a:t>
            </a:r>
            <a:r>
              <a:rPr lang="en-US" altLang="zh-CN" dirty="0"/>
              <a:t>%b</a:t>
            </a:r>
            <a:r>
              <a:rPr lang="zh-CN" altLang="zh-CN" dirty="0"/>
              <a:t>。如果是普通字符，则直接显示输出。</a:t>
            </a:r>
            <a:endParaRPr lang="en-US" altLang="zh-CN" dirty="0"/>
          </a:p>
          <a:p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-stat "%n '%F' %b %o %r %u:%g %y" /x/file1.txt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(4) count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count</a:t>
            </a:r>
            <a:r>
              <a:rPr lang="zh-CN" altLang="zh-CN" dirty="0"/>
              <a:t>命令用来统计指定路径的文件数，输出的主要信息包括：目录数（</a:t>
            </a:r>
            <a:r>
              <a:rPr lang="en-US" altLang="zh-CN" dirty="0"/>
              <a:t>DIR_COUNT</a:t>
            </a:r>
            <a:r>
              <a:rPr lang="zh-CN" altLang="zh-CN" dirty="0"/>
              <a:t>）、文件个数（</a:t>
            </a:r>
            <a:r>
              <a:rPr lang="en-US" altLang="zh-CN" dirty="0"/>
              <a:t>FILE_COUNT</a:t>
            </a:r>
            <a:r>
              <a:rPr lang="zh-CN" altLang="zh-CN" dirty="0"/>
              <a:t>）、内容长度（</a:t>
            </a:r>
            <a:r>
              <a:rPr lang="en-US" altLang="zh-CN" dirty="0"/>
              <a:t>CONTENT_SIZE</a:t>
            </a:r>
            <a:r>
              <a:rPr lang="zh-CN" altLang="zh-CN" dirty="0"/>
              <a:t>）以及对象名（</a:t>
            </a:r>
            <a:r>
              <a:rPr lang="en-US" altLang="zh-CN" dirty="0"/>
              <a:t>FILE_NAME</a:t>
            </a:r>
            <a:r>
              <a:rPr lang="zh-CN" altLang="zh-CN" dirty="0"/>
              <a:t>）。该命令支持</a:t>
            </a:r>
            <a:r>
              <a:rPr lang="en-US" altLang="zh-CN" dirty="0"/>
              <a:t>Linux</a:t>
            </a:r>
            <a:r>
              <a:rPr lang="zh-CN" altLang="zh-CN" dirty="0"/>
              <a:t>通配符，例如用星号</a:t>
            </a:r>
            <a:r>
              <a:rPr lang="en-US" altLang="zh-CN" dirty="0"/>
              <a:t>*</a:t>
            </a:r>
            <a:r>
              <a:rPr lang="zh-CN" altLang="zh-CN" dirty="0"/>
              <a:t>来匹配任意不确定的多个字符。该命令的一般格式如下：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-count [-h] &lt;paths&gt;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-h</a:t>
            </a:r>
            <a:r>
              <a:rPr lang="zh-CN" altLang="zh-CN" dirty="0"/>
              <a:t>选项表示以便于阅读的信息单位显示文件大小。</a:t>
            </a:r>
          </a:p>
          <a:p>
            <a:pPr lvl="1"/>
            <a:r>
              <a:rPr lang="zh-CN" altLang="zh-CN" dirty="0"/>
              <a:t>例如</a:t>
            </a:r>
            <a:r>
              <a:rPr lang="zh-CN" altLang="en-US" dirty="0"/>
              <a:t>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-count file:/home/hadoop/hadoop-2*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6. find</a:t>
            </a:r>
            <a:r>
              <a:rPr lang="zh-CN" altLang="zh-CN" dirty="0"/>
              <a:t>、</a:t>
            </a:r>
            <a:r>
              <a:rPr lang="en-US" altLang="zh-CN" dirty="0"/>
              <a:t>checksum</a:t>
            </a:r>
            <a:r>
              <a:rPr lang="zh-CN" altLang="zh-CN" dirty="0"/>
              <a:t>和</a:t>
            </a:r>
            <a:r>
              <a:rPr lang="en-US" altLang="zh-CN" dirty="0" err="1"/>
              <a:t>df</a:t>
            </a:r>
            <a:r>
              <a:rPr lang="en-US" altLang="zh-CN" dirty="0"/>
              <a:t> 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(1) find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该命令用来查找与指定表达式匹配的所有文件，以找出想要查找的文件，其一般格式如下：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-find &lt;path&gt; ... &lt;expression&gt; ...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path</a:t>
            </a:r>
            <a:r>
              <a:rPr lang="zh-CN" altLang="zh-CN" dirty="0"/>
              <a:t>为查找目标，省略查找目标时，默认从当前目录中开始查找；</a:t>
            </a:r>
            <a:r>
              <a:rPr lang="en-US" altLang="zh-CN" dirty="0"/>
              <a:t>expression</a:t>
            </a:r>
            <a:r>
              <a:rPr lang="zh-CN" altLang="zh-CN" dirty="0"/>
              <a:t>为查找表达式，支持</a:t>
            </a:r>
            <a:r>
              <a:rPr lang="en-US" altLang="zh-CN" dirty="0"/>
              <a:t>Linux</a:t>
            </a:r>
            <a:r>
              <a:rPr lang="zh-CN" altLang="zh-CN" dirty="0"/>
              <a:t>系统的通配符，可用</a:t>
            </a:r>
            <a:r>
              <a:rPr lang="en-US" altLang="zh-CN" dirty="0"/>
              <a:t>-name</a:t>
            </a:r>
            <a:r>
              <a:rPr lang="zh-CN" altLang="zh-CN" dirty="0"/>
              <a:t>或</a:t>
            </a:r>
            <a:r>
              <a:rPr lang="en-US" altLang="zh-CN" dirty="0"/>
              <a:t>-</a:t>
            </a:r>
            <a:r>
              <a:rPr lang="en-US" altLang="zh-CN" dirty="0" err="1"/>
              <a:t>iname</a:t>
            </a:r>
            <a:r>
              <a:rPr lang="zh-CN" altLang="zh-CN" dirty="0"/>
              <a:t>选项来定义，表示根据文件名进行匹配查找。其中，</a:t>
            </a:r>
            <a:r>
              <a:rPr lang="en-US" altLang="zh-CN" dirty="0" err="1"/>
              <a:t>iname</a:t>
            </a:r>
            <a:r>
              <a:rPr lang="zh-CN" altLang="zh-CN" dirty="0"/>
              <a:t>选项表示不区分大小写（</a:t>
            </a:r>
            <a:r>
              <a:rPr lang="en-US" altLang="zh-CN" dirty="0"/>
              <a:t>case insensitive</a:t>
            </a:r>
            <a:r>
              <a:rPr lang="zh-CN" altLang="zh-CN" dirty="0"/>
              <a:t>）。省略查找表达式时，该命令的功能等效于</a:t>
            </a:r>
            <a:r>
              <a:rPr lang="en-US" altLang="zh-CN" dirty="0" err="1"/>
              <a:t>lsr</a:t>
            </a:r>
            <a:r>
              <a:rPr lang="zh-CN" altLang="zh-CN" dirty="0"/>
              <a:t>命令，显示指定目录及其子目录的所有文件列表。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-find  / -name  '*.txt'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(2) checksum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 checksum</a:t>
            </a:r>
            <a:r>
              <a:rPr lang="zh-CN" altLang="zh-CN" dirty="0"/>
              <a:t>命令用来返回指定文件的校验码信息。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-checksum /x/file1.txt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2.3.3 </a:t>
            </a:r>
            <a:r>
              <a:rPr lang="zh-CN" altLang="zh-CN" dirty="0"/>
              <a:t>文件操作命令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(3) </a:t>
            </a:r>
            <a:r>
              <a:rPr lang="en-US" altLang="zh-CN" dirty="0" err="1"/>
              <a:t>df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 err="1"/>
              <a:t>df</a:t>
            </a:r>
            <a:r>
              <a:rPr lang="zh-CN" altLang="zh-CN" dirty="0"/>
              <a:t>命令用来显示指定文件的大小及</a:t>
            </a:r>
            <a:r>
              <a:rPr lang="en-US" altLang="zh-CN" dirty="0"/>
              <a:t>HDFS</a:t>
            </a:r>
            <a:r>
              <a:rPr lang="zh-CN" altLang="zh-CN" dirty="0"/>
              <a:t>系统剩余存储空间。该命令的一般格式如下：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-df [-h] URI [URI ...]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-h</a:t>
            </a:r>
            <a:r>
              <a:rPr lang="zh-CN" altLang="zh-CN" dirty="0"/>
              <a:t>选项使用便于阅读的方式格式化文件的大小，例如用</a:t>
            </a:r>
            <a:r>
              <a:rPr lang="en-US" altLang="zh-CN" dirty="0"/>
              <a:t>64.0m</a:t>
            </a:r>
            <a:r>
              <a:rPr lang="zh-CN" altLang="zh-CN" dirty="0"/>
              <a:t>来代替</a:t>
            </a:r>
            <a:r>
              <a:rPr lang="en-US" altLang="zh-CN" dirty="0"/>
              <a:t>67108864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-df /x/file1.txt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</a:t>
            </a:r>
            <a:r>
              <a:rPr lang="zh-CN" altLang="zh-CN" dirty="0"/>
              <a:t>跨文件系统的交互操作命令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>
                <a:solidFill>
                  <a:srgbClr val="FF0000"/>
                </a:solidFill>
              </a:rPr>
              <a:t>put</a:t>
            </a:r>
            <a:r>
              <a:rPr lang="zh-CN" altLang="zh-CN" dirty="0">
                <a:solidFill>
                  <a:srgbClr val="FF0000"/>
                </a:solidFill>
              </a:rPr>
              <a:t>和 </a:t>
            </a:r>
            <a:r>
              <a:rPr lang="en-US" altLang="zh-CN" dirty="0" err="1">
                <a:solidFill>
                  <a:srgbClr val="FF0000"/>
                </a:solidFill>
              </a:rPr>
              <a:t>copyFromLocal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这</a:t>
            </a:r>
            <a:r>
              <a:rPr lang="en-US" altLang="zh-CN" dirty="0"/>
              <a:t>2</a:t>
            </a:r>
            <a:r>
              <a:rPr lang="zh-CN" altLang="zh-CN" dirty="0"/>
              <a:t>条命令都表示上传文件，即把</a:t>
            </a:r>
            <a:r>
              <a:rPr lang="en-US" altLang="zh-CN" dirty="0"/>
              <a:t>Linux</a:t>
            </a:r>
            <a:r>
              <a:rPr lang="zh-CN" altLang="zh-CN" dirty="0"/>
              <a:t>本地文件系统中的一个或多个文件复制到</a:t>
            </a:r>
            <a:r>
              <a:rPr lang="en-US" altLang="zh-CN" dirty="0"/>
              <a:t>HDFS</a:t>
            </a:r>
            <a:r>
              <a:rPr lang="zh-CN" altLang="zh-CN" dirty="0"/>
              <a:t>文件系统中。</a:t>
            </a:r>
            <a:r>
              <a:rPr lang="en-US" altLang="zh-CN" dirty="0"/>
              <a:t>put</a:t>
            </a:r>
            <a:r>
              <a:rPr lang="zh-CN" altLang="zh-CN" dirty="0"/>
              <a:t>命令的一般格式如下：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-put &lt;</a:t>
            </a:r>
            <a:r>
              <a:rPr lang="en-US" altLang="zh-CN" dirty="0" err="1">
                <a:solidFill>
                  <a:srgbClr val="FF0000"/>
                </a:solidFill>
              </a:rPr>
              <a:t>localsrc</a:t>
            </a:r>
            <a:r>
              <a:rPr lang="en-US" altLang="zh-CN" dirty="0">
                <a:solidFill>
                  <a:srgbClr val="FF0000"/>
                </a:solidFill>
              </a:rPr>
              <a:t>&gt; ... &lt;</a:t>
            </a:r>
            <a:r>
              <a:rPr lang="en-US" altLang="zh-CN" dirty="0" err="1">
                <a:solidFill>
                  <a:srgbClr val="FF0000"/>
                </a:solidFill>
              </a:rPr>
              <a:t>dst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-put hadoop-2.7.2.tar.gz  /test/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zh-CN" dirty="0"/>
              <a:t>跨文件系统的交互操作命令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</a:t>
            </a:r>
            <a:r>
              <a:rPr lang="en-US" altLang="zh-CN" dirty="0">
                <a:solidFill>
                  <a:srgbClr val="FF0000"/>
                </a:solidFill>
              </a:rPr>
              <a:t>get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copyToLocal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这</a:t>
            </a:r>
            <a:r>
              <a:rPr lang="en-US" altLang="zh-CN" dirty="0"/>
              <a:t>2</a:t>
            </a:r>
            <a:r>
              <a:rPr lang="zh-CN" altLang="zh-CN" dirty="0"/>
              <a:t>条命令都表示下载文件，即从</a:t>
            </a:r>
            <a:r>
              <a:rPr lang="en-US" altLang="zh-CN" dirty="0"/>
              <a:t>HDFS</a:t>
            </a:r>
            <a:r>
              <a:rPr lang="zh-CN" altLang="zh-CN" dirty="0"/>
              <a:t>文件系统中复制文件到</a:t>
            </a:r>
            <a:r>
              <a:rPr lang="en-US" altLang="zh-CN" dirty="0"/>
              <a:t>Linux</a:t>
            </a:r>
            <a:r>
              <a:rPr lang="zh-CN" altLang="zh-CN" dirty="0"/>
              <a:t>本地文件系统。</a:t>
            </a:r>
            <a:r>
              <a:rPr lang="en-US" altLang="zh-CN" dirty="0"/>
              <a:t>get</a:t>
            </a:r>
            <a:r>
              <a:rPr lang="zh-CN" altLang="zh-CN" dirty="0"/>
              <a:t>命令的一般格式如下：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sz="2000" dirty="0" err="1">
                <a:solidFill>
                  <a:srgbClr val="FF0000"/>
                </a:solidFill>
              </a:rPr>
              <a:t>hadoop</a:t>
            </a:r>
            <a:r>
              <a:rPr lang="en-US" altLang="zh-CN" sz="2000" dirty="0">
                <a:solidFill>
                  <a:srgbClr val="FF0000"/>
                </a:solidFill>
              </a:rPr>
              <a:t> fs -get [-</a:t>
            </a:r>
            <a:r>
              <a:rPr lang="en-US" altLang="zh-CN" sz="2000" dirty="0" err="1">
                <a:solidFill>
                  <a:srgbClr val="FF0000"/>
                </a:solidFill>
              </a:rPr>
              <a:t>ignorecrc</a:t>
            </a:r>
            <a:r>
              <a:rPr lang="en-US" altLang="zh-CN" sz="2000" dirty="0">
                <a:solidFill>
                  <a:srgbClr val="FF0000"/>
                </a:solidFill>
              </a:rPr>
              <a:t>] [-</a:t>
            </a:r>
            <a:r>
              <a:rPr lang="en-US" altLang="zh-CN" sz="2000" dirty="0" err="1">
                <a:solidFill>
                  <a:srgbClr val="FF0000"/>
                </a:solidFill>
              </a:rPr>
              <a:t>crc</a:t>
            </a:r>
            <a:r>
              <a:rPr lang="en-US" altLang="zh-CN" sz="2000" dirty="0">
                <a:solidFill>
                  <a:srgbClr val="FF0000"/>
                </a:solidFill>
              </a:rPr>
              <a:t>] &lt;</a:t>
            </a:r>
            <a:r>
              <a:rPr lang="en-US" altLang="zh-CN" sz="2000" dirty="0" err="1">
                <a:solidFill>
                  <a:srgbClr val="FF0000"/>
                </a:solidFill>
              </a:rPr>
              <a:t>src</a:t>
            </a:r>
            <a:r>
              <a:rPr lang="en-US" altLang="zh-CN" sz="2000" dirty="0">
                <a:solidFill>
                  <a:srgbClr val="FF0000"/>
                </a:solidFill>
              </a:rPr>
              <a:t>&gt; &lt;</a:t>
            </a:r>
            <a:r>
              <a:rPr lang="en-US" altLang="zh-CN" sz="2000" dirty="0" err="1">
                <a:solidFill>
                  <a:srgbClr val="FF0000"/>
                </a:solidFill>
              </a:rPr>
              <a:t>localdst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  <a:endParaRPr lang="zh-CN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</a:t>
            </a:r>
            <a:r>
              <a:rPr lang="en-US" altLang="zh-CN" dirty="0" err="1"/>
              <a:t>ignorecrc</a:t>
            </a:r>
            <a:r>
              <a:rPr lang="zh-CN" altLang="zh-CN" dirty="0"/>
              <a:t>选项表示忽略</a:t>
            </a:r>
            <a:r>
              <a:rPr lang="en-US" altLang="zh-CN" dirty="0"/>
              <a:t>CRC</a:t>
            </a:r>
            <a:r>
              <a:rPr lang="zh-CN" altLang="zh-CN" dirty="0"/>
              <a:t>检验错误。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-get /x/file1.txt  myfile.txt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zh-CN" dirty="0"/>
              <a:t>跨文件系统的交互操作命令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en-US" altLang="zh-CN" dirty="0" err="1">
                <a:solidFill>
                  <a:srgbClr val="FF0000"/>
                </a:solidFill>
              </a:rPr>
              <a:t>moveFromLocal</a:t>
            </a:r>
            <a:r>
              <a:rPr lang="zh-CN" altLang="zh-CN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moveToLocal</a:t>
            </a:r>
            <a:r>
              <a:rPr lang="zh-CN" altLang="zh-CN" dirty="0">
                <a:solidFill>
                  <a:srgbClr val="FF0000"/>
                </a:solidFill>
              </a:rPr>
              <a:t>命令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这</a:t>
            </a:r>
            <a:r>
              <a:rPr lang="en-US" altLang="zh-CN" dirty="0"/>
              <a:t>2</a:t>
            </a:r>
            <a:r>
              <a:rPr lang="zh-CN" altLang="zh-CN" dirty="0"/>
              <a:t>条命令提供</a:t>
            </a:r>
            <a:r>
              <a:rPr lang="en-US" altLang="zh-CN" dirty="0"/>
              <a:t>Linux</a:t>
            </a:r>
            <a:r>
              <a:rPr lang="zh-CN" altLang="zh-CN" dirty="0"/>
              <a:t>文件系统和</a:t>
            </a:r>
            <a:r>
              <a:rPr lang="en-US" altLang="zh-CN" dirty="0"/>
              <a:t>HDFS</a:t>
            </a:r>
            <a:r>
              <a:rPr lang="zh-CN" altLang="zh-CN" dirty="0"/>
              <a:t>文件系统之间的“乾坤大挪移”操作，</a:t>
            </a:r>
            <a:r>
              <a:rPr lang="en-US" altLang="zh-CN" dirty="0" err="1"/>
              <a:t>moveFromLocal</a:t>
            </a:r>
            <a:r>
              <a:rPr lang="zh-CN" altLang="zh-CN" dirty="0"/>
              <a:t>命令支持从本地将文件移动到</a:t>
            </a:r>
            <a:r>
              <a:rPr lang="en-US" altLang="zh-CN" dirty="0"/>
              <a:t>HDFS</a:t>
            </a:r>
            <a:r>
              <a:rPr lang="zh-CN" altLang="zh-CN" dirty="0"/>
              <a:t>中，</a:t>
            </a:r>
            <a:r>
              <a:rPr lang="en-US" altLang="zh-CN" dirty="0"/>
              <a:t> </a:t>
            </a:r>
            <a:r>
              <a:rPr lang="en-US" altLang="zh-CN" dirty="0" err="1"/>
              <a:t>moveToLocal</a:t>
            </a:r>
            <a:r>
              <a:rPr lang="zh-CN" altLang="zh-CN" dirty="0"/>
              <a:t>命令则相反。一般格式如下：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hadoop</a:t>
            </a:r>
            <a:r>
              <a:rPr lang="en-US" altLang="zh-CN" sz="2000" dirty="0">
                <a:solidFill>
                  <a:srgbClr val="FF0000"/>
                </a:solidFill>
              </a:rPr>
              <a:t> fs -</a:t>
            </a:r>
            <a:r>
              <a:rPr lang="en-US" altLang="zh-CN" sz="2000" dirty="0" err="1">
                <a:solidFill>
                  <a:srgbClr val="FF0000"/>
                </a:solidFill>
              </a:rPr>
              <a:t>moveFromLocal</a:t>
            </a:r>
            <a:r>
              <a:rPr lang="en-US" altLang="zh-CN" sz="2000" dirty="0">
                <a:solidFill>
                  <a:srgbClr val="FF0000"/>
                </a:solidFill>
              </a:rPr>
              <a:t> &lt;</a:t>
            </a:r>
            <a:r>
              <a:rPr lang="en-US" altLang="zh-CN" sz="2000" dirty="0" err="1">
                <a:solidFill>
                  <a:srgbClr val="FF0000"/>
                </a:solidFill>
              </a:rPr>
              <a:t>localsrc</a:t>
            </a:r>
            <a:r>
              <a:rPr lang="en-US" altLang="zh-CN" sz="2000" dirty="0">
                <a:solidFill>
                  <a:srgbClr val="FF0000"/>
                </a:solidFill>
              </a:rPr>
              <a:t>&gt; &lt;</a:t>
            </a:r>
            <a:r>
              <a:rPr lang="en-US" altLang="zh-CN" sz="2000" dirty="0" err="1">
                <a:solidFill>
                  <a:srgbClr val="FF0000"/>
                </a:solidFill>
              </a:rPr>
              <a:t>dst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  <a:endParaRPr lang="zh-CN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hadoop</a:t>
            </a:r>
            <a:r>
              <a:rPr lang="en-US" altLang="zh-CN" sz="2000" dirty="0">
                <a:solidFill>
                  <a:srgbClr val="FF0000"/>
                </a:solidFill>
              </a:rPr>
              <a:t> fs -</a:t>
            </a:r>
            <a:r>
              <a:rPr lang="en-US" altLang="zh-CN" sz="2000" dirty="0" err="1">
                <a:solidFill>
                  <a:srgbClr val="FF0000"/>
                </a:solidFill>
              </a:rPr>
              <a:t>moveToLocal</a:t>
            </a:r>
            <a:r>
              <a:rPr lang="en-US" altLang="zh-CN" sz="2000" dirty="0">
                <a:solidFill>
                  <a:srgbClr val="FF0000"/>
                </a:solidFill>
              </a:rPr>
              <a:t> [-</a:t>
            </a:r>
            <a:r>
              <a:rPr lang="en-US" altLang="zh-CN" sz="2000" dirty="0" err="1">
                <a:solidFill>
                  <a:srgbClr val="FF0000"/>
                </a:solidFill>
              </a:rPr>
              <a:t>crc</a:t>
            </a:r>
            <a:r>
              <a:rPr lang="en-US" altLang="zh-CN" sz="2000" dirty="0">
                <a:solidFill>
                  <a:srgbClr val="FF0000"/>
                </a:solidFill>
              </a:rPr>
              <a:t>] &lt;</a:t>
            </a:r>
            <a:r>
              <a:rPr lang="en-US" altLang="zh-CN" sz="2000" dirty="0" err="1">
                <a:solidFill>
                  <a:srgbClr val="FF0000"/>
                </a:solidFill>
              </a:rPr>
              <a:t>src</a:t>
            </a:r>
            <a:r>
              <a:rPr lang="en-US" altLang="zh-CN" sz="2000" dirty="0">
                <a:solidFill>
                  <a:srgbClr val="FF0000"/>
                </a:solidFill>
              </a:rPr>
              <a:t>&gt; &lt;</a:t>
            </a:r>
            <a:r>
              <a:rPr lang="en-US" altLang="zh-CN" sz="2000" dirty="0" err="1">
                <a:solidFill>
                  <a:srgbClr val="FF0000"/>
                </a:solidFill>
              </a:rPr>
              <a:t>dst</a:t>
            </a:r>
            <a:r>
              <a:rPr lang="en-US" altLang="zh-CN" sz="2000" dirty="0">
                <a:solidFill>
                  <a:srgbClr val="FF0000"/>
                </a:solidFill>
              </a:rPr>
              <a:t>&gt;</a:t>
            </a:r>
            <a:endParaRPr lang="zh-CN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不同于</a:t>
            </a:r>
            <a:r>
              <a:rPr lang="en-US" altLang="zh-CN" dirty="0"/>
              <a:t>put</a:t>
            </a:r>
            <a:r>
              <a:rPr lang="zh-CN" altLang="zh-CN" dirty="0"/>
              <a:t>和</a:t>
            </a:r>
            <a:r>
              <a:rPr lang="en-US" altLang="zh-CN" dirty="0"/>
              <a:t>get</a:t>
            </a:r>
            <a:r>
              <a:rPr lang="zh-CN" altLang="zh-CN" dirty="0"/>
              <a:t>命令，此</a:t>
            </a:r>
            <a:r>
              <a:rPr lang="en-US" altLang="zh-CN" dirty="0"/>
              <a:t>2</a:t>
            </a:r>
            <a:r>
              <a:rPr lang="zh-CN" altLang="zh-CN" dirty="0"/>
              <a:t>条命令操作结束之后原文件将不复存在。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 err="1"/>
              <a:t>chgrp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zh-CN" altLang="zh-CN" dirty="0"/>
              <a:t>该命令用于修改文件所属的组。需要注意的是，只有文件的拥有者或超级用户才能有权执行该命令操作。一般格式如下：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sz="2400" dirty="0" err="1">
                <a:solidFill>
                  <a:srgbClr val="FF0000"/>
                </a:solidFill>
              </a:rPr>
              <a:t>hadoop</a:t>
            </a:r>
            <a:r>
              <a:rPr lang="en-US" altLang="zh-CN" sz="2400" dirty="0">
                <a:solidFill>
                  <a:srgbClr val="FF0000"/>
                </a:solidFill>
              </a:rPr>
              <a:t> fs -</a:t>
            </a:r>
            <a:r>
              <a:rPr lang="en-US" altLang="zh-CN" sz="2400" dirty="0" err="1">
                <a:solidFill>
                  <a:srgbClr val="FF0000"/>
                </a:solidFill>
              </a:rPr>
              <a:t>chgrp</a:t>
            </a:r>
            <a:r>
              <a:rPr lang="en-US" altLang="zh-CN" sz="2400" dirty="0">
                <a:solidFill>
                  <a:srgbClr val="FF0000"/>
                </a:solidFill>
              </a:rPr>
              <a:t> [-R] GROUP URI [URI ...]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-R</a:t>
            </a:r>
            <a:r>
              <a:rPr lang="zh-CN" altLang="zh-CN" dirty="0"/>
              <a:t>选项表示涵盖指定</a:t>
            </a:r>
            <a:r>
              <a:rPr lang="en-US" altLang="zh-CN" dirty="0"/>
              <a:t>URI</a:t>
            </a:r>
            <a:r>
              <a:rPr lang="zh-CN" altLang="zh-CN" dirty="0"/>
              <a:t>的内部所有目录和文件。</a:t>
            </a:r>
          </a:p>
          <a:p>
            <a:pPr lvl="1"/>
            <a:r>
              <a:rPr lang="zh-CN" altLang="zh-CN" dirty="0"/>
              <a:t>例如，执行以下操作，修改</a:t>
            </a:r>
            <a:r>
              <a:rPr lang="en-US" altLang="zh-CN" dirty="0"/>
              <a:t>/test2</a:t>
            </a:r>
            <a:r>
              <a:rPr lang="zh-CN" altLang="zh-CN" dirty="0"/>
              <a:t>目录及内部目录和文件的所属</a:t>
            </a:r>
            <a:r>
              <a:rPr lang="zh-CN" altLang="zh-CN" strike="sngStrike" dirty="0"/>
              <a:t>的</a:t>
            </a:r>
            <a:r>
              <a:rPr lang="zh-CN" altLang="zh-CN" dirty="0"/>
              <a:t>用户组为</a:t>
            </a:r>
            <a:r>
              <a:rPr lang="en-US" altLang="zh-CN" dirty="0"/>
              <a:t>root</a:t>
            </a:r>
            <a:r>
              <a:rPr lang="zh-CN" altLang="zh-CN" dirty="0"/>
              <a:t>组：</a:t>
            </a:r>
          </a:p>
          <a:p>
            <a:pPr marL="457200" lvl="1" indent="0">
              <a:buNone/>
            </a:pPr>
            <a:r>
              <a:rPr lang="en-US" altLang="zh-CN" dirty="0"/>
              <a:t>  $ </a:t>
            </a:r>
            <a:r>
              <a:rPr lang="en-US" altLang="zh-CN" dirty="0" err="1"/>
              <a:t>hadoop</a:t>
            </a:r>
            <a:r>
              <a:rPr lang="en-US" altLang="zh-CN" dirty="0"/>
              <a:t> fs -</a:t>
            </a:r>
            <a:r>
              <a:rPr lang="en-US" altLang="zh-CN" dirty="0" err="1"/>
              <a:t>chgrp</a:t>
            </a:r>
            <a:r>
              <a:rPr lang="en-US" altLang="zh-CN" dirty="0"/>
              <a:t> -R root /test2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 </a:t>
            </a:r>
            <a:r>
              <a:rPr lang="en-US" altLang="zh-CN" dirty="0" err="1"/>
              <a:t>chown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zh-CN" altLang="zh-CN" dirty="0"/>
              <a:t>该命令用于修改文件的拥有者。需要注意的是，只有超级用户才能有权执行该命令操作。一般格式如下：</a:t>
            </a:r>
          </a:p>
          <a:p>
            <a:pPr marL="457200" lvl="1" indent="0"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</a:t>
            </a:r>
            <a:r>
              <a:rPr lang="en-US" altLang="zh-CN" dirty="0" err="1">
                <a:solidFill>
                  <a:srgbClr val="FF0000"/>
                </a:solidFill>
              </a:rPr>
              <a:t>chown</a:t>
            </a:r>
            <a:r>
              <a:rPr lang="en-US" altLang="zh-CN" dirty="0">
                <a:solidFill>
                  <a:srgbClr val="FF0000"/>
                </a:solidFill>
              </a:rPr>
              <a:t> [-R] [OWNER][:[GROUP]] URI [URI ]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-R</a:t>
            </a:r>
            <a:r>
              <a:rPr lang="zh-CN" altLang="zh-CN" dirty="0"/>
              <a:t>选项的功能与</a:t>
            </a:r>
            <a:r>
              <a:rPr lang="en-US" altLang="zh-CN" dirty="0" err="1"/>
              <a:t>chgrp</a:t>
            </a:r>
            <a:r>
              <a:rPr lang="zh-CN" altLang="zh-CN" dirty="0"/>
              <a:t>命令的</a:t>
            </a:r>
            <a:r>
              <a:rPr lang="en-US" altLang="zh-CN" dirty="0"/>
              <a:t>-R</a:t>
            </a:r>
            <a:r>
              <a:rPr lang="zh-CN" altLang="zh-CN" dirty="0"/>
              <a:t>选项相同。</a:t>
            </a:r>
          </a:p>
          <a:p>
            <a:pPr lvl="1"/>
            <a:r>
              <a:rPr lang="zh-CN" altLang="zh-CN" dirty="0"/>
              <a:t>例如，执行以下命令，修改</a:t>
            </a:r>
            <a:r>
              <a:rPr lang="en-US" altLang="zh-CN" dirty="0"/>
              <a:t>/test2/myfile.txt</a:t>
            </a:r>
            <a:r>
              <a:rPr lang="zh-CN" altLang="zh-CN" dirty="0"/>
              <a:t>的拥有者为</a:t>
            </a:r>
            <a:r>
              <a:rPr lang="en-US" altLang="zh-CN" dirty="0"/>
              <a:t>root</a:t>
            </a:r>
            <a:r>
              <a:rPr lang="zh-CN" altLang="zh-CN" dirty="0"/>
              <a:t>用户。</a:t>
            </a:r>
          </a:p>
          <a:p>
            <a:pPr marL="457200" lvl="1" indent="0">
              <a:buNone/>
            </a:pPr>
            <a:r>
              <a:rPr lang="en-US" altLang="zh-CN" dirty="0"/>
              <a:t>    $ </a:t>
            </a:r>
            <a:r>
              <a:rPr lang="en-US" altLang="zh-CN" dirty="0" err="1"/>
              <a:t>hadoop</a:t>
            </a:r>
            <a:r>
              <a:rPr lang="en-US" altLang="zh-CN" dirty="0"/>
              <a:t> fs -</a:t>
            </a:r>
            <a:r>
              <a:rPr lang="en-US" altLang="zh-CN" dirty="0" err="1"/>
              <a:t>chown</a:t>
            </a:r>
            <a:r>
              <a:rPr lang="en-US" altLang="zh-CN" dirty="0"/>
              <a:t> root /test2/myfile.txt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en-US" dirty="0"/>
              <a:t>权限管理操作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 </a:t>
            </a:r>
            <a:r>
              <a:rPr lang="en-US" altLang="zh-CN" dirty="0" err="1"/>
              <a:t>chmod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zh-CN" altLang="zh-CN" dirty="0"/>
              <a:t>该命令用来修改文件的操作权限。需要注意的是，只有文件的拥有者和超级用户才能有权执行该命令操作。一般格式如下：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sz="2000" dirty="0" err="1">
                <a:solidFill>
                  <a:srgbClr val="FF0000"/>
                </a:solidFill>
              </a:rPr>
              <a:t>hadoop</a:t>
            </a:r>
            <a:r>
              <a:rPr lang="en-US" altLang="zh-CN" sz="2000" dirty="0">
                <a:solidFill>
                  <a:srgbClr val="FF0000"/>
                </a:solidFill>
              </a:rPr>
              <a:t> fs -</a:t>
            </a:r>
            <a:r>
              <a:rPr lang="en-US" altLang="zh-CN" sz="2000" dirty="0" err="1">
                <a:solidFill>
                  <a:srgbClr val="FF0000"/>
                </a:solidFill>
              </a:rPr>
              <a:t>chmod</a:t>
            </a:r>
            <a:r>
              <a:rPr lang="en-US" altLang="zh-CN" sz="2000" dirty="0">
                <a:solidFill>
                  <a:srgbClr val="FF0000"/>
                </a:solidFill>
              </a:rPr>
              <a:t> [-R] &lt;MODE[,MODE]... | OCTALMODE&gt; URI [URI ...]</a:t>
            </a:r>
            <a:endParaRPr lang="zh-CN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-R</a:t>
            </a:r>
            <a:r>
              <a:rPr lang="zh-CN" altLang="zh-CN" dirty="0"/>
              <a:t>选项表示把目标</a:t>
            </a:r>
            <a:r>
              <a:rPr lang="en-US" altLang="zh-CN" dirty="0"/>
              <a:t>URI</a:t>
            </a:r>
            <a:r>
              <a:rPr lang="zh-CN" altLang="zh-CN" dirty="0"/>
              <a:t>内的所有文件和子目录的权限一起修改。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75656" y="1916832"/>
          <a:ext cx="541147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权限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字符代码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数字代码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读取权限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r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写入权限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w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执行或切换权限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x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不具任何权限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-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0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59832" y="14127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权限代码列表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4. </a:t>
            </a:r>
            <a:r>
              <a:rPr lang="en-US" altLang="zh-CN" dirty="0" err="1"/>
              <a:t>setrep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zh-CN" altLang="zh-CN" dirty="0"/>
              <a:t>该命令用来修改一个文件的副本系数。如果目标对象是一个目录，则该命令将修改该目录及其子目录中的所有文件的副本系数。一般格式如下：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</a:t>
            </a:r>
            <a:r>
              <a:rPr lang="en-US" altLang="zh-CN" dirty="0" err="1">
                <a:solidFill>
                  <a:srgbClr val="FF0000"/>
                </a:solidFill>
              </a:rPr>
              <a:t>setrep</a:t>
            </a:r>
            <a:r>
              <a:rPr lang="en-US" altLang="zh-CN" dirty="0">
                <a:solidFill>
                  <a:srgbClr val="FF0000"/>
                </a:solidFill>
              </a:rPr>
              <a:t> [-R] [-w] &lt;</a:t>
            </a:r>
            <a:r>
              <a:rPr lang="en-US" altLang="zh-CN" dirty="0" err="1">
                <a:solidFill>
                  <a:srgbClr val="FF0000"/>
                </a:solidFill>
              </a:rPr>
              <a:t>numReplicas</a:t>
            </a:r>
            <a:r>
              <a:rPr lang="en-US" altLang="zh-CN" dirty="0">
                <a:solidFill>
                  <a:srgbClr val="FF0000"/>
                </a:solidFill>
              </a:rPr>
              <a:t>&gt; &lt;path&gt;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其中，各选项说明如下：</a:t>
            </a:r>
          </a:p>
          <a:p>
            <a:pPr lvl="1"/>
            <a:r>
              <a:rPr lang="en-US" altLang="zh-CN" dirty="0"/>
              <a:t>-w</a:t>
            </a:r>
            <a:r>
              <a:rPr lang="zh-CN" altLang="zh-CN" dirty="0"/>
              <a:t>选项：表示请求该命令等待到副本完成之时。这可能需要很长的时间。</a:t>
            </a:r>
          </a:p>
          <a:p>
            <a:pPr lvl="1"/>
            <a:r>
              <a:rPr lang="en-US" altLang="zh-CN" dirty="0"/>
              <a:t>-R</a:t>
            </a:r>
            <a:r>
              <a:rPr lang="zh-CN" altLang="zh-CN" dirty="0"/>
              <a:t>选项：用于递归改变目录下所有文件的副本系数。</a:t>
            </a:r>
          </a:p>
          <a:p>
            <a:pPr lvl="1"/>
            <a:r>
              <a:rPr lang="zh-CN" altLang="zh-CN" dirty="0"/>
              <a:t>例如：</a:t>
            </a:r>
            <a:r>
              <a:rPr lang="en-US" altLang="zh-CN" dirty="0"/>
              <a:t>$ </a:t>
            </a:r>
            <a:r>
              <a:rPr lang="en-US" altLang="zh-CN" dirty="0" err="1"/>
              <a:t>hadoop</a:t>
            </a:r>
            <a:r>
              <a:rPr lang="en-US" altLang="zh-CN" dirty="0"/>
              <a:t> fs -</a:t>
            </a:r>
            <a:r>
              <a:rPr lang="en-US" altLang="zh-CN" dirty="0" err="1"/>
              <a:t>setrep</a:t>
            </a:r>
            <a:r>
              <a:rPr lang="en-US" altLang="zh-CN" dirty="0"/>
              <a:t> 3 /test2/myfile.txt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2.3.5 </a:t>
            </a:r>
            <a:r>
              <a:rPr lang="zh-CN" altLang="zh-CN" dirty="0"/>
              <a:t>权限管理操作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5. truncate</a:t>
            </a:r>
            <a:r>
              <a:rPr lang="zh-CN" altLang="zh-CN" dirty="0"/>
              <a:t>命令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该命令用于强制截断文件数据为指定长度的数据块，也就是要求</a:t>
            </a:r>
            <a:r>
              <a:rPr lang="en-US" altLang="zh-CN" dirty="0"/>
              <a:t>HDFS</a:t>
            </a:r>
            <a:r>
              <a:rPr lang="zh-CN" altLang="zh-CN" dirty="0"/>
              <a:t>系统不采用默认长度（如</a:t>
            </a:r>
            <a:r>
              <a:rPr lang="en-US" altLang="zh-CN" dirty="0"/>
              <a:t>128MB</a:t>
            </a:r>
            <a:r>
              <a:rPr lang="zh-CN" altLang="zh-CN" dirty="0"/>
              <a:t>）而按指定长度值把文件数据内容重新切分。一般格式如下：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hadoop</a:t>
            </a:r>
            <a:r>
              <a:rPr lang="en-US" altLang="zh-CN" dirty="0">
                <a:solidFill>
                  <a:srgbClr val="FF0000"/>
                </a:solidFill>
              </a:rPr>
              <a:t> fs -truncate [-w] &lt;length&gt; &lt;paths&gt;</a:t>
            </a:r>
            <a:endParaRPr lang="zh-CN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其中，</a:t>
            </a:r>
            <a:r>
              <a:rPr lang="en-US" altLang="zh-CN" dirty="0"/>
              <a:t>-w</a:t>
            </a:r>
            <a:r>
              <a:rPr lang="zh-CN" altLang="zh-CN" dirty="0"/>
              <a:t>选项表示请求该命令等待到数据块截断完成之时。省略</a:t>
            </a:r>
            <a:r>
              <a:rPr lang="en-US" altLang="zh-CN" dirty="0"/>
              <a:t>-w</a:t>
            </a:r>
            <a:r>
              <a:rPr lang="zh-CN" altLang="zh-CN" dirty="0"/>
              <a:t>选项，由于</a:t>
            </a:r>
            <a:r>
              <a:rPr lang="en-US" altLang="zh-CN" dirty="0"/>
              <a:t>truncate</a:t>
            </a:r>
            <a:r>
              <a:rPr lang="zh-CN" altLang="zh-CN" dirty="0"/>
              <a:t>命令通常会在目标文件实际切分操作结束之前提前结束，显然目标文件将仍然处于未关闭状态，因此此时不能立即重新打开，进行追加数据操作。</a:t>
            </a:r>
          </a:p>
          <a:p>
            <a:pPr lvl="1"/>
            <a:r>
              <a:rPr lang="zh-CN" altLang="zh-CN" dirty="0"/>
              <a:t>例如，执行以下命令，把</a:t>
            </a:r>
            <a:r>
              <a:rPr lang="en-US" altLang="zh-CN" dirty="0"/>
              <a:t>myfile.txt</a:t>
            </a:r>
            <a:r>
              <a:rPr lang="zh-CN" altLang="zh-CN" dirty="0"/>
              <a:t>文件按</a:t>
            </a:r>
            <a:r>
              <a:rPr lang="en-US" altLang="zh-CN" dirty="0"/>
              <a:t>10</a:t>
            </a:r>
            <a:r>
              <a:rPr lang="zh-CN" altLang="zh-CN" dirty="0"/>
              <a:t>字节长度进行截断：</a:t>
            </a:r>
          </a:p>
          <a:p>
            <a:pPr marL="457200" lvl="1" indent="0">
              <a:buNone/>
            </a:pPr>
            <a:r>
              <a:rPr lang="en-US" altLang="zh-CN" dirty="0"/>
              <a:t>    $ </a:t>
            </a:r>
            <a:r>
              <a:rPr lang="en-US" altLang="zh-CN" dirty="0" err="1"/>
              <a:t>hadoop</a:t>
            </a:r>
            <a:r>
              <a:rPr lang="en-US" altLang="zh-CN" dirty="0"/>
              <a:t> fs -truncate 10 /test2/myfile.txt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2.1 Hadoop</a:t>
            </a:r>
            <a:r>
              <a:rPr lang="zh-CN" altLang="en-US" dirty="0"/>
              <a:t>简介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2.2 HDFS</a:t>
            </a:r>
            <a:r>
              <a:rPr lang="zh-CN" altLang="en-US" dirty="0"/>
              <a:t>文件系统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2.3 HDFS Shell</a:t>
            </a:r>
            <a:r>
              <a:rPr lang="zh-CN" altLang="en-US" dirty="0"/>
              <a:t>命令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2.4 HDFS Java API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 </a:t>
            </a:r>
            <a:r>
              <a:rPr lang="en-US" altLang="zh-CN" dirty="0"/>
              <a:t>HDFS Java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  <a:p>
            <a:r>
              <a:rPr lang="en-US" altLang="zh-CN" dirty="0"/>
              <a:t>2.4.2 HDFS Java API</a:t>
            </a:r>
            <a:r>
              <a:rPr lang="zh-CN" altLang="en-US" dirty="0"/>
              <a:t>编程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Hadoop</a:t>
            </a:r>
            <a:r>
              <a:rPr lang="zh-CN" altLang="zh-CN" dirty="0"/>
              <a:t>提供了多种访问接口</a:t>
            </a:r>
            <a:r>
              <a:rPr lang="en-US" altLang="zh-CN" dirty="0"/>
              <a:t>API</a:t>
            </a:r>
            <a:r>
              <a:rPr lang="zh-CN" altLang="zh-CN" dirty="0"/>
              <a:t>，以解决不同开发环境编程访问</a:t>
            </a:r>
            <a:r>
              <a:rPr lang="en-US" altLang="zh-CN" dirty="0"/>
              <a:t>HDFS</a:t>
            </a:r>
            <a:r>
              <a:rPr lang="zh-CN" altLang="zh-CN" dirty="0"/>
              <a:t>文件系统的问题，包括：</a:t>
            </a:r>
            <a:r>
              <a:rPr lang="en-US" altLang="zh-CN" dirty="0"/>
              <a:t>C API</a:t>
            </a:r>
            <a:r>
              <a:rPr lang="zh-CN" altLang="zh-CN" dirty="0"/>
              <a:t>、</a:t>
            </a:r>
            <a:r>
              <a:rPr lang="en-US" altLang="zh-CN" dirty="0"/>
              <a:t>HFTP</a:t>
            </a:r>
            <a:r>
              <a:rPr lang="zh-CN" altLang="zh-CN" dirty="0"/>
              <a:t>接口、</a:t>
            </a:r>
            <a:r>
              <a:rPr lang="en-US" altLang="zh-CN" dirty="0"/>
              <a:t>REST API</a:t>
            </a:r>
            <a:r>
              <a:rPr lang="zh-CN" altLang="zh-CN" dirty="0"/>
              <a:t>以及</a:t>
            </a:r>
            <a:r>
              <a:rPr lang="en-US" altLang="zh-CN" dirty="0"/>
              <a:t>Java API</a:t>
            </a:r>
            <a:r>
              <a:rPr lang="zh-CN" altLang="zh-CN" dirty="0"/>
              <a:t>等。</a:t>
            </a:r>
            <a:endParaRPr lang="en-US" altLang="zh-CN" dirty="0"/>
          </a:p>
          <a:p>
            <a:r>
              <a:rPr lang="en-US" altLang="zh-CN" dirty="0"/>
              <a:t>HDFS Java API</a:t>
            </a:r>
            <a:r>
              <a:rPr lang="zh-CN" altLang="zh-CN" dirty="0"/>
              <a:t>位于</a:t>
            </a:r>
            <a:r>
              <a:rPr lang="en-US" altLang="zh-CN" dirty="0" err="1"/>
              <a:t>org.apache.hadoop.fs</a:t>
            </a:r>
            <a:r>
              <a:rPr lang="zh-CN" altLang="zh-CN" dirty="0"/>
              <a:t>包中，这些</a:t>
            </a:r>
            <a:r>
              <a:rPr lang="en-US" altLang="zh-CN" dirty="0"/>
              <a:t>API</a:t>
            </a:r>
            <a:r>
              <a:rPr lang="zh-CN" altLang="zh-CN" dirty="0"/>
              <a:t>能够支持的操作包括：打开文件、读</a:t>
            </a:r>
            <a:r>
              <a:rPr lang="en-US" altLang="zh-CN" dirty="0"/>
              <a:t>/</a:t>
            </a:r>
            <a:r>
              <a:rPr lang="zh-CN" altLang="zh-CN" dirty="0"/>
              <a:t>写文件、删除文件等。</a:t>
            </a:r>
          </a:p>
          <a:p>
            <a:endParaRPr lang="zh-CN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547664" y="1340768"/>
            <a:ext cx="5808661" cy="5105401"/>
            <a:chOff x="839" y="754"/>
            <a:chExt cx="3659" cy="3216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839" y="754"/>
              <a:ext cx="3405" cy="3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" name="Group 205"/>
            <p:cNvGrpSpPr>
              <a:grpSpLocks/>
            </p:cNvGrpSpPr>
            <p:nvPr/>
          </p:nvGrpSpPr>
          <p:grpSpPr bwMode="auto">
            <a:xfrm>
              <a:off x="839" y="754"/>
              <a:ext cx="3659" cy="2047"/>
              <a:chOff x="839" y="754"/>
              <a:chExt cx="3659" cy="2047"/>
            </a:xfrm>
          </p:grpSpPr>
          <p:sp>
            <p:nvSpPr>
              <p:cNvPr id="135" name="Rectangle 5"/>
              <p:cNvSpPr>
                <a:spLocks noChangeArrowheads="1"/>
              </p:cNvSpPr>
              <p:nvPr/>
            </p:nvSpPr>
            <p:spPr bwMode="auto">
              <a:xfrm>
                <a:off x="884" y="783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类名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Rectangle 6"/>
              <p:cNvSpPr>
                <a:spLocks noChangeArrowheads="1"/>
              </p:cNvSpPr>
              <p:nvPr/>
            </p:nvSpPr>
            <p:spPr bwMode="auto">
              <a:xfrm>
                <a:off x="1028" y="776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Rectangle 7"/>
              <p:cNvSpPr>
                <a:spLocks noChangeArrowheads="1"/>
              </p:cNvSpPr>
              <p:nvPr/>
            </p:nvSpPr>
            <p:spPr bwMode="auto">
              <a:xfrm>
                <a:off x="1721" y="783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描述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Rectangle 8"/>
              <p:cNvSpPr>
                <a:spLocks noChangeArrowheads="1"/>
              </p:cNvSpPr>
              <p:nvPr/>
            </p:nvSpPr>
            <p:spPr bwMode="auto">
              <a:xfrm>
                <a:off x="1865" y="776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Rectangle 9"/>
              <p:cNvSpPr>
                <a:spLocks noChangeArrowheads="1"/>
              </p:cNvSpPr>
              <p:nvPr/>
            </p:nvSpPr>
            <p:spPr bwMode="auto">
              <a:xfrm>
                <a:off x="839" y="75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Rectangle 10"/>
              <p:cNvSpPr>
                <a:spLocks noChangeArrowheads="1"/>
              </p:cNvSpPr>
              <p:nvPr/>
            </p:nvSpPr>
            <p:spPr bwMode="auto">
              <a:xfrm>
                <a:off x="839" y="75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Rectangle 11"/>
              <p:cNvSpPr>
                <a:spLocks noChangeArrowheads="1"/>
              </p:cNvSpPr>
              <p:nvPr/>
            </p:nvSpPr>
            <p:spPr bwMode="auto">
              <a:xfrm>
                <a:off x="843" y="754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Rectangle 12"/>
              <p:cNvSpPr>
                <a:spLocks noChangeArrowheads="1"/>
              </p:cNvSpPr>
              <p:nvPr/>
            </p:nvSpPr>
            <p:spPr bwMode="auto">
              <a:xfrm>
                <a:off x="1676" y="75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3"/>
              <p:cNvSpPr>
                <a:spLocks noChangeArrowheads="1"/>
              </p:cNvSpPr>
              <p:nvPr/>
            </p:nvSpPr>
            <p:spPr bwMode="auto">
              <a:xfrm>
                <a:off x="1936" y="754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Rectangle 14"/>
              <p:cNvSpPr>
                <a:spLocks noChangeArrowheads="1"/>
              </p:cNvSpPr>
              <p:nvPr/>
            </p:nvSpPr>
            <p:spPr bwMode="auto">
              <a:xfrm>
                <a:off x="4242" y="75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Rectangle 15"/>
              <p:cNvSpPr>
                <a:spLocks noChangeArrowheads="1"/>
              </p:cNvSpPr>
              <p:nvPr/>
            </p:nvSpPr>
            <p:spPr bwMode="auto">
              <a:xfrm>
                <a:off x="4242" y="75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Rectangle 16"/>
              <p:cNvSpPr>
                <a:spLocks noChangeArrowheads="1"/>
              </p:cNvSpPr>
              <p:nvPr/>
            </p:nvSpPr>
            <p:spPr bwMode="auto">
              <a:xfrm>
                <a:off x="839" y="75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Rectangle 17"/>
              <p:cNvSpPr>
                <a:spLocks noChangeArrowheads="1"/>
              </p:cNvSpPr>
              <p:nvPr/>
            </p:nvSpPr>
            <p:spPr bwMode="auto">
              <a:xfrm>
                <a:off x="1676" y="75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Rectangle 18"/>
              <p:cNvSpPr>
                <a:spLocks noChangeArrowheads="1"/>
              </p:cNvSpPr>
              <p:nvPr/>
            </p:nvSpPr>
            <p:spPr bwMode="auto">
              <a:xfrm>
                <a:off x="4242" y="75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Rectangle 19"/>
              <p:cNvSpPr>
                <a:spLocks noChangeArrowheads="1"/>
              </p:cNvSpPr>
              <p:nvPr/>
            </p:nvSpPr>
            <p:spPr bwMode="auto">
              <a:xfrm>
                <a:off x="884" y="904"/>
                <a:ext cx="59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AbstractFileSystem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20"/>
              <p:cNvSpPr>
                <a:spLocks noChangeArrowheads="1"/>
              </p:cNvSpPr>
              <p:nvPr/>
            </p:nvSpPr>
            <p:spPr bwMode="auto">
              <a:xfrm>
                <a:off x="1437" y="904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21"/>
              <p:cNvSpPr>
                <a:spLocks noChangeArrowheads="1"/>
              </p:cNvSpPr>
              <p:nvPr/>
            </p:nvSpPr>
            <p:spPr bwMode="auto">
              <a:xfrm>
                <a:off x="1721" y="905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Rectangle 22"/>
              <p:cNvSpPr>
                <a:spLocks noChangeArrowheads="1"/>
              </p:cNvSpPr>
              <p:nvPr/>
            </p:nvSpPr>
            <p:spPr bwMode="auto">
              <a:xfrm>
                <a:off x="1897" y="912"/>
                <a:ext cx="43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抽象类，应用程序可以用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Rectangle 23"/>
              <p:cNvSpPr>
                <a:spLocks noChangeArrowheads="1"/>
              </p:cNvSpPr>
              <p:nvPr/>
            </p:nvSpPr>
            <p:spPr bwMode="auto">
              <a:xfrm>
                <a:off x="2712" y="905"/>
                <a:ext cx="37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FileContext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Rectangle 24"/>
              <p:cNvSpPr>
                <a:spLocks noChangeArrowheads="1"/>
              </p:cNvSpPr>
              <p:nvPr/>
            </p:nvSpPr>
            <p:spPr bwMode="auto">
              <a:xfrm>
                <a:off x="3064" y="912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来访问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25"/>
              <p:cNvSpPr>
                <a:spLocks noChangeArrowheads="1"/>
              </p:cNvSpPr>
              <p:nvPr/>
            </p:nvSpPr>
            <p:spPr bwMode="auto">
              <a:xfrm>
                <a:off x="3302" y="905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Rectangle 26"/>
              <p:cNvSpPr>
                <a:spLocks noChangeArrowheads="1"/>
              </p:cNvSpPr>
              <p:nvPr/>
            </p:nvSpPr>
            <p:spPr bwMode="auto">
              <a:xfrm>
                <a:off x="3479" y="912"/>
                <a:ext cx="396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文件，而不能直接使用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Rectangle 27"/>
              <p:cNvSpPr>
                <a:spLocks noChangeArrowheads="1"/>
              </p:cNvSpPr>
              <p:nvPr/>
            </p:nvSpPr>
            <p:spPr bwMode="auto">
              <a:xfrm>
                <a:off x="1721" y="1037"/>
                <a:ext cx="215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此类。通过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28"/>
              <p:cNvSpPr>
                <a:spLocks noChangeArrowheads="1"/>
              </p:cNvSpPr>
              <p:nvPr/>
            </p:nvSpPr>
            <p:spPr bwMode="auto">
              <a:xfrm>
                <a:off x="2096" y="1030"/>
                <a:ext cx="59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AbstractFileSystem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29"/>
              <p:cNvSpPr>
                <a:spLocks noChangeArrowheads="1"/>
              </p:cNvSpPr>
              <p:nvPr/>
            </p:nvSpPr>
            <p:spPr bwMode="auto">
              <a:xfrm>
                <a:off x="2650" y="1037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30"/>
              <p:cNvSpPr>
                <a:spLocks noChangeArrowheads="1"/>
              </p:cNvSpPr>
              <p:nvPr/>
            </p:nvSpPr>
            <p:spPr bwMode="auto">
              <a:xfrm>
                <a:off x="2718" y="1037"/>
                <a:ext cx="324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应用程序可以使用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31"/>
              <p:cNvSpPr>
                <a:spLocks noChangeArrowheads="1"/>
              </p:cNvSpPr>
              <p:nvPr/>
            </p:nvSpPr>
            <p:spPr bwMode="auto">
              <a:xfrm>
                <a:off x="3312" y="1030"/>
                <a:ext cx="14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URI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Rectangle 32"/>
              <p:cNvSpPr>
                <a:spLocks noChangeArrowheads="1"/>
              </p:cNvSpPr>
              <p:nvPr/>
            </p:nvSpPr>
            <p:spPr bwMode="auto">
              <a:xfrm>
                <a:off x="3434" y="1037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来定义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33"/>
              <p:cNvSpPr>
                <a:spLocks noChangeArrowheads="1"/>
              </p:cNvSpPr>
              <p:nvPr/>
            </p:nvSpPr>
            <p:spPr bwMode="auto">
              <a:xfrm>
                <a:off x="3669" y="1030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34"/>
              <p:cNvSpPr>
                <a:spLocks noChangeArrowheads="1"/>
              </p:cNvSpPr>
              <p:nvPr/>
            </p:nvSpPr>
            <p:spPr bwMode="auto">
              <a:xfrm>
                <a:off x="3840" y="1037"/>
                <a:ext cx="215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文件的访问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35"/>
              <p:cNvSpPr>
                <a:spLocks noChangeArrowheads="1"/>
              </p:cNvSpPr>
              <p:nvPr/>
            </p:nvSpPr>
            <p:spPr bwMode="auto">
              <a:xfrm>
                <a:off x="1721" y="1162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路径。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Rectangle 36"/>
              <p:cNvSpPr>
                <a:spLocks noChangeArrowheads="1"/>
              </p:cNvSpPr>
              <p:nvPr/>
            </p:nvSpPr>
            <p:spPr bwMode="auto">
              <a:xfrm>
                <a:off x="1937" y="1155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Rectangle 37"/>
              <p:cNvSpPr>
                <a:spLocks noChangeArrowheads="1"/>
              </p:cNvSpPr>
              <p:nvPr/>
            </p:nvSpPr>
            <p:spPr bwMode="auto">
              <a:xfrm>
                <a:off x="839" y="883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Rectangle 38"/>
              <p:cNvSpPr>
                <a:spLocks noChangeArrowheads="1"/>
              </p:cNvSpPr>
              <p:nvPr/>
            </p:nvSpPr>
            <p:spPr bwMode="auto">
              <a:xfrm>
                <a:off x="843" y="883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9" name="Rectangle 39"/>
              <p:cNvSpPr>
                <a:spLocks noChangeArrowheads="1"/>
              </p:cNvSpPr>
              <p:nvPr/>
            </p:nvSpPr>
            <p:spPr bwMode="auto">
              <a:xfrm>
                <a:off x="1676" y="883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Rectangle 40"/>
              <p:cNvSpPr>
                <a:spLocks noChangeArrowheads="1"/>
              </p:cNvSpPr>
              <p:nvPr/>
            </p:nvSpPr>
            <p:spPr bwMode="auto">
              <a:xfrm>
                <a:off x="1680" y="883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Rectangle 41"/>
              <p:cNvSpPr>
                <a:spLocks noChangeArrowheads="1"/>
              </p:cNvSpPr>
              <p:nvPr/>
            </p:nvSpPr>
            <p:spPr bwMode="auto">
              <a:xfrm>
                <a:off x="4242" y="883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2" name="Rectangle 42"/>
              <p:cNvSpPr>
                <a:spLocks noChangeArrowheads="1"/>
              </p:cNvSpPr>
              <p:nvPr/>
            </p:nvSpPr>
            <p:spPr bwMode="auto">
              <a:xfrm>
                <a:off x="839" y="887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Rectangle 43"/>
              <p:cNvSpPr>
                <a:spLocks noChangeArrowheads="1"/>
              </p:cNvSpPr>
              <p:nvPr/>
            </p:nvSpPr>
            <p:spPr bwMode="auto">
              <a:xfrm>
                <a:off x="1676" y="887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Rectangle 44"/>
              <p:cNvSpPr>
                <a:spLocks noChangeArrowheads="1"/>
              </p:cNvSpPr>
              <p:nvPr/>
            </p:nvSpPr>
            <p:spPr bwMode="auto">
              <a:xfrm>
                <a:off x="4242" y="887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5" name="Rectangle 45"/>
              <p:cNvSpPr>
                <a:spLocks noChangeArrowheads="1"/>
              </p:cNvSpPr>
              <p:nvPr/>
            </p:nvSpPr>
            <p:spPr bwMode="auto">
              <a:xfrm>
                <a:off x="884" y="1282"/>
                <a:ext cx="398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AvroFSInput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6" name="Rectangle 46"/>
              <p:cNvSpPr>
                <a:spLocks noChangeArrowheads="1"/>
              </p:cNvSpPr>
              <p:nvPr/>
            </p:nvSpPr>
            <p:spPr bwMode="auto">
              <a:xfrm>
                <a:off x="1239" y="1282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7" name="Rectangle 47"/>
              <p:cNvSpPr>
                <a:spLocks noChangeArrowheads="1"/>
              </p:cNvSpPr>
              <p:nvPr/>
            </p:nvSpPr>
            <p:spPr bwMode="auto">
              <a:xfrm>
                <a:off x="1721" y="1290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使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8" name="Rectangle 48"/>
              <p:cNvSpPr>
                <a:spLocks noChangeArrowheads="1"/>
              </p:cNvSpPr>
              <p:nvPr/>
            </p:nvSpPr>
            <p:spPr bwMode="auto">
              <a:xfrm>
                <a:off x="1793" y="128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Rectangle 49"/>
              <p:cNvSpPr>
                <a:spLocks noChangeArrowheads="1"/>
              </p:cNvSpPr>
              <p:nvPr/>
            </p:nvSpPr>
            <p:spPr bwMode="auto">
              <a:xfrm>
                <a:off x="1810" y="1283"/>
                <a:ext cx="606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FSDataInputStream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Rectangle 50"/>
              <p:cNvSpPr>
                <a:spLocks noChangeArrowheads="1"/>
              </p:cNvSpPr>
              <p:nvPr/>
            </p:nvSpPr>
            <p:spPr bwMode="auto">
              <a:xfrm>
                <a:off x="2375" y="128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Rectangle 51"/>
              <p:cNvSpPr>
                <a:spLocks noChangeArrowheads="1"/>
              </p:cNvSpPr>
              <p:nvPr/>
            </p:nvSpPr>
            <p:spPr bwMode="auto">
              <a:xfrm>
                <a:off x="2392" y="1290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适应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Rectangle 52"/>
              <p:cNvSpPr>
                <a:spLocks noChangeArrowheads="1"/>
              </p:cNvSpPr>
              <p:nvPr/>
            </p:nvSpPr>
            <p:spPr bwMode="auto">
              <a:xfrm>
                <a:off x="2554" y="1283"/>
                <a:ext cx="67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Avro's SeekableInput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Rectangle 53"/>
              <p:cNvSpPr>
                <a:spLocks noChangeArrowheads="1"/>
              </p:cNvSpPr>
              <p:nvPr/>
            </p:nvSpPr>
            <p:spPr bwMode="auto">
              <a:xfrm>
                <a:off x="3202" y="1290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接口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Rectangle 54"/>
              <p:cNvSpPr>
                <a:spLocks noChangeArrowheads="1"/>
              </p:cNvSpPr>
              <p:nvPr/>
            </p:nvSpPr>
            <p:spPr bwMode="auto">
              <a:xfrm>
                <a:off x="3346" y="128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Rectangle 55"/>
              <p:cNvSpPr>
                <a:spLocks noChangeArrowheads="1"/>
              </p:cNvSpPr>
              <p:nvPr/>
            </p:nvSpPr>
            <p:spPr bwMode="auto">
              <a:xfrm>
                <a:off x="839" y="1261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6" name="Rectangle 56"/>
              <p:cNvSpPr>
                <a:spLocks noChangeArrowheads="1"/>
              </p:cNvSpPr>
              <p:nvPr/>
            </p:nvSpPr>
            <p:spPr bwMode="auto">
              <a:xfrm>
                <a:off x="843" y="1261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7" name="Rectangle 57"/>
              <p:cNvSpPr>
                <a:spLocks noChangeArrowheads="1"/>
              </p:cNvSpPr>
              <p:nvPr/>
            </p:nvSpPr>
            <p:spPr bwMode="auto">
              <a:xfrm>
                <a:off x="1676" y="1261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8" name="Rectangle 58"/>
              <p:cNvSpPr>
                <a:spLocks noChangeArrowheads="1"/>
              </p:cNvSpPr>
              <p:nvPr/>
            </p:nvSpPr>
            <p:spPr bwMode="auto">
              <a:xfrm>
                <a:off x="1680" y="1261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9" name="Rectangle 59"/>
              <p:cNvSpPr>
                <a:spLocks noChangeArrowheads="1"/>
              </p:cNvSpPr>
              <p:nvPr/>
            </p:nvSpPr>
            <p:spPr bwMode="auto">
              <a:xfrm>
                <a:off x="4242" y="1261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0" name="Rectangle 60"/>
              <p:cNvSpPr>
                <a:spLocks noChangeArrowheads="1"/>
              </p:cNvSpPr>
              <p:nvPr/>
            </p:nvSpPr>
            <p:spPr bwMode="auto">
              <a:xfrm>
                <a:off x="839" y="1265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1" name="Rectangle 61"/>
              <p:cNvSpPr>
                <a:spLocks noChangeArrowheads="1"/>
              </p:cNvSpPr>
              <p:nvPr/>
            </p:nvSpPr>
            <p:spPr bwMode="auto">
              <a:xfrm>
                <a:off x="1676" y="1265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2" name="Rectangle 62"/>
              <p:cNvSpPr>
                <a:spLocks noChangeArrowheads="1"/>
              </p:cNvSpPr>
              <p:nvPr/>
            </p:nvSpPr>
            <p:spPr bwMode="auto">
              <a:xfrm>
                <a:off x="4242" y="1265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3" name="Rectangle 63"/>
              <p:cNvSpPr>
                <a:spLocks noChangeArrowheads="1"/>
              </p:cNvSpPr>
              <p:nvPr/>
            </p:nvSpPr>
            <p:spPr bwMode="auto">
              <a:xfrm>
                <a:off x="884" y="1412"/>
                <a:ext cx="44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BlockLocation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4" name="Rectangle 64"/>
              <p:cNvSpPr>
                <a:spLocks noChangeArrowheads="1"/>
              </p:cNvSpPr>
              <p:nvPr/>
            </p:nvSpPr>
            <p:spPr bwMode="auto">
              <a:xfrm>
                <a:off x="1289" y="1412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5" name="Rectangle 65"/>
              <p:cNvSpPr>
                <a:spLocks noChangeArrowheads="1"/>
              </p:cNvSpPr>
              <p:nvPr/>
            </p:nvSpPr>
            <p:spPr bwMode="auto">
              <a:xfrm>
                <a:off x="1721" y="1420"/>
                <a:ext cx="82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代表块的位置和所在节点的信息，例如块副本系数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Rectangle 66"/>
              <p:cNvSpPr>
                <a:spLocks noChangeArrowheads="1"/>
              </p:cNvSpPr>
              <p:nvPr/>
            </p:nvSpPr>
            <p:spPr bwMode="auto">
              <a:xfrm>
                <a:off x="3306" y="141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Rectangle 67"/>
              <p:cNvSpPr>
                <a:spLocks noChangeArrowheads="1"/>
              </p:cNvSpPr>
              <p:nvPr/>
            </p:nvSpPr>
            <p:spPr bwMode="auto">
              <a:xfrm>
                <a:off x="839" y="1390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8" name="Rectangle 68"/>
              <p:cNvSpPr>
                <a:spLocks noChangeArrowheads="1"/>
              </p:cNvSpPr>
              <p:nvPr/>
            </p:nvSpPr>
            <p:spPr bwMode="auto">
              <a:xfrm>
                <a:off x="843" y="1390"/>
                <a:ext cx="83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9" name="Rectangle 69"/>
              <p:cNvSpPr>
                <a:spLocks noChangeArrowheads="1"/>
              </p:cNvSpPr>
              <p:nvPr/>
            </p:nvSpPr>
            <p:spPr bwMode="auto">
              <a:xfrm>
                <a:off x="1676" y="1390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0" name="Rectangle 70"/>
              <p:cNvSpPr>
                <a:spLocks noChangeArrowheads="1"/>
              </p:cNvSpPr>
              <p:nvPr/>
            </p:nvSpPr>
            <p:spPr bwMode="auto">
              <a:xfrm>
                <a:off x="1680" y="1390"/>
                <a:ext cx="2562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1" name="Rectangle 71"/>
              <p:cNvSpPr>
                <a:spLocks noChangeArrowheads="1"/>
              </p:cNvSpPr>
              <p:nvPr/>
            </p:nvSpPr>
            <p:spPr bwMode="auto">
              <a:xfrm>
                <a:off x="4242" y="1390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2" name="Rectangle 72"/>
              <p:cNvSpPr>
                <a:spLocks noChangeArrowheads="1"/>
              </p:cNvSpPr>
              <p:nvPr/>
            </p:nvSpPr>
            <p:spPr bwMode="auto">
              <a:xfrm>
                <a:off x="839" y="1393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3" name="Rectangle 73"/>
              <p:cNvSpPr>
                <a:spLocks noChangeArrowheads="1"/>
              </p:cNvSpPr>
              <p:nvPr/>
            </p:nvSpPr>
            <p:spPr bwMode="auto">
              <a:xfrm>
                <a:off x="1676" y="1393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4" name="Rectangle 74"/>
              <p:cNvSpPr>
                <a:spLocks noChangeArrowheads="1"/>
              </p:cNvSpPr>
              <p:nvPr/>
            </p:nvSpPr>
            <p:spPr bwMode="auto">
              <a:xfrm>
                <a:off x="4242" y="1393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5" name="Rectangle 75"/>
              <p:cNvSpPr>
                <a:spLocks noChangeArrowheads="1"/>
              </p:cNvSpPr>
              <p:nvPr/>
            </p:nvSpPr>
            <p:spPr bwMode="auto">
              <a:xfrm>
                <a:off x="884" y="1541"/>
                <a:ext cx="66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BlockStorageLocation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Rectangle 76"/>
              <p:cNvSpPr>
                <a:spLocks noChangeArrowheads="1"/>
              </p:cNvSpPr>
              <p:nvPr/>
            </p:nvSpPr>
            <p:spPr bwMode="auto">
              <a:xfrm>
                <a:off x="1511" y="1541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7" name="Rectangle 77"/>
              <p:cNvSpPr>
                <a:spLocks noChangeArrowheads="1"/>
              </p:cNvSpPr>
              <p:nvPr/>
            </p:nvSpPr>
            <p:spPr bwMode="auto">
              <a:xfrm>
                <a:off x="1721" y="1548"/>
                <a:ext cx="180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用于包装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8" name="Rectangle 78"/>
              <p:cNvSpPr>
                <a:spLocks noChangeArrowheads="1"/>
              </p:cNvSpPr>
              <p:nvPr/>
            </p:nvSpPr>
            <p:spPr bwMode="auto">
              <a:xfrm>
                <a:off x="2028" y="1541"/>
                <a:ext cx="7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79"/>
              <p:cNvSpPr>
                <a:spLocks noChangeArrowheads="1"/>
              </p:cNvSpPr>
              <p:nvPr/>
            </p:nvSpPr>
            <p:spPr bwMode="auto">
              <a:xfrm>
                <a:off x="2067" y="1541"/>
                <a:ext cx="40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lockLocation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80"/>
              <p:cNvSpPr>
                <a:spLocks noChangeArrowheads="1"/>
              </p:cNvSpPr>
              <p:nvPr/>
            </p:nvSpPr>
            <p:spPr bwMode="auto">
              <a:xfrm>
                <a:off x="2433" y="1541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81"/>
              <p:cNvSpPr>
                <a:spLocks noChangeArrowheads="1"/>
              </p:cNvSpPr>
              <p:nvPr/>
            </p:nvSpPr>
            <p:spPr bwMode="auto">
              <a:xfrm>
                <a:off x="2449" y="1548"/>
                <a:ext cx="43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，允许为每一个副本添加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82"/>
              <p:cNvSpPr>
                <a:spLocks noChangeArrowheads="1"/>
              </p:cNvSpPr>
              <p:nvPr/>
            </p:nvSpPr>
            <p:spPr bwMode="auto">
              <a:xfrm>
                <a:off x="3259" y="1541"/>
                <a:ext cx="32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VolumeId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83"/>
              <p:cNvSpPr>
                <a:spLocks noChangeArrowheads="1"/>
              </p:cNvSpPr>
              <p:nvPr/>
            </p:nvSpPr>
            <p:spPr bwMode="auto">
              <a:xfrm>
                <a:off x="3539" y="1541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84"/>
              <p:cNvSpPr>
                <a:spLocks noChangeArrowheads="1"/>
              </p:cNvSpPr>
              <p:nvPr/>
            </p:nvSpPr>
            <p:spPr bwMode="auto">
              <a:xfrm>
                <a:off x="3555" y="1541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85"/>
              <p:cNvSpPr>
                <a:spLocks noChangeArrowheads="1"/>
              </p:cNvSpPr>
              <p:nvPr/>
            </p:nvSpPr>
            <p:spPr bwMode="auto">
              <a:xfrm>
                <a:off x="839" y="1519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6" name="Rectangle 86"/>
              <p:cNvSpPr>
                <a:spLocks noChangeArrowheads="1"/>
              </p:cNvSpPr>
              <p:nvPr/>
            </p:nvSpPr>
            <p:spPr bwMode="auto">
              <a:xfrm>
                <a:off x="843" y="1519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7" name="Rectangle 87"/>
              <p:cNvSpPr>
                <a:spLocks noChangeArrowheads="1"/>
              </p:cNvSpPr>
              <p:nvPr/>
            </p:nvSpPr>
            <p:spPr bwMode="auto">
              <a:xfrm>
                <a:off x="1676" y="1519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8" name="Rectangle 88"/>
              <p:cNvSpPr>
                <a:spLocks noChangeArrowheads="1"/>
              </p:cNvSpPr>
              <p:nvPr/>
            </p:nvSpPr>
            <p:spPr bwMode="auto">
              <a:xfrm>
                <a:off x="1680" y="1519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9" name="Rectangle 89"/>
              <p:cNvSpPr>
                <a:spLocks noChangeArrowheads="1"/>
              </p:cNvSpPr>
              <p:nvPr/>
            </p:nvSpPr>
            <p:spPr bwMode="auto">
              <a:xfrm>
                <a:off x="4242" y="1519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0" name="Rectangle 90"/>
              <p:cNvSpPr>
                <a:spLocks noChangeArrowheads="1"/>
              </p:cNvSpPr>
              <p:nvPr/>
            </p:nvSpPr>
            <p:spPr bwMode="auto">
              <a:xfrm>
                <a:off x="839" y="1523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1" name="Rectangle 91"/>
              <p:cNvSpPr>
                <a:spLocks noChangeArrowheads="1"/>
              </p:cNvSpPr>
              <p:nvPr/>
            </p:nvSpPr>
            <p:spPr bwMode="auto">
              <a:xfrm>
                <a:off x="1676" y="1523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2" name="Rectangle 92"/>
              <p:cNvSpPr>
                <a:spLocks noChangeArrowheads="1"/>
              </p:cNvSpPr>
              <p:nvPr/>
            </p:nvSpPr>
            <p:spPr bwMode="auto">
              <a:xfrm>
                <a:off x="4242" y="1523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3" name="Rectangle 93"/>
              <p:cNvSpPr>
                <a:spLocks noChangeArrowheads="1"/>
              </p:cNvSpPr>
              <p:nvPr/>
            </p:nvSpPr>
            <p:spPr bwMode="auto">
              <a:xfrm>
                <a:off x="884" y="1669"/>
                <a:ext cx="65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ChecksumFileSystem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94"/>
              <p:cNvSpPr>
                <a:spLocks noChangeArrowheads="1"/>
              </p:cNvSpPr>
              <p:nvPr/>
            </p:nvSpPr>
            <p:spPr bwMode="auto">
              <a:xfrm>
                <a:off x="1493" y="1669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95"/>
              <p:cNvSpPr>
                <a:spLocks noChangeArrowheads="1"/>
              </p:cNvSpPr>
              <p:nvPr/>
            </p:nvSpPr>
            <p:spPr bwMode="auto">
              <a:xfrm>
                <a:off x="1721" y="1677"/>
                <a:ext cx="647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提供校验和文件的基本操作，例如，为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6" name="Rectangle 96"/>
              <p:cNvSpPr>
                <a:spLocks noChangeArrowheads="1"/>
              </p:cNvSpPr>
              <p:nvPr/>
            </p:nvSpPr>
            <p:spPr bwMode="auto">
              <a:xfrm>
                <a:off x="2964" y="1670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7" name="Rectangle 97"/>
              <p:cNvSpPr>
                <a:spLocks noChangeArrowheads="1"/>
              </p:cNvSpPr>
              <p:nvPr/>
            </p:nvSpPr>
            <p:spPr bwMode="auto">
              <a:xfrm>
                <a:off x="3136" y="1677"/>
                <a:ext cx="396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文件创建校验和文件。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98"/>
              <p:cNvSpPr>
                <a:spLocks noChangeArrowheads="1"/>
              </p:cNvSpPr>
              <p:nvPr/>
            </p:nvSpPr>
            <p:spPr bwMode="auto">
              <a:xfrm>
                <a:off x="3856" y="1670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99"/>
              <p:cNvSpPr>
                <a:spLocks noChangeArrowheads="1"/>
              </p:cNvSpPr>
              <p:nvPr/>
            </p:nvSpPr>
            <p:spPr bwMode="auto">
              <a:xfrm>
                <a:off x="839" y="1648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0" name="Rectangle 100"/>
              <p:cNvSpPr>
                <a:spLocks noChangeArrowheads="1"/>
              </p:cNvSpPr>
              <p:nvPr/>
            </p:nvSpPr>
            <p:spPr bwMode="auto">
              <a:xfrm>
                <a:off x="843" y="1648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1" name="Rectangle 101"/>
              <p:cNvSpPr>
                <a:spLocks noChangeArrowheads="1"/>
              </p:cNvSpPr>
              <p:nvPr/>
            </p:nvSpPr>
            <p:spPr bwMode="auto">
              <a:xfrm>
                <a:off x="1676" y="1648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2" name="Rectangle 102"/>
              <p:cNvSpPr>
                <a:spLocks noChangeArrowheads="1"/>
              </p:cNvSpPr>
              <p:nvPr/>
            </p:nvSpPr>
            <p:spPr bwMode="auto">
              <a:xfrm>
                <a:off x="1680" y="1648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3" name="Rectangle 103"/>
              <p:cNvSpPr>
                <a:spLocks noChangeArrowheads="1"/>
              </p:cNvSpPr>
              <p:nvPr/>
            </p:nvSpPr>
            <p:spPr bwMode="auto">
              <a:xfrm>
                <a:off x="4242" y="1648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4" name="Rectangle 104"/>
              <p:cNvSpPr>
                <a:spLocks noChangeArrowheads="1"/>
              </p:cNvSpPr>
              <p:nvPr/>
            </p:nvSpPr>
            <p:spPr bwMode="auto">
              <a:xfrm>
                <a:off x="839" y="1652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" name="Rectangle 105"/>
              <p:cNvSpPr>
                <a:spLocks noChangeArrowheads="1"/>
              </p:cNvSpPr>
              <p:nvPr/>
            </p:nvSpPr>
            <p:spPr bwMode="auto">
              <a:xfrm>
                <a:off x="1676" y="1652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" name="Rectangle 106"/>
              <p:cNvSpPr>
                <a:spLocks noChangeArrowheads="1"/>
              </p:cNvSpPr>
              <p:nvPr/>
            </p:nvSpPr>
            <p:spPr bwMode="auto">
              <a:xfrm>
                <a:off x="4242" y="1652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" name="Rectangle 107"/>
              <p:cNvSpPr>
                <a:spLocks noChangeArrowheads="1"/>
              </p:cNvSpPr>
              <p:nvPr/>
            </p:nvSpPr>
            <p:spPr bwMode="auto">
              <a:xfrm>
                <a:off x="884" y="1798"/>
                <a:ext cx="55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ContentSummary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108"/>
              <p:cNvSpPr>
                <a:spLocks noChangeArrowheads="1"/>
              </p:cNvSpPr>
              <p:nvPr/>
            </p:nvSpPr>
            <p:spPr bwMode="auto">
              <a:xfrm>
                <a:off x="1397" y="1798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Rectangle 109"/>
              <p:cNvSpPr>
                <a:spLocks noChangeArrowheads="1"/>
              </p:cNvSpPr>
              <p:nvPr/>
            </p:nvSpPr>
            <p:spPr bwMode="auto">
              <a:xfrm>
                <a:off x="1721" y="1806"/>
                <a:ext cx="61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用来存储一个目录或文件的内容摘要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Rectangle 110"/>
              <p:cNvSpPr>
                <a:spLocks noChangeArrowheads="1"/>
              </p:cNvSpPr>
              <p:nvPr/>
            </p:nvSpPr>
            <p:spPr bwMode="auto">
              <a:xfrm>
                <a:off x="2874" y="1799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1" name="Rectangle 111"/>
              <p:cNvSpPr>
                <a:spLocks noChangeArrowheads="1"/>
              </p:cNvSpPr>
              <p:nvPr/>
            </p:nvSpPr>
            <p:spPr bwMode="auto">
              <a:xfrm>
                <a:off x="839" y="1777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" name="Rectangle 112"/>
              <p:cNvSpPr>
                <a:spLocks noChangeArrowheads="1"/>
              </p:cNvSpPr>
              <p:nvPr/>
            </p:nvSpPr>
            <p:spPr bwMode="auto">
              <a:xfrm>
                <a:off x="843" y="1777"/>
                <a:ext cx="83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" name="Rectangle 113"/>
              <p:cNvSpPr>
                <a:spLocks noChangeArrowheads="1"/>
              </p:cNvSpPr>
              <p:nvPr/>
            </p:nvSpPr>
            <p:spPr bwMode="auto">
              <a:xfrm>
                <a:off x="1676" y="1777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" name="Rectangle 114"/>
              <p:cNvSpPr>
                <a:spLocks noChangeArrowheads="1"/>
              </p:cNvSpPr>
              <p:nvPr/>
            </p:nvSpPr>
            <p:spPr bwMode="auto">
              <a:xfrm>
                <a:off x="1680" y="1777"/>
                <a:ext cx="2562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" name="Rectangle 115"/>
              <p:cNvSpPr>
                <a:spLocks noChangeArrowheads="1"/>
              </p:cNvSpPr>
              <p:nvPr/>
            </p:nvSpPr>
            <p:spPr bwMode="auto">
              <a:xfrm>
                <a:off x="4242" y="1777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" name="Rectangle 116"/>
              <p:cNvSpPr>
                <a:spLocks noChangeArrowheads="1"/>
              </p:cNvSpPr>
              <p:nvPr/>
            </p:nvSpPr>
            <p:spPr bwMode="auto">
              <a:xfrm>
                <a:off x="839" y="1780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7" name="Rectangle 117"/>
              <p:cNvSpPr>
                <a:spLocks noChangeArrowheads="1"/>
              </p:cNvSpPr>
              <p:nvPr/>
            </p:nvSpPr>
            <p:spPr bwMode="auto">
              <a:xfrm>
                <a:off x="1676" y="1780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8" name="Rectangle 118"/>
              <p:cNvSpPr>
                <a:spLocks noChangeArrowheads="1"/>
              </p:cNvSpPr>
              <p:nvPr/>
            </p:nvSpPr>
            <p:spPr bwMode="auto">
              <a:xfrm>
                <a:off x="4242" y="1780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9" name="Rectangle 119"/>
              <p:cNvSpPr>
                <a:spLocks noChangeArrowheads="1"/>
              </p:cNvSpPr>
              <p:nvPr/>
            </p:nvSpPr>
            <p:spPr bwMode="auto">
              <a:xfrm>
                <a:off x="884" y="1926"/>
                <a:ext cx="44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FileChecksum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120"/>
              <p:cNvSpPr>
                <a:spLocks noChangeArrowheads="1"/>
              </p:cNvSpPr>
              <p:nvPr/>
            </p:nvSpPr>
            <p:spPr bwMode="auto">
              <a:xfrm>
                <a:off x="1285" y="1926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121"/>
              <p:cNvSpPr>
                <a:spLocks noChangeArrowheads="1"/>
              </p:cNvSpPr>
              <p:nvPr/>
            </p:nvSpPr>
            <p:spPr bwMode="auto">
              <a:xfrm>
                <a:off x="1721" y="1934"/>
                <a:ext cx="25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抽象类，代表</a:t>
                </a:r>
                <a:endParaRPr kumimoji="0" lang="zh-CN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122"/>
              <p:cNvSpPr>
                <a:spLocks noChangeArrowheads="1"/>
              </p:cNvSpPr>
              <p:nvPr/>
            </p:nvSpPr>
            <p:spPr bwMode="auto">
              <a:xfrm>
                <a:off x="2172" y="1927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123"/>
              <p:cNvSpPr>
                <a:spLocks noChangeArrowheads="1"/>
              </p:cNvSpPr>
              <p:nvPr/>
            </p:nvSpPr>
            <p:spPr bwMode="auto">
              <a:xfrm>
                <a:off x="2344" y="1934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文件的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124"/>
              <p:cNvSpPr>
                <a:spLocks noChangeArrowheads="1"/>
              </p:cNvSpPr>
              <p:nvPr/>
            </p:nvSpPr>
            <p:spPr bwMode="auto">
              <a:xfrm>
                <a:off x="2560" y="1934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校验和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125"/>
              <p:cNvSpPr>
                <a:spLocks noChangeArrowheads="1"/>
              </p:cNvSpPr>
              <p:nvPr/>
            </p:nvSpPr>
            <p:spPr bwMode="auto">
              <a:xfrm>
                <a:off x="2776" y="1927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6" name="Rectangle 126"/>
              <p:cNvSpPr>
                <a:spLocks noChangeArrowheads="1"/>
              </p:cNvSpPr>
              <p:nvPr/>
            </p:nvSpPr>
            <p:spPr bwMode="auto">
              <a:xfrm>
                <a:off x="839" y="190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7" name="Rectangle 127"/>
              <p:cNvSpPr>
                <a:spLocks noChangeArrowheads="1"/>
              </p:cNvSpPr>
              <p:nvPr/>
            </p:nvSpPr>
            <p:spPr bwMode="auto">
              <a:xfrm>
                <a:off x="843" y="1905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8" name="Rectangle 128"/>
              <p:cNvSpPr>
                <a:spLocks noChangeArrowheads="1"/>
              </p:cNvSpPr>
              <p:nvPr/>
            </p:nvSpPr>
            <p:spPr bwMode="auto">
              <a:xfrm>
                <a:off x="1676" y="190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9" name="Rectangle 129"/>
              <p:cNvSpPr>
                <a:spLocks noChangeArrowheads="1"/>
              </p:cNvSpPr>
              <p:nvPr/>
            </p:nvSpPr>
            <p:spPr bwMode="auto">
              <a:xfrm>
                <a:off x="1680" y="1905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0" name="Rectangle 130"/>
              <p:cNvSpPr>
                <a:spLocks noChangeArrowheads="1"/>
              </p:cNvSpPr>
              <p:nvPr/>
            </p:nvSpPr>
            <p:spPr bwMode="auto">
              <a:xfrm>
                <a:off x="4242" y="190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1" name="Rectangle 131"/>
              <p:cNvSpPr>
                <a:spLocks noChangeArrowheads="1"/>
              </p:cNvSpPr>
              <p:nvPr/>
            </p:nvSpPr>
            <p:spPr bwMode="auto">
              <a:xfrm>
                <a:off x="839" y="1909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2" name="Rectangle 132"/>
              <p:cNvSpPr>
                <a:spLocks noChangeArrowheads="1"/>
              </p:cNvSpPr>
              <p:nvPr/>
            </p:nvSpPr>
            <p:spPr bwMode="auto">
              <a:xfrm>
                <a:off x="1676" y="1909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3" name="Rectangle 133"/>
              <p:cNvSpPr>
                <a:spLocks noChangeArrowheads="1"/>
              </p:cNvSpPr>
              <p:nvPr/>
            </p:nvSpPr>
            <p:spPr bwMode="auto">
              <a:xfrm>
                <a:off x="4242" y="1909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4" name="Rectangle 134"/>
              <p:cNvSpPr>
                <a:spLocks noChangeArrowheads="1"/>
              </p:cNvSpPr>
              <p:nvPr/>
            </p:nvSpPr>
            <p:spPr bwMode="auto">
              <a:xfrm>
                <a:off x="884" y="2055"/>
                <a:ext cx="37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FileContext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Rectangle 135"/>
              <p:cNvSpPr>
                <a:spLocks noChangeArrowheads="1"/>
              </p:cNvSpPr>
              <p:nvPr/>
            </p:nvSpPr>
            <p:spPr bwMode="auto">
              <a:xfrm>
                <a:off x="1213" y="2055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6" name="Rectangle 136"/>
              <p:cNvSpPr>
                <a:spLocks noChangeArrowheads="1"/>
              </p:cNvSpPr>
              <p:nvPr/>
            </p:nvSpPr>
            <p:spPr bwMode="auto">
              <a:xfrm>
                <a:off x="1721" y="2063"/>
                <a:ext cx="252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该类提供访问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Rectangle 137"/>
              <p:cNvSpPr>
                <a:spLocks noChangeArrowheads="1"/>
              </p:cNvSpPr>
              <p:nvPr/>
            </p:nvSpPr>
            <p:spPr bwMode="auto">
              <a:xfrm>
                <a:off x="2172" y="2056"/>
                <a:ext cx="19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HDFS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Rectangle 138"/>
              <p:cNvSpPr>
                <a:spLocks noChangeArrowheads="1"/>
              </p:cNvSpPr>
              <p:nvPr/>
            </p:nvSpPr>
            <p:spPr bwMode="auto">
              <a:xfrm>
                <a:off x="2344" y="2063"/>
                <a:ext cx="575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文件系统的一系列操作方法，例如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9" name="Rectangle 139"/>
              <p:cNvSpPr>
                <a:spLocks noChangeArrowheads="1"/>
              </p:cNvSpPr>
              <p:nvPr/>
            </p:nvSpPr>
            <p:spPr bwMode="auto">
              <a:xfrm>
                <a:off x="3442" y="2056"/>
                <a:ext cx="223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create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0" name="Rectangle 140"/>
              <p:cNvSpPr>
                <a:spLocks noChangeArrowheads="1"/>
              </p:cNvSpPr>
              <p:nvPr/>
            </p:nvSpPr>
            <p:spPr bwMode="auto">
              <a:xfrm>
                <a:off x="3624" y="2063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1" name="Rectangle 141"/>
              <p:cNvSpPr>
                <a:spLocks noChangeArrowheads="1"/>
              </p:cNvSpPr>
              <p:nvPr/>
            </p:nvSpPr>
            <p:spPr bwMode="auto">
              <a:xfrm>
                <a:off x="3696" y="2056"/>
                <a:ext cx="18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open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2" name="Rectangle 142"/>
              <p:cNvSpPr>
                <a:spLocks noChangeArrowheads="1"/>
              </p:cNvSpPr>
              <p:nvPr/>
            </p:nvSpPr>
            <p:spPr bwMode="auto">
              <a:xfrm>
                <a:off x="3845" y="2063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3" name="Rectangle 143"/>
              <p:cNvSpPr>
                <a:spLocks noChangeArrowheads="1"/>
              </p:cNvSpPr>
              <p:nvPr/>
            </p:nvSpPr>
            <p:spPr bwMode="auto">
              <a:xfrm>
                <a:off x="3917" y="2056"/>
                <a:ext cx="12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list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4" name="Rectangle 144"/>
              <p:cNvSpPr>
                <a:spLocks noChangeArrowheads="1"/>
              </p:cNvSpPr>
              <p:nvPr/>
            </p:nvSpPr>
            <p:spPr bwMode="auto">
              <a:xfrm>
                <a:off x="4019" y="2063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文件。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5" name="Rectangle 145"/>
              <p:cNvSpPr>
                <a:spLocks noChangeArrowheads="1"/>
              </p:cNvSpPr>
              <p:nvPr/>
            </p:nvSpPr>
            <p:spPr bwMode="auto">
              <a:xfrm>
                <a:off x="4200" y="2056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6" name="Rectangle 146"/>
              <p:cNvSpPr>
                <a:spLocks noChangeArrowheads="1"/>
              </p:cNvSpPr>
              <p:nvPr/>
            </p:nvSpPr>
            <p:spPr bwMode="auto">
              <a:xfrm>
                <a:off x="839" y="203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7" name="Rectangle 147"/>
              <p:cNvSpPr>
                <a:spLocks noChangeArrowheads="1"/>
              </p:cNvSpPr>
              <p:nvPr/>
            </p:nvSpPr>
            <p:spPr bwMode="auto">
              <a:xfrm>
                <a:off x="843" y="2034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8" name="Rectangle 148"/>
              <p:cNvSpPr>
                <a:spLocks noChangeArrowheads="1"/>
              </p:cNvSpPr>
              <p:nvPr/>
            </p:nvSpPr>
            <p:spPr bwMode="auto">
              <a:xfrm>
                <a:off x="1676" y="203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9" name="Rectangle 149"/>
              <p:cNvSpPr>
                <a:spLocks noChangeArrowheads="1"/>
              </p:cNvSpPr>
              <p:nvPr/>
            </p:nvSpPr>
            <p:spPr bwMode="auto">
              <a:xfrm>
                <a:off x="1761" y="2052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0" name="Rectangle 150"/>
              <p:cNvSpPr>
                <a:spLocks noChangeArrowheads="1"/>
              </p:cNvSpPr>
              <p:nvPr/>
            </p:nvSpPr>
            <p:spPr bwMode="auto">
              <a:xfrm>
                <a:off x="4242" y="2034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1" name="Rectangle 151"/>
              <p:cNvSpPr>
                <a:spLocks noChangeArrowheads="1"/>
              </p:cNvSpPr>
              <p:nvPr/>
            </p:nvSpPr>
            <p:spPr bwMode="auto">
              <a:xfrm>
                <a:off x="839" y="203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2" name="Rectangle 152"/>
              <p:cNvSpPr>
                <a:spLocks noChangeArrowheads="1"/>
              </p:cNvSpPr>
              <p:nvPr/>
            </p:nvSpPr>
            <p:spPr bwMode="auto">
              <a:xfrm>
                <a:off x="1676" y="203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3" name="Rectangle 153"/>
              <p:cNvSpPr>
                <a:spLocks noChangeArrowheads="1"/>
              </p:cNvSpPr>
              <p:nvPr/>
            </p:nvSpPr>
            <p:spPr bwMode="auto">
              <a:xfrm>
                <a:off x="4242" y="2038"/>
                <a:ext cx="4" cy="1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4" name="Rectangle 154"/>
              <p:cNvSpPr>
                <a:spLocks noChangeArrowheads="1"/>
              </p:cNvSpPr>
              <p:nvPr/>
            </p:nvSpPr>
            <p:spPr bwMode="auto">
              <a:xfrm>
                <a:off x="884" y="2185"/>
                <a:ext cx="32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FileStatus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5" name="Rectangle 155"/>
              <p:cNvSpPr>
                <a:spLocks noChangeArrowheads="1"/>
              </p:cNvSpPr>
              <p:nvPr/>
            </p:nvSpPr>
            <p:spPr bwMode="auto">
              <a:xfrm>
                <a:off x="1166" y="2185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6" name="Rectangle 156"/>
              <p:cNvSpPr>
                <a:spLocks noChangeArrowheads="1"/>
              </p:cNvSpPr>
              <p:nvPr/>
            </p:nvSpPr>
            <p:spPr bwMode="auto">
              <a:xfrm>
                <a:off x="1721" y="2193"/>
                <a:ext cx="287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代表一个文件的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7" name="Rectangle 157"/>
              <p:cNvSpPr>
                <a:spLocks noChangeArrowheads="1"/>
              </p:cNvSpPr>
              <p:nvPr/>
            </p:nvSpPr>
            <p:spPr bwMode="auto">
              <a:xfrm>
                <a:off x="2225" y="2193"/>
                <a:ext cx="180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状态，为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8" name="Rectangle 158"/>
              <p:cNvSpPr>
                <a:spLocks noChangeArrowheads="1"/>
              </p:cNvSpPr>
              <p:nvPr/>
            </p:nvSpPr>
            <p:spPr bwMode="auto">
              <a:xfrm>
                <a:off x="2513" y="2193"/>
                <a:ext cx="143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客户端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9" name="Rectangle 159"/>
              <p:cNvSpPr>
                <a:spLocks noChangeArrowheads="1"/>
              </p:cNvSpPr>
              <p:nvPr/>
            </p:nvSpPr>
            <p:spPr bwMode="auto">
              <a:xfrm>
                <a:off x="2730" y="2193"/>
                <a:ext cx="180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提供相应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Rectangle 160"/>
              <p:cNvSpPr>
                <a:spLocks noChangeArrowheads="1"/>
              </p:cNvSpPr>
              <p:nvPr/>
            </p:nvSpPr>
            <p:spPr bwMode="auto">
              <a:xfrm>
                <a:off x="3018" y="2193"/>
                <a:ext cx="215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的操作接口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Rectangle 161"/>
              <p:cNvSpPr>
                <a:spLocks noChangeArrowheads="1"/>
              </p:cNvSpPr>
              <p:nvPr/>
            </p:nvSpPr>
            <p:spPr bwMode="auto">
              <a:xfrm>
                <a:off x="3378" y="2186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2" name="Rectangle 162"/>
              <p:cNvSpPr>
                <a:spLocks noChangeArrowheads="1"/>
              </p:cNvSpPr>
              <p:nvPr/>
            </p:nvSpPr>
            <p:spPr bwMode="auto">
              <a:xfrm>
                <a:off x="839" y="2163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" name="Rectangle 163"/>
              <p:cNvSpPr>
                <a:spLocks noChangeArrowheads="1"/>
              </p:cNvSpPr>
              <p:nvPr/>
            </p:nvSpPr>
            <p:spPr bwMode="auto">
              <a:xfrm>
                <a:off x="843" y="2163"/>
                <a:ext cx="83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4" name="Rectangle 164"/>
              <p:cNvSpPr>
                <a:spLocks noChangeArrowheads="1"/>
              </p:cNvSpPr>
              <p:nvPr/>
            </p:nvSpPr>
            <p:spPr bwMode="auto">
              <a:xfrm>
                <a:off x="1676" y="2163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5" name="Rectangle 165"/>
              <p:cNvSpPr>
                <a:spLocks noChangeArrowheads="1"/>
              </p:cNvSpPr>
              <p:nvPr/>
            </p:nvSpPr>
            <p:spPr bwMode="auto">
              <a:xfrm>
                <a:off x="1680" y="2163"/>
                <a:ext cx="2562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6" name="Rectangle 166"/>
              <p:cNvSpPr>
                <a:spLocks noChangeArrowheads="1"/>
              </p:cNvSpPr>
              <p:nvPr/>
            </p:nvSpPr>
            <p:spPr bwMode="auto">
              <a:xfrm>
                <a:off x="4242" y="2163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7" name="Rectangle 167"/>
              <p:cNvSpPr>
                <a:spLocks noChangeArrowheads="1"/>
              </p:cNvSpPr>
              <p:nvPr/>
            </p:nvSpPr>
            <p:spPr bwMode="auto">
              <a:xfrm>
                <a:off x="839" y="2166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8" name="Rectangle 168"/>
              <p:cNvSpPr>
                <a:spLocks noChangeArrowheads="1"/>
              </p:cNvSpPr>
              <p:nvPr/>
            </p:nvSpPr>
            <p:spPr bwMode="auto">
              <a:xfrm>
                <a:off x="1676" y="2166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9" name="Rectangle 169"/>
              <p:cNvSpPr>
                <a:spLocks noChangeArrowheads="1"/>
              </p:cNvSpPr>
              <p:nvPr/>
            </p:nvSpPr>
            <p:spPr bwMode="auto">
              <a:xfrm>
                <a:off x="4242" y="2166"/>
                <a:ext cx="4" cy="1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0" name="Rectangle 170"/>
              <p:cNvSpPr>
                <a:spLocks noChangeArrowheads="1"/>
              </p:cNvSpPr>
              <p:nvPr/>
            </p:nvSpPr>
            <p:spPr bwMode="auto">
              <a:xfrm>
                <a:off x="884" y="2313"/>
                <a:ext cx="35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1" name="Rectangle 171"/>
              <p:cNvSpPr>
                <a:spLocks noChangeArrowheads="1"/>
              </p:cNvSpPr>
              <p:nvPr/>
            </p:nvSpPr>
            <p:spPr bwMode="auto">
              <a:xfrm>
                <a:off x="1194" y="231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2" name="Rectangle 172"/>
              <p:cNvSpPr>
                <a:spLocks noChangeArrowheads="1"/>
              </p:cNvSpPr>
              <p:nvPr/>
            </p:nvSpPr>
            <p:spPr bwMode="auto">
              <a:xfrm>
                <a:off x="1721" y="2321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一个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3" name="Rectangle 173"/>
              <p:cNvSpPr>
                <a:spLocks noChangeArrowheads="1"/>
              </p:cNvSpPr>
              <p:nvPr/>
            </p:nvSpPr>
            <p:spPr bwMode="auto">
              <a:xfrm>
                <a:off x="1865" y="2321"/>
                <a:ext cx="287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通用文件系统的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4" name="Rectangle 174"/>
              <p:cNvSpPr>
                <a:spLocks noChangeArrowheads="1"/>
              </p:cNvSpPr>
              <p:nvPr/>
            </p:nvSpPr>
            <p:spPr bwMode="auto">
              <a:xfrm>
                <a:off x="2388" y="2314"/>
                <a:ext cx="13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API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5" name="Rectangle 175"/>
              <p:cNvSpPr>
                <a:spLocks noChangeArrowheads="1"/>
              </p:cNvSpPr>
              <p:nvPr/>
            </p:nvSpPr>
            <p:spPr bwMode="auto">
              <a:xfrm>
                <a:off x="2485" y="2321"/>
                <a:ext cx="900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，其实例代表客户端要访问的文件系统，它的直接派生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6" name="Rectangle 176"/>
              <p:cNvSpPr>
                <a:spLocks noChangeArrowheads="1"/>
              </p:cNvSpPr>
              <p:nvPr/>
            </p:nvSpPr>
            <p:spPr bwMode="auto">
              <a:xfrm>
                <a:off x="1721" y="2446"/>
                <a:ext cx="108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类有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Rectangle 177"/>
              <p:cNvSpPr>
                <a:spLocks noChangeArrowheads="1"/>
              </p:cNvSpPr>
              <p:nvPr/>
            </p:nvSpPr>
            <p:spPr bwMode="auto">
              <a:xfrm>
                <a:off x="1884" y="2439"/>
                <a:ext cx="50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FilterFileSystem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8" name="Rectangle 178"/>
              <p:cNvSpPr>
                <a:spLocks noChangeArrowheads="1"/>
              </p:cNvSpPr>
              <p:nvPr/>
            </p:nvSpPr>
            <p:spPr bwMode="auto">
              <a:xfrm>
                <a:off x="2344" y="2446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9" name="Rectangle 179"/>
              <p:cNvSpPr>
                <a:spLocks noChangeArrowheads="1"/>
              </p:cNvSpPr>
              <p:nvPr/>
            </p:nvSpPr>
            <p:spPr bwMode="auto">
              <a:xfrm>
                <a:off x="2402" y="2439"/>
                <a:ext cx="475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FTPFileSystem,</a:t>
                </a:r>
                <a:endParaRPr kumimoji="0" lang="zh-CN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0" name="Rectangle 180"/>
              <p:cNvSpPr>
                <a:spLocks noChangeArrowheads="1"/>
              </p:cNvSpPr>
              <p:nvPr/>
            </p:nvSpPr>
            <p:spPr bwMode="auto">
              <a:xfrm>
                <a:off x="2836" y="2446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1" name="Rectangle 181"/>
              <p:cNvSpPr>
                <a:spLocks noChangeArrowheads="1"/>
              </p:cNvSpPr>
              <p:nvPr/>
            </p:nvSpPr>
            <p:spPr bwMode="auto">
              <a:xfrm>
                <a:off x="2895" y="2439"/>
                <a:ext cx="13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NativeAzureFileSystem, NativeS3FileSystem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2" name="Rectangle 182"/>
              <p:cNvSpPr>
                <a:spLocks noChangeArrowheads="1"/>
              </p:cNvSpPr>
              <p:nvPr/>
            </p:nvSpPr>
            <p:spPr bwMode="auto">
              <a:xfrm>
                <a:off x="4164" y="2446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3" name="Rectangle 183"/>
              <p:cNvSpPr>
                <a:spLocks noChangeArrowheads="1"/>
              </p:cNvSpPr>
              <p:nvPr/>
            </p:nvSpPr>
            <p:spPr bwMode="auto">
              <a:xfrm>
                <a:off x="1721" y="2564"/>
                <a:ext cx="625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RawLocalFileSystem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4" name="Rectangle 184"/>
              <p:cNvSpPr>
                <a:spLocks noChangeArrowheads="1"/>
              </p:cNvSpPr>
              <p:nvPr/>
            </p:nvSpPr>
            <p:spPr bwMode="auto">
              <a:xfrm>
                <a:off x="2304" y="2571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5" name="Rectangle 185"/>
              <p:cNvSpPr>
                <a:spLocks noChangeArrowheads="1"/>
              </p:cNvSpPr>
              <p:nvPr/>
            </p:nvSpPr>
            <p:spPr bwMode="auto">
              <a:xfrm>
                <a:off x="2377" y="2564"/>
                <a:ext cx="422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S3FileSystem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Rectangle 186"/>
              <p:cNvSpPr>
                <a:spLocks noChangeArrowheads="1"/>
              </p:cNvSpPr>
              <p:nvPr/>
            </p:nvSpPr>
            <p:spPr bwMode="auto">
              <a:xfrm>
                <a:off x="2757" y="2571"/>
                <a:ext cx="7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Rectangle 187"/>
              <p:cNvSpPr>
                <a:spLocks noChangeArrowheads="1"/>
              </p:cNvSpPr>
              <p:nvPr/>
            </p:nvSpPr>
            <p:spPr bwMode="auto">
              <a:xfrm>
                <a:off x="2829" y="2564"/>
                <a:ext cx="497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ViewFileSystem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Rectangle 188"/>
              <p:cNvSpPr>
                <a:spLocks noChangeArrowheads="1"/>
              </p:cNvSpPr>
              <p:nvPr/>
            </p:nvSpPr>
            <p:spPr bwMode="auto">
              <a:xfrm>
                <a:off x="3283" y="2564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9" name="Rectangle 189"/>
              <p:cNvSpPr>
                <a:spLocks noChangeArrowheads="1"/>
              </p:cNvSpPr>
              <p:nvPr/>
            </p:nvSpPr>
            <p:spPr bwMode="auto">
              <a:xfrm>
                <a:off x="839" y="2292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0" name="Rectangle 190"/>
              <p:cNvSpPr>
                <a:spLocks noChangeArrowheads="1"/>
              </p:cNvSpPr>
              <p:nvPr/>
            </p:nvSpPr>
            <p:spPr bwMode="auto">
              <a:xfrm>
                <a:off x="843" y="2292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1" name="Rectangle 191"/>
              <p:cNvSpPr>
                <a:spLocks noChangeArrowheads="1"/>
              </p:cNvSpPr>
              <p:nvPr/>
            </p:nvSpPr>
            <p:spPr bwMode="auto">
              <a:xfrm>
                <a:off x="1676" y="2292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2" name="Rectangle 192"/>
              <p:cNvSpPr>
                <a:spLocks noChangeArrowheads="1"/>
              </p:cNvSpPr>
              <p:nvPr/>
            </p:nvSpPr>
            <p:spPr bwMode="auto">
              <a:xfrm>
                <a:off x="1680" y="2292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3" name="Rectangle 193"/>
              <p:cNvSpPr>
                <a:spLocks noChangeArrowheads="1"/>
              </p:cNvSpPr>
              <p:nvPr/>
            </p:nvSpPr>
            <p:spPr bwMode="auto">
              <a:xfrm>
                <a:off x="4242" y="2292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4" name="Rectangle 194"/>
              <p:cNvSpPr>
                <a:spLocks noChangeArrowheads="1"/>
              </p:cNvSpPr>
              <p:nvPr/>
            </p:nvSpPr>
            <p:spPr bwMode="auto">
              <a:xfrm>
                <a:off x="839" y="2296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5" name="Rectangle 195"/>
              <p:cNvSpPr>
                <a:spLocks noChangeArrowheads="1"/>
              </p:cNvSpPr>
              <p:nvPr/>
            </p:nvSpPr>
            <p:spPr bwMode="auto">
              <a:xfrm>
                <a:off x="1676" y="2296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6" name="Rectangle 196"/>
              <p:cNvSpPr>
                <a:spLocks noChangeArrowheads="1"/>
              </p:cNvSpPr>
              <p:nvPr/>
            </p:nvSpPr>
            <p:spPr bwMode="auto">
              <a:xfrm>
                <a:off x="4242" y="2296"/>
                <a:ext cx="4" cy="37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7" name="Rectangle 197"/>
              <p:cNvSpPr>
                <a:spLocks noChangeArrowheads="1"/>
              </p:cNvSpPr>
              <p:nvPr/>
            </p:nvSpPr>
            <p:spPr bwMode="auto">
              <a:xfrm>
                <a:off x="884" y="2692"/>
                <a:ext cx="245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FileUtil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8" name="Rectangle 198"/>
              <p:cNvSpPr>
                <a:spLocks noChangeArrowheads="1"/>
              </p:cNvSpPr>
              <p:nvPr/>
            </p:nvSpPr>
            <p:spPr bwMode="auto">
              <a:xfrm>
                <a:off x="1090" y="2692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9" name="Rectangle 199"/>
              <p:cNvSpPr>
                <a:spLocks noChangeArrowheads="1"/>
              </p:cNvSpPr>
              <p:nvPr/>
            </p:nvSpPr>
            <p:spPr bwMode="auto">
              <a:xfrm>
                <a:off x="1721" y="2700"/>
                <a:ext cx="431" cy="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一个文件处理工具的集合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0" name="Rectangle 200"/>
              <p:cNvSpPr>
                <a:spLocks noChangeArrowheads="1"/>
              </p:cNvSpPr>
              <p:nvPr/>
            </p:nvSpPr>
            <p:spPr bwMode="auto">
              <a:xfrm>
                <a:off x="2513" y="2693"/>
                <a:ext cx="54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9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</a:t>
                </a:r>
                <a:endParaRPr kumimoji="0" lang="zh-CN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Rectangle 201"/>
              <p:cNvSpPr>
                <a:spLocks noChangeArrowheads="1"/>
              </p:cNvSpPr>
              <p:nvPr/>
            </p:nvSpPr>
            <p:spPr bwMode="auto">
              <a:xfrm>
                <a:off x="839" y="2670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2" name="Rectangle 202"/>
              <p:cNvSpPr>
                <a:spLocks noChangeArrowheads="1"/>
              </p:cNvSpPr>
              <p:nvPr/>
            </p:nvSpPr>
            <p:spPr bwMode="auto">
              <a:xfrm>
                <a:off x="843" y="2670"/>
                <a:ext cx="83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3" name="Rectangle 203"/>
              <p:cNvSpPr>
                <a:spLocks noChangeArrowheads="1"/>
              </p:cNvSpPr>
              <p:nvPr/>
            </p:nvSpPr>
            <p:spPr bwMode="auto">
              <a:xfrm>
                <a:off x="1676" y="2670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4" name="Rectangle 204"/>
              <p:cNvSpPr>
                <a:spLocks noChangeArrowheads="1"/>
              </p:cNvSpPr>
              <p:nvPr/>
            </p:nvSpPr>
            <p:spPr bwMode="auto">
              <a:xfrm>
                <a:off x="1680" y="2670"/>
                <a:ext cx="2562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Rectangle 206"/>
            <p:cNvSpPr>
              <a:spLocks noChangeArrowheads="1"/>
            </p:cNvSpPr>
            <p:nvPr/>
          </p:nvSpPr>
          <p:spPr bwMode="auto">
            <a:xfrm>
              <a:off x="4242" y="2670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Rectangle 207"/>
            <p:cNvSpPr>
              <a:spLocks noChangeArrowheads="1"/>
            </p:cNvSpPr>
            <p:nvPr/>
          </p:nvSpPr>
          <p:spPr bwMode="auto">
            <a:xfrm>
              <a:off x="839" y="2674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208"/>
            <p:cNvSpPr>
              <a:spLocks noChangeArrowheads="1"/>
            </p:cNvSpPr>
            <p:nvPr/>
          </p:nvSpPr>
          <p:spPr bwMode="auto">
            <a:xfrm>
              <a:off x="1676" y="2674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209"/>
            <p:cNvSpPr>
              <a:spLocks noChangeArrowheads="1"/>
            </p:cNvSpPr>
            <p:nvPr/>
          </p:nvSpPr>
          <p:spPr bwMode="auto">
            <a:xfrm>
              <a:off x="4242" y="2674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210"/>
            <p:cNvSpPr>
              <a:spLocks noChangeArrowheads="1"/>
            </p:cNvSpPr>
            <p:nvPr/>
          </p:nvSpPr>
          <p:spPr bwMode="auto">
            <a:xfrm>
              <a:off x="884" y="2820"/>
              <a:ext cx="606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FSDataInputStream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211"/>
            <p:cNvSpPr>
              <a:spLocks noChangeArrowheads="1"/>
            </p:cNvSpPr>
            <p:nvPr/>
          </p:nvSpPr>
          <p:spPr bwMode="auto">
            <a:xfrm>
              <a:off x="1451" y="2820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212"/>
            <p:cNvSpPr>
              <a:spLocks noChangeArrowheads="1"/>
            </p:cNvSpPr>
            <p:nvPr/>
          </p:nvSpPr>
          <p:spPr bwMode="auto">
            <a:xfrm>
              <a:off x="1721" y="2828"/>
              <a:ext cx="647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对输入流中的输入缓冲进行打包的工具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213"/>
            <p:cNvSpPr>
              <a:spLocks noChangeArrowheads="1"/>
            </p:cNvSpPr>
            <p:nvPr/>
          </p:nvSpPr>
          <p:spPr bwMode="auto">
            <a:xfrm>
              <a:off x="2946" y="2821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214"/>
            <p:cNvSpPr>
              <a:spLocks noChangeArrowheads="1"/>
            </p:cNvSpPr>
            <p:nvPr/>
          </p:nvSpPr>
          <p:spPr bwMode="auto">
            <a:xfrm>
              <a:off x="839" y="279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215"/>
            <p:cNvSpPr>
              <a:spLocks noChangeArrowheads="1"/>
            </p:cNvSpPr>
            <p:nvPr/>
          </p:nvSpPr>
          <p:spPr bwMode="auto">
            <a:xfrm>
              <a:off x="843" y="2799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216"/>
            <p:cNvSpPr>
              <a:spLocks noChangeArrowheads="1"/>
            </p:cNvSpPr>
            <p:nvPr/>
          </p:nvSpPr>
          <p:spPr bwMode="auto">
            <a:xfrm>
              <a:off x="1676" y="279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217"/>
            <p:cNvSpPr>
              <a:spLocks noChangeArrowheads="1"/>
            </p:cNvSpPr>
            <p:nvPr/>
          </p:nvSpPr>
          <p:spPr bwMode="auto">
            <a:xfrm>
              <a:off x="1680" y="2799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218"/>
            <p:cNvSpPr>
              <a:spLocks noChangeArrowheads="1"/>
            </p:cNvSpPr>
            <p:nvPr/>
          </p:nvSpPr>
          <p:spPr bwMode="auto">
            <a:xfrm>
              <a:off x="4242" y="279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19"/>
            <p:cNvSpPr>
              <a:spLocks noChangeArrowheads="1"/>
            </p:cNvSpPr>
            <p:nvPr/>
          </p:nvSpPr>
          <p:spPr bwMode="auto">
            <a:xfrm>
              <a:off x="839" y="2803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20"/>
            <p:cNvSpPr>
              <a:spLocks noChangeArrowheads="1"/>
            </p:cNvSpPr>
            <p:nvPr/>
          </p:nvSpPr>
          <p:spPr bwMode="auto">
            <a:xfrm>
              <a:off x="1676" y="2803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21"/>
            <p:cNvSpPr>
              <a:spLocks noChangeArrowheads="1"/>
            </p:cNvSpPr>
            <p:nvPr/>
          </p:nvSpPr>
          <p:spPr bwMode="auto">
            <a:xfrm>
              <a:off x="4242" y="2803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222"/>
            <p:cNvSpPr>
              <a:spLocks noChangeArrowheads="1"/>
            </p:cNvSpPr>
            <p:nvPr/>
          </p:nvSpPr>
          <p:spPr bwMode="auto">
            <a:xfrm>
              <a:off x="884" y="2949"/>
              <a:ext cx="66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FSDataOutputStream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23"/>
            <p:cNvSpPr>
              <a:spLocks noChangeArrowheads="1"/>
            </p:cNvSpPr>
            <p:nvPr/>
          </p:nvSpPr>
          <p:spPr bwMode="auto">
            <a:xfrm>
              <a:off x="1503" y="2949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24"/>
            <p:cNvSpPr>
              <a:spLocks noChangeArrowheads="1"/>
            </p:cNvSpPr>
            <p:nvPr/>
          </p:nvSpPr>
          <p:spPr bwMode="auto">
            <a:xfrm>
              <a:off x="1721" y="2957"/>
              <a:ext cx="396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对输出流中的输出缓冲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25"/>
            <p:cNvSpPr>
              <a:spLocks noChangeArrowheads="1"/>
            </p:cNvSpPr>
            <p:nvPr/>
          </p:nvSpPr>
          <p:spPr bwMode="auto">
            <a:xfrm>
              <a:off x="2441" y="2950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26"/>
            <p:cNvSpPr>
              <a:spLocks noChangeArrowheads="1"/>
            </p:cNvSpPr>
            <p:nvPr/>
          </p:nvSpPr>
          <p:spPr bwMode="auto">
            <a:xfrm>
              <a:off x="2458" y="2957"/>
              <a:ext cx="287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进行打包的工具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27"/>
            <p:cNvSpPr>
              <a:spLocks noChangeArrowheads="1"/>
            </p:cNvSpPr>
            <p:nvPr/>
          </p:nvSpPr>
          <p:spPr bwMode="auto">
            <a:xfrm>
              <a:off x="2962" y="2950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28"/>
            <p:cNvSpPr>
              <a:spLocks noChangeArrowheads="1"/>
            </p:cNvSpPr>
            <p:nvPr/>
          </p:nvSpPr>
          <p:spPr bwMode="auto">
            <a:xfrm>
              <a:off x="839" y="2928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229"/>
            <p:cNvSpPr>
              <a:spLocks noChangeArrowheads="1"/>
            </p:cNvSpPr>
            <p:nvPr/>
          </p:nvSpPr>
          <p:spPr bwMode="auto">
            <a:xfrm>
              <a:off x="843" y="2928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230"/>
            <p:cNvSpPr>
              <a:spLocks noChangeArrowheads="1"/>
            </p:cNvSpPr>
            <p:nvPr/>
          </p:nvSpPr>
          <p:spPr bwMode="auto">
            <a:xfrm>
              <a:off x="1676" y="2928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Rectangle 231"/>
            <p:cNvSpPr>
              <a:spLocks noChangeArrowheads="1"/>
            </p:cNvSpPr>
            <p:nvPr/>
          </p:nvSpPr>
          <p:spPr bwMode="auto">
            <a:xfrm>
              <a:off x="1680" y="2928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232"/>
            <p:cNvSpPr>
              <a:spLocks noChangeArrowheads="1"/>
            </p:cNvSpPr>
            <p:nvPr/>
          </p:nvSpPr>
          <p:spPr bwMode="auto">
            <a:xfrm>
              <a:off x="4242" y="2928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233"/>
            <p:cNvSpPr>
              <a:spLocks noChangeArrowheads="1"/>
            </p:cNvSpPr>
            <p:nvPr/>
          </p:nvSpPr>
          <p:spPr bwMode="auto">
            <a:xfrm>
              <a:off x="839" y="2932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Rectangle 234"/>
            <p:cNvSpPr>
              <a:spLocks noChangeArrowheads="1"/>
            </p:cNvSpPr>
            <p:nvPr/>
          </p:nvSpPr>
          <p:spPr bwMode="auto">
            <a:xfrm>
              <a:off x="1676" y="2932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235"/>
            <p:cNvSpPr>
              <a:spLocks noChangeArrowheads="1"/>
            </p:cNvSpPr>
            <p:nvPr/>
          </p:nvSpPr>
          <p:spPr bwMode="auto">
            <a:xfrm>
              <a:off x="4242" y="2932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Rectangle 236"/>
            <p:cNvSpPr>
              <a:spLocks noChangeArrowheads="1"/>
            </p:cNvSpPr>
            <p:nvPr/>
          </p:nvSpPr>
          <p:spPr bwMode="auto">
            <a:xfrm>
              <a:off x="884" y="3078"/>
              <a:ext cx="52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FsServerDefaults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37"/>
            <p:cNvSpPr>
              <a:spLocks noChangeArrowheads="1"/>
            </p:cNvSpPr>
            <p:nvPr/>
          </p:nvSpPr>
          <p:spPr bwMode="auto">
            <a:xfrm>
              <a:off x="1373" y="3078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38"/>
            <p:cNvSpPr>
              <a:spLocks noChangeArrowheads="1"/>
            </p:cNvSpPr>
            <p:nvPr/>
          </p:nvSpPr>
          <p:spPr bwMode="auto">
            <a:xfrm>
              <a:off x="1721" y="3086"/>
              <a:ext cx="684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为客户端提供服务器的各配置项的默认值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39"/>
            <p:cNvSpPr>
              <a:spLocks noChangeArrowheads="1"/>
            </p:cNvSpPr>
            <p:nvPr/>
          </p:nvSpPr>
          <p:spPr bwMode="auto">
            <a:xfrm>
              <a:off x="3018" y="3079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40"/>
            <p:cNvSpPr>
              <a:spLocks noChangeArrowheads="1"/>
            </p:cNvSpPr>
            <p:nvPr/>
          </p:nvSpPr>
          <p:spPr bwMode="auto">
            <a:xfrm>
              <a:off x="839" y="3056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241"/>
            <p:cNvSpPr>
              <a:spLocks noChangeArrowheads="1"/>
            </p:cNvSpPr>
            <p:nvPr/>
          </p:nvSpPr>
          <p:spPr bwMode="auto">
            <a:xfrm>
              <a:off x="843" y="3056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242"/>
            <p:cNvSpPr>
              <a:spLocks noChangeArrowheads="1"/>
            </p:cNvSpPr>
            <p:nvPr/>
          </p:nvSpPr>
          <p:spPr bwMode="auto">
            <a:xfrm>
              <a:off x="1676" y="3056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Rectangle 243"/>
            <p:cNvSpPr>
              <a:spLocks noChangeArrowheads="1"/>
            </p:cNvSpPr>
            <p:nvPr/>
          </p:nvSpPr>
          <p:spPr bwMode="auto">
            <a:xfrm>
              <a:off x="1680" y="3056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Rectangle 244"/>
            <p:cNvSpPr>
              <a:spLocks noChangeArrowheads="1"/>
            </p:cNvSpPr>
            <p:nvPr/>
          </p:nvSpPr>
          <p:spPr bwMode="auto">
            <a:xfrm>
              <a:off x="4242" y="3056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Rectangle 245"/>
            <p:cNvSpPr>
              <a:spLocks noChangeArrowheads="1"/>
            </p:cNvSpPr>
            <p:nvPr/>
          </p:nvSpPr>
          <p:spPr bwMode="auto">
            <a:xfrm>
              <a:off x="839" y="3060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246"/>
            <p:cNvSpPr>
              <a:spLocks noChangeArrowheads="1"/>
            </p:cNvSpPr>
            <p:nvPr/>
          </p:nvSpPr>
          <p:spPr bwMode="auto">
            <a:xfrm>
              <a:off x="1676" y="3060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247"/>
            <p:cNvSpPr>
              <a:spLocks noChangeArrowheads="1"/>
            </p:cNvSpPr>
            <p:nvPr/>
          </p:nvSpPr>
          <p:spPr bwMode="auto">
            <a:xfrm>
              <a:off x="4242" y="3060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Rectangle 248"/>
            <p:cNvSpPr>
              <a:spLocks noChangeArrowheads="1"/>
            </p:cNvSpPr>
            <p:nvPr/>
          </p:nvSpPr>
          <p:spPr bwMode="auto">
            <a:xfrm>
              <a:off x="884" y="3207"/>
              <a:ext cx="27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FsStatus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249"/>
            <p:cNvSpPr>
              <a:spLocks noChangeArrowheads="1"/>
            </p:cNvSpPr>
            <p:nvPr/>
          </p:nvSpPr>
          <p:spPr bwMode="auto">
            <a:xfrm>
              <a:off x="1124" y="3207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250"/>
            <p:cNvSpPr>
              <a:spLocks noChangeArrowheads="1"/>
            </p:cNvSpPr>
            <p:nvPr/>
          </p:nvSpPr>
          <p:spPr bwMode="auto">
            <a:xfrm>
              <a:off x="1721" y="3215"/>
              <a:ext cx="972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代表一个文件系统的状态，包括容量、剩余空间和已用空间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51"/>
            <p:cNvSpPr>
              <a:spLocks noChangeArrowheads="1"/>
            </p:cNvSpPr>
            <p:nvPr/>
          </p:nvSpPr>
          <p:spPr bwMode="auto">
            <a:xfrm>
              <a:off x="3594" y="3208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252"/>
            <p:cNvSpPr>
              <a:spLocks noChangeArrowheads="1"/>
            </p:cNvSpPr>
            <p:nvPr/>
          </p:nvSpPr>
          <p:spPr bwMode="auto">
            <a:xfrm>
              <a:off x="839" y="318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Rectangle 253"/>
            <p:cNvSpPr>
              <a:spLocks noChangeArrowheads="1"/>
            </p:cNvSpPr>
            <p:nvPr/>
          </p:nvSpPr>
          <p:spPr bwMode="auto">
            <a:xfrm>
              <a:off x="843" y="3185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Rectangle 254"/>
            <p:cNvSpPr>
              <a:spLocks noChangeArrowheads="1"/>
            </p:cNvSpPr>
            <p:nvPr/>
          </p:nvSpPr>
          <p:spPr bwMode="auto">
            <a:xfrm>
              <a:off x="1676" y="318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Rectangle 255"/>
            <p:cNvSpPr>
              <a:spLocks noChangeArrowheads="1"/>
            </p:cNvSpPr>
            <p:nvPr/>
          </p:nvSpPr>
          <p:spPr bwMode="auto">
            <a:xfrm>
              <a:off x="1680" y="3185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Rectangle 256"/>
            <p:cNvSpPr>
              <a:spLocks noChangeArrowheads="1"/>
            </p:cNvSpPr>
            <p:nvPr/>
          </p:nvSpPr>
          <p:spPr bwMode="auto">
            <a:xfrm>
              <a:off x="4242" y="318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Rectangle 257"/>
            <p:cNvSpPr>
              <a:spLocks noChangeArrowheads="1"/>
            </p:cNvSpPr>
            <p:nvPr/>
          </p:nvSpPr>
          <p:spPr bwMode="auto">
            <a:xfrm>
              <a:off x="839" y="3189"/>
              <a:ext cx="4" cy="12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Rectangle 258"/>
            <p:cNvSpPr>
              <a:spLocks noChangeArrowheads="1"/>
            </p:cNvSpPr>
            <p:nvPr/>
          </p:nvSpPr>
          <p:spPr bwMode="auto">
            <a:xfrm>
              <a:off x="1676" y="3189"/>
              <a:ext cx="4" cy="12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Rectangle 259"/>
            <p:cNvSpPr>
              <a:spLocks noChangeArrowheads="1"/>
            </p:cNvSpPr>
            <p:nvPr/>
          </p:nvSpPr>
          <p:spPr bwMode="auto">
            <a:xfrm>
              <a:off x="4242" y="3189"/>
              <a:ext cx="4" cy="12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260"/>
            <p:cNvSpPr>
              <a:spLocks noChangeArrowheads="1"/>
            </p:cNvSpPr>
            <p:nvPr/>
          </p:nvSpPr>
          <p:spPr bwMode="auto">
            <a:xfrm>
              <a:off x="884" y="3336"/>
              <a:ext cx="4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HdfsVolumeId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261"/>
            <p:cNvSpPr>
              <a:spLocks noChangeArrowheads="1"/>
            </p:cNvSpPr>
            <p:nvPr/>
          </p:nvSpPr>
          <p:spPr bwMode="auto">
            <a:xfrm>
              <a:off x="1296" y="3336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262"/>
            <p:cNvSpPr>
              <a:spLocks noChangeArrowheads="1"/>
            </p:cNvSpPr>
            <p:nvPr/>
          </p:nvSpPr>
          <p:spPr bwMode="auto">
            <a:xfrm>
              <a:off x="1721" y="3337"/>
              <a:ext cx="19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HDFS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263"/>
            <p:cNvSpPr>
              <a:spLocks noChangeArrowheads="1"/>
            </p:cNvSpPr>
            <p:nvPr/>
          </p:nvSpPr>
          <p:spPr bwMode="auto">
            <a:xfrm>
              <a:off x="1893" y="3344"/>
              <a:ext cx="143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的卷的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264"/>
            <p:cNvSpPr>
              <a:spLocks noChangeArrowheads="1"/>
            </p:cNvSpPr>
            <p:nvPr/>
          </p:nvSpPr>
          <p:spPr bwMode="auto">
            <a:xfrm>
              <a:off x="2128" y="3337"/>
              <a:ext cx="10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ID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265"/>
            <p:cNvSpPr>
              <a:spLocks noChangeArrowheads="1"/>
            </p:cNvSpPr>
            <p:nvPr/>
          </p:nvSpPr>
          <p:spPr bwMode="auto">
            <a:xfrm>
              <a:off x="2190" y="3344"/>
              <a:ext cx="359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，能用来区别在一个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266"/>
            <p:cNvSpPr>
              <a:spLocks noChangeArrowheads="1"/>
            </p:cNvSpPr>
            <p:nvPr/>
          </p:nvSpPr>
          <p:spPr bwMode="auto">
            <a:xfrm>
              <a:off x="2838" y="334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267"/>
            <p:cNvSpPr>
              <a:spLocks noChangeArrowheads="1"/>
            </p:cNvSpPr>
            <p:nvPr/>
          </p:nvSpPr>
          <p:spPr bwMode="auto">
            <a:xfrm>
              <a:off x="2848" y="3344"/>
              <a:ext cx="575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数据节点上的数据目录之间的差异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268"/>
            <p:cNvSpPr>
              <a:spLocks noChangeArrowheads="1"/>
            </p:cNvSpPr>
            <p:nvPr/>
          </p:nvSpPr>
          <p:spPr bwMode="auto">
            <a:xfrm>
              <a:off x="3990" y="3337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269"/>
            <p:cNvSpPr>
              <a:spLocks noChangeArrowheads="1"/>
            </p:cNvSpPr>
            <p:nvPr/>
          </p:nvSpPr>
          <p:spPr bwMode="auto">
            <a:xfrm>
              <a:off x="2838" y="3388"/>
              <a:ext cx="72" cy="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Rectangle 270"/>
            <p:cNvSpPr>
              <a:spLocks noChangeArrowheads="1"/>
            </p:cNvSpPr>
            <p:nvPr/>
          </p:nvSpPr>
          <p:spPr bwMode="auto">
            <a:xfrm>
              <a:off x="839" y="331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Rectangle 271"/>
            <p:cNvSpPr>
              <a:spLocks noChangeArrowheads="1"/>
            </p:cNvSpPr>
            <p:nvPr/>
          </p:nvSpPr>
          <p:spPr bwMode="auto">
            <a:xfrm>
              <a:off x="843" y="3315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Rectangle 272"/>
            <p:cNvSpPr>
              <a:spLocks noChangeArrowheads="1"/>
            </p:cNvSpPr>
            <p:nvPr/>
          </p:nvSpPr>
          <p:spPr bwMode="auto">
            <a:xfrm>
              <a:off x="1676" y="331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Rectangle 273"/>
            <p:cNvSpPr>
              <a:spLocks noChangeArrowheads="1"/>
            </p:cNvSpPr>
            <p:nvPr/>
          </p:nvSpPr>
          <p:spPr bwMode="auto">
            <a:xfrm>
              <a:off x="1680" y="3315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Rectangle 274"/>
            <p:cNvSpPr>
              <a:spLocks noChangeArrowheads="1"/>
            </p:cNvSpPr>
            <p:nvPr/>
          </p:nvSpPr>
          <p:spPr bwMode="auto">
            <a:xfrm>
              <a:off x="4242" y="3315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Rectangle 275"/>
            <p:cNvSpPr>
              <a:spLocks noChangeArrowheads="1"/>
            </p:cNvSpPr>
            <p:nvPr/>
          </p:nvSpPr>
          <p:spPr bwMode="auto">
            <a:xfrm>
              <a:off x="839" y="3319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Rectangle 276"/>
            <p:cNvSpPr>
              <a:spLocks noChangeArrowheads="1"/>
            </p:cNvSpPr>
            <p:nvPr/>
          </p:nvSpPr>
          <p:spPr bwMode="auto">
            <a:xfrm>
              <a:off x="1676" y="3319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277"/>
            <p:cNvSpPr>
              <a:spLocks noChangeArrowheads="1"/>
            </p:cNvSpPr>
            <p:nvPr/>
          </p:nvSpPr>
          <p:spPr bwMode="auto">
            <a:xfrm>
              <a:off x="4242" y="3319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Rectangle 278"/>
            <p:cNvSpPr>
              <a:spLocks noChangeArrowheads="1"/>
            </p:cNvSpPr>
            <p:nvPr/>
          </p:nvSpPr>
          <p:spPr bwMode="auto">
            <a:xfrm>
              <a:off x="884" y="3465"/>
              <a:ext cx="50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LocalFileSystem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279"/>
            <p:cNvSpPr>
              <a:spLocks noChangeArrowheads="1"/>
            </p:cNvSpPr>
            <p:nvPr/>
          </p:nvSpPr>
          <p:spPr bwMode="auto">
            <a:xfrm>
              <a:off x="1343" y="3465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280"/>
            <p:cNvSpPr>
              <a:spLocks noChangeArrowheads="1"/>
            </p:cNvSpPr>
            <p:nvPr/>
          </p:nvSpPr>
          <p:spPr bwMode="auto">
            <a:xfrm>
              <a:off x="1721" y="3473"/>
              <a:ext cx="108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封装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281"/>
            <p:cNvSpPr>
              <a:spLocks noChangeArrowheads="1"/>
            </p:cNvSpPr>
            <p:nvPr/>
          </p:nvSpPr>
          <p:spPr bwMode="auto">
            <a:xfrm>
              <a:off x="1865" y="3473"/>
              <a:ext cx="684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了针对本地文件系统的一些操作，例如：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282"/>
            <p:cNvSpPr>
              <a:spLocks noChangeArrowheads="1"/>
            </p:cNvSpPr>
            <p:nvPr/>
          </p:nvSpPr>
          <p:spPr bwMode="auto">
            <a:xfrm>
              <a:off x="3094" y="3466"/>
              <a:ext cx="583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copyFromLocalFile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283"/>
            <p:cNvSpPr>
              <a:spLocks noChangeArrowheads="1"/>
            </p:cNvSpPr>
            <p:nvPr/>
          </p:nvSpPr>
          <p:spPr bwMode="auto">
            <a:xfrm>
              <a:off x="3654" y="3473"/>
              <a:ext cx="71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284"/>
            <p:cNvSpPr>
              <a:spLocks noChangeArrowheads="1"/>
            </p:cNvSpPr>
            <p:nvPr/>
          </p:nvSpPr>
          <p:spPr bwMode="auto">
            <a:xfrm>
              <a:off x="3744" y="3466"/>
              <a:ext cx="50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copyToLocalFile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Rectangle 285"/>
            <p:cNvSpPr>
              <a:spLocks noChangeArrowheads="1"/>
            </p:cNvSpPr>
            <p:nvPr/>
          </p:nvSpPr>
          <p:spPr bwMode="auto">
            <a:xfrm>
              <a:off x="4200" y="3466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" name="Rectangle 286"/>
            <p:cNvSpPr>
              <a:spLocks noChangeArrowheads="1"/>
            </p:cNvSpPr>
            <p:nvPr/>
          </p:nvSpPr>
          <p:spPr bwMode="auto">
            <a:xfrm>
              <a:off x="839" y="3443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Rectangle 287"/>
            <p:cNvSpPr>
              <a:spLocks noChangeArrowheads="1"/>
            </p:cNvSpPr>
            <p:nvPr/>
          </p:nvSpPr>
          <p:spPr bwMode="auto">
            <a:xfrm>
              <a:off x="843" y="3443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Rectangle 288"/>
            <p:cNvSpPr>
              <a:spLocks noChangeArrowheads="1"/>
            </p:cNvSpPr>
            <p:nvPr/>
          </p:nvSpPr>
          <p:spPr bwMode="auto">
            <a:xfrm>
              <a:off x="1676" y="3443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Rectangle 289"/>
            <p:cNvSpPr>
              <a:spLocks noChangeArrowheads="1"/>
            </p:cNvSpPr>
            <p:nvPr/>
          </p:nvSpPr>
          <p:spPr bwMode="auto">
            <a:xfrm>
              <a:off x="1680" y="3443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Rectangle 290"/>
            <p:cNvSpPr>
              <a:spLocks noChangeArrowheads="1"/>
            </p:cNvSpPr>
            <p:nvPr/>
          </p:nvSpPr>
          <p:spPr bwMode="auto">
            <a:xfrm>
              <a:off x="4242" y="3443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Rectangle 291"/>
            <p:cNvSpPr>
              <a:spLocks noChangeArrowheads="1"/>
            </p:cNvSpPr>
            <p:nvPr/>
          </p:nvSpPr>
          <p:spPr bwMode="auto">
            <a:xfrm>
              <a:off x="839" y="3447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Rectangle 292"/>
            <p:cNvSpPr>
              <a:spLocks noChangeArrowheads="1"/>
            </p:cNvSpPr>
            <p:nvPr/>
          </p:nvSpPr>
          <p:spPr bwMode="auto">
            <a:xfrm>
              <a:off x="1676" y="3447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Rectangle 293"/>
            <p:cNvSpPr>
              <a:spLocks noChangeArrowheads="1"/>
            </p:cNvSpPr>
            <p:nvPr/>
          </p:nvSpPr>
          <p:spPr bwMode="auto">
            <a:xfrm>
              <a:off x="4242" y="3447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Rectangle 294"/>
            <p:cNvSpPr>
              <a:spLocks noChangeArrowheads="1"/>
            </p:cNvSpPr>
            <p:nvPr/>
          </p:nvSpPr>
          <p:spPr bwMode="auto">
            <a:xfrm>
              <a:off x="884" y="3593"/>
              <a:ext cx="55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LocatedFileStatus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295"/>
            <p:cNvSpPr>
              <a:spLocks noChangeArrowheads="1"/>
            </p:cNvSpPr>
            <p:nvPr/>
          </p:nvSpPr>
          <p:spPr bwMode="auto">
            <a:xfrm>
              <a:off x="1395" y="3593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296"/>
            <p:cNvSpPr>
              <a:spLocks noChangeArrowheads="1"/>
            </p:cNvSpPr>
            <p:nvPr/>
          </p:nvSpPr>
          <p:spPr bwMode="auto">
            <a:xfrm>
              <a:off x="1721" y="3601"/>
              <a:ext cx="180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定义一个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297"/>
            <p:cNvSpPr>
              <a:spLocks noChangeArrowheads="1"/>
            </p:cNvSpPr>
            <p:nvPr/>
          </p:nvSpPr>
          <p:spPr bwMode="auto">
            <a:xfrm>
              <a:off x="2009" y="3594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298"/>
            <p:cNvSpPr>
              <a:spLocks noChangeArrowheads="1"/>
            </p:cNvSpPr>
            <p:nvPr/>
          </p:nvSpPr>
          <p:spPr bwMode="auto">
            <a:xfrm>
              <a:off x="2046" y="3594"/>
              <a:ext cx="337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FileStatus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299"/>
            <p:cNvSpPr>
              <a:spLocks noChangeArrowheads="1"/>
            </p:cNvSpPr>
            <p:nvPr/>
          </p:nvSpPr>
          <p:spPr bwMode="auto">
            <a:xfrm>
              <a:off x="2364" y="3601"/>
              <a:ext cx="287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，封装一个文件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300"/>
            <p:cNvSpPr>
              <a:spLocks noChangeArrowheads="1"/>
            </p:cNvSpPr>
            <p:nvPr/>
          </p:nvSpPr>
          <p:spPr bwMode="auto">
            <a:xfrm>
              <a:off x="2868" y="3601"/>
              <a:ext cx="108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的各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301"/>
            <p:cNvSpPr>
              <a:spLocks noChangeArrowheads="1"/>
            </p:cNvSpPr>
            <p:nvPr/>
          </p:nvSpPr>
          <p:spPr bwMode="auto">
            <a:xfrm>
              <a:off x="3012" y="3601"/>
              <a:ext cx="71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块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302"/>
            <p:cNvSpPr>
              <a:spLocks noChangeArrowheads="1"/>
            </p:cNvSpPr>
            <p:nvPr/>
          </p:nvSpPr>
          <p:spPr bwMode="auto">
            <a:xfrm>
              <a:off x="3084" y="3601"/>
              <a:ext cx="108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对应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303"/>
            <p:cNvSpPr>
              <a:spLocks noChangeArrowheads="1"/>
            </p:cNvSpPr>
            <p:nvPr/>
          </p:nvSpPr>
          <p:spPr bwMode="auto">
            <a:xfrm>
              <a:off x="3228" y="3601"/>
              <a:ext cx="143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的位置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" name="Rectangle 304"/>
            <p:cNvSpPr>
              <a:spLocks noChangeArrowheads="1"/>
            </p:cNvSpPr>
            <p:nvPr/>
          </p:nvSpPr>
          <p:spPr bwMode="auto">
            <a:xfrm>
              <a:off x="3444" y="3594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Rectangle 305"/>
            <p:cNvSpPr>
              <a:spLocks noChangeArrowheads="1"/>
            </p:cNvSpPr>
            <p:nvPr/>
          </p:nvSpPr>
          <p:spPr bwMode="auto">
            <a:xfrm>
              <a:off x="839" y="3572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Rectangle 306"/>
            <p:cNvSpPr>
              <a:spLocks noChangeArrowheads="1"/>
            </p:cNvSpPr>
            <p:nvPr/>
          </p:nvSpPr>
          <p:spPr bwMode="auto">
            <a:xfrm>
              <a:off x="843" y="3572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Rectangle 307"/>
            <p:cNvSpPr>
              <a:spLocks noChangeArrowheads="1"/>
            </p:cNvSpPr>
            <p:nvPr/>
          </p:nvSpPr>
          <p:spPr bwMode="auto">
            <a:xfrm>
              <a:off x="1676" y="3572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Rectangle 308"/>
            <p:cNvSpPr>
              <a:spLocks noChangeArrowheads="1"/>
            </p:cNvSpPr>
            <p:nvPr/>
          </p:nvSpPr>
          <p:spPr bwMode="auto">
            <a:xfrm>
              <a:off x="1680" y="3572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Rectangle 309"/>
            <p:cNvSpPr>
              <a:spLocks noChangeArrowheads="1"/>
            </p:cNvSpPr>
            <p:nvPr/>
          </p:nvSpPr>
          <p:spPr bwMode="auto">
            <a:xfrm>
              <a:off x="4242" y="3572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Rectangle 310"/>
            <p:cNvSpPr>
              <a:spLocks noChangeArrowheads="1"/>
            </p:cNvSpPr>
            <p:nvPr/>
          </p:nvSpPr>
          <p:spPr bwMode="auto">
            <a:xfrm>
              <a:off x="839" y="3576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Rectangle 311"/>
            <p:cNvSpPr>
              <a:spLocks noChangeArrowheads="1"/>
            </p:cNvSpPr>
            <p:nvPr/>
          </p:nvSpPr>
          <p:spPr bwMode="auto">
            <a:xfrm>
              <a:off x="1676" y="3576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Rectangle 312"/>
            <p:cNvSpPr>
              <a:spLocks noChangeArrowheads="1"/>
            </p:cNvSpPr>
            <p:nvPr/>
          </p:nvSpPr>
          <p:spPr bwMode="auto">
            <a:xfrm>
              <a:off x="4242" y="3576"/>
              <a:ext cx="4" cy="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Rectangle 313"/>
            <p:cNvSpPr>
              <a:spLocks noChangeArrowheads="1"/>
            </p:cNvSpPr>
            <p:nvPr/>
          </p:nvSpPr>
          <p:spPr bwMode="auto">
            <a:xfrm>
              <a:off x="884" y="3722"/>
              <a:ext cx="17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Path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314"/>
            <p:cNvSpPr>
              <a:spLocks noChangeArrowheads="1"/>
            </p:cNvSpPr>
            <p:nvPr/>
          </p:nvSpPr>
          <p:spPr bwMode="auto">
            <a:xfrm>
              <a:off x="1016" y="3722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315"/>
            <p:cNvSpPr>
              <a:spLocks noChangeArrowheads="1"/>
            </p:cNvSpPr>
            <p:nvPr/>
          </p:nvSpPr>
          <p:spPr bwMode="auto">
            <a:xfrm>
              <a:off x="1721" y="3730"/>
              <a:ext cx="396" cy="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一个文件或目录的路径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316"/>
            <p:cNvSpPr>
              <a:spLocks noChangeArrowheads="1"/>
            </p:cNvSpPr>
            <p:nvPr/>
          </p:nvSpPr>
          <p:spPr bwMode="auto">
            <a:xfrm>
              <a:off x="2441" y="3723"/>
              <a:ext cx="54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317"/>
            <p:cNvSpPr>
              <a:spLocks noChangeArrowheads="1"/>
            </p:cNvSpPr>
            <p:nvPr/>
          </p:nvSpPr>
          <p:spPr bwMode="auto">
            <a:xfrm>
              <a:off x="839" y="3701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Rectangle 318"/>
            <p:cNvSpPr>
              <a:spLocks noChangeArrowheads="1"/>
            </p:cNvSpPr>
            <p:nvPr/>
          </p:nvSpPr>
          <p:spPr bwMode="auto">
            <a:xfrm>
              <a:off x="843" y="3701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Rectangle 319"/>
            <p:cNvSpPr>
              <a:spLocks noChangeArrowheads="1"/>
            </p:cNvSpPr>
            <p:nvPr/>
          </p:nvSpPr>
          <p:spPr bwMode="auto">
            <a:xfrm>
              <a:off x="1676" y="3701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Rectangle 320"/>
            <p:cNvSpPr>
              <a:spLocks noChangeArrowheads="1"/>
            </p:cNvSpPr>
            <p:nvPr/>
          </p:nvSpPr>
          <p:spPr bwMode="auto">
            <a:xfrm>
              <a:off x="1680" y="3701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Rectangle 321"/>
            <p:cNvSpPr>
              <a:spLocks noChangeArrowheads="1"/>
            </p:cNvSpPr>
            <p:nvPr/>
          </p:nvSpPr>
          <p:spPr bwMode="auto">
            <a:xfrm>
              <a:off x="4242" y="3701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Rectangle 322"/>
            <p:cNvSpPr>
              <a:spLocks noChangeArrowheads="1"/>
            </p:cNvSpPr>
            <p:nvPr/>
          </p:nvSpPr>
          <p:spPr bwMode="auto">
            <a:xfrm>
              <a:off x="839" y="3705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Rectangle 323"/>
            <p:cNvSpPr>
              <a:spLocks noChangeArrowheads="1"/>
            </p:cNvSpPr>
            <p:nvPr/>
          </p:nvSpPr>
          <p:spPr bwMode="auto">
            <a:xfrm>
              <a:off x="839" y="382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324"/>
            <p:cNvSpPr>
              <a:spLocks noChangeArrowheads="1"/>
            </p:cNvSpPr>
            <p:nvPr/>
          </p:nvSpPr>
          <p:spPr bwMode="auto">
            <a:xfrm>
              <a:off x="839" y="382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Rectangle 325"/>
            <p:cNvSpPr>
              <a:spLocks noChangeArrowheads="1"/>
            </p:cNvSpPr>
            <p:nvPr/>
          </p:nvSpPr>
          <p:spPr bwMode="auto">
            <a:xfrm>
              <a:off x="843" y="3829"/>
              <a:ext cx="833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326"/>
            <p:cNvSpPr>
              <a:spLocks noChangeArrowheads="1"/>
            </p:cNvSpPr>
            <p:nvPr/>
          </p:nvSpPr>
          <p:spPr bwMode="auto">
            <a:xfrm>
              <a:off x="1676" y="3705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Rectangle 327"/>
            <p:cNvSpPr>
              <a:spLocks noChangeArrowheads="1"/>
            </p:cNvSpPr>
            <p:nvPr/>
          </p:nvSpPr>
          <p:spPr bwMode="auto">
            <a:xfrm>
              <a:off x="1676" y="382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Rectangle 328"/>
            <p:cNvSpPr>
              <a:spLocks noChangeArrowheads="1"/>
            </p:cNvSpPr>
            <p:nvPr/>
          </p:nvSpPr>
          <p:spPr bwMode="auto">
            <a:xfrm>
              <a:off x="1680" y="3829"/>
              <a:ext cx="25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Rectangle 329"/>
            <p:cNvSpPr>
              <a:spLocks noChangeArrowheads="1"/>
            </p:cNvSpPr>
            <p:nvPr/>
          </p:nvSpPr>
          <p:spPr bwMode="auto">
            <a:xfrm>
              <a:off x="4242" y="3705"/>
              <a:ext cx="4" cy="1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Rectangle 330"/>
            <p:cNvSpPr>
              <a:spLocks noChangeArrowheads="1"/>
            </p:cNvSpPr>
            <p:nvPr/>
          </p:nvSpPr>
          <p:spPr bwMode="auto">
            <a:xfrm>
              <a:off x="4242" y="382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Rectangle 331"/>
            <p:cNvSpPr>
              <a:spLocks noChangeArrowheads="1"/>
            </p:cNvSpPr>
            <p:nvPr/>
          </p:nvSpPr>
          <p:spPr bwMode="auto">
            <a:xfrm>
              <a:off x="4242" y="3829"/>
              <a:ext cx="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Rectangle 332"/>
            <p:cNvSpPr>
              <a:spLocks noChangeArrowheads="1"/>
            </p:cNvSpPr>
            <p:nvPr/>
          </p:nvSpPr>
          <p:spPr bwMode="auto">
            <a:xfrm>
              <a:off x="884" y="3849"/>
              <a:ext cx="58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HDFS Java API</a:t>
            </a:r>
            <a:r>
              <a:rPr lang="zh-CN" altLang="zh-CN" dirty="0"/>
              <a:t>的一般用法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HDFS Java API</a:t>
            </a:r>
            <a:r>
              <a:rPr lang="zh-CN" altLang="zh-CN" dirty="0"/>
              <a:t>为客户端提供了针对文件系统、目录和文件的各种操作功能。在客户端应用程序中，通常按以下步骤来使用</a:t>
            </a:r>
            <a:r>
              <a:rPr lang="en-US" altLang="zh-CN" dirty="0"/>
              <a:t>HDFS Java API</a:t>
            </a:r>
            <a:r>
              <a:rPr lang="zh-CN" altLang="zh-CN" dirty="0"/>
              <a:t>。</a:t>
            </a:r>
          </a:p>
          <a:p>
            <a:pPr lvl="1"/>
            <a:r>
              <a:rPr lang="en-US" altLang="zh-CN" dirty="0"/>
              <a:t>1.</a:t>
            </a:r>
            <a:r>
              <a:rPr lang="zh-CN" altLang="zh-CN" dirty="0"/>
              <a:t>实例化</a:t>
            </a:r>
            <a:r>
              <a:rPr lang="en-US" altLang="zh-CN" dirty="0"/>
              <a:t>Configuration</a:t>
            </a:r>
          </a:p>
          <a:p>
            <a:pPr lvl="1"/>
            <a:r>
              <a:rPr lang="en-US" altLang="zh-CN" dirty="0">
                <a:sym typeface="+mn-ea"/>
              </a:rPr>
              <a:t>2.</a:t>
            </a:r>
            <a:r>
              <a:rPr lang="zh-CN" altLang="zh-CN" dirty="0">
                <a:sym typeface="+mn-ea"/>
              </a:rPr>
              <a:t>实例化</a:t>
            </a:r>
            <a:r>
              <a:rPr lang="en-US" altLang="zh-CN" dirty="0" err="1">
                <a:sym typeface="+mn-ea"/>
              </a:rPr>
              <a:t>FileSystem</a:t>
            </a:r>
          </a:p>
          <a:p>
            <a:pPr lvl="1"/>
            <a:r>
              <a:rPr lang="en-US" altLang="zh-CN" dirty="0" err="1">
                <a:sym typeface="+mn-ea"/>
              </a:rPr>
              <a:t>3.</a:t>
            </a:r>
            <a:r>
              <a:rPr lang="zh-CN" altLang="zh-CN" dirty="0">
                <a:sym typeface="+mn-ea"/>
              </a:rPr>
              <a:t>执行文件或目录操作</a:t>
            </a:r>
            <a:endParaRPr lang="zh-CN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1. </a:t>
            </a:r>
            <a:r>
              <a:rPr lang="zh-CN" altLang="zh-CN" dirty="0"/>
              <a:t>实例化</a:t>
            </a:r>
            <a:r>
              <a:rPr lang="en-US" altLang="zh-CN" dirty="0"/>
              <a:t>Configuration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Configuration</a:t>
            </a:r>
            <a:r>
              <a:rPr lang="zh-CN" altLang="zh-CN" dirty="0"/>
              <a:t>类位于</a:t>
            </a:r>
            <a:r>
              <a:rPr lang="en-US" altLang="zh-CN" dirty="0" err="1"/>
              <a:t>org.apache.hadoop.conf</a:t>
            </a:r>
            <a:r>
              <a:rPr lang="zh-CN" altLang="zh-CN" dirty="0"/>
              <a:t>包中，它封装了客户端或服务器的配置。每个配置选项是一个键</a:t>
            </a:r>
            <a:r>
              <a:rPr lang="en-US" altLang="zh-CN" dirty="0"/>
              <a:t>/</a:t>
            </a:r>
            <a:r>
              <a:rPr lang="zh-CN" altLang="zh-CN" dirty="0"/>
              <a:t>值对，通常以</a:t>
            </a:r>
            <a:r>
              <a:rPr lang="en-US" altLang="zh-CN" dirty="0"/>
              <a:t>XML</a:t>
            </a:r>
            <a:r>
              <a:rPr lang="zh-CN" altLang="zh-CN" dirty="0"/>
              <a:t>格式保存。</a:t>
            </a:r>
          </a:p>
          <a:p>
            <a:pPr marL="457200" lvl="1" indent="0">
              <a:buNone/>
            </a:pPr>
            <a:r>
              <a:rPr lang="zh-CN" altLang="zh-CN" dirty="0"/>
              <a:t>实例化</a:t>
            </a:r>
            <a:r>
              <a:rPr lang="en-US" altLang="zh-CN" dirty="0"/>
              <a:t>Configuration</a:t>
            </a:r>
            <a:r>
              <a:rPr lang="zh-CN" altLang="zh-CN" dirty="0"/>
              <a:t>类的代码如下：</a:t>
            </a:r>
          </a:p>
          <a:p>
            <a:pPr marL="457200" lvl="1" indent="0">
              <a:buNone/>
            </a:pPr>
            <a:r>
              <a:rPr lang="en-US" altLang="zh-CN" dirty="0"/>
              <a:t>Configuration conf = new Configuration(); </a:t>
            </a:r>
            <a:endParaRPr lang="zh-CN" altLang="zh-CN" dirty="0"/>
          </a:p>
          <a:p>
            <a:pPr marL="457200" lvl="1" indent="0">
              <a:buNone/>
            </a:pP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可以使用</a:t>
            </a:r>
            <a:r>
              <a:rPr lang="en-US" altLang="zh-CN" dirty="0">
                <a:sym typeface="+mn-ea"/>
              </a:rPr>
              <a:t>Configuration</a:t>
            </a:r>
            <a:r>
              <a:rPr lang="zh-CN" altLang="zh-CN" dirty="0">
                <a:sym typeface="+mn-ea"/>
              </a:rPr>
              <a:t>类的</a:t>
            </a:r>
            <a:r>
              <a:rPr lang="en-US" altLang="zh-CN" dirty="0">
                <a:sym typeface="+mn-ea"/>
              </a:rPr>
              <a:t>set()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方法进行配置</a:t>
            </a:r>
          </a:p>
          <a:p>
            <a:pPr marL="457200" lvl="1" indent="0">
              <a:buNone/>
            </a:pP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conf.set(“fs.default.name”,”hdfs://192.168.170.133:9000”);</a:t>
            </a:r>
          </a:p>
          <a:p>
            <a:pPr marL="457200" lvl="1" indent="0">
              <a:buNone/>
            </a:pP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......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2. </a:t>
            </a:r>
            <a:r>
              <a:rPr lang="zh-CN" altLang="zh-CN" dirty="0"/>
              <a:t>实例化</a:t>
            </a:r>
            <a:r>
              <a:rPr lang="en-US" altLang="zh-CN" dirty="0" err="1"/>
              <a:t>FileSystem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 err="1"/>
              <a:t>FileSystem</a:t>
            </a:r>
            <a:r>
              <a:rPr lang="zh-CN" altLang="zh-CN" dirty="0"/>
              <a:t>类是客户端访问文件系统的入口，是</a:t>
            </a:r>
            <a:r>
              <a:rPr lang="en-US" altLang="zh-CN" dirty="0"/>
              <a:t>Hadoop</a:t>
            </a:r>
            <a:r>
              <a:rPr lang="zh-CN" altLang="zh-CN" dirty="0"/>
              <a:t>为客户端提供的一个抽象的文件系统，可以是</a:t>
            </a:r>
            <a:r>
              <a:rPr lang="en-US" altLang="zh-CN" dirty="0"/>
              <a:t>Hadoop</a:t>
            </a:r>
            <a:r>
              <a:rPr lang="zh-CN" altLang="zh-CN" dirty="0"/>
              <a:t>的</a:t>
            </a:r>
            <a:r>
              <a:rPr lang="en-US" altLang="zh-CN" dirty="0"/>
              <a:t>HDFS</a:t>
            </a:r>
            <a:r>
              <a:rPr lang="zh-CN" altLang="zh-CN" dirty="0"/>
              <a:t>，也可以</a:t>
            </a:r>
            <a:r>
              <a:rPr lang="en-US" altLang="zh-CN" dirty="0"/>
              <a:t>Amazon</a:t>
            </a:r>
            <a:r>
              <a:rPr lang="zh-CN" altLang="zh-CN" dirty="0"/>
              <a:t>的</a:t>
            </a:r>
            <a:r>
              <a:rPr lang="en-US" altLang="zh-CN" dirty="0"/>
              <a:t>S3</a:t>
            </a:r>
            <a:r>
              <a:rPr lang="zh-CN" altLang="zh-CN" dirty="0"/>
              <a:t>。</a:t>
            </a:r>
            <a:r>
              <a:rPr lang="en-US" altLang="zh-CN" dirty="0" err="1"/>
              <a:t>DistributedFileSystem</a:t>
            </a:r>
            <a:r>
              <a:rPr lang="zh-CN" altLang="zh-CN" dirty="0"/>
              <a:t>类是</a:t>
            </a:r>
            <a:r>
              <a:rPr lang="en-US" altLang="zh-CN" dirty="0" err="1"/>
              <a:t>FileSystem</a:t>
            </a:r>
            <a:r>
              <a:rPr lang="zh-CN" altLang="zh-CN" dirty="0"/>
              <a:t>的一个具体实现，是</a:t>
            </a:r>
            <a:r>
              <a:rPr lang="en-US" altLang="zh-CN" dirty="0"/>
              <a:t>HDFS</a:t>
            </a:r>
            <a:r>
              <a:rPr lang="zh-CN" altLang="zh-CN" dirty="0"/>
              <a:t>真正的客户端</a:t>
            </a:r>
            <a:r>
              <a:rPr lang="en-US" altLang="zh-CN" dirty="0"/>
              <a:t>API</a:t>
            </a:r>
            <a:r>
              <a:rPr lang="zh-CN" altLang="zh-CN" dirty="0"/>
              <a:t>。</a:t>
            </a:r>
          </a:p>
          <a:p>
            <a:pPr marL="457200" lvl="1" indent="0">
              <a:buNone/>
            </a:pPr>
            <a:r>
              <a:rPr lang="zh-CN" altLang="zh-CN" dirty="0"/>
              <a:t>实例化</a:t>
            </a:r>
            <a:r>
              <a:rPr lang="en-US" altLang="zh-CN" dirty="0" err="1"/>
              <a:t>FileSystem</a:t>
            </a:r>
            <a:r>
              <a:rPr lang="zh-CN" altLang="zh-CN" dirty="0"/>
              <a:t>并返回默认的文件系统的代码如下：</a:t>
            </a:r>
          </a:p>
          <a:p>
            <a:pPr marL="457200" lvl="1" indent="0">
              <a:buNone/>
            </a:pPr>
            <a:r>
              <a:rPr lang="en-US" altLang="zh-CN" dirty="0" err="1"/>
              <a:t>FileSytem</a:t>
            </a:r>
            <a:r>
              <a:rPr lang="en-US" altLang="zh-CN" dirty="0"/>
              <a:t> fs = </a:t>
            </a:r>
            <a:r>
              <a:rPr lang="en-US" altLang="zh-CN" dirty="0" err="1"/>
              <a:t>FileSystem.get</a:t>
            </a:r>
            <a:r>
              <a:rPr lang="en-US" altLang="zh-CN" dirty="0"/>
              <a:t>(conf);</a:t>
            </a:r>
            <a:endParaRPr lang="zh-CN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HDFS Java API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3. </a:t>
            </a:r>
            <a:r>
              <a:rPr lang="zh-CN" altLang="zh-CN" dirty="0"/>
              <a:t>执行文件或目录操作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得到</a:t>
            </a:r>
            <a:r>
              <a:rPr lang="en-US" altLang="zh-CN" dirty="0" err="1"/>
              <a:t>FileSystem</a:t>
            </a:r>
            <a:r>
              <a:rPr lang="zh-CN" altLang="zh-CN" dirty="0"/>
              <a:t>实例之后，就可以使用该实例提供的方法成员来执行相应的操作，例如打开文件、创建文件、重名文件、删除文件或检测文件是否存在等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ffectLst/>
              </a:rPr>
              <a:t>2.4.2 HDFS Java API</a:t>
            </a:r>
            <a:r>
              <a:rPr lang="zh-CN" altLang="zh-CN" b="1" dirty="0">
                <a:effectLst/>
              </a:rPr>
              <a:t>编程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HDFS Java API</a:t>
            </a:r>
            <a:r>
              <a:rPr lang="zh-CN" altLang="zh-CN" dirty="0"/>
              <a:t>开放了有关</a:t>
            </a:r>
            <a:r>
              <a:rPr lang="en-US" altLang="zh-CN" dirty="0"/>
              <a:t>HDFS</a:t>
            </a:r>
            <a:r>
              <a:rPr lang="zh-CN" altLang="zh-CN" dirty="0"/>
              <a:t>文件系统的所有操作功能。</a:t>
            </a:r>
            <a:endParaRPr lang="en-US" altLang="zh-CN" dirty="0"/>
          </a:p>
          <a:p>
            <a:r>
              <a:rPr lang="zh-CN" altLang="en-US" dirty="0"/>
              <a:t>更多可以参考：</a:t>
            </a:r>
            <a:r>
              <a:rPr lang="en-US" altLang="zh-CN" dirty="0"/>
              <a:t> </a:t>
            </a:r>
            <a:r>
              <a:rPr lang="en-US" altLang="zh-CN" sz="1800" dirty="0">
                <a:hlinkClick r:id="rId2"/>
              </a:rPr>
              <a:t>http://hadoop.apache.org/docs/</a:t>
            </a:r>
            <a:endParaRPr lang="en-US" altLang="zh-CN" sz="1800" dirty="0"/>
          </a:p>
          <a:p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创建目录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1"/>
          <p:cNvSpPr txBox="1">
            <a:spLocks noChangeArrowheads="1"/>
          </p:cNvSpPr>
          <p:nvPr/>
        </p:nvSpPr>
        <p:spPr bwMode="auto">
          <a:xfrm>
            <a:off x="395536" y="1628800"/>
            <a:ext cx="8748464" cy="5077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>
              <a:lnSpc>
                <a:spcPts val="216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中创建名为“</a:t>
            </a:r>
            <a:r>
              <a:rPr kumimoji="0" lang="en-US" altLang="zh-CN" sz="1600" b="1" kern="1200" cap="none" spc="300" normalizeH="0" baseline="0" noProof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FileDirectory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”的目录</a:t>
            </a:r>
            <a:endParaRPr kumimoji="0" lang="en-US" altLang="zh-CN" sz="1600" b="1" kern="1200" cap="none" spc="300" normalizeH="0" baseline="0" noProof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main(String[]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HdfsFile.mkdir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("/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FileDirectory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mkdir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(String path) throws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Configuration conf = new Configuration();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获取配置文件参数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fs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FileSystem.get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(conf);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获取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实例（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Path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Path(path);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将字符类型转为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boolean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fs.mkdirs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创建成功返回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true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，否则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flase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if 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{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目录创建成功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!");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} else {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创建失败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}</a:t>
            </a: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fs.close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();			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关闭</a:t>
            </a:r>
            <a:r>
              <a:rPr lang="en-US" altLang="zh-CN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FileSystem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实例（</a:t>
            </a:r>
            <a:r>
              <a:rPr lang="en-US" altLang="zh-CN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HDFS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创建文件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463996" y="1574502"/>
            <a:ext cx="8572500" cy="528349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HDFS</a:t>
            </a:r>
            <a:r>
              <a:rPr lang="zh-CN" altLang="en-US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中创建名称为“</a:t>
            </a:r>
            <a:r>
              <a: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FileName</a:t>
            </a:r>
            <a:r>
              <a:rPr lang="zh-CN" altLang="en-US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”的文件，内容为“</a:t>
            </a:r>
            <a:r>
              <a: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 Word </a:t>
            </a:r>
            <a:r>
              <a:rPr lang="zh-CN" altLang="en-US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世界你好”，路径为“</a:t>
            </a:r>
            <a:r>
              <a: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/tmp</a:t>
            </a:r>
            <a:r>
              <a:rPr lang="zh-CN" altLang="en-US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”，但是，路径不能事先存在。</a:t>
            </a:r>
            <a:endParaRPr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public static void main(String[] args) throws 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IOException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{</a:t>
            </a: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String s = "Hello Word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世界你好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</a:p>
          <a:p>
            <a:pPr lvl="2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HdfsFile.createFile("/tmp/FileName",s.getBytes());</a:t>
            </a:r>
          </a:p>
          <a:p>
            <a:pPr lvl="1" eaLnBrk="1" hangingPunct="1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lvl="1" eaLnBrk="1" hangingPunct="1">
              <a:lnSpc>
                <a:spcPts val="1200"/>
              </a:lnSpc>
            </a:pPr>
            <a:endParaRPr lang="en-US" altLang="zh-CN" sz="12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public static void createFile(String dst, byte[] contents) throws IOException {</a:t>
            </a:r>
          </a:p>
          <a:p>
            <a:pPr lvl="2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Configuration conf = new Configuration();</a:t>
            </a:r>
          </a:p>
          <a:p>
            <a:pPr lvl="2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FileSystem fs = FileSystem.get(conf);</a:t>
            </a: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Path dstPath = new Path(dst); 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FSDataOutputStream outputStream = fs.create(dstPath);   	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打开输出流（创建文件）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outputStream.write(contents);				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写入内容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outputStream.close();				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关闭输出流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fs.close();</a:t>
            </a:r>
          </a:p>
          <a:p>
            <a:pPr lvl="1" eaLnBrk="1" hangingPunct="1">
              <a:lnSpc>
                <a:spcPts val="2600"/>
              </a:lnSpc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	System.out.println("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文件创建成功！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</a:p>
          <a:p>
            <a:pPr lvl="1" eaLnBrk="1" hangingPunct="1"/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上传文件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1"/>
          <p:cNvSpPr txBox="1">
            <a:spLocks noChangeArrowheads="1"/>
          </p:cNvSpPr>
          <p:nvPr/>
        </p:nvSpPr>
        <p:spPr bwMode="auto">
          <a:xfrm>
            <a:off x="536004" y="1556792"/>
            <a:ext cx="8572500" cy="54048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lnSpc>
                <a:spcPts val="26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从本地上传文件到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main(String[]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R="0" defTabSz="914400">
              <a:buClrTx/>
              <a:buSzTx/>
              <a:defRPr/>
            </a:pP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// “/home/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hadoop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tmpfile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/test.txt</a:t>
            </a:r>
            <a:r>
              <a:rPr kumimoji="0" lang="zh-CN" altLang="en-US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本地路径</a:t>
            </a:r>
          </a:p>
          <a:p>
            <a:pPr marR="0" defTabSz="914400">
              <a:buClrTx/>
              <a:buSzTx/>
              <a:defRPr/>
            </a:pP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//file</a:t>
            </a:r>
            <a:r>
              <a:rPr kumimoji="0" lang="zh-CN" altLang="en-US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：是目录文件自动生成；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filename</a:t>
            </a:r>
            <a:r>
              <a:rPr kumimoji="0" lang="zh-CN" altLang="en-US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：是文件名，数据将放到这个文件名下</a:t>
            </a:r>
          </a:p>
          <a:p>
            <a:pPr marR="0" defTabSz="914400">
              <a:buClrTx/>
              <a:buSzTx/>
              <a:defRPr/>
            </a:pP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HdfsFile.uploadFile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("/home/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hadoop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tmpfile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/test.txt","/file/filename");</a:t>
            </a:r>
          </a:p>
          <a:p>
            <a:pPr marL="457200" marR="0" lvl="1" indent="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uploadFile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Configuration conf = new Configuration();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fs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FileSystem.get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(conf);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 		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原路径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dstPath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 		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目标路径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调用文件系统的文件复制函数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前面参数是指是否删除原文件，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true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为删除，默认为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false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fs.copyFromLocalFile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(false,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dstPath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FileStatus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fileStatus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fs.listStatus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dstPath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for 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FileStatus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file :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fileStatus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{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(“HDFS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中目标路径是：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”+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file.getPath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());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查看目录文件路径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上传文件成功！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fs.close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();</a:t>
            </a:r>
          </a:p>
          <a:p>
            <a:pPr marL="457200" marR="0" lvl="1" indent="0" algn="l" defTabSz="914400" rtl="0" eaLnBrk="1" fontAlgn="base" latinLnBrk="0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读取文件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457200" y="1576238"/>
            <a:ext cx="8929688" cy="53091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 API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读取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1600" b="1" kern="1200" cap="none" spc="300" normalizeH="0" baseline="0" noProof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FileName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文件内容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main(String[]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R="0" defTabSz="914400">
              <a:lnSpc>
                <a:spcPct val="150000"/>
              </a:lnSpc>
              <a:buClrTx/>
              <a:buSzTx/>
              <a:defRPr/>
            </a:pP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HdfsFile.readFile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("/file/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FileName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readFile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Configuration conf = new Configuration();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fs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FileSystem.get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(conf);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FSDataInputStream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in = null;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try {</a:t>
            </a:r>
          </a:p>
          <a:p>
            <a:pPr marL="1371600" marR="0" lvl="3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in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fs.open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srcPath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打开文件流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IOUtils.copyBytes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(in,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4096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false);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复制到标准输出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流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.4096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是缓冲大小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finally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IOUtils.closeStream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(in);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关闭文件流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重命名文件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1"/>
          <p:cNvSpPr txBox="1">
            <a:spLocks noChangeArrowheads="1"/>
          </p:cNvSpPr>
          <p:nvPr/>
        </p:nvSpPr>
        <p:spPr bwMode="auto">
          <a:xfrm>
            <a:off x="395536" y="1484784"/>
            <a:ext cx="8640960" cy="53091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 API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1600" b="1" kern="1200" cap="none" spc="300" normalizeH="0" baseline="0" noProof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FileName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文件更名为</a:t>
            </a:r>
            <a:r>
              <a:rPr kumimoji="0" lang="en-US" altLang="zh-CN" sz="1600" b="1" kern="1200" cap="none" spc="300" normalizeH="0" baseline="0" noProof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NewFileName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main(String[]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R="0" defTabSz="914400">
              <a:lnSpc>
                <a:spcPct val="150000"/>
              </a:lnSpc>
              <a:buClrTx/>
              <a:buSzTx/>
              <a:defRPr/>
            </a:pP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HdfsFile.rename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("/file/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FileName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", "/file/</a:t>
            </a:r>
            <a:r>
              <a:rPr kumimoji="0" lang="en-US" altLang="zh-CN" sz="1400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NewFileName</a:t>
            </a:r>
            <a:r>
              <a:rPr kumimoji="0" lang="en-US" altLang="zh-CN" sz="14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rename(String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oldName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Configuration conf = new Configuration();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fs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FileSystem.get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(conf);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oldPath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oldName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boolean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fs.rename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oldPath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调用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rename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if 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已重新为文件命名！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 else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命名失败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fs.close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();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2.4.2 HDFS Java API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899400" cy="4953000"/>
          </a:xfrm>
        </p:spPr>
        <p:txBody>
          <a:bodyPr>
            <a:normAutofit/>
          </a:bodyPr>
          <a:lstStyle/>
          <a:p>
            <a:r>
              <a:rPr lang="zh-CN" altLang="en-US" dirty="0"/>
              <a:t>删除文件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1"/>
          <p:cNvSpPr txBox="1">
            <a:spLocks noChangeArrowheads="1"/>
          </p:cNvSpPr>
          <p:nvPr/>
        </p:nvSpPr>
        <p:spPr bwMode="auto">
          <a:xfrm>
            <a:off x="538856" y="1484784"/>
            <a:ext cx="8425632" cy="52586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 API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</a:t>
            </a:r>
            <a:r>
              <a:rPr kumimoji="0" lang="en-US" altLang="zh-CN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1600" b="1" kern="1200" cap="none" spc="300" normalizeH="0" baseline="0" noProof="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NewFileName</a:t>
            </a:r>
            <a:r>
              <a:rPr kumimoji="0" lang="zh-CN" altLang="en-US" sz="1600" b="1" kern="1200" cap="none" spc="300" normalizeH="0" baseline="0" noProof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删除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main(String[]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args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HdfsFile.delete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("/file/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NewFileName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");</a:t>
            </a: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public static void delete(String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throws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IOException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Configuration conf = new Configuration();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fs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FileSystem.get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(conf);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new Path(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filePath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boolean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fs.deleteOnExit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(path);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HDFS API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deleteExit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方法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if 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isok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文件已经被删除！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 else {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System.out.println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删除失败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");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  <a:p>
            <a:pPr marL="914400" marR="0" lvl="2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fs.close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();</a:t>
            </a: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2987824" y="4365104"/>
            <a:ext cx="2951733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c3410c8-9e37-401c-8d7f-f409bb5c7fb3"/>
  <p:tag name="COMMONDATA" val="eyJoZGlkIjoiNjYzYmQ4MGM5NjVhYzM2OThiNDcwNmI4ODhhMWFmM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6675.670866141732,&quot;width&quot;:9887.24409448819}"/>
</p:tagLst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31</TotalTime>
  <Words>6412</Words>
  <Application>Microsoft Office PowerPoint</Application>
  <PresentationFormat>全屏显示(4:3)</PresentationFormat>
  <Paragraphs>700</Paragraphs>
  <Slides>80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8" baseType="lpstr">
      <vt:lpstr>宋体</vt:lpstr>
      <vt:lpstr>微软雅黑</vt:lpstr>
      <vt:lpstr>Arial</vt:lpstr>
      <vt:lpstr>Calibri</vt:lpstr>
      <vt:lpstr>Times New Roman</vt:lpstr>
      <vt:lpstr>Verdana</vt:lpstr>
      <vt:lpstr>Wingdings</vt:lpstr>
      <vt:lpstr>cdb2004c012l</vt:lpstr>
      <vt:lpstr>第2章 分布式文件系统HDFS</vt:lpstr>
      <vt:lpstr>主要内容</vt:lpstr>
      <vt:lpstr>2.1 Hadoop简介</vt:lpstr>
      <vt:lpstr>2.1 Hadoop简介</vt:lpstr>
      <vt:lpstr>主要内容</vt:lpstr>
      <vt:lpstr>2.2 HDFS文件系统</vt:lpstr>
      <vt:lpstr>2.2.1 HDFS概述</vt:lpstr>
      <vt:lpstr>2.2.1 HDFS概述</vt:lpstr>
      <vt:lpstr>2.2.2 HDFS相关概念</vt:lpstr>
      <vt:lpstr>块</vt:lpstr>
      <vt:lpstr>块</vt:lpstr>
      <vt:lpstr>块</vt:lpstr>
      <vt:lpstr>NameNode</vt:lpstr>
      <vt:lpstr>NameNode</vt:lpstr>
      <vt:lpstr>NameNode</vt:lpstr>
      <vt:lpstr>SecondaryNameNode </vt:lpstr>
      <vt:lpstr>SecondaryNameNode </vt:lpstr>
      <vt:lpstr>DataNode</vt:lpstr>
      <vt:lpstr>2.2.3 HDFS总体架构</vt:lpstr>
      <vt:lpstr>2.2.3 HDFS总体架构</vt:lpstr>
      <vt:lpstr>通信协议</vt:lpstr>
      <vt:lpstr>客户端</vt:lpstr>
      <vt:lpstr>2.2.4 HDFS存储原理</vt:lpstr>
      <vt:lpstr>冗余数据保存</vt:lpstr>
      <vt:lpstr>数据存取策略</vt:lpstr>
      <vt:lpstr>数据存取策略</vt:lpstr>
      <vt:lpstr>数据错误与恢复</vt:lpstr>
      <vt:lpstr>数据错误与恢复</vt:lpstr>
      <vt:lpstr>数据错误与恢复</vt:lpstr>
      <vt:lpstr>数据错误与恢复</vt:lpstr>
      <vt:lpstr>2.2.5 HDFS文件读写</vt:lpstr>
      <vt:lpstr>HDFS读文件</vt:lpstr>
      <vt:lpstr>HDFS读文件</vt:lpstr>
      <vt:lpstr>HDFS写文件</vt:lpstr>
      <vt:lpstr>HDFS写文件</vt:lpstr>
      <vt:lpstr>HDFS写文件</vt:lpstr>
      <vt:lpstr>2.2.5 HDFS文件读写</vt:lpstr>
      <vt:lpstr>主要内容</vt:lpstr>
      <vt:lpstr>2.3 HDFS Shell命令</vt:lpstr>
      <vt:lpstr>2.3.1 Shell命令介绍</vt:lpstr>
      <vt:lpstr>2.3.1 Shell命令介绍</vt:lpstr>
      <vt:lpstr>2.3.2 HDFS Shell帮助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2.3.3 文件操作命令</vt:lpstr>
      <vt:lpstr>2.3.4跨文件系统的交互操作命令</vt:lpstr>
      <vt:lpstr>2.3.4 跨文件系统的交互操作命令</vt:lpstr>
      <vt:lpstr>2.3.4 跨文件系统的交互操作命令</vt:lpstr>
      <vt:lpstr>2.3.5 权限管理操作</vt:lpstr>
      <vt:lpstr>2.3.5 权限管理操作</vt:lpstr>
      <vt:lpstr>2.3.5 权限管理操作</vt:lpstr>
      <vt:lpstr>2.3.5 权限管理操作</vt:lpstr>
      <vt:lpstr>2.3.5 权限管理操作</vt:lpstr>
      <vt:lpstr>2.3.5 权限管理操作</vt:lpstr>
      <vt:lpstr>主要内容</vt:lpstr>
      <vt:lpstr>2.4 HDFS Java API</vt:lpstr>
      <vt:lpstr>2.4.1 HDFS Java API概述</vt:lpstr>
      <vt:lpstr>2.4.1 HDFS Java API概述</vt:lpstr>
      <vt:lpstr>2.4.1 HDFS Java API概述</vt:lpstr>
      <vt:lpstr>2.4.1 HDFS Java API概述</vt:lpstr>
      <vt:lpstr>2.4.1 HDFS Java API概述</vt:lpstr>
      <vt:lpstr>2.4.1 HDFS Java API概述</vt:lpstr>
      <vt:lpstr>2.4.2 HDFS Java API编程</vt:lpstr>
      <vt:lpstr>2.4.2 HDFS Java API编程</vt:lpstr>
      <vt:lpstr>2.4.2 HDFS Java API编程</vt:lpstr>
      <vt:lpstr>2.4.2 HDFS Java API编程</vt:lpstr>
      <vt:lpstr>2.4.2 HDFS Java API编程</vt:lpstr>
      <vt:lpstr>2.4.2 HDFS Java API编程</vt:lpstr>
      <vt:lpstr>2.4.2 HDFS Java API编程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Chen Hongshun</cp:lastModifiedBy>
  <cp:revision>118</cp:revision>
  <dcterms:created xsi:type="dcterms:W3CDTF">2017-03-03T01:55:00Z</dcterms:created>
  <dcterms:modified xsi:type="dcterms:W3CDTF">2023-02-28T06:50:08Z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8E1462A951094834A0CC628729C181B4</vt:lpwstr>
  </property>
</Properties>
</file>