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handoutMasterIdLst>
    <p:handoutMasterId r:id="rId62"/>
  </p:handoutMasterIdLst>
  <p:sldIdLst>
    <p:sldId id="256" r:id="rId2"/>
    <p:sldId id="309" r:id="rId3"/>
    <p:sldId id="837" r:id="rId4"/>
    <p:sldId id="838" r:id="rId5"/>
    <p:sldId id="839" r:id="rId6"/>
    <p:sldId id="840" r:id="rId7"/>
    <p:sldId id="841" r:id="rId8"/>
    <p:sldId id="842" r:id="rId9"/>
    <p:sldId id="843" r:id="rId10"/>
    <p:sldId id="844" r:id="rId11"/>
    <p:sldId id="845" r:id="rId12"/>
    <p:sldId id="846" r:id="rId13"/>
    <p:sldId id="847" r:id="rId14"/>
    <p:sldId id="848" r:id="rId15"/>
    <p:sldId id="849" r:id="rId16"/>
    <p:sldId id="850" r:id="rId17"/>
    <p:sldId id="851" r:id="rId18"/>
    <p:sldId id="852" r:id="rId19"/>
    <p:sldId id="853" r:id="rId20"/>
    <p:sldId id="854" r:id="rId21"/>
    <p:sldId id="855" r:id="rId22"/>
    <p:sldId id="856" r:id="rId23"/>
    <p:sldId id="857" r:id="rId24"/>
    <p:sldId id="858" r:id="rId25"/>
    <p:sldId id="859" r:id="rId26"/>
    <p:sldId id="860" r:id="rId27"/>
    <p:sldId id="861" r:id="rId28"/>
    <p:sldId id="862" r:id="rId29"/>
    <p:sldId id="863" r:id="rId30"/>
    <p:sldId id="864" r:id="rId31"/>
    <p:sldId id="671" r:id="rId32"/>
    <p:sldId id="624" r:id="rId33"/>
    <p:sldId id="740" r:id="rId34"/>
    <p:sldId id="742" r:id="rId35"/>
    <p:sldId id="743" r:id="rId36"/>
    <p:sldId id="744" r:id="rId37"/>
    <p:sldId id="781" r:id="rId38"/>
    <p:sldId id="782" r:id="rId39"/>
    <p:sldId id="783" r:id="rId40"/>
    <p:sldId id="865" r:id="rId41"/>
    <p:sldId id="866" r:id="rId42"/>
    <p:sldId id="785" r:id="rId43"/>
    <p:sldId id="822" r:id="rId44"/>
    <p:sldId id="823" r:id="rId45"/>
    <p:sldId id="820" r:id="rId46"/>
    <p:sldId id="821" r:id="rId47"/>
    <p:sldId id="825" r:id="rId48"/>
    <p:sldId id="824" r:id="rId49"/>
    <p:sldId id="826" r:id="rId50"/>
    <p:sldId id="827" r:id="rId51"/>
    <p:sldId id="828" r:id="rId52"/>
    <p:sldId id="829" r:id="rId53"/>
    <p:sldId id="830" r:id="rId54"/>
    <p:sldId id="836" r:id="rId55"/>
    <p:sldId id="832" r:id="rId56"/>
    <p:sldId id="831" r:id="rId57"/>
    <p:sldId id="833" r:id="rId58"/>
    <p:sldId id="834" r:id="rId59"/>
    <p:sldId id="276" r:id="rId6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94660" autoAdjust="0"/>
  </p:normalViewPr>
  <p:slideViewPr>
    <p:cSldViewPr>
      <p:cViewPr varScale="1">
        <p:scale>
          <a:sx n="99" d="100"/>
          <a:sy n="99" d="100"/>
        </p:scale>
        <p:origin x="1866" y="84"/>
      </p:cViewPr>
      <p:guideLst>
        <p:guide orient="horz" pos="2160"/>
        <p:guide pos="2880"/>
      </p:guideLst>
    </p:cSldViewPr>
  </p:slideViewPr>
  <p:notesTextViewPr>
    <p:cViewPr>
      <p:scale>
        <a:sx n="1" d="1"/>
        <a:sy n="1" d="1"/>
      </p:scale>
      <p:origin x="0" y="0"/>
    </p:cViewPr>
  </p:notesTextViewPr>
  <p:notesViewPr>
    <p:cSldViewPr>
      <p:cViewPr varScale="1">
        <p:scale>
          <a:sx n="54" d="100"/>
          <a:sy n="54" d="100"/>
        </p:scale>
        <p:origin x="-292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F63790A-1AF8-41FD-8613-F98BEDF9DBBB}" type="datetimeFigureOut">
              <a:rPr lang="zh-CN" altLang="en-US" smtClean="0"/>
              <a:t>2023/3/22</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1B559C9-FBFA-44CB-8D4D-CA6FFD5A7E2C}"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DAADD5-90F8-4BC9-AC30-6195DA8BE947}" type="datetimeFigureOut">
              <a:rPr lang="zh-CN" altLang="en-US" smtClean="0"/>
              <a:t>2023/3/22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4D408B-9088-4E1B-998F-9D60A79664C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3089" name="Rectangle 17"/>
          <p:cNvSpPr>
            <a:spLocks noChangeArrowheads="1"/>
          </p:cNvSpPr>
          <p:nvPr/>
        </p:nvSpPr>
        <p:spPr bwMode="gray">
          <a:xfrm>
            <a:off x="0" y="0"/>
            <a:ext cx="9144000" cy="609600"/>
          </a:xfrm>
          <a:prstGeom prst="rect">
            <a:avLst/>
          </a:prstGeom>
          <a:gradFill rotWithShape="1">
            <a:gsLst>
              <a:gs pos="0">
                <a:schemeClr val="tx1"/>
              </a:gs>
              <a:gs pos="100000">
                <a:schemeClr val="tx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 name="Rectangle 2"/>
          <p:cNvSpPr>
            <a:spLocks noGrp="1" noChangeArrowheads="1"/>
          </p:cNvSpPr>
          <p:nvPr>
            <p:ph type="ctrTitle"/>
          </p:nvPr>
        </p:nvSpPr>
        <p:spPr bwMode="gray">
          <a:xfrm>
            <a:off x="457200" y="4114800"/>
            <a:ext cx="8229600" cy="762000"/>
          </a:xfrm>
        </p:spPr>
        <p:txBody>
          <a:bodyPr/>
          <a:lstStyle>
            <a:lvl1pPr>
              <a:defRPr>
                <a:solidFill>
                  <a:schemeClr val="tx1"/>
                </a:solidFill>
              </a:defRPr>
            </a:lvl1pPr>
          </a:lstStyle>
          <a:p>
            <a:pPr lvl="0"/>
            <a:r>
              <a:rPr lang="zh-CN" altLang="en-US" noProof="0" dirty="0"/>
              <a:t>单击此处编辑母版标题样式</a:t>
            </a:r>
            <a:endParaRPr lang="en-US" altLang="zh-CN" noProof="0" dirty="0"/>
          </a:p>
        </p:txBody>
      </p:sp>
      <p:sp>
        <p:nvSpPr>
          <p:cNvPr id="3075" name="Rectangle 3"/>
          <p:cNvSpPr>
            <a:spLocks noGrp="1" noChangeArrowheads="1"/>
          </p:cNvSpPr>
          <p:nvPr>
            <p:ph type="subTitle" idx="1"/>
          </p:nvPr>
        </p:nvSpPr>
        <p:spPr bwMode="gray">
          <a:xfrm>
            <a:off x="1524000" y="4948238"/>
            <a:ext cx="5943600" cy="609600"/>
          </a:xfrm>
        </p:spPr>
        <p:txBody>
          <a:bodyPr/>
          <a:lstStyle>
            <a:lvl1pPr marL="0" indent="0" algn="ctr">
              <a:buFont typeface="Wingdings" panose="05000000000000000000" pitchFamily="2" charset="2"/>
              <a:buNone/>
              <a:defRPr sz="2000" b="0">
                <a:solidFill>
                  <a:schemeClr val="tx1"/>
                </a:solidFill>
              </a:defRPr>
            </a:lvl1pPr>
          </a:lstStyle>
          <a:p>
            <a:pPr lvl="0"/>
            <a:r>
              <a:rPr lang="zh-CN" altLang="en-US" noProof="0"/>
              <a:t>单击此处编辑母版副标题样式</a:t>
            </a:r>
            <a:endParaRPr lang="en-US" altLang="zh-CN" noProof="0"/>
          </a:p>
        </p:txBody>
      </p:sp>
      <p:sp>
        <p:nvSpPr>
          <p:cNvPr id="3076" name="Rectangle 4"/>
          <p:cNvSpPr>
            <a:spLocks noGrp="1" noChangeArrowheads="1"/>
          </p:cNvSpPr>
          <p:nvPr>
            <p:ph type="dt" sz="half" idx="2"/>
          </p:nvPr>
        </p:nvSpPr>
        <p:spPr>
          <a:xfrm>
            <a:off x="457200" y="6553200"/>
            <a:ext cx="2133600" cy="168275"/>
          </a:xfrm>
          <a:prstGeom prst="rect">
            <a:avLst/>
          </a:prstGeom>
        </p:spPr>
        <p:txBody>
          <a:bodyPr/>
          <a:lstStyle>
            <a:lvl1pPr>
              <a:defRPr sz="1400">
                <a:latin typeface="Times New Roman" panose="02020603050405020304" pitchFamily="18" charset="0"/>
              </a:defRPr>
            </a:lvl1pPr>
          </a:lstStyle>
          <a:p>
            <a:endParaRPr lang="en-US" altLang="zh-CN"/>
          </a:p>
        </p:txBody>
      </p:sp>
      <p:sp>
        <p:nvSpPr>
          <p:cNvPr id="3077" name="Rectangle 5"/>
          <p:cNvSpPr>
            <a:spLocks noGrp="1" noChangeArrowheads="1"/>
          </p:cNvSpPr>
          <p:nvPr>
            <p:ph type="ftr" sz="quarter" idx="3"/>
          </p:nvPr>
        </p:nvSpPr>
        <p:spPr>
          <a:xfrm>
            <a:off x="3124200" y="6551613"/>
            <a:ext cx="2895600" cy="169862"/>
          </a:xfrm>
          <a:prstGeom prst="rect">
            <a:avLst/>
          </a:prstGeom>
        </p:spPr>
        <p:txBody>
          <a:bodyPr/>
          <a:lstStyle>
            <a:lvl1pPr algn="ctr">
              <a:defRPr sz="1400">
                <a:latin typeface="Times New Roman" panose="02020603050405020304" pitchFamily="18" charset="0"/>
              </a:defRPr>
            </a:lvl1pPr>
          </a:lstStyle>
          <a:p>
            <a:endParaRPr lang="en-US" altLang="zh-CN"/>
          </a:p>
        </p:txBody>
      </p:sp>
      <p:sp>
        <p:nvSpPr>
          <p:cNvPr id="3078" name="Rectangle 6"/>
          <p:cNvSpPr>
            <a:spLocks noGrp="1" noChangeArrowheads="1"/>
          </p:cNvSpPr>
          <p:nvPr>
            <p:ph type="sldNum" sz="quarter" idx="4"/>
          </p:nvPr>
        </p:nvSpPr>
        <p:spPr>
          <a:xfrm>
            <a:off x="6553200" y="6553200"/>
            <a:ext cx="2133600" cy="168275"/>
          </a:xfrm>
        </p:spPr>
        <p:txBody>
          <a:bodyPr/>
          <a:lstStyle>
            <a:lvl1pPr algn="r">
              <a:defRPr sz="1400">
                <a:latin typeface="Times New Roman" panose="02020603050405020304" pitchFamily="18" charset="0"/>
              </a:defRPr>
            </a:lvl1pPr>
          </a:lstStyle>
          <a:p>
            <a:fld id="{18BA97A7-D52C-4F62-9E2B-2E1482E68D18}" type="slidenum">
              <a:rPr lang="en-US" altLang="zh-CN"/>
              <a:t>‹#›</a:t>
            </a:fld>
            <a:endParaRPr lang="en-US" altLang="zh-CN"/>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8000" y="609600"/>
            <a:ext cx="8128000" cy="339546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2"/>
          </p:nvPr>
        </p:nvSpPr>
        <p:spPr/>
        <p:txBody>
          <a:bodyPr/>
          <a:lstStyle>
            <a:lvl1pPr>
              <a:defRPr/>
            </a:lvl1pPr>
          </a:lstStyle>
          <a:p>
            <a:fld id="{C1C4B0C5-5BE3-40C4-8F17-4C7632BBC37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p:txBody>
          <a:bodyPr/>
          <a:lstStyle>
            <a:lvl1pPr>
              <a:defRPr/>
            </a:lvl1pPr>
          </a:lstStyle>
          <a:p>
            <a:fld id="{BC1FD71B-C5BD-44C5-88B5-B9FC0532CD1E}"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6" name="页脚占位符 5"/>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7" name="灯片编号占位符 6"/>
          <p:cNvSpPr>
            <a:spLocks noGrp="1"/>
          </p:cNvSpPr>
          <p:nvPr>
            <p:ph type="sldNum" sz="quarter" idx="12"/>
          </p:nvPr>
        </p:nvSpPr>
        <p:spPr/>
        <p:txBody>
          <a:bodyPr/>
          <a:lstStyle>
            <a:lvl1pPr>
              <a:defRPr/>
            </a:lvl1pPr>
          </a:lstStyle>
          <a:p>
            <a:fld id="{6762A2FB-1A22-4885-8807-38E2257E939D}"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8" name="页脚占位符 7"/>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9" name="灯片编号占位符 8"/>
          <p:cNvSpPr>
            <a:spLocks noGrp="1"/>
          </p:cNvSpPr>
          <p:nvPr>
            <p:ph type="sldNum" sz="quarter" idx="12"/>
          </p:nvPr>
        </p:nvSpPr>
        <p:spPr/>
        <p:txBody>
          <a:bodyPr/>
          <a:lstStyle>
            <a:lvl1pPr>
              <a:defRPr/>
            </a:lvl1pPr>
          </a:lstStyle>
          <a:p>
            <a:fld id="{4C3F31E5-079D-4AFE-8F69-467FDA11ECA6}"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4" name="页脚占位符 3"/>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5" name="灯片编号占位符 4"/>
          <p:cNvSpPr>
            <a:spLocks noGrp="1"/>
          </p:cNvSpPr>
          <p:nvPr>
            <p:ph type="sldNum" sz="quarter" idx="12"/>
          </p:nvPr>
        </p:nvSpPr>
        <p:spPr/>
        <p:txBody>
          <a:bodyPr/>
          <a:lstStyle>
            <a:lvl1pPr>
              <a:defRPr/>
            </a:lvl1pPr>
          </a:lstStyle>
          <a:p>
            <a:fld id="{7AB19AB6-2D3D-436B-9E78-64B2C249B45E}"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3" name="页脚占位符 2"/>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4" name="灯片编号占位符 3"/>
          <p:cNvSpPr>
            <a:spLocks noGrp="1"/>
          </p:cNvSpPr>
          <p:nvPr>
            <p:ph type="sldNum" sz="quarter" idx="12"/>
          </p:nvPr>
        </p:nvSpPr>
        <p:spPr/>
        <p:txBody>
          <a:bodyPr/>
          <a:lstStyle>
            <a:lvl1pPr>
              <a:defRPr/>
            </a:lvl1pPr>
          </a:lstStyle>
          <a:p>
            <a:fld id="{50B39E09-CF7B-4C88-85E0-A8CE0F5F92B0}"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6" name="页脚占位符 5"/>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7" name="灯片编号占位符 6"/>
          <p:cNvSpPr>
            <a:spLocks noGrp="1"/>
          </p:cNvSpPr>
          <p:nvPr>
            <p:ph type="sldNum" sz="quarter" idx="12"/>
          </p:nvPr>
        </p:nvSpPr>
        <p:spPr/>
        <p:txBody>
          <a:bodyPr/>
          <a:lstStyle>
            <a:lvl1pPr>
              <a:defRPr/>
            </a:lvl1pPr>
          </a:lstStyle>
          <a:p>
            <a:fld id="{8D1FB353-AD44-4DB0-AD58-7E72BC63F76E}"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6" name="页脚占位符 5"/>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7" name="灯片编号占位符 6"/>
          <p:cNvSpPr>
            <a:spLocks noGrp="1"/>
          </p:cNvSpPr>
          <p:nvPr>
            <p:ph type="sldNum" sz="quarter" idx="12"/>
          </p:nvPr>
        </p:nvSpPr>
        <p:spPr/>
        <p:txBody>
          <a:bodyPr/>
          <a:lstStyle>
            <a:lvl1pPr>
              <a:defRPr/>
            </a:lvl1pPr>
          </a:lstStyle>
          <a:p>
            <a:fld id="{CC2EE334-34F5-4D9E-B1DF-4BE72B082B0C}"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p:txBody>
          <a:bodyPr/>
          <a:lstStyle>
            <a:lvl1pPr>
              <a:defRPr/>
            </a:lvl1pPr>
          </a:lstStyle>
          <a:p>
            <a:fld id="{074B2DF3-AE52-4E11-B0CF-C14697DFC2D4}"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19088"/>
            <a:ext cx="2057400" cy="60055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19088"/>
            <a:ext cx="6019800" cy="60055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p:txBody>
          <a:bodyPr/>
          <a:lstStyle>
            <a:lvl1pPr>
              <a:defRPr/>
            </a:lvl1pPr>
          </a:lstStyle>
          <a:p>
            <a:fld id="{B4B4B3D2-56CB-4388-9D8C-8B1C0741F73C}"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319088"/>
            <a:ext cx="6172200" cy="563562"/>
          </a:xfrm>
        </p:spPr>
        <p:txBody>
          <a:bodyPr/>
          <a:lstStyle/>
          <a:p>
            <a:r>
              <a:rPr lang="zh-CN" altLang="en-US"/>
              <a:t>单击此处编辑母版标题样式</a:t>
            </a:r>
          </a:p>
        </p:txBody>
      </p:sp>
      <p:sp>
        <p:nvSpPr>
          <p:cNvPr id="3" name="表格占位符 2"/>
          <p:cNvSpPr>
            <a:spLocks noGrp="1"/>
          </p:cNvSpPr>
          <p:nvPr>
            <p:ph type="tbl" idx="1" hasCustomPrompt="1"/>
          </p:nvPr>
        </p:nvSpPr>
        <p:spPr>
          <a:xfrm>
            <a:off x="457200" y="1371600"/>
            <a:ext cx="8229600" cy="4953000"/>
          </a:xfrm>
        </p:spPr>
        <p:txBody>
          <a:bodyPr/>
          <a:lstStyle/>
          <a:p>
            <a:r>
              <a:rPr lang="zh-CN" altLang="en-US"/>
              <a:t>单击图标添加表格</a:t>
            </a:r>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a:xfrm>
            <a:off x="3200400" y="6480175"/>
            <a:ext cx="2133600" cy="320675"/>
          </a:xfrm>
        </p:spPr>
        <p:txBody>
          <a:bodyPr/>
          <a:lstStyle>
            <a:lvl1pPr>
              <a:defRPr/>
            </a:lvl1pPr>
          </a:lstStyle>
          <a:p>
            <a:fld id="{581F0AB5-730F-41FD-B2B7-C4E08C420F30}"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76200"/>
            <a:ext cx="8001000" cy="914400"/>
          </a:xfrm>
        </p:spPr>
        <p:txBody>
          <a:bodyPr/>
          <a:lstStyle/>
          <a:p>
            <a:r>
              <a:rPr lang="zh-CN" altLang="en-US"/>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8356600" y="981075"/>
            <a:ext cx="787400" cy="587692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21"/>
          <p:cNvSpPr>
            <a:spLocks noChangeShapeType="1"/>
          </p:cNvSpPr>
          <p:nvPr/>
        </p:nvSpPr>
        <p:spPr bwMode="auto">
          <a:xfrm>
            <a:off x="425450" y="6524625"/>
            <a:ext cx="83534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0" name="Rectangle 16"/>
          <p:cNvSpPr>
            <a:spLocks noChangeArrowheads="1"/>
          </p:cNvSpPr>
          <p:nvPr/>
        </p:nvSpPr>
        <p:spPr bwMode="gray">
          <a:xfrm>
            <a:off x="0" y="0"/>
            <a:ext cx="9144000" cy="981075"/>
          </a:xfrm>
          <a:prstGeom prst="rect">
            <a:avLst/>
          </a:prstGeom>
          <a:gradFill rotWithShape="1">
            <a:gsLst>
              <a:gs pos="0">
                <a:schemeClr val="tx1"/>
              </a:gs>
              <a:gs pos="100000">
                <a:schemeClr val="tx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371600"/>
            <a:ext cx="7899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200400" y="648017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200">
                <a:effectLst>
                  <a:outerShdw blurRad="38100" dist="38100" dir="2700000" algn="tl">
                    <a:srgbClr val="C0C0C0"/>
                  </a:outerShdw>
                </a:effectLst>
                <a:latin typeface="+mn-lt"/>
                <a:ea typeface="宋体" panose="02010600030101010101" pitchFamily="2" charset="-122"/>
              </a:defRPr>
            </a:lvl1pPr>
          </a:lstStyle>
          <a:p>
            <a:fld id="{F2D526F6-2200-4386-AD27-E628E3B61413}" type="slidenum">
              <a:rPr lang="en-US" altLang="zh-CN"/>
              <a:t>‹#›</a:t>
            </a:fld>
            <a:endParaRPr lang="en-US" altLang="zh-CN"/>
          </a:p>
        </p:txBody>
      </p:sp>
      <p:sp>
        <p:nvSpPr>
          <p:cNvPr id="1026" name="Rectangle 2"/>
          <p:cNvSpPr>
            <a:spLocks noGrp="1" noChangeArrowheads="1"/>
          </p:cNvSpPr>
          <p:nvPr>
            <p:ph type="title"/>
          </p:nvPr>
        </p:nvSpPr>
        <p:spPr bwMode="white">
          <a:xfrm>
            <a:off x="457200" y="319088"/>
            <a:ext cx="7899400"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en-US" altLang="zh-CN" dirty="0"/>
              <a:t>Click to edit Master title style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p:txStyles>
    <p:titleStyle>
      <a:lvl1pPr algn="l" rtl="0" eaLnBrk="1" fontAlgn="base" hangingPunct="1">
        <a:spcBef>
          <a:spcPct val="0"/>
        </a:spcBef>
        <a:spcAft>
          <a:spcPct val="0"/>
        </a:spcAft>
        <a:defRPr sz="3200" b="1">
          <a:solidFill>
            <a:schemeClr val="bg1"/>
          </a:solidFill>
          <a:latin typeface="+mj-lt"/>
          <a:ea typeface="+mj-ea"/>
          <a:cs typeface="+mj-cs"/>
        </a:defRPr>
      </a:lvl1pPr>
      <a:lvl2pPr algn="l" rtl="0" eaLnBrk="1" fontAlgn="base" hangingPunct="1">
        <a:spcBef>
          <a:spcPct val="0"/>
        </a:spcBef>
        <a:spcAft>
          <a:spcPct val="0"/>
        </a:spcAft>
        <a:defRPr sz="3200" b="1">
          <a:solidFill>
            <a:schemeClr val="bg1"/>
          </a:solidFill>
          <a:latin typeface="Verdana" panose="020B0604030504040204" pitchFamily="34" charset="0"/>
        </a:defRPr>
      </a:lvl2pPr>
      <a:lvl3pPr algn="l" rtl="0" eaLnBrk="1" fontAlgn="base" hangingPunct="1">
        <a:spcBef>
          <a:spcPct val="0"/>
        </a:spcBef>
        <a:spcAft>
          <a:spcPct val="0"/>
        </a:spcAft>
        <a:defRPr sz="3200" b="1">
          <a:solidFill>
            <a:schemeClr val="bg1"/>
          </a:solidFill>
          <a:latin typeface="Verdana" panose="020B0604030504040204" pitchFamily="34" charset="0"/>
        </a:defRPr>
      </a:lvl3pPr>
      <a:lvl4pPr algn="l" rtl="0" eaLnBrk="1" fontAlgn="base" hangingPunct="1">
        <a:spcBef>
          <a:spcPct val="0"/>
        </a:spcBef>
        <a:spcAft>
          <a:spcPct val="0"/>
        </a:spcAft>
        <a:defRPr sz="3200" b="1">
          <a:solidFill>
            <a:schemeClr val="bg1"/>
          </a:solidFill>
          <a:latin typeface="Verdana" panose="020B0604030504040204" pitchFamily="34" charset="0"/>
        </a:defRPr>
      </a:lvl4pPr>
      <a:lvl5pPr algn="l" rtl="0" eaLnBrk="1" fontAlgn="base" hangingPunct="1">
        <a:spcBef>
          <a:spcPct val="0"/>
        </a:spcBef>
        <a:spcAft>
          <a:spcPct val="0"/>
        </a:spcAft>
        <a:defRPr sz="3200" b="1">
          <a:solidFill>
            <a:schemeClr val="bg1"/>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vmlDrawing" Target="../drawings/vmlDrawing1.vml"/><Relationship Id="rId5" Type="http://schemas.openxmlformats.org/officeDocument/2006/relationships/image" Target="../media/image3.png"/><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57200" y="4267200"/>
            <a:ext cx="8229600" cy="762000"/>
          </a:xfrm>
        </p:spPr>
        <p:txBody>
          <a:bodyPr/>
          <a:lstStyle/>
          <a:p>
            <a:pPr algn="ctr"/>
            <a:r>
              <a:rPr lang="zh-CN" altLang="en-US" sz="3600" dirty="0">
                <a:solidFill>
                  <a:schemeClr val="tx2"/>
                </a:solidFill>
                <a:ea typeface="宋体" panose="02010600030101010101" pitchFamily="2" charset="-122"/>
              </a:rPr>
              <a:t>第</a:t>
            </a:r>
            <a:r>
              <a:rPr lang="en-US" altLang="zh-CN" sz="3600" dirty="0">
                <a:solidFill>
                  <a:schemeClr val="tx2"/>
                </a:solidFill>
                <a:ea typeface="宋体" panose="02010600030101010101" pitchFamily="2" charset="-122"/>
              </a:rPr>
              <a:t>4</a:t>
            </a:r>
            <a:r>
              <a:rPr lang="zh-CN" altLang="en-US" sz="3600" dirty="0">
                <a:solidFill>
                  <a:schemeClr val="tx2"/>
                </a:solidFill>
                <a:ea typeface="宋体" panose="02010600030101010101" pitchFamily="2" charset="-122"/>
              </a:rPr>
              <a:t>章</a:t>
            </a:r>
            <a:r>
              <a:rPr sz="3600" dirty="0">
                <a:solidFill>
                  <a:schemeClr val="tx2"/>
                </a:solidFill>
                <a:ea typeface="宋体" panose="02010600030101010101" pitchFamily="2" charset="-122"/>
              </a:rPr>
              <a:t>分布式协调服务ZooKeeper</a:t>
            </a:r>
          </a:p>
        </p:txBody>
      </p:sp>
      <p:sp>
        <p:nvSpPr>
          <p:cNvPr id="2051" name="Rectangle 3"/>
          <p:cNvSpPr>
            <a:spLocks noGrp="1" noChangeArrowheads="1"/>
          </p:cNvSpPr>
          <p:nvPr>
            <p:ph type="subTitle" idx="1"/>
          </p:nvPr>
        </p:nvSpPr>
        <p:spPr>
          <a:xfrm>
            <a:off x="1752600" y="5091113"/>
            <a:ext cx="5943600" cy="609600"/>
          </a:xfrm>
        </p:spPr>
        <p:txBody>
          <a:bodyPr/>
          <a:lstStyle/>
          <a:p>
            <a:endParaRPr lang="en-US" altLang="zh-CN" dirty="0">
              <a:ea typeface="宋体" panose="02010600030101010101" pitchFamily="2" charset="-122"/>
            </a:endParaRPr>
          </a:p>
        </p:txBody>
      </p:sp>
      <p:sp>
        <p:nvSpPr>
          <p:cNvPr id="2052" name="Line 4"/>
          <p:cNvSpPr>
            <a:spLocks noChangeShapeType="1"/>
          </p:cNvSpPr>
          <p:nvPr/>
        </p:nvSpPr>
        <p:spPr bwMode="auto">
          <a:xfrm>
            <a:off x="179705" y="4647565"/>
            <a:ext cx="729615" cy="635"/>
          </a:xfrm>
          <a:prstGeom prst="line">
            <a:avLst/>
          </a:prstGeom>
          <a:noFill/>
          <a:ln w="76200" cap="rnd">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3" name="Line 5"/>
          <p:cNvSpPr>
            <a:spLocks noChangeShapeType="1"/>
          </p:cNvSpPr>
          <p:nvPr/>
        </p:nvSpPr>
        <p:spPr bwMode="auto">
          <a:xfrm>
            <a:off x="8343900" y="4648200"/>
            <a:ext cx="601980" cy="1905"/>
          </a:xfrm>
          <a:prstGeom prst="line">
            <a:avLst/>
          </a:prstGeom>
          <a:noFill/>
          <a:ln w="76200"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pPr marL="0" indent="0">
              <a:buNone/>
            </a:pPr>
            <a:r>
              <a:rPr lang="en-US" altLang="zh-CN" dirty="0">
                <a:solidFill>
                  <a:srgbClr val="FF0000"/>
                </a:solidFill>
              </a:rPr>
              <a:t>4.1 ZooKeeper</a:t>
            </a:r>
            <a:r>
              <a:rPr lang="zh-CN" altLang="en-US" dirty="0">
                <a:solidFill>
                  <a:srgbClr val="FF0000"/>
                </a:solidFill>
              </a:rPr>
              <a:t>简介</a:t>
            </a:r>
          </a:p>
          <a:p>
            <a:pPr marL="0" indent="0">
              <a:buNone/>
              <a:defRPr/>
            </a:pPr>
            <a:r>
              <a:rPr lang="en-US" altLang="zh-CN" dirty="0"/>
              <a:t>4.2 </a:t>
            </a:r>
            <a:r>
              <a:rPr lang="en-US" altLang="zh-CN" dirty="0">
                <a:sym typeface="+mn-ea"/>
              </a:rPr>
              <a:t>ZooKeeper</a:t>
            </a:r>
            <a:r>
              <a:rPr lang="zh-CN" altLang="en-US" dirty="0">
                <a:sym typeface="+mn-ea"/>
              </a:rPr>
              <a:t>安装配置</a:t>
            </a:r>
            <a:endParaRPr lang="en-US" altLang="zh-CN" dirty="0">
              <a:sym typeface="+mn-ea"/>
            </a:endParaRPr>
          </a:p>
          <a:p>
            <a:pPr marL="0" indent="0">
              <a:buNone/>
            </a:pPr>
            <a:r>
              <a:rPr lang="en-US" altLang="zh-CN" dirty="0"/>
              <a:t>4.3 </a:t>
            </a:r>
            <a:r>
              <a:rPr lang="en-US" altLang="zh-CN" dirty="0">
                <a:sym typeface="+mn-ea"/>
              </a:rPr>
              <a:t>ZooKeeper</a:t>
            </a:r>
            <a:r>
              <a:rPr lang="zh-CN" altLang="en-US" dirty="0">
                <a:sym typeface="+mn-ea"/>
              </a:rPr>
              <a:t>命令行操作</a:t>
            </a:r>
            <a:endParaRPr lang="zh-CN" altLang="en-US" dirty="0"/>
          </a:p>
          <a:p>
            <a:pPr marL="0" indent="0">
              <a:buNone/>
            </a:pPr>
            <a:r>
              <a:rPr lang="en-US" altLang="zh-CN" dirty="0"/>
              <a:t>4.4 </a:t>
            </a:r>
            <a:r>
              <a:rPr lang="en-US" dirty="0">
                <a:sym typeface="+mn-ea"/>
              </a:rPr>
              <a:t>HDFS HA</a:t>
            </a:r>
            <a:r>
              <a:rPr lang="zh-CN" altLang="en-US" dirty="0">
                <a:sym typeface="+mn-ea"/>
              </a:rPr>
              <a:t>与</a:t>
            </a:r>
            <a:r>
              <a:rPr lang="en-US" altLang="zh-CN" dirty="0">
                <a:sym typeface="+mn-ea"/>
              </a:rPr>
              <a:t>YARN HA</a:t>
            </a:r>
          </a:p>
          <a:p>
            <a:pPr marL="0" indent="0">
              <a:buNone/>
            </a:pPr>
            <a:r>
              <a:rPr lang="en-US" altLang="zh-CN" dirty="0">
                <a:sym typeface="+mn-ea"/>
              </a:rPr>
              <a:t>4.5 ZooKeeper Java API</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en-US" altLang="zh-CN" dirty="0" err="1"/>
              <a:t>ZooKeeper</a:t>
            </a:r>
            <a:r>
              <a:rPr lang="zh-CN" altLang="en-US" dirty="0">
                <a:ea typeface="宋体" panose="02010600030101010101" pitchFamily="2" charset="-122"/>
              </a:rPr>
              <a:t>简介</a:t>
            </a:r>
          </a:p>
        </p:txBody>
      </p:sp>
      <p:sp>
        <p:nvSpPr>
          <p:cNvPr id="3" name="内容占位符 2"/>
          <p:cNvSpPr>
            <a:spLocks noGrp="1"/>
          </p:cNvSpPr>
          <p:nvPr>
            <p:ph idx="1"/>
          </p:nvPr>
        </p:nvSpPr>
        <p:spPr/>
        <p:txBody>
          <a:bodyPr/>
          <a:lstStyle/>
          <a:p>
            <a:r>
              <a:rPr lang="en-US" altLang="zh-CN" dirty="0">
                <a:ea typeface="宋体" panose="02010600030101010101" pitchFamily="2" charset="-122"/>
              </a:rPr>
              <a:t>4.1.1 </a:t>
            </a:r>
            <a:r>
              <a:rPr lang="zh-CN" altLang="en-US" dirty="0">
                <a:ea typeface="宋体" panose="02010600030101010101" pitchFamily="2" charset="-122"/>
              </a:rPr>
              <a:t>基本概念</a:t>
            </a:r>
          </a:p>
          <a:p>
            <a:r>
              <a:rPr lang="en-US" altLang="zh-CN" dirty="0" smtClean="0">
                <a:ea typeface="宋体" panose="02010600030101010101" pitchFamily="2" charset="-122"/>
              </a:rPr>
              <a:t>4.1.2 </a:t>
            </a:r>
            <a:r>
              <a:rPr lang="zh-CN" altLang="en-US" dirty="0" smtClean="0">
                <a:ea typeface="宋体" panose="02010600030101010101" pitchFamily="2" charset="-122"/>
              </a:rPr>
              <a:t>体系架构</a:t>
            </a:r>
            <a:endParaRPr lang="en-US" altLang="zh-CN" dirty="0" smtClean="0">
              <a:ea typeface="宋体" panose="02010600030101010101" pitchFamily="2" charset="-122"/>
            </a:endParaRPr>
          </a:p>
          <a:p>
            <a:r>
              <a:rPr lang="en-US" altLang="zh-CN" dirty="0" smtClean="0">
                <a:ea typeface="宋体" panose="02010600030101010101" pitchFamily="2" charset="-122"/>
              </a:rPr>
              <a:t>4.1.3 </a:t>
            </a:r>
            <a:r>
              <a:rPr lang="zh-CN" altLang="en-US" dirty="0" smtClean="0">
                <a:ea typeface="宋体" panose="02010600030101010101" pitchFamily="2" charset="-122"/>
              </a:rPr>
              <a:t>工作原理</a:t>
            </a:r>
            <a:endParaRPr lang="en-US" altLang="zh-CN" dirty="0" smtClean="0">
              <a:ea typeface="宋体" panose="02010600030101010101" pitchFamily="2" charset="-122"/>
            </a:endParaRPr>
          </a:p>
          <a:p>
            <a:r>
              <a:rPr lang="en-US" altLang="zh-CN" dirty="0" smtClean="0">
                <a:ea typeface="宋体" panose="02010600030101010101" pitchFamily="2" charset="-122"/>
              </a:rPr>
              <a:t>4.1.4 </a:t>
            </a:r>
            <a:r>
              <a:rPr lang="zh-CN" altLang="en-US" dirty="0" smtClean="0">
                <a:ea typeface="宋体" panose="02010600030101010101" pitchFamily="2" charset="-122"/>
              </a:rPr>
              <a:t>容错机制</a:t>
            </a:r>
            <a:endParaRPr lang="en-US" altLang="zh-CN" dirty="0" smtClean="0">
              <a:ea typeface="宋体" panose="02010600030101010101" pitchFamily="2" charset="-122"/>
            </a:endParaRPr>
          </a:p>
          <a:p>
            <a:r>
              <a:rPr lang="en-US" altLang="zh-CN" dirty="0" smtClean="0">
                <a:ea typeface="宋体" panose="02010600030101010101" pitchFamily="2" charset="-122"/>
              </a:rPr>
              <a:t>4.1.5 </a:t>
            </a:r>
            <a:r>
              <a:rPr lang="zh-CN" altLang="en-US" dirty="0" smtClean="0">
                <a:ea typeface="宋体" panose="02010600030101010101" pitchFamily="2" charset="-122"/>
              </a:rPr>
              <a:t>典型应用</a:t>
            </a:r>
            <a:endParaRPr lang="zh-CN" altLang="en-US" dirty="0">
              <a:ea typeface="宋体" panose="02010600030101010101" pitchFamily="2" charset="-122"/>
            </a:endParaRPr>
          </a:p>
        </p:txBody>
      </p:sp>
    </p:spTree>
    <p:extLst>
      <p:ext uri="{BB962C8B-B14F-4D97-AF65-F5344CB8AC3E}">
        <p14:creationId xmlns:p14="http://schemas.microsoft.com/office/powerpoint/2010/main" val="16567489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宋体" panose="02010600030101010101" pitchFamily="2" charset="-122"/>
              </a:rPr>
              <a:t>4.1.1 </a:t>
            </a:r>
            <a:r>
              <a:rPr lang="zh-CN" altLang="en-US" dirty="0">
                <a:ea typeface="宋体" panose="02010600030101010101" pitchFamily="2" charset="-122"/>
              </a:rPr>
              <a:t>基本概念</a:t>
            </a:r>
          </a:p>
        </p:txBody>
      </p:sp>
      <p:sp>
        <p:nvSpPr>
          <p:cNvPr id="3" name="内容占位符 2"/>
          <p:cNvSpPr>
            <a:spLocks noGrp="1"/>
          </p:cNvSpPr>
          <p:nvPr>
            <p:ph idx="1"/>
          </p:nvPr>
        </p:nvSpPr>
        <p:spPr/>
        <p:txBody>
          <a:bodyPr/>
          <a:lstStyle/>
          <a:p>
            <a:r>
              <a:rPr lang="zh-CN" altLang="en-US" dirty="0" smtClean="0"/>
              <a:t>ZooKeeper是一个开放源代码的分布式协调服务</a:t>
            </a:r>
            <a:endParaRPr lang="en-US" altLang="zh-CN" dirty="0" smtClean="0"/>
          </a:p>
          <a:p>
            <a:pPr lvl="1"/>
            <a:r>
              <a:rPr lang="zh-CN" altLang="en-US" dirty="0" smtClean="0"/>
              <a:t>是 </a:t>
            </a:r>
            <a:r>
              <a:rPr lang="zh-CN" altLang="en-US" dirty="0"/>
              <a:t>Google 的 Chubby一个开源的</a:t>
            </a:r>
            <a:r>
              <a:rPr lang="zh-CN" altLang="en-US" dirty="0" smtClean="0"/>
              <a:t>实现</a:t>
            </a:r>
            <a:endParaRPr lang="en-US" altLang="zh-CN" dirty="0" smtClean="0"/>
          </a:p>
          <a:p>
            <a:pPr lvl="1"/>
            <a:r>
              <a:rPr lang="zh-CN" altLang="en-US" dirty="0" smtClean="0"/>
              <a:t>将复杂且容易出错的分布式一致性服务封装起来，构成一个高效可靠的原语集，并以一系列简单易用的结构提供给用户使用</a:t>
            </a:r>
            <a:endParaRPr lang="zh-CN" altLang="en-US" dirty="0"/>
          </a:p>
        </p:txBody>
      </p:sp>
    </p:spTree>
    <p:extLst>
      <p:ext uri="{BB962C8B-B14F-4D97-AF65-F5344CB8AC3E}">
        <p14:creationId xmlns:p14="http://schemas.microsoft.com/office/powerpoint/2010/main" val="27146356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宋体" panose="02010600030101010101" pitchFamily="2" charset="-122"/>
              </a:rPr>
              <a:t>4.1.1 </a:t>
            </a:r>
            <a:r>
              <a:rPr lang="zh-CN" altLang="en-US" dirty="0">
                <a:ea typeface="宋体" panose="02010600030101010101" pitchFamily="2" charset="-122"/>
              </a:rPr>
              <a:t>基本概念</a:t>
            </a:r>
            <a:endParaRPr lang="zh-CN" altLang="en-US" dirty="0"/>
          </a:p>
        </p:txBody>
      </p:sp>
      <p:sp>
        <p:nvSpPr>
          <p:cNvPr id="3" name="内容占位符 2"/>
          <p:cNvSpPr>
            <a:spLocks noGrp="1"/>
          </p:cNvSpPr>
          <p:nvPr>
            <p:ph idx="1"/>
          </p:nvPr>
        </p:nvSpPr>
        <p:spPr/>
        <p:txBody>
          <a:bodyPr/>
          <a:lstStyle/>
          <a:p>
            <a:r>
              <a:rPr lang="zh-CN" altLang="en-US" dirty="0" smtClean="0"/>
              <a:t>数据模型</a:t>
            </a:r>
            <a:endParaRPr lang="en-US" altLang="zh-CN" dirty="0" smtClean="0"/>
          </a:p>
          <a:p>
            <a:pPr lvl="1"/>
            <a:r>
              <a:rPr lang="en-US" altLang="zh-CN" dirty="0" err="1" smtClean="0"/>
              <a:t>ZooKeeper</a:t>
            </a:r>
            <a:r>
              <a:rPr lang="zh-CN" altLang="en-US" dirty="0" smtClean="0"/>
              <a:t>维护一个树型的层次数据结构。</a:t>
            </a:r>
            <a:endParaRPr lang="en-US" altLang="zh-CN" dirty="0"/>
          </a:p>
          <a:p>
            <a:pPr lvl="2"/>
            <a:r>
              <a:rPr lang="zh-CN" altLang="en-US" dirty="0" smtClean="0"/>
              <a:t>树中的每个数据节点称为</a:t>
            </a:r>
            <a:r>
              <a:rPr lang="en-US" altLang="zh-CN" dirty="0" err="1" smtClean="0"/>
              <a:t>Znode</a:t>
            </a:r>
            <a:r>
              <a:rPr lang="zh-CN" altLang="en-US" dirty="0" smtClean="0"/>
              <a:t>，每个</a:t>
            </a:r>
            <a:r>
              <a:rPr lang="en-US" altLang="zh-CN" dirty="0" err="1" smtClean="0"/>
              <a:t>Znode</a:t>
            </a:r>
            <a:r>
              <a:rPr lang="zh-CN" altLang="en-US" dirty="0" smtClean="0"/>
              <a:t>均可保存信息</a:t>
            </a:r>
            <a:endParaRPr lang="en-US" altLang="zh-CN" dirty="0" smtClean="0"/>
          </a:p>
          <a:p>
            <a:pPr lvl="1"/>
            <a:r>
              <a:rPr lang="en-US" altLang="zh-CN" dirty="0" err="1" smtClean="0"/>
              <a:t>ZooKeeper</a:t>
            </a:r>
            <a:r>
              <a:rPr lang="zh-CN" altLang="en-US" dirty="0" smtClean="0"/>
              <a:t>将全量数据存储在内存中，以提高服务器吞吐、减少延迟</a:t>
            </a:r>
            <a:endParaRPr lang="en-US" altLang="zh-CN" dirty="0" smtClean="0"/>
          </a:p>
          <a:p>
            <a:pPr lvl="2"/>
            <a:r>
              <a:rPr lang="zh-CN" altLang="en-US" dirty="0"/>
              <a:t>数据量很小，一般</a:t>
            </a:r>
            <a:r>
              <a:rPr lang="en-US" altLang="zh-CN" dirty="0"/>
              <a:t>B~KB</a:t>
            </a:r>
            <a:r>
              <a:rPr lang="zh-CN" altLang="en-US" dirty="0"/>
              <a:t>量</a:t>
            </a:r>
            <a:r>
              <a:rPr lang="zh-CN" altLang="en-US" dirty="0" smtClean="0"/>
              <a:t>级</a:t>
            </a:r>
            <a:endParaRPr lang="en-US" altLang="zh-CN" dirty="0" smtClean="0"/>
          </a:p>
          <a:p>
            <a:pPr lvl="1"/>
            <a:r>
              <a:rPr lang="zh-CN" altLang="en-US" dirty="0"/>
              <a:t>存储</a:t>
            </a:r>
            <a:r>
              <a:rPr lang="zh-CN" altLang="en-US" dirty="0" smtClean="0"/>
              <a:t>在</a:t>
            </a:r>
            <a:r>
              <a:rPr lang="en-US" altLang="zh-CN" dirty="0" err="1" smtClean="0"/>
              <a:t>Znode</a:t>
            </a:r>
            <a:r>
              <a:rPr lang="zh-CN" altLang="en-US" dirty="0"/>
              <a:t>上的数据会被客户端</a:t>
            </a:r>
            <a:r>
              <a:rPr lang="zh-CN" altLang="en-US" dirty="0" smtClean="0">
                <a:solidFill>
                  <a:srgbClr val="FF0000"/>
                </a:solidFill>
              </a:rPr>
              <a:t>原子化</a:t>
            </a:r>
            <a:r>
              <a:rPr lang="zh-CN" altLang="en-US" dirty="0" smtClean="0"/>
              <a:t>读写</a:t>
            </a:r>
            <a:endParaRPr lang="en-US" altLang="zh-CN" dirty="0"/>
          </a:p>
          <a:p>
            <a:pPr lvl="2"/>
            <a:r>
              <a:rPr lang="zh-CN" altLang="en-US" dirty="0" smtClean="0"/>
              <a:t>读操作获取</a:t>
            </a:r>
            <a:r>
              <a:rPr lang="en-US" altLang="zh-CN" dirty="0" err="1" smtClean="0"/>
              <a:t>Znode</a:t>
            </a:r>
            <a:r>
              <a:rPr lang="zh-CN" altLang="en-US" dirty="0" smtClean="0"/>
              <a:t>所有</a:t>
            </a:r>
            <a:r>
              <a:rPr lang="zh-CN" altLang="en-US" dirty="0"/>
              <a:t>数据</a:t>
            </a:r>
            <a:endParaRPr lang="en-US" altLang="zh-CN" dirty="0"/>
          </a:p>
          <a:p>
            <a:pPr lvl="2"/>
            <a:r>
              <a:rPr lang="zh-CN" altLang="en-US" dirty="0"/>
              <a:t>写入</a:t>
            </a:r>
            <a:r>
              <a:rPr lang="zh-CN" altLang="en-US" dirty="0" smtClean="0"/>
              <a:t>操作替换</a:t>
            </a:r>
            <a:r>
              <a:rPr lang="en-US" altLang="zh-CN" dirty="0" err="1"/>
              <a:t>Znode</a:t>
            </a:r>
            <a:r>
              <a:rPr lang="zh-CN" altLang="en-US" dirty="0" smtClean="0"/>
              <a:t>数据</a:t>
            </a:r>
            <a:endParaRPr lang="en-US" altLang="zh-CN" dirty="0"/>
          </a:p>
          <a:p>
            <a:pPr lvl="1"/>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6096" y="4581128"/>
            <a:ext cx="2694432" cy="1542288"/>
          </a:xfrm>
          <a:prstGeom prst="rect">
            <a:avLst/>
          </a:prstGeom>
        </p:spPr>
      </p:pic>
    </p:spTree>
    <p:extLst>
      <p:ext uri="{BB962C8B-B14F-4D97-AF65-F5344CB8AC3E}">
        <p14:creationId xmlns:p14="http://schemas.microsoft.com/office/powerpoint/2010/main" val="13048123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宋体" panose="02010600030101010101" pitchFamily="2" charset="-122"/>
              </a:rPr>
              <a:t>4.1.1 </a:t>
            </a:r>
            <a:r>
              <a:rPr lang="zh-CN" altLang="en-US" dirty="0">
                <a:ea typeface="宋体" panose="02010600030101010101" pitchFamily="2" charset="-122"/>
              </a:rPr>
              <a:t>基本概念</a:t>
            </a:r>
          </a:p>
        </p:txBody>
      </p:sp>
      <p:sp>
        <p:nvSpPr>
          <p:cNvPr id="3" name="内容占位符 2"/>
          <p:cNvSpPr>
            <a:spLocks noGrp="1"/>
          </p:cNvSpPr>
          <p:nvPr>
            <p:ph idx="1"/>
          </p:nvPr>
        </p:nvSpPr>
        <p:spPr/>
        <p:txBody>
          <a:bodyPr/>
          <a:lstStyle/>
          <a:p>
            <a:r>
              <a:rPr lang="en-US" altLang="zh-CN" dirty="0" err="1" smtClean="0"/>
              <a:t>Znode</a:t>
            </a:r>
            <a:r>
              <a:rPr lang="zh-CN" altLang="en-US" dirty="0" smtClean="0"/>
              <a:t>有</a:t>
            </a:r>
            <a:r>
              <a:rPr lang="en-US" altLang="zh-CN" dirty="0"/>
              <a:t>4</a:t>
            </a:r>
            <a:r>
              <a:rPr lang="zh-CN" altLang="en-US" dirty="0"/>
              <a:t>种类型</a:t>
            </a:r>
            <a:endParaRPr lang="en-US" altLang="zh-CN" dirty="0"/>
          </a:p>
          <a:p>
            <a:pPr lvl="1"/>
            <a:r>
              <a:rPr lang="zh-CN" altLang="en-US" dirty="0">
                <a:latin typeface="Times New Roman" panose="02020603050405020304" pitchFamily="18" charset="0"/>
                <a:cs typeface="Times New Roman" panose="02020603050405020304" pitchFamily="18" charset="0"/>
                <a:sym typeface="+mn-ea"/>
              </a:rPr>
              <a:t>持久节点（</a:t>
            </a:r>
            <a:r>
              <a:rPr lang="en-US" altLang="ja-JP" dirty="0">
                <a:latin typeface="Times New Roman" panose="02020603050405020304" pitchFamily="18" charset="0"/>
                <a:cs typeface="Times New Roman" panose="02020603050405020304" pitchFamily="18" charset="0"/>
                <a:sym typeface="+mn-ea"/>
              </a:rPr>
              <a:t> PERSISTENT </a:t>
            </a:r>
            <a:r>
              <a:rPr lang="zh-CN" altLang="en-US" dirty="0">
                <a:latin typeface="Times New Roman" panose="02020603050405020304" pitchFamily="18" charset="0"/>
                <a:cs typeface="Times New Roman" panose="02020603050405020304" pitchFamily="18" charset="0"/>
                <a:sym typeface="+mn-ea"/>
              </a:rPr>
              <a:t>）</a:t>
            </a:r>
            <a:endParaRPr lang="en-US" altLang="zh-CN" dirty="0">
              <a:latin typeface="Times New Roman" panose="02020603050405020304" pitchFamily="18" charset="0"/>
              <a:cs typeface="Times New Roman" panose="02020603050405020304" pitchFamily="18" charset="0"/>
              <a:sym typeface="+mn-ea"/>
            </a:endParaRPr>
          </a:p>
          <a:p>
            <a:pPr lvl="1"/>
            <a:r>
              <a:rPr lang="zh-CN" altLang="en-US" dirty="0" smtClean="0">
                <a:latin typeface="Times New Roman" panose="02020603050405020304" pitchFamily="18" charset="0"/>
                <a:cs typeface="Times New Roman" panose="02020603050405020304" pitchFamily="18" charset="0"/>
              </a:rPr>
              <a:t>持久</a:t>
            </a:r>
            <a:r>
              <a:rPr lang="zh-CN" altLang="en-US" dirty="0">
                <a:latin typeface="Times New Roman" panose="02020603050405020304" pitchFamily="18" charset="0"/>
                <a:cs typeface="Times New Roman" panose="02020603050405020304" pitchFamily="18" charset="0"/>
              </a:rPr>
              <a:t>顺序节点</a:t>
            </a:r>
            <a:r>
              <a:rPr lang="en-US" altLang="zh-CN" dirty="0">
                <a:latin typeface="Times New Roman" panose="02020603050405020304" pitchFamily="18" charset="0"/>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sym typeface="+mn-ea"/>
              </a:rPr>
              <a:t>PERSISTENT_SEQUENTIAL</a:t>
            </a:r>
            <a:r>
              <a:rPr lang="en-US" altLang="zh-CN" dirty="0" smtClean="0">
                <a:latin typeface="Times New Roman" panose="02020603050405020304" pitchFamily="18" charset="0"/>
                <a:cs typeface="Times New Roman" panose="02020603050405020304" pitchFamily="18" charset="0"/>
                <a:sym typeface="+mn-ea"/>
              </a:rPr>
              <a:t>)</a:t>
            </a:r>
          </a:p>
          <a:p>
            <a:pPr lvl="1"/>
            <a:r>
              <a:rPr lang="zh-CN" altLang="en-US" dirty="0">
                <a:latin typeface="Times New Roman" panose="02020603050405020304" pitchFamily="18" charset="0"/>
                <a:cs typeface="Times New Roman" panose="02020603050405020304" pitchFamily="18" charset="0"/>
                <a:sym typeface="+mn-ea"/>
              </a:rPr>
              <a:t>临时节点（</a:t>
            </a:r>
            <a:r>
              <a:rPr lang="en-US" altLang="ja-JP" dirty="0">
                <a:latin typeface="Times New Roman" panose="02020603050405020304" pitchFamily="18" charset="0"/>
                <a:cs typeface="Times New Roman" panose="02020603050405020304" pitchFamily="18" charset="0"/>
                <a:sym typeface="+mn-ea"/>
              </a:rPr>
              <a:t>EPHEMERAL</a:t>
            </a:r>
            <a:r>
              <a:rPr lang="zh-CN" altLang="en-US" dirty="0">
                <a:latin typeface="Times New Roman" panose="02020603050405020304" pitchFamily="18" charset="0"/>
                <a:cs typeface="Times New Roman" panose="02020603050405020304" pitchFamily="18" charset="0"/>
                <a:sym typeface="+mn-ea"/>
              </a:rPr>
              <a:t>）</a:t>
            </a:r>
            <a:endParaRPr lang="en-US" altLang="zh-CN" dirty="0">
              <a:latin typeface="Times New Roman" panose="02020603050405020304" pitchFamily="18" charset="0"/>
              <a:cs typeface="Times New Roman" panose="02020603050405020304" pitchFamily="18" charset="0"/>
              <a:sym typeface="+mn-ea"/>
            </a:endParaRPr>
          </a:p>
          <a:p>
            <a:pPr lvl="1"/>
            <a:r>
              <a:rPr lang="zh-CN" altLang="en-US" dirty="0" smtClean="0">
                <a:latin typeface="Times New Roman" panose="02020603050405020304" pitchFamily="18" charset="0"/>
                <a:cs typeface="Times New Roman" panose="02020603050405020304" pitchFamily="18" charset="0"/>
              </a:rPr>
              <a:t>临时</a:t>
            </a:r>
            <a:r>
              <a:rPr lang="zh-CN" altLang="en-US" dirty="0">
                <a:latin typeface="Times New Roman" panose="02020603050405020304" pitchFamily="18" charset="0"/>
                <a:cs typeface="Times New Roman" panose="02020603050405020304" pitchFamily="18" charset="0"/>
              </a:rPr>
              <a:t>顺序节点</a:t>
            </a:r>
            <a:r>
              <a:rPr lang="en-US" altLang="zh-CN" dirty="0">
                <a:latin typeface="Times New Roman" panose="02020603050405020304" pitchFamily="18" charset="0"/>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sym typeface="+mn-ea"/>
              </a:rPr>
              <a:t>EPHEMERAL_SEQUENTIAL</a:t>
            </a:r>
            <a:r>
              <a:rPr lang="en-US" altLang="zh-CN" dirty="0">
                <a:latin typeface="Times New Roman" panose="02020603050405020304" pitchFamily="18" charset="0"/>
                <a:cs typeface="Times New Roman" panose="02020603050405020304" pitchFamily="18" charset="0"/>
                <a:sym typeface="+mn-ea"/>
              </a:rPr>
              <a:t>)</a:t>
            </a:r>
          </a:p>
          <a:p>
            <a:pPr lvl="1"/>
            <a:endParaRPr lang="en-US" altLang="zh-CN" dirty="0">
              <a:latin typeface="Times New Roman" panose="02020603050405020304" pitchFamily="18" charset="0"/>
              <a:cs typeface="Times New Roman" panose="02020603050405020304" pitchFamily="18" charset="0"/>
              <a:sym typeface="+mn-ea"/>
            </a:endParaRPr>
          </a:p>
        </p:txBody>
      </p:sp>
    </p:spTree>
    <p:extLst>
      <p:ext uri="{BB962C8B-B14F-4D97-AF65-F5344CB8AC3E}">
        <p14:creationId xmlns:p14="http://schemas.microsoft.com/office/powerpoint/2010/main" val="3015918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宋体" panose="02010600030101010101" pitchFamily="2" charset="-122"/>
              </a:rPr>
              <a:t>4.1.1 </a:t>
            </a:r>
            <a:r>
              <a:rPr lang="zh-CN" altLang="en-US" dirty="0">
                <a:ea typeface="宋体" panose="02010600030101010101" pitchFamily="2" charset="-122"/>
              </a:rPr>
              <a:t>基本概念</a:t>
            </a:r>
          </a:p>
        </p:txBody>
      </p:sp>
      <p:sp>
        <p:nvSpPr>
          <p:cNvPr id="3" name="内容占位符 2"/>
          <p:cNvSpPr>
            <a:spLocks noGrp="1"/>
          </p:cNvSpPr>
          <p:nvPr>
            <p:ph idx="1"/>
          </p:nvPr>
        </p:nvSpPr>
        <p:spPr/>
        <p:txBody>
          <a:bodyPr/>
          <a:lstStyle/>
          <a:p>
            <a:r>
              <a:rPr lang="en-US" altLang="zh-CN" dirty="0" err="1"/>
              <a:t>Znode</a:t>
            </a:r>
            <a:r>
              <a:rPr lang="zh-CN" altLang="en-US" dirty="0" smtClean="0"/>
              <a:t>有</a:t>
            </a:r>
            <a:r>
              <a:rPr lang="en-US" altLang="zh-CN" dirty="0"/>
              <a:t>4</a:t>
            </a:r>
            <a:r>
              <a:rPr lang="zh-CN" altLang="en-US" dirty="0"/>
              <a:t>种类型</a:t>
            </a:r>
            <a:endParaRPr lang="en-US" altLang="zh-CN" dirty="0"/>
          </a:p>
          <a:p>
            <a:pPr lvl="1"/>
            <a:r>
              <a:rPr lang="zh-CN" altLang="en-US" dirty="0">
                <a:latin typeface="Times New Roman" panose="02020603050405020304" pitchFamily="18" charset="0"/>
                <a:cs typeface="Times New Roman" panose="02020603050405020304" pitchFamily="18" charset="0"/>
                <a:sym typeface="+mn-ea"/>
              </a:rPr>
              <a:t>持久节点（</a:t>
            </a:r>
            <a:r>
              <a:rPr lang="en-US" altLang="ja-JP" dirty="0">
                <a:latin typeface="Times New Roman" panose="02020603050405020304" pitchFamily="18" charset="0"/>
                <a:cs typeface="Times New Roman" panose="02020603050405020304" pitchFamily="18" charset="0"/>
                <a:sym typeface="+mn-ea"/>
              </a:rPr>
              <a:t> PERSISTENT </a:t>
            </a:r>
            <a:r>
              <a:rPr lang="zh-CN" altLang="en-US" dirty="0">
                <a:latin typeface="Times New Roman" panose="02020603050405020304" pitchFamily="18" charset="0"/>
                <a:cs typeface="Times New Roman" panose="02020603050405020304" pitchFamily="18" charset="0"/>
                <a:sym typeface="+mn-ea"/>
              </a:rPr>
              <a:t>）</a:t>
            </a:r>
            <a:endParaRPr lang="en-US" altLang="zh-CN" dirty="0">
              <a:latin typeface="Times New Roman" panose="02020603050405020304" pitchFamily="18" charset="0"/>
              <a:cs typeface="Times New Roman" panose="02020603050405020304" pitchFamily="18" charset="0"/>
              <a:sym typeface="+mn-ea"/>
            </a:endParaRPr>
          </a:p>
          <a:p>
            <a:pPr lvl="2"/>
            <a:r>
              <a:rPr lang="zh-CN" altLang="en-US" dirty="0">
                <a:latin typeface="Times New Roman" panose="02020603050405020304" pitchFamily="18" charset="0"/>
                <a:cs typeface="Times New Roman" panose="02020603050405020304" pitchFamily="18" charset="0"/>
              </a:rPr>
              <a:t>创建后一直存在，除非</a:t>
            </a:r>
            <a:r>
              <a:rPr lang="zh-CN" altLang="en-US" dirty="0">
                <a:latin typeface="Times New Roman" panose="02020603050405020304" pitchFamily="18" charset="0"/>
                <a:cs typeface="Times New Roman" panose="02020603050405020304" pitchFamily="18" charset="0"/>
                <a:sym typeface="+mn-ea"/>
              </a:rPr>
              <a:t>手动将其删除</a:t>
            </a:r>
            <a:endParaRPr lang="en-US" altLang="zh-CN" dirty="0">
              <a:latin typeface="Times New Roman" panose="02020603050405020304" pitchFamily="18" charset="0"/>
              <a:cs typeface="Times New Roman" panose="02020603050405020304" pitchFamily="18" charset="0"/>
              <a:sym typeface="+mn-ea"/>
            </a:endParaRPr>
          </a:p>
          <a:p>
            <a:pPr lvl="1"/>
            <a:r>
              <a:rPr lang="zh-CN" altLang="en-US" dirty="0">
                <a:latin typeface="Times New Roman" panose="02020603050405020304" pitchFamily="18" charset="0"/>
                <a:cs typeface="Times New Roman" panose="02020603050405020304" pitchFamily="18" charset="0"/>
              </a:rPr>
              <a:t>持久顺序节点</a:t>
            </a:r>
            <a:r>
              <a:rPr lang="en-US" altLang="zh-CN" dirty="0">
                <a:latin typeface="Times New Roman" panose="02020603050405020304" pitchFamily="18" charset="0"/>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sym typeface="+mn-ea"/>
              </a:rPr>
              <a:t>PERSISTENT_SEQUENTIAL</a:t>
            </a:r>
            <a:r>
              <a:rPr lang="en-US" altLang="zh-CN" dirty="0">
                <a:latin typeface="Times New Roman" panose="02020603050405020304" pitchFamily="18" charset="0"/>
                <a:cs typeface="Times New Roman" panose="02020603050405020304" pitchFamily="18" charset="0"/>
                <a:sym typeface="+mn-ea"/>
              </a:rPr>
              <a:t>)</a:t>
            </a:r>
          </a:p>
          <a:p>
            <a:pPr lvl="2"/>
            <a:r>
              <a:rPr lang="zh-CN" altLang="en-US" dirty="0">
                <a:latin typeface="Times New Roman" panose="02020603050405020304" pitchFamily="18" charset="0"/>
                <a:cs typeface="Times New Roman" panose="02020603050405020304" pitchFamily="18" charset="0"/>
              </a:rPr>
              <a:t>拥有</a:t>
            </a:r>
            <a:r>
              <a:rPr lang="zh-CN" altLang="en-US" dirty="0">
                <a:latin typeface="Times New Roman" panose="02020603050405020304" pitchFamily="18" charset="0"/>
                <a:cs typeface="Times New Roman" panose="02020603050405020304" pitchFamily="18" charset="0"/>
                <a:sym typeface="+mn-ea"/>
              </a:rPr>
              <a:t>持久节点的</a:t>
            </a:r>
            <a:r>
              <a:rPr lang="zh-CN" altLang="en-US" dirty="0" smtClean="0">
                <a:latin typeface="Times New Roman" panose="02020603050405020304" pitchFamily="18" charset="0"/>
                <a:cs typeface="Times New Roman" panose="02020603050405020304" pitchFamily="18" charset="0"/>
                <a:sym typeface="+mn-ea"/>
              </a:rPr>
              <a:t>功能</a:t>
            </a:r>
            <a:endParaRPr lang="en-US" altLang="zh-CN" dirty="0" smtClean="0">
              <a:latin typeface="Times New Roman" panose="02020603050405020304" pitchFamily="18" charset="0"/>
              <a:cs typeface="Times New Roman" panose="02020603050405020304" pitchFamily="18" charset="0"/>
              <a:sym typeface="+mn-ea"/>
            </a:endParaRPr>
          </a:p>
          <a:p>
            <a:pPr lvl="2"/>
            <a:r>
              <a:rPr lang="zh-CN" altLang="en-US" dirty="0" smtClean="0">
                <a:latin typeface="Times New Roman" panose="02020603050405020304" pitchFamily="18" charset="0"/>
                <a:cs typeface="Times New Roman" panose="02020603050405020304" pitchFamily="18" charset="0"/>
                <a:sym typeface="+mn-ea"/>
              </a:rPr>
              <a:t>在</a:t>
            </a:r>
            <a:r>
              <a:rPr lang="zh-CN" altLang="en-US" dirty="0">
                <a:latin typeface="Times New Roman" panose="02020603050405020304" pitchFamily="18" charset="0"/>
                <a:cs typeface="Times New Roman" panose="02020603050405020304" pitchFamily="18" charset="0"/>
                <a:sym typeface="+mn-ea"/>
              </a:rPr>
              <a:t>创建时，</a:t>
            </a:r>
            <a:r>
              <a:rPr lang="en-US" altLang="zh-CN" dirty="0" err="1">
                <a:latin typeface="Times New Roman" panose="02020603050405020304" pitchFamily="18" charset="0"/>
                <a:cs typeface="Times New Roman" panose="02020603050405020304" pitchFamily="18" charset="0"/>
                <a:sym typeface="+mn-ea"/>
              </a:rPr>
              <a:t>ZooKeeper</a:t>
            </a:r>
            <a:r>
              <a:rPr lang="zh-CN" altLang="en-US" dirty="0">
                <a:latin typeface="Times New Roman" panose="02020603050405020304" pitchFamily="18" charset="0"/>
                <a:cs typeface="Times New Roman" panose="02020603050405020304" pitchFamily="18" charset="0"/>
                <a:sym typeface="+mn-ea"/>
              </a:rPr>
              <a:t>会在节点名称末尾自动追加一个自增长的数字后缀作为新的节点名称，以便记录每个节点创建的先后顺序</a:t>
            </a:r>
            <a:endParaRPr lang="en-US" altLang="zh-CN" dirty="0">
              <a:latin typeface="Times New Roman" panose="02020603050405020304" pitchFamily="18" charset="0"/>
              <a:cs typeface="Times New Roman" panose="02020603050405020304" pitchFamily="18" charset="0"/>
              <a:sym typeface="+mn-ea"/>
            </a:endParaRPr>
          </a:p>
          <a:p>
            <a:pPr lvl="3"/>
            <a:r>
              <a:rPr lang="zh-CN" altLang="en-US" dirty="0">
                <a:latin typeface="Times New Roman" panose="02020603050405020304" pitchFamily="18" charset="0"/>
                <a:cs typeface="Times New Roman" panose="02020603050405020304" pitchFamily="18" charset="0"/>
              </a:rPr>
              <a:t>数字后缀的长度是</a:t>
            </a:r>
            <a:r>
              <a:rPr lang="en-US" altLang="zh-CN" dirty="0">
                <a:latin typeface="Times New Roman" panose="02020603050405020304" pitchFamily="18" charset="0"/>
                <a:cs typeface="Times New Roman" panose="02020603050405020304" pitchFamily="18" charset="0"/>
              </a:rPr>
              <a:t>10</a:t>
            </a:r>
            <a:r>
              <a:rPr lang="zh-CN" altLang="en-US" dirty="0">
                <a:latin typeface="Times New Roman" panose="02020603050405020304" pitchFamily="18" charset="0"/>
                <a:cs typeface="Times New Roman" panose="02020603050405020304" pitchFamily="18" charset="0"/>
              </a:rPr>
              <a:t>位，且由</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填充</a:t>
            </a:r>
            <a:endParaRPr lang="en-US" altLang="zh-CN" dirty="0">
              <a:latin typeface="Times New Roman" panose="02020603050405020304" pitchFamily="18" charset="0"/>
              <a:cs typeface="Times New Roman" panose="02020603050405020304" pitchFamily="18" charset="0"/>
            </a:endParaRPr>
          </a:p>
          <a:p>
            <a:pPr lvl="3"/>
            <a:r>
              <a:rPr lang="zh-CN" altLang="en-US" dirty="0">
                <a:latin typeface="Times New Roman" panose="02020603050405020304" pitchFamily="18" charset="0"/>
                <a:cs typeface="Times New Roman" panose="02020603050405020304" pitchFamily="18" charset="0"/>
              </a:rPr>
              <a:t>例如在</a:t>
            </a:r>
            <a:r>
              <a:rPr lang="en-US" altLang="zh-CN" dirty="0">
                <a:latin typeface="Times New Roman" panose="02020603050405020304" pitchFamily="18" charset="0"/>
                <a:cs typeface="Times New Roman" panose="02020603050405020304" pitchFamily="18" charset="0"/>
              </a:rPr>
              <a:t>/lock</a:t>
            </a:r>
            <a:r>
              <a:rPr lang="zh-CN" altLang="en-US" dirty="0">
                <a:latin typeface="Times New Roman" panose="02020603050405020304" pitchFamily="18" charset="0"/>
                <a:cs typeface="Times New Roman" panose="02020603050405020304" pitchFamily="18" charset="0"/>
              </a:rPr>
              <a:t>节点下创建子节点</a:t>
            </a:r>
            <a:r>
              <a:rPr lang="en-US" altLang="zh-CN" dirty="0">
                <a:latin typeface="Times New Roman" panose="02020603050405020304" pitchFamily="18" charset="0"/>
                <a:cs typeface="Times New Roman" panose="02020603050405020304" pitchFamily="18" charset="0"/>
              </a:rPr>
              <a:t>/lock/</a:t>
            </a:r>
            <a:r>
              <a:rPr lang="en-US" altLang="zh-CN" dirty="0" err="1">
                <a:latin typeface="Times New Roman" panose="02020603050405020304" pitchFamily="18" charset="0"/>
                <a:cs typeface="Times New Roman" panose="02020603050405020304" pitchFamily="18" charset="0"/>
              </a:rPr>
              <a:t>znode</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，第一个创建的子节点为</a:t>
            </a:r>
            <a:r>
              <a:rPr lang="en-US" altLang="zh-CN" dirty="0">
                <a:latin typeface="Times New Roman" panose="02020603050405020304" pitchFamily="18" charset="0"/>
                <a:cs typeface="Times New Roman" panose="02020603050405020304" pitchFamily="18" charset="0"/>
              </a:rPr>
              <a:t>/lock/znode-0000000000</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66549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宋体" panose="02010600030101010101" pitchFamily="2" charset="-122"/>
              </a:rPr>
              <a:t>4.1.1 </a:t>
            </a:r>
            <a:r>
              <a:rPr lang="zh-CN" altLang="en-US" dirty="0">
                <a:ea typeface="宋体" panose="02010600030101010101" pitchFamily="2" charset="-122"/>
              </a:rPr>
              <a:t>基本概念</a:t>
            </a:r>
          </a:p>
        </p:txBody>
      </p:sp>
      <p:sp>
        <p:nvSpPr>
          <p:cNvPr id="3" name="内容占位符 2"/>
          <p:cNvSpPr>
            <a:spLocks noGrp="1"/>
          </p:cNvSpPr>
          <p:nvPr>
            <p:ph idx="1"/>
          </p:nvPr>
        </p:nvSpPr>
        <p:spPr/>
        <p:txBody>
          <a:bodyPr/>
          <a:lstStyle/>
          <a:p>
            <a:r>
              <a:rPr lang="en-US" altLang="zh-CN" dirty="0" err="1"/>
              <a:t>Znode</a:t>
            </a:r>
            <a:r>
              <a:rPr lang="zh-CN" altLang="en-US" dirty="0" smtClean="0"/>
              <a:t>有</a:t>
            </a:r>
            <a:r>
              <a:rPr lang="en-US" altLang="zh-CN" dirty="0"/>
              <a:t>4</a:t>
            </a:r>
            <a:r>
              <a:rPr lang="zh-CN" altLang="en-US" dirty="0"/>
              <a:t>种类型</a:t>
            </a:r>
            <a:endParaRPr lang="en-US" altLang="zh-CN" dirty="0"/>
          </a:p>
          <a:p>
            <a:pPr lvl="1"/>
            <a:r>
              <a:rPr lang="zh-CN" altLang="en-US" dirty="0">
                <a:latin typeface="Times New Roman" panose="02020603050405020304" pitchFamily="18" charset="0"/>
                <a:cs typeface="Times New Roman" panose="02020603050405020304" pitchFamily="18" charset="0"/>
                <a:sym typeface="+mn-ea"/>
              </a:rPr>
              <a:t>临时节点（</a:t>
            </a:r>
            <a:r>
              <a:rPr lang="en-US" altLang="ja-JP" dirty="0">
                <a:latin typeface="Times New Roman" panose="02020603050405020304" pitchFamily="18" charset="0"/>
                <a:cs typeface="Times New Roman" panose="02020603050405020304" pitchFamily="18" charset="0"/>
                <a:sym typeface="+mn-ea"/>
              </a:rPr>
              <a:t>EPHEMERAL</a:t>
            </a:r>
            <a:r>
              <a:rPr lang="zh-CN" altLang="en-US" dirty="0">
                <a:latin typeface="Times New Roman" panose="02020603050405020304" pitchFamily="18" charset="0"/>
                <a:cs typeface="Times New Roman" panose="02020603050405020304" pitchFamily="18" charset="0"/>
                <a:sym typeface="+mn-ea"/>
              </a:rPr>
              <a:t>）</a:t>
            </a:r>
            <a:endParaRPr lang="en-US" altLang="zh-CN" dirty="0">
              <a:latin typeface="Times New Roman" panose="02020603050405020304" pitchFamily="18" charset="0"/>
              <a:cs typeface="Times New Roman" panose="02020603050405020304" pitchFamily="18" charset="0"/>
              <a:sym typeface="+mn-ea"/>
            </a:endParaRPr>
          </a:p>
          <a:p>
            <a:pPr lvl="2"/>
            <a:r>
              <a:rPr lang="zh-CN" altLang="en-US" dirty="0">
                <a:latin typeface="Times New Roman" panose="02020603050405020304" pitchFamily="18" charset="0"/>
                <a:cs typeface="Times New Roman" panose="02020603050405020304" pitchFamily="18" charset="0"/>
                <a:sym typeface="+mn-ea"/>
              </a:rPr>
              <a:t>客户端与</a:t>
            </a:r>
            <a:r>
              <a:rPr lang="en-US" altLang="zh-CN" dirty="0" err="1">
                <a:latin typeface="Times New Roman" panose="02020603050405020304" pitchFamily="18" charset="0"/>
                <a:cs typeface="Times New Roman" panose="02020603050405020304" pitchFamily="18" charset="0"/>
                <a:sym typeface="+mn-ea"/>
              </a:rPr>
              <a:t>ZooKeeper</a:t>
            </a:r>
            <a:r>
              <a:rPr lang="zh-CN" altLang="en-US" dirty="0">
                <a:latin typeface="Times New Roman" panose="02020603050405020304" pitchFamily="18" charset="0"/>
                <a:cs typeface="Times New Roman" panose="02020603050405020304" pitchFamily="18" charset="0"/>
                <a:sym typeface="+mn-ea"/>
              </a:rPr>
              <a:t>服务器会话存在，这些节点就存在，客户端会话结束时，节点将被删除</a:t>
            </a:r>
            <a:endParaRPr lang="en-US" altLang="zh-CN" dirty="0">
              <a:latin typeface="Times New Roman" panose="02020603050405020304" pitchFamily="18" charset="0"/>
              <a:cs typeface="Times New Roman" panose="02020603050405020304" pitchFamily="18" charset="0"/>
              <a:sym typeface="+mn-ea"/>
            </a:endParaRPr>
          </a:p>
          <a:p>
            <a:pPr lvl="2"/>
            <a:r>
              <a:rPr lang="zh-CN" altLang="en-US" dirty="0">
                <a:latin typeface="Times New Roman" panose="02020603050405020304" pitchFamily="18" charset="0"/>
                <a:cs typeface="Times New Roman" panose="02020603050405020304" pitchFamily="18" charset="0"/>
                <a:sym typeface="+mn-ea"/>
              </a:rPr>
              <a:t>临时节点不可以有子节点</a:t>
            </a:r>
            <a:endParaRPr lang="en-US" altLang="zh-CN" dirty="0">
              <a:latin typeface="Times New Roman" panose="02020603050405020304" pitchFamily="18" charset="0"/>
              <a:cs typeface="Times New Roman" panose="02020603050405020304" pitchFamily="18" charset="0"/>
              <a:sym typeface="+mn-ea"/>
            </a:endParaRPr>
          </a:p>
          <a:p>
            <a:pPr lvl="1"/>
            <a:r>
              <a:rPr lang="zh-CN" altLang="en-US" dirty="0">
                <a:latin typeface="Times New Roman" panose="02020603050405020304" pitchFamily="18" charset="0"/>
                <a:cs typeface="Times New Roman" panose="02020603050405020304" pitchFamily="18" charset="0"/>
              </a:rPr>
              <a:t>临时顺序节点</a:t>
            </a:r>
            <a:r>
              <a:rPr lang="en-US" altLang="zh-CN" dirty="0">
                <a:latin typeface="Times New Roman" panose="02020603050405020304" pitchFamily="18" charset="0"/>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sym typeface="+mn-ea"/>
              </a:rPr>
              <a:t>EPHEMERAL_SEQUENTIAL</a:t>
            </a:r>
            <a:r>
              <a:rPr lang="en-US" altLang="zh-CN" dirty="0">
                <a:latin typeface="Times New Roman" panose="02020603050405020304" pitchFamily="18" charset="0"/>
                <a:cs typeface="Times New Roman" panose="02020603050405020304" pitchFamily="18" charset="0"/>
                <a:sym typeface="+mn-ea"/>
              </a:rPr>
              <a:t>)</a:t>
            </a:r>
          </a:p>
          <a:p>
            <a:pPr lvl="2"/>
            <a:r>
              <a:rPr lang="zh-CN" altLang="en-US" dirty="0">
                <a:latin typeface="Times New Roman" panose="02020603050405020304" pitchFamily="18" charset="0"/>
                <a:cs typeface="Times New Roman" panose="02020603050405020304" pitchFamily="18" charset="0"/>
              </a:rPr>
              <a:t>拥有</a:t>
            </a:r>
            <a:r>
              <a:rPr lang="zh-CN" altLang="en-US" dirty="0">
                <a:latin typeface="Times New Roman" panose="02020603050405020304" pitchFamily="18" charset="0"/>
                <a:cs typeface="Times New Roman" panose="02020603050405020304" pitchFamily="18" charset="0"/>
                <a:sym typeface="+mn-ea"/>
              </a:rPr>
              <a:t>临时节点的</a:t>
            </a:r>
            <a:r>
              <a:rPr lang="zh-CN" altLang="en-US" dirty="0" smtClean="0">
                <a:latin typeface="Times New Roman" panose="02020603050405020304" pitchFamily="18" charset="0"/>
                <a:cs typeface="Times New Roman" panose="02020603050405020304" pitchFamily="18" charset="0"/>
                <a:sym typeface="+mn-ea"/>
              </a:rPr>
              <a:t>功能</a:t>
            </a:r>
            <a:endParaRPr lang="en-US" altLang="zh-CN" dirty="0" smtClean="0">
              <a:latin typeface="Times New Roman" panose="02020603050405020304" pitchFamily="18" charset="0"/>
              <a:cs typeface="Times New Roman" panose="02020603050405020304" pitchFamily="18" charset="0"/>
              <a:sym typeface="+mn-ea"/>
            </a:endParaRPr>
          </a:p>
          <a:p>
            <a:pPr lvl="2"/>
            <a:r>
              <a:rPr lang="zh-CN" altLang="en-US" dirty="0" smtClean="0">
                <a:latin typeface="Times New Roman" panose="02020603050405020304" pitchFamily="18" charset="0"/>
                <a:cs typeface="Times New Roman" panose="02020603050405020304" pitchFamily="18" charset="0"/>
                <a:sym typeface="+mn-ea"/>
              </a:rPr>
              <a:t>在</a:t>
            </a:r>
            <a:r>
              <a:rPr lang="zh-CN" altLang="en-US" dirty="0">
                <a:latin typeface="Times New Roman" panose="02020603050405020304" pitchFamily="18" charset="0"/>
                <a:cs typeface="Times New Roman" panose="02020603050405020304" pitchFamily="18" charset="0"/>
                <a:sym typeface="+mn-ea"/>
              </a:rPr>
              <a:t>创建时，</a:t>
            </a:r>
            <a:r>
              <a:rPr lang="en-US" altLang="zh-CN" dirty="0" err="1">
                <a:latin typeface="Times New Roman" panose="02020603050405020304" pitchFamily="18" charset="0"/>
                <a:cs typeface="Times New Roman" panose="02020603050405020304" pitchFamily="18" charset="0"/>
                <a:sym typeface="+mn-ea"/>
              </a:rPr>
              <a:t>ZooKeeper</a:t>
            </a:r>
            <a:r>
              <a:rPr lang="zh-CN" altLang="en-US" dirty="0">
                <a:latin typeface="Times New Roman" panose="02020603050405020304" pitchFamily="18" charset="0"/>
                <a:cs typeface="Times New Roman" panose="02020603050405020304" pitchFamily="18" charset="0"/>
                <a:sym typeface="+mn-ea"/>
              </a:rPr>
              <a:t>会在节点名称末尾自动追加一个自增长的数字后缀作为新的节点名称</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48214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宋体" panose="02010600030101010101" pitchFamily="2" charset="-122"/>
              </a:rPr>
              <a:t>4.1.1 </a:t>
            </a:r>
            <a:r>
              <a:rPr lang="zh-CN" altLang="en-US" dirty="0">
                <a:ea typeface="宋体" panose="02010600030101010101" pitchFamily="2" charset="-122"/>
              </a:rPr>
              <a:t>基本概念</a:t>
            </a:r>
            <a:endParaRPr lang="zh-CN" altLang="en-US" dirty="0"/>
          </a:p>
        </p:txBody>
      </p:sp>
      <p:sp>
        <p:nvSpPr>
          <p:cNvPr id="3" name="内容占位符 2"/>
          <p:cNvSpPr>
            <a:spLocks noGrp="1"/>
          </p:cNvSpPr>
          <p:nvPr>
            <p:ph idx="1"/>
          </p:nvPr>
        </p:nvSpPr>
        <p:spPr/>
        <p:txBody>
          <a:bodyPr/>
          <a:lstStyle/>
          <a:p>
            <a:r>
              <a:rPr lang="zh-CN" altLang="en-US" dirty="0" smtClean="0"/>
              <a:t>操作原语</a:t>
            </a:r>
            <a:endParaRPr lang="en-US" altLang="zh-CN" dirty="0" smtClean="0"/>
          </a:p>
          <a:p>
            <a:pPr lvl="1"/>
            <a:r>
              <a:rPr lang="en-US" altLang="zh-CN" dirty="0" err="1" smtClean="0"/>
              <a:t>ZooKeeper</a:t>
            </a:r>
            <a:r>
              <a:rPr lang="zh-CN" altLang="en-US" dirty="0" smtClean="0"/>
              <a:t>主要提供以下操作原语对数据进行查询或修改</a:t>
            </a:r>
            <a:endParaRPr lang="en-US" altLang="zh-CN" dirty="0" smtClean="0"/>
          </a:p>
          <a:p>
            <a:pPr lvl="2"/>
            <a:r>
              <a:rPr lang="en-US" altLang="zh-CN" dirty="0" smtClean="0"/>
              <a:t>create</a:t>
            </a:r>
            <a:r>
              <a:rPr lang="zh-CN" altLang="en-US" dirty="0" smtClean="0"/>
              <a:t>：在某个位置增加一个</a:t>
            </a:r>
            <a:r>
              <a:rPr lang="en-US" altLang="zh-CN" dirty="0" err="1" smtClean="0"/>
              <a:t>Znode</a:t>
            </a:r>
            <a:endParaRPr lang="en-US" altLang="zh-CN" dirty="0" smtClean="0"/>
          </a:p>
          <a:p>
            <a:pPr lvl="2"/>
            <a:r>
              <a:rPr lang="en-US" altLang="zh-CN" dirty="0" smtClean="0"/>
              <a:t>delete</a:t>
            </a:r>
            <a:r>
              <a:rPr lang="zh-CN" altLang="en-US" dirty="0" smtClean="0"/>
              <a:t>：删除某个</a:t>
            </a:r>
            <a:r>
              <a:rPr lang="en-US" altLang="zh-CN" dirty="0" err="1"/>
              <a:t>Znode</a:t>
            </a:r>
            <a:endParaRPr lang="en-US" altLang="zh-CN" dirty="0"/>
          </a:p>
          <a:p>
            <a:pPr lvl="2"/>
            <a:r>
              <a:rPr lang="en-US" altLang="zh-CN" dirty="0" smtClean="0"/>
              <a:t>exists</a:t>
            </a:r>
            <a:r>
              <a:rPr lang="zh-CN" altLang="en-US" dirty="0" smtClean="0"/>
              <a:t>：判断某个位置是否存在</a:t>
            </a:r>
            <a:r>
              <a:rPr lang="en-US" altLang="zh-CN" dirty="0" err="1"/>
              <a:t>Znode</a:t>
            </a:r>
            <a:endParaRPr lang="en-US" altLang="zh-CN" dirty="0"/>
          </a:p>
          <a:p>
            <a:pPr lvl="2"/>
            <a:r>
              <a:rPr lang="en-US" altLang="zh-CN" dirty="0" smtClean="0"/>
              <a:t>get data</a:t>
            </a:r>
            <a:r>
              <a:rPr lang="zh-CN" altLang="en-US" dirty="0" smtClean="0"/>
              <a:t>：从某个</a:t>
            </a:r>
            <a:r>
              <a:rPr lang="en-US" altLang="zh-CN" dirty="0" err="1" smtClean="0"/>
              <a:t>Znode</a:t>
            </a:r>
            <a:r>
              <a:rPr lang="zh-CN" altLang="en-US" dirty="0" smtClean="0"/>
              <a:t>读取数据</a:t>
            </a:r>
            <a:endParaRPr lang="en-US" altLang="zh-CN" dirty="0" smtClean="0"/>
          </a:p>
          <a:p>
            <a:pPr lvl="2"/>
            <a:r>
              <a:rPr lang="en-US" altLang="zh-CN" dirty="0" smtClean="0"/>
              <a:t>set data</a:t>
            </a:r>
            <a:r>
              <a:rPr lang="zh-CN" altLang="en-US" dirty="0" smtClean="0"/>
              <a:t>：向某个</a:t>
            </a:r>
            <a:r>
              <a:rPr lang="en-US" altLang="zh-CN" dirty="0" err="1" smtClean="0"/>
              <a:t>Znode</a:t>
            </a:r>
            <a:r>
              <a:rPr lang="zh-CN" altLang="en-US" dirty="0" smtClean="0"/>
              <a:t>写入数据</a:t>
            </a:r>
            <a:endParaRPr lang="en-US" altLang="zh-CN" dirty="0" smtClean="0"/>
          </a:p>
          <a:p>
            <a:pPr lvl="2"/>
            <a:r>
              <a:rPr lang="en-US" altLang="zh-CN" dirty="0" smtClean="0"/>
              <a:t>get children</a:t>
            </a:r>
            <a:r>
              <a:rPr lang="zh-CN" altLang="en-US" dirty="0" smtClean="0"/>
              <a:t>：查找某个</a:t>
            </a:r>
            <a:r>
              <a:rPr lang="en-US" altLang="zh-CN" dirty="0" err="1" smtClean="0"/>
              <a:t>Znode</a:t>
            </a:r>
            <a:r>
              <a:rPr lang="zh-CN" altLang="en-US" dirty="0" smtClean="0"/>
              <a:t>的子节点</a:t>
            </a:r>
            <a:endParaRPr lang="en-US" altLang="zh-CN" dirty="0" smtClean="0"/>
          </a:p>
          <a:p>
            <a:pPr lvl="2"/>
            <a:r>
              <a:rPr lang="en-US" altLang="zh-CN" dirty="0" smtClean="0"/>
              <a:t>sync</a:t>
            </a:r>
            <a:r>
              <a:rPr lang="zh-CN" altLang="en-US" dirty="0" smtClean="0"/>
              <a:t>：等待数据同步</a:t>
            </a:r>
            <a:endParaRPr lang="zh-CN" altLang="en-US" dirty="0"/>
          </a:p>
        </p:txBody>
      </p:sp>
    </p:spTree>
    <p:extLst>
      <p:ext uri="{BB962C8B-B14F-4D97-AF65-F5344CB8AC3E}">
        <p14:creationId xmlns:p14="http://schemas.microsoft.com/office/powerpoint/2010/main" val="26983413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4.1.2 </a:t>
            </a:r>
            <a:r>
              <a:rPr lang="zh-CN" altLang="en-US" dirty="0" smtClean="0"/>
              <a:t>体系架构</a:t>
            </a:r>
            <a:endParaRPr lang="zh-CN" altLang="en-US" dirty="0">
              <a:ea typeface="宋体" panose="02010600030101010101" pitchFamily="2" charset="-122"/>
            </a:endParaRPr>
          </a:p>
        </p:txBody>
      </p:sp>
      <p:sp>
        <p:nvSpPr>
          <p:cNvPr id="3" name="内容占位符 2"/>
          <p:cNvSpPr>
            <a:spLocks noGrp="1"/>
          </p:cNvSpPr>
          <p:nvPr>
            <p:ph idx="1"/>
          </p:nvPr>
        </p:nvSpPr>
        <p:spPr/>
        <p:txBody>
          <a:bodyPr/>
          <a:lstStyle/>
          <a:p>
            <a:r>
              <a:rPr lang="en-US" altLang="zh-CN" sz="2400" dirty="0" err="1" smtClean="0"/>
              <a:t>ZooKeeper</a:t>
            </a:r>
            <a:r>
              <a:rPr lang="zh-CN" altLang="en-US" sz="2400" dirty="0" smtClean="0">
                <a:ea typeface="宋体" panose="02010600030101010101" pitchFamily="2" charset="-122"/>
              </a:rPr>
              <a:t>由</a:t>
            </a:r>
            <a:r>
              <a:rPr lang="zh-CN" altLang="en-US" sz="2400" dirty="0">
                <a:ea typeface="宋体" panose="02010600030101010101" pitchFamily="2" charset="-122"/>
              </a:rPr>
              <a:t>一组</a:t>
            </a:r>
            <a:r>
              <a:rPr lang="zh-CN" altLang="en-US" sz="2400" dirty="0" smtClean="0">
                <a:ea typeface="宋体" panose="02010600030101010101" pitchFamily="2" charset="-122"/>
              </a:rPr>
              <a:t>服务器组成，每台服务器均维护一份树型数据结构的备份</a:t>
            </a:r>
            <a:endParaRPr lang="zh-CN" altLang="en-US" sz="2400" dirty="0">
              <a:ea typeface="宋体" panose="02010600030101010101" pitchFamily="2" charset="-122"/>
            </a:endParaRPr>
          </a:p>
          <a:p>
            <a:pPr lvl="1"/>
            <a:r>
              <a:rPr lang="zh-CN" altLang="en-US" dirty="0" smtClean="0">
                <a:ea typeface="宋体" panose="02010600030101010101" pitchFamily="2" charset="-122"/>
              </a:rPr>
              <a:t>根据功能的不同，服务器分为领导者（</a:t>
            </a:r>
            <a:r>
              <a:rPr lang="en-US" altLang="zh-CN" dirty="0" smtClean="0">
                <a:ea typeface="宋体" panose="02010600030101010101" pitchFamily="2" charset="-122"/>
              </a:rPr>
              <a:t>Leader</a:t>
            </a:r>
            <a:r>
              <a:rPr lang="zh-CN" altLang="en-US" dirty="0" smtClean="0">
                <a:ea typeface="宋体" panose="02010600030101010101" pitchFamily="2" charset="-122"/>
              </a:rPr>
              <a:t>）、追随者（</a:t>
            </a:r>
            <a:r>
              <a:rPr lang="en-US" altLang="zh-CN" dirty="0" smtClean="0">
                <a:ea typeface="宋体" panose="02010600030101010101" pitchFamily="2" charset="-122"/>
              </a:rPr>
              <a:t>Follower</a:t>
            </a:r>
            <a:r>
              <a:rPr lang="zh-CN" altLang="en-US" dirty="0" smtClean="0">
                <a:ea typeface="宋体" panose="02010600030101010101" pitchFamily="2" charset="-122"/>
              </a:rPr>
              <a:t>）和观察者（</a:t>
            </a:r>
            <a:r>
              <a:rPr lang="en-US" altLang="zh-CN" dirty="0" smtClean="0">
                <a:ea typeface="宋体" panose="02010600030101010101" pitchFamily="2" charset="-122"/>
              </a:rPr>
              <a:t>Observer</a:t>
            </a:r>
            <a:r>
              <a:rPr lang="zh-CN" altLang="en-US" dirty="0" smtClean="0">
                <a:ea typeface="宋体" panose="02010600030101010101" pitchFamily="2" charset="-122"/>
              </a:rPr>
              <a:t>）</a:t>
            </a:r>
            <a:r>
              <a:rPr lang="en-US" altLang="zh-CN" dirty="0" smtClean="0">
                <a:ea typeface="宋体" panose="02010600030101010101" pitchFamily="2" charset="-122"/>
              </a:rPr>
              <a:t>3</a:t>
            </a:r>
            <a:r>
              <a:rPr lang="zh-CN" altLang="en-US" dirty="0" smtClean="0">
                <a:ea typeface="宋体" panose="02010600030101010101" pitchFamily="2" charset="-122"/>
              </a:rPr>
              <a:t>种角色</a:t>
            </a:r>
            <a:endParaRPr lang="zh-CN" altLang="en-US" dirty="0">
              <a:ea typeface="宋体" panose="02010600030101010101" pitchFamily="2" charset="-122"/>
            </a:endParaRPr>
          </a:p>
          <a:p>
            <a:pPr lvl="2"/>
            <a:endParaRPr lang="en-US" altLang="zh-CN" dirty="0">
              <a:ea typeface="宋体" panose="02010600030101010101" pitchFamily="2" charset="-122"/>
            </a:endParaRPr>
          </a:p>
        </p:txBody>
      </p:sp>
      <p:graphicFrame>
        <p:nvGraphicFramePr>
          <p:cNvPr id="4" name="Object 1"/>
          <p:cNvGraphicFramePr>
            <a:graphicFrameLocks noChangeAspect="1"/>
          </p:cNvGraphicFramePr>
          <p:nvPr>
            <p:custDataLst>
              <p:tags r:id="rId2"/>
            </p:custDataLst>
            <p:extLst/>
          </p:nvPr>
        </p:nvGraphicFramePr>
        <p:xfrm>
          <a:off x="1475656" y="3068960"/>
          <a:ext cx="6263896" cy="3063654"/>
        </p:xfrm>
        <a:graphic>
          <a:graphicData uri="http://schemas.openxmlformats.org/presentationml/2006/ole">
            <mc:AlternateContent xmlns:mc="http://schemas.openxmlformats.org/markup-compatibility/2006">
              <mc:Choice xmlns:v="urn:schemas-microsoft-com:vml" Requires="v">
                <p:oleObj spid="_x0000_s4101" r:id="rId4" imgW="5270500" imgH="2578100" progId="Word.Document.12">
                  <p:embed/>
                </p:oleObj>
              </mc:Choice>
              <mc:Fallback>
                <p:oleObj r:id="rId4" imgW="5270500" imgH="2578100" progId="Word.Document.12">
                  <p:embed/>
                  <p:pic>
                    <p:nvPicPr>
                      <p:cNvPr id="4" name="Object 1"/>
                      <p:cNvPicPr/>
                      <p:nvPr/>
                    </p:nvPicPr>
                    <p:blipFill>
                      <a:blip r:embed="rId5"/>
                      <a:stretch>
                        <a:fillRect/>
                      </a:stretch>
                    </p:blipFill>
                    <p:spPr>
                      <a:xfrm>
                        <a:off x="1475656" y="3068960"/>
                        <a:ext cx="6263896" cy="3063654"/>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0644425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4.1.2 </a:t>
            </a:r>
            <a:r>
              <a:rPr lang="zh-CN" altLang="en-US" dirty="0" smtClean="0"/>
              <a:t>体系架构</a:t>
            </a:r>
            <a:endParaRPr lang="zh-CN" altLang="en-US" dirty="0">
              <a:ea typeface="宋体" panose="02010600030101010101" pitchFamily="2" charset="-122"/>
            </a:endParaRPr>
          </a:p>
        </p:txBody>
      </p:sp>
      <p:sp>
        <p:nvSpPr>
          <p:cNvPr id="3" name="内容占位符 2"/>
          <p:cNvSpPr>
            <a:spLocks noGrp="1"/>
          </p:cNvSpPr>
          <p:nvPr>
            <p:ph idx="1"/>
          </p:nvPr>
        </p:nvSpPr>
        <p:spPr/>
        <p:txBody>
          <a:bodyPr/>
          <a:lstStyle/>
          <a:p>
            <a:r>
              <a:rPr lang="zh-CN" altLang="en-US" sz="2400" dirty="0" smtClean="0"/>
              <a:t>领导者</a:t>
            </a:r>
            <a:endParaRPr lang="en-US" altLang="zh-CN" sz="2400" dirty="0" smtClean="0"/>
          </a:p>
          <a:p>
            <a:pPr lvl="1"/>
            <a:r>
              <a:rPr lang="zh-CN" altLang="en-US" dirty="0" smtClean="0">
                <a:ea typeface="宋体" panose="02010600030101010101" pitchFamily="2" charset="-122"/>
              </a:rPr>
              <a:t>选举产生，可以为客户端直接提供读写操作</a:t>
            </a:r>
            <a:endParaRPr lang="en-US" altLang="zh-CN" dirty="0" smtClean="0">
              <a:ea typeface="宋体" panose="02010600030101010101" pitchFamily="2" charset="-122"/>
            </a:endParaRPr>
          </a:p>
          <a:p>
            <a:r>
              <a:rPr lang="zh-CN" altLang="en-US" sz="2400" dirty="0" smtClean="0"/>
              <a:t>追随者</a:t>
            </a:r>
            <a:endParaRPr lang="en-US" altLang="zh-CN" sz="2400" dirty="0" smtClean="0"/>
          </a:p>
          <a:p>
            <a:pPr lvl="1"/>
            <a:r>
              <a:rPr lang="zh-CN" altLang="en-US" dirty="0">
                <a:ea typeface="宋体" panose="02010600030101010101" pitchFamily="2" charset="-122"/>
              </a:rPr>
              <a:t>仅能提供读操作，客户端发送给追随者的写操作需转发给领导者</a:t>
            </a:r>
            <a:endParaRPr lang="en-US" altLang="zh-CN" dirty="0">
              <a:ea typeface="宋体" panose="02010600030101010101" pitchFamily="2" charset="-122"/>
            </a:endParaRPr>
          </a:p>
          <a:p>
            <a:r>
              <a:rPr lang="zh-CN" altLang="en-US" sz="2400" dirty="0"/>
              <a:t>观察者</a:t>
            </a:r>
            <a:endParaRPr lang="en-US" altLang="zh-CN" sz="2400" dirty="0"/>
          </a:p>
          <a:p>
            <a:pPr lvl="1"/>
            <a:r>
              <a:rPr lang="zh-CN" altLang="en-US" dirty="0">
                <a:ea typeface="宋体" panose="02010600030101010101" pitchFamily="2" charset="-122"/>
              </a:rPr>
              <a:t>可选角色，与追随者的区别在于不参与领导者选举</a:t>
            </a:r>
          </a:p>
          <a:p>
            <a:pPr lvl="2"/>
            <a:endParaRPr lang="en-US" altLang="zh-CN" dirty="0">
              <a:ea typeface="宋体" panose="02010600030101010101" pitchFamily="2" charset="-122"/>
            </a:endParaRPr>
          </a:p>
        </p:txBody>
      </p:sp>
    </p:spTree>
    <p:extLst>
      <p:ext uri="{BB962C8B-B14F-4D97-AF65-F5344CB8AC3E}">
        <p14:creationId xmlns:p14="http://schemas.microsoft.com/office/powerpoint/2010/main" val="28343948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4.1.2 </a:t>
            </a:r>
            <a:r>
              <a:rPr lang="zh-CN" altLang="en-US" dirty="0" smtClean="0"/>
              <a:t>体系架构</a:t>
            </a:r>
            <a:endParaRPr lang="zh-CN" altLang="en-US" dirty="0">
              <a:ea typeface="宋体" panose="02010600030101010101" pitchFamily="2" charset="-122"/>
            </a:endParaRPr>
          </a:p>
        </p:txBody>
      </p:sp>
      <p:sp>
        <p:nvSpPr>
          <p:cNvPr id="3" name="内容占位符 2"/>
          <p:cNvSpPr>
            <a:spLocks noGrp="1"/>
          </p:cNvSpPr>
          <p:nvPr>
            <p:ph idx="1"/>
          </p:nvPr>
        </p:nvSpPr>
        <p:spPr/>
        <p:txBody>
          <a:bodyPr/>
          <a:lstStyle/>
          <a:p>
            <a:r>
              <a:rPr lang="zh-CN" altLang="en-US" sz="2400" dirty="0" smtClean="0"/>
              <a:t>客户端与某一服务器之间建立的连接称为会话（</a:t>
            </a:r>
            <a:r>
              <a:rPr lang="en-US" altLang="zh-CN" sz="2400" dirty="0" smtClean="0"/>
              <a:t>Session</a:t>
            </a:r>
            <a:r>
              <a:rPr lang="zh-CN" altLang="en-US" sz="2400" dirty="0" smtClean="0"/>
              <a:t>）</a:t>
            </a:r>
            <a:endParaRPr lang="en-US" altLang="zh-CN" sz="2400" dirty="0" smtClean="0"/>
          </a:p>
          <a:p>
            <a:pPr lvl="1"/>
            <a:r>
              <a:rPr lang="zh-CN" altLang="en-US" dirty="0" smtClean="0">
                <a:ea typeface="宋体" panose="02010600030101010101" pitchFamily="2" charset="-122"/>
              </a:rPr>
              <a:t>客户端启动时与服务器建立连接，开启客户端会话的生命周期</a:t>
            </a:r>
            <a:endParaRPr lang="en-US" altLang="zh-CN" dirty="0" smtClean="0">
              <a:ea typeface="宋体" panose="02010600030101010101" pitchFamily="2" charset="-122"/>
            </a:endParaRPr>
          </a:p>
          <a:p>
            <a:pPr lvl="1"/>
            <a:r>
              <a:rPr lang="zh-CN" altLang="en-US" dirty="0" smtClean="0">
                <a:ea typeface="宋体" panose="02010600030101010101" pitchFamily="2" charset="-122"/>
              </a:rPr>
              <a:t>在会话的生命周期内，客户端通过心跳与服务器保持有效连接，一旦连接断开即表示会话结束</a:t>
            </a:r>
            <a:endParaRPr lang="en-US" altLang="zh-CN" dirty="0" smtClean="0">
              <a:ea typeface="宋体" panose="02010600030101010101" pitchFamily="2" charset="-122"/>
            </a:endParaRPr>
          </a:p>
          <a:p>
            <a:pPr lvl="1"/>
            <a:r>
              <a:rPr lang="zh-CN" altLang="en-US" dirty="0" smtClean="0">
                <a:ea typeface="宋体" panose="02010600030101010101" pitchFamily="2" charset="-122"/>
              </a:rPr>
              <a:t>通过会话机制，客户端能够向</a:t>
            </a:r>
            <a:r>
              <a:rPr lang="en-US" altLang="zh-CN" dirty="0" err="1" smtClean="0">
                <a:ea typeface="宋体" panose="02010600030101010101" pitchFamily="2" charset="-122"/>
              </a:rPr>
              <a:t>ZooKeeper</a:t>
            </a:r>
            <a:r>
              <a:rPr lang="zh-CN" altLang="en-US" dirty="0" smtClean="0">
                <a:ea typeface="宋体" panose="02010600030101010101" pitchFamily="2" charset="-122"/>
              </a:rPr>
              <a:t>服务器发送请求并接收响应，并且能够接收来自服务器的</a:t>
            </a:r>
            <a:r>
              <a:rPr lang="en-US" altLang="zh-CN" dirty="0" smtClean="0">
                <a:solidFill>
                  <a:srgbClr val="FF0000"/>
                </a:solidFill>
                <a:ea typeface="宋体" panose="02010600030101010101" pitchFamily="2" charset="-122"/>
              </a:rPr>
              <a:t>Watch</a:t>
            </a:r>
            <a:r>
              <a:rPr lang="zh-CN" altLang="en-US" dirty="0" smtClean="0">
                <a:solidFill>
                  <a:srgbClr val="FF0000"/>
                </a:solidFill>
                <a:ea typeface="宋体" panose="02010600030101010101" pitchFamily="2" charset="-122"/>
              </a:rPr>
              <a:t>事件</a:t>
            </a:r>
            <a:r>
              <a:rPr lang="zh-CN" altLang="en-US" dirty="0" smtClean="0">
                <a:ea typeface="宋体" panose="02010600030101010101" pitchFamily="2" charset="-122"/>
              </a:rPr>
              <a:t>通知</a:t>
            </a:r>
            <a:endParaRPr lang="en-US" altLang="zh-CN" dirty="0">
              <a:ea typeface="宋体" panose="02010600030101010101" pitchFamily="2" charset="-122"/>
            </a:endParaRPr>
          </a:p>
        </p:txBody>
      </p:sp>
    </p:spTree>
    <p:extLst>
      <p:ext uri="{BB962C8B-B14F-4D97-AF65-F5344CB8AC3E}">
        <p14:creationId xmlns:p14="http://schemas.microsoft.com/office/powerpoint/2010/main" val="25684990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4.1.2 </a:t>
            </a:r>
            <a:r>
              <a:rPr lang="zh-CN" altLang="en-US" dirty="0"/>
              <a:t>体系架构</a:t>
            </a:r>
          </a:p>
        </p:txBody>
      </p:sp>
      <p:sp>
        <p:nvSpPr>
          <p:cNvPr id="3" name="内容占位符 2"/>
          <p:cNvSpPr>
            <a:spLocks noGrp="1"/>
          </p:cNvSpPr>
          <p:nvPr>
            <p:ph idx="1"/>
          </p:nvPr>
        </p:nvSpPr>
        <p:spPr/>
        <p:txBody>
          <a:bodyPr>
            <a:normAutofit/>
          </a:bodyPr>
          <a:lstStyle/>
          <a:p>
            <a:r>
              <a:rPr lang="en-US" altLang="zh-CN" dirty="0" smtClean="0"/>
              <a:t>Watcher</a:t>
            </a:r>
            <a:r>
              <a:rPr lang="zh-CN" altLang="en-US" dirty="0" smtClean="0"/>
              <a:t>机制</a:t>
            </a:r>
            <a:endParaRPr lang="en-US" altLang="zh-CN" dirty="0"/>
          </a:p>
          <a:p>
            <a:pPr lvl="1"/>
            <a:r>
              <a:rPr lang="zh-CN" altLang="en-US" sz="2400" dirty="0"/>
              <a:t>允许客户端向服务器</a:t>
            </a:r>
            <a:r>
              <a:rPr lang="zh-CN" altLang="en-US" sz="2400" dirty="0" smtClean="0"/>
              <a:t>的</a:t>
            </a:r>
            <a:r>
              <a:rPr lang="en-US" altLang="zh-CN" sz="2400" dirty="0" err="1" smtClean="0"/>
              <a:t>Znode</a:t>
            </a:r>
            <a:r>
              <a:rPr lang="zh-CN" altLang="en-US" sz="2400" dirty="0"/>
              <a:t>上注册一个</a:t>
            </a:r>
            <a:r>
              <a:rPr lang="en-US" altLang="zh-CN" sz="2400" dirty="0"/>
              <a:t>Watcher</a:t>
            </a:r>
            <a:r>
              <a:rPr lang="zh-CN" altLang="en-US" sz="2400" dirty="0"/>
              <a:t>，</a:t>
            </a:r>
            <a:r>
              <a:rPr lang="zh-CN" altLang="en-US" sz="2400" dirty="0" smtClean="0"/>
              <a:t>一旦</a:t>
            </a:r>
            <a:r>
              <a:rPr lang="en-US" altLang="zh-CN" sz="2400" dirty="0" err="1" smtClean="0"/>
              <a:t>Znode</a:t>
            </a:r>
            <a:r>
              <a:rPr lang="zh-CN" altLang="en-US" sz="2400" dirty="0"/>
              <a:t>的状态发生变化，</a:t>
            </a:r>
            <a:r>
              <a:rPr lang="en-US" altLang="zh-CN" sz="2400" dirty="0" err="1"/>
              <a:t>ZooKeeper</a:t>
            </a:r>
            <a:r>
              <a:rPr lang="zh-CN" altLang="en-US" sz="2400" dirty="0"/>
              <a:t>就会通知已经在它上面注册的</a:t>
            </a:r>
            <a:r>
              <a:rPr lang="en-US" altLang="zh-CN" sz="2400" dirty="0"/>
              <a:t>Watcher</a:t>
            </a:r>
            <a:r>
              <a:rPr lang="zh-CN" altLang="en-US" sz="2400" dirty="0"/>
              <a:t>做出相应反应</a:t>
            </a:r>
            <a:endParaRPr lang="en-US" altLang="zh-CN" sz="2400" dirty="0"/>
          </a:p>
          <a:p>
            <a:pPr lvl="1"/>
            <a:r>
              <a:rPr lang="zh-CN" altLang="en-US" sz="2400" dirty="0"/>
              <a:t>当前，</a:t>
            </a:r>
            <a:r>
              <a:rPr lang="en-US" altLang="zh-CN" sz="2400" dirty="0" err="1"/>
              <a:t>ZooKeeper</a:t>
            </a:r>
            <a:r>
              <a:rPr lang="zh-CN" altLang="en-US" sz="2400" dirty="0"/>
              <a:t>有四种变化事件</a:t>
            </a:r>
            <a:endParaRPr lang="en-US" altLang="zh-CN" sz="2400" dirty="0"/>
          </a:p>
          <a:p>
            <a:pPr lvl="2"/>
            <a:r>
              <a:rPr lang="zh-CN" altLang="en-US" sz="2000" dirty="0"/>
              <a:t>节点创建</a:t>
            </a:r>
            <a:endParaRPr lang="en-US" altLang="zh-CN" sz="2000" dirty="0"/>
          </a:p>
          <a:p>
            <a:pPr lvl="2"/>
            <a:r>
              <a:rPr lang="zh-CN" altLang="en-US" sz="2000" dirty="0"/>
              <a:t>节点删除</a:t>
            </a:r>
            <a:endParaRPr lang="en-US" altLang="zh-CN" sz="2000" dirty="0"/>
          </a:p>
          <a:p>
            <a:pPr lvl="2"/>
            <a:r>
              <a:rPr lang="zh-CN" altLang="en-US" sz="2000" dirty="0" smtClean="0"/>
              <a:t>节点数据修改</a:t>
            </a:r>
            <a:endParaRPr lang="en-US" altLang="zh-CN" sz="2000" dirty="0"/>
          </a:p>
          <a:p>
            <a:pPr lvl="2"/>
            <a:r>
              <a:rPr lang="zh-CN" altLang="en-US" sz="2000" dirty="0"/>
              <a:t>子</a:t>
            </a:r>
            <a:r>
              <a:rPr lang="zh-CN" altLang="en-US" sz="2000" dirty="0" smtClean="0"/>
              <a:t>节点变更</a:t>
            </a:r>
            <a:endParaRPr lang="en-US" altLang="zh-CN" sz="2000" dirty="0" smtClean="0"/>
          </a:p>
          <a:p>
            <a:pPr lvl="1"/>
            <a:r>
              <a:rPr lang="zh-CN" altLang="en-US" sz="2400" dirty="0"/>
              <a:t>所有的读取操作，都可以向服务器设置一个</a:t>
            </a:r>
            <a:r>
              <a:rPr lang="en-US" altLang="zh-CN" sz="2400" dirty="0"/>
              <a:t>Watcher</a:t>
            </a:r>
          </a:p>
          <a:p>
            <a:pPr lvl="1"/>
            <a:r>
              <a:rPr lang="en-US" altLang="zh-CN" sz="2400" dirty="0"/>
              <a:t>Watcher</a:t>
            </a:r>
            <a:r>
              <a:rPr lang="zh-CN" altLang="en-US" sz="2400" dirty="0"/>
              <a:t>事件相当于一次性的触发器</a:t>
            </a:r>
            <a:endParaRPr lang="en-US" altLang="zh-CN" sz="2400" dirty="0"/>
          </a:p>
          <a:p>
            <a:pPr lvl="1"/>
            <a:r>
              <a:rPr lang="zh-CN" altLang="en-US" sz="2400" dirty="0" smtClean="0"/>
              <a:t>如果</a:t>
            </a:r>
            <a:r>
              <a:rPr lang="en-US" altLang="zh-CN" sz="2400" dirty="0" err="1" smtClean="0"/>
              <a:t>Znode</a:t>
            </a:r>
            <a:r>
              <a:rPr lang="zh-CN" altLang="en-US" sz="2400" dirty="0"/>
              <a:t>再次变更，则不会发送任何</a:t>
            </a:r>
            <a:r>
              <a:rPr lang="zh-CN" altLang="en-US" sz="2400" dirty="0" smtClean="0"/>
              <a:t>通知</a:t>
            </a:r>
            <a:endParaRPr lang="zh-CN" altLang="en-US" sz="2400" dirty="0"/>
          </a:p>
        </p:txBody>
      </p:sp>
    </p:spTree>
    <p:extLst>
      <p:ext uri="{BB962C8B-B14F-4D97-AF65-F5344CB8AC3E}">
        <p14:creationId xmlns:p14="http://schemas.microsoft.com/office/powerpoint/2010/main" val="37838337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4.1.2 </a:t>
            </a:r>
            <a:r>
              <a:rPr lang="zh-CN" altLang="en-US" dirty="0"/>
              <a:t>体系架构</a:t>
            </a:r>
          </a:p>
        </p:txBody>
      </p:sp>
      <p:sp>
        <p:nvSpPr>
          <p:cNvPr id="3" name="内容占位符 2"/>
          <p:cNvSpPr>
            <a:spLocks noGrp="1"/>
          </p:cNvSpPr>
          <p:nvPr>
            <p:ph idx="1"/>
          </p:nvPr>
        </p:nvSpPr>
        <p:spPr/>
        <p:txBody>
          <a:bodyPr>
            <a:normAutofit lnSpcReduction="10000"/>
          </a:bodyPr>
          <a:lstStyle/>
          <a:p>
            <a:r>
              <a:rPr lang="en-US" altLang="zh-CN" dirty="0"/>
              <a:t>Watcher</a:t>
            </a:r>
            <a:r>
              <a:rPr lang="zh-CN" altLang="en-US" dirty="0"/>
              <a:t>机制</a:t>
            </a:r>
            <a:endParaRPr lang="en-US" altLang="zh-CN" dirty="0"/>
          </a:p>
          <a:p>
            <a:pPr lvl="1"/>
            <a:r>
              <a:rPr lang="en-US" altLang="zh-CN" dirty="0" smtClean="0"/>
              <a:t>Watcher</a:t>
            </a:r>
            <a:r>
              <a:rPr lang="zh-CN" altLang="en-US" dirty="0"/>
              <a:t>有两种类型</a:t>
            </a:r>
            <a:endParaRPr lang="en-US" altLang="zh-CN" dirty="0"/>
          </a:p>
          <a:p>
            <a:pPr lvl="2"/>
            <a:r>
              <a:rPr lang="zh-CN" altLang="en-US" dirty="0"/>
              <a:t>数据</a:t>
            </a:r>
            <a:r>
              <a:rPr lang="en-US" altLang="zh-CN" dirty="0"/>
              <a:t>Watcher</a:t>
            </a:r>
            <a:r>
              <a:rPr lang="zh-CN" altLang="en-US" dirty="0"/>
              <a:t>：只监听</a:t>
            </a:r>
            <a:r>
              <a:rPr lang="zh-CN" altLang="en-US" dirty="0" smtClean="0"/>
              <a:t>节点数据</a:t>
            </a:r>
            <a:r>
              <a:rPr lang="zh-CN" altLang="en-US" dirty="0"/>
              <a:t>的变化</a:t>
            </a:r>
            <a:endParaRPr lang="en-US" altLang="zh-CN" dirty="0"/>
          </a:p>
          <a:p>
            <a:pPr lvl="3"/>
            <a:r>
              <a:rPr lang="en-US" altLang="zh-CN" dirty="0" err="1"/>
              <a:t>getData</a:t>
            </a:r>
            <a:r>
              <a:rPr lang="en-US" altLang="zh-CN" dirty="0"/>
              <a:t>()</a:t>
            </a:r>
            <a:r>
              <a:rPr lang="zh-CN" altLang="en-US" dirty="0"/>
              <a:t>方法和</a:t>
            </a:r>
            <a:r>
              <a:rPr lang="en-US" altLang="zh-CN" dirty="0"/>
              <a:t>exists()</a:t>
            </a:r>
            <a:r>
              <a:rPr lang="zh-CN" altLang="en-US" dirty="0"/>
              <a:t>方法可以设置数据</a:t>
            </a:r>
            <a:r>
              <a:rPr lang="en-US" altLang="zh-CN" dirty="0"/>
              <a:t>Watcher</a:t>
            </a:r>
          </a:p>
          <a:p>
            <a:pPr lvl="2"/>
            <a:r>
              <a:rPr lang="zh-CN" altLang="en-US" dirty="0"/>
              <a:t>子节点</a:t>
            </a:r>
            <a:r>
              <a:rPr lang="en-US" altLang="zh-CN" dirty="0"/>
              <a:t>Watcher</a:t>
            </a:r>
            <a:r>
              <a:rPr lang="zh-CN" altLang="en-US" dirty="0"/>
              <a:t>：只监听子节点的创建与删除</a:t>
            </a:r>
            <a:endParaRPr lang="en-US" altLang="zh-CN" dirty="0"/>
          </a:p>
          <a:p>
            <a:pPr lvl="3"/>
            <a:r>
              <a:rPr lang="en-US" altLang="zh-CN" dirty="0" err="1"/>
              <a:t>getChildren</a:t>
            </a:r>
            <a:r>
              <a:rPr lang="en-US" altLang="zh-CN" dirty="0"/>
              <a:t>()</a:t>
            </a:r>
            <a:r>
              <a:rPr lang="zh-CN" altLang="en-US" dirty="0"/>
              <a:t>方法可以设置子节点</a:t>
            </a:r>
            <a:r>
              <a:rPr lang="en-US" altLang="zh-CN" dirty="0"/>
              <a:t>Watcher</a:t>
            </a:r>
          </a:p>
          <a:p>
            <a:pPr lvl="1"/>
            <a:r>
              <a:rPr lang="zh-CN" altLang="en-US" dirty="0"/>
              <a:t>事件触发</a:t>
            </a:r>
            <a:endParaRPr lang="en-US" altLang="zh-CN" dirty="0"/>
          </a:p>
          <a:p>
            <a:pPr lvl="2"/>
            <a:r>
              <a:rPr lang="en-US" altLang="zh-CN" dirty="0" err="1"/>
              <a:t>setData</a:t>
            </a:r>
            <a:r>
              <a:rPr lang="en-US" altLang="zh-CN" dirty="0"/>
              <a:t>()</a:t>
            </a:r>
            <a:r>
              <a:rPr lang="zh-CN" altLang="en-US" dirty="0"/>
              <a:t>方法会触发数据</a:t>
            </a:r>
            <a:r>
              <a:rPr lang="en-US" altLang="zh-CN" dirty="0"/>
              <a:t>Watcher</a:t>
            </a:r>
          </a:p>
          <a:p>
            <a:pPr lvl="2"/>
            <a:r>
              <a:rPr lang="zh-CN" altLang="en-US" dirty="0"/>
              <a:t>一个成功的</a:t>
            </a:r>
            <a:r>
              <a:rPr lang="en-US" altLang="zh-CN" dirty="0"/>
              <a:t>create()</a:t>
            </a:r>
            <a:r>
              <a:rPr lang="zh-CN" altLang="en-US" dirty="0"/>
              <a:t>方法会触发正在创建</a:t>
            </a:r>
            <a:r>
              <a:rPr lang="zh-CN" altLang="en-US" dirty="0" smtClean="0"/>
              <a:t>的</a:t>
            </a:r>
            <a:r>
              <a:rPr lang="en-US" altLang="zh-CN" dirty="0" err="1" smtClean="0"/>
              <a:t>Znode</a:t>
            </a:r>
            <a:r>
              <a:rPr lang="zh-CN" altLang="en-US" dirty="0"/>
              <a:t>的数据</a:t>
            </a:r>
            <a:r>
              <a:rPr lang="en-US" altLang="zh-CN" dirty="0"/>
              <a:t>Watcher</a:t>
            </a:r>
            <a:r>
              <a:rPr lang="zh-CN" altLang="en-US" dirty="0"/>
              <a:t>以及父节点的子节点</a:t>
            </a:r>
            <a:r>
              <a:rPr lang="en-US" altLang="zh-CN" dirty="0"/>
              <a:t>Watcher</a:t>
            </a:r>
          </a:p>
          <a:p>
            <a:pPr lvl="2"/>
            <a:r>
              <a:rPr lang="zh-CN" altLang="en-US" dirty="0"/>
              <a:t>一个成功的</a:t>
            </a:r>
            <a:r>
              <a:rPr lang="en-US" altLang="zh-CN" dirty="0"/>
              <a:t>delete()</a:t>
            </a:r>
            <a:r>
              <a:rPr lang="zh-CN" altLang="en-US" dirty="0"/>
              <a:t>方法会为被删除</a:t>
            </a:r>
            <a:r>
              <a:rPr lang="zh-CN" altLang="en-US" dirty="0" smtClean="0"/>
              <a:t>的</a:t>
            </a:r>
            <a:r>
              <a:rPr lang="en-US" altLang="zh-CN" dirty="0" err="1" smtClean="0"/>
              <a:t>Znode</a:t>
            </a:r>
            <a:r>
              <a:rPr lang="zh-CN" altLang="en-US" dirty="0"/>
              <a:t>触发一个数据</a:t>
            </a:r>
            <a:r>
              <a:rPr lang="en-US" altLang="zh-CN" dirty="0"/>
              <a:t>Watcher</a:t>
            </a:r>
            <a:r>
              <a:rPr lang="zh-CN" altLang="en-US" dirty="0"/>
              <a:t>以及父节点的子节点</a:t>
            </a:r>
            <a:r>
              <a:rPr lang="en-US" altLang="zh-CN" dirty="0"/>
              <a:t>Watcher</a:t>
            </a:r>
          </a:p>
          <a:p>
            <a:pPr lvl="2"/>
            <a:endParaRPr lang="en-US" altLang="zh-CN" dirty="0"/>
          </a:p>
          <a:p>
            <a:pPr lvl="1"/>
            <a:endParaRPr lang="en-US" altLang="zh-CN" dirty="0"/>
          </a:p>
        </p:txBody>
      </p:sp>
    </p:spTree>
    <p:extLst>
      <p:ext uri="{BB962C8B-B14F-4D97-AF65-F5344CB8AC3E}">
        <p14:creationId xmlns:p14="http://schemas.microsoft.com/office/powerpoint/2010/main" val="8743789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a:t>
            </a:r>
            <a:r>
              <a:rPr lang="zh-CN" altLang="en-US" dirty="0" smtClean="0"/>
              <a:t>工作原理</a:t>
            </a:r>
            <a:endParaRPr lang="zh-CN" altLang="en-US" dirty="0"/>
          </a:p>
        </p:txBody>
      </p:sp>
      <p:sp>
        <p:nvSpPr>
          <p:cNvPr id="3" name="内容占位符 2"/>
          <p:cNvSpPr>
            <a:spLocks noGrp="1"/>
          </p:cNvSpPr>
          <p:nvPr>
            <p:ph idx="1"/>
          </p:nvPr>
        </p:nvSpPr>
        <p:spPr/>
        <p:txBody>
          <a:bodyPr/>
          <a:lstStyle/>
          <a:p>
            <a:r>
              <a:rPr lang="en-US" altLang="zh-CN" dirty="0" err="1"/>
              <a:t>ZooKeeper</a:t>
            </a:r>
            <a:r>
              <a:rPr lang="zh-CN" altLang="en-US" dirty="0"/>
              <a:t>作为⾮常重要的分布式协调组件，需要进⾏集群部署，集群中会以⼀主多从的形式进⾏部署。</a:t>
            </a:r>
            <a:endParaRPr lang="en-US" altLang="zh-CN" dirty="0"/>
          </a:p>
          <a:p>
            <a:r>
              <a:rPr lang="en-US" altLang="zh-CN" dirty="0" err="1" smtClean="0"/>
              <a:t>ZooKeeper</a:t>
            </a:r>
            <a:r>
              <a:rPr lang="zh-CN" altLang="en-US" dirty="0" smtClean="0"/>
              <a:t>属于轻量级的数据存储系统，维护了数据的多个副本</a:t>
            </a:r>
            <a:endParaRPr lang="en-US" altLang="zh-CN" dirty="0" smtClean="0"/>
          </a:p>
          <a:p>
            <a:pPr lvl="1"/>
            <a:r>
              <a:rPr lang="zh-CN" altLang="en-US" dirty="0" smtClean="0"/>
              <a:t>写操作会改变数据内容，必须保证所有节点执行相同的操作序列，从而实现副本的一致性</a:t>
            </a:r>
            <a:endParaRPr lang="en-US" altLang="zh-CN" dirty="0" smtClean="0"/>
          </a:p>
          <a:p>
            <a:pPr lvl="1"/>
            <a:r>
              <a:rPr lang="zh-CN" altLang="en-US" dirty="0" smtClean="0"/>
              <a:t>如果不存在领导者节点，则难以保证各个副本之间的一致性</a:t>
            </a:r>
            <a:endParaRPr lang="zh-CN" altLang="en-US" dirty="0"/>
          </a:p>
        </p:txBody>
      </p:sp>
    </p:spTree>
    <p:extLst>
      <p:ext uri="{BB962C8B-B14F-4D97-AF65-F5344CB8AC3E}">
        <p14:creationId xmlns:p14="http://schemas.microsoft.com/office/powerpoint/2010/main" val="15479299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4.1.3 </a:t>
            </a:r>
            <a:r>
              <a:rPr lang="zh-CN" altLang="en-US" dirty="0"/>
              <a:t>工作原理</a:t>
            </a:r>
          </a:p>
        </p:txBody>
      </p:sp>
      <p:sp>
        <p:nvSpPr>
          <p:cNvPr id="3" name="内容占位符 2"/>
          <p:cNvSpPr>
            <a:spLocks noGrp="1"/>
          </p:cNvSpPr>
          <p:nvPr>
            <p:ph idx="1"/>
          </p:nvPr>
        </p:nvSpPr>
        <p:spPr/>
        <p:txBody>
          <a:bodyPr/>
          <a:lstStyle/>
          <a:p>
            <a:r>
              <a:rPr lang="en-US" altLang="zh-CN" dirty="0" err="1" smtClean="0"/>
              <a:t>ZooKeeper</a:t>
            </a:r>
            <a:r>
              <a:rPr lang="zh-CN" altLang="en-US" dirty="0"/>
              <a:t>为了保证数据的⼀致性，使⽤了</a:t>
            </a:r>
            <a:r>
              <a:rPr lang="en-US" altLang="zh-CN" dirty="0">
                <a:solidFill>
                  <a:srgbClr val="FF0000"/>
                </a:solidFill>
              </a:rPr>
              <a:t>ZAB</a:t>
            </a:r>
            <a:r>
              <a:rPr lang="zh-CN" altLang="en-US" dirty="0"/>
              <a:t>（</a:t>
            </a:r>
            <a:r>
              <a:rPr lang="en-US" altLang="zh-CN" dirty="0"/>
              <a:t>Zookeeper Atomic Broadcast</a:t>
            </a:r>
            <a:r>
              <a:rPr lang="zh-CN" altLang="en-US" dirty="0"/>
              <a:t>）协议，这个协议解决了</a:t>
            </a:r>
            <a:r>
              <a:rPr lang="en-US" altLang="zh-CN" dirty="0"/>
              <a:t>Zookeeper</a:t>
            </a:r>
            <a:r>
              <a:rPr lang="zh-CN" altLang="en-US" dirty="0"/>
              <a:t>的崩溃恢复和主从数据同步的问题</a:t>
            </a:r>
            <a:r>
              <a:rPr lang="zh-CN" altLang="en-US" dirty="0" smtClean="0"/>
              <a:t>。</a:t>
            </a:r>
            <a:endParaRPr lang="en-US" altLang="zh-CN" dirty="0" smtClean="0"/>
          </a:p>
          <a:p>
            <a:pPr lvl="1"/>
            <a:r>
              <a:rPr lang="en-US" altLang="zh-CN" dirty="0" err="1"/>
              <a:t>Zab</a:t>
            </a:r>
            <a:r>
              <a:rPr lang="zh-CN" altLang="en-US" dirty="0" smtClean="0"/>
              <a:t>协议是</a:t>
            </a:r>
            <a:r>
              <a:rPr lang="en-US" altLang="zh-CN" dirty="0" smtClean="0"/>
              <a:t>Zookeeper</a:t>
            </a:r>
            <a:r>
              <a:rPr lang="zh-CN" altLang="en-US" dirty="0"/>
              <a:t>专门</a:t>
            </a:r>
            <a:r>
              <a:rPr lang="zh-CN" altLang="en-US" dirty="0" smtClean="0"/>
              <a:t>设计的</a:t>
            </a:r>
            <a:r>
              <a:rPr lang="zh-CN" altLang="en-US" dirty="0"/>
              <a:t>支持崩溃恢复的一致性</a:t>
            </a:r>
            <a:r>
              <a:rPr lang="zh-CN" altLang="en-US" dirty="0" smtClean="0"/>
              <a:t>协议，是</a:t>
            </a:r>
            <a:r>
              <a:rPr lang="en-US" altLang="zh-CN" dirty="0"/>
              <a:t>Zookeeper</a:t>
            </a:r>
            <a:r>
              <a:rPr lang="zh-CN" altLang="en-US" dirty="0"/>
              <a:t>保证数据一致性的核心算法</a:t>
            </a:r>
            <a:endParaRPr lang="en-US" altLang="zh-CN" dirty="0" smtClean="0"/>
          </a:p>
          <a:p>
            <a:pPr lvl="1"/>
            <a:r>
              <a:rPr lang="zh-CN" altLang="en-US" dirty="0" smtClean="0"/>
              <a:t>其他的经典分布式一致性算法：</a:t>
            </a:r>
            <a:r>
              <a:rPr lang="en-US" altLang="zh-CN" dirty="0" err="1" smtClean="0"/>
              <a:t>Paxos</a:t>
            </a:r>
            <a:r>
              <a:rPr lang="zh-CN" altLang="en-US" dirty="0" smtClean="0"/>
              <a:t>、</a:t>
            </a:r>
            <a:r>
              <a:rPr lang="en-US" altLang="zh-CN" dirty="0" smtClean="0"/>
              <a:t>Raft</a:t>
            </a:r>
            <a:endParaRPr lang="zh-CN" altLang="en-US" dirty="0"/>
          </a:p>
        </p:txBody>
      </p:sp>
    </p:spTree>
    <p:extLst>
      <p:ext uri="{BB962C8B-B14F-4D97-AF65-F5344CB8AC3E}">
        <p14:creationId xmlns:p14="http://schemas.microsoft.com/office/powerpoint/2010/main" val="41529626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4.1.3 </a:t>
            </a:r>
            <a:r>
              <a:rPr lang="zh-CN" altLang="en-US" dirty="0"/>
              <a:t>工作原理</a:t>
            </a:r>
          </a:p>
        </p:txBody>
      </p:sp>
      <p:sp>
        <p:nvSpPr>
          <p:cNvPr id="3" name="内容占位符 2"/>
          <p:cNvSpPr>
            <a:spLocks noGrp="1"/>
          </p:cNvSpPr>
          <p:nvPr>
            <p:ph idx="1"/>
          </p:nvPr>
        </p:nvSpPr>
        <p:spPr/>
        <p:txBody>
          <a:bodyPr>
            <a:normAutofit/>
          </a:bodyPr>
          <a:lstStyle/>
          <a:p>
            <a:r>
              <a:rPr lang="zh-CN" altLang="en-US" dirty="0" smtClean="0"/>
              <a:t>相关术语</a:t>
            </a:r>
            <a:endParaRPr lang="en-US" altLang="zh-CN" dirty="0" smtClean="0"/>
          </a:p>
          <a:p>
            <a:pPr lvl="1"/>
            <a:r>
              <a:rPr lang="en-US" altLang="zh-CN" dirty="0" err="1" smtClean="0"/>
              <a:t>sid</a:t>
            </a:r>
            <a:endParaRPr lang="en-US" altLang="zh-CN" dirty="0"/>
          </a:p>
          <a:p>
            <a:pPr lvl="2"/>
            <a:r>
              <a:rPr lang="zh-CN" altLang="en-US" dirty="0"/>
              <a:t>每个</a:t>
            </a:r>
            <a:r>
              <a:rPr lang="en-US" altLang="zh-CN" dirty="0"/>
              <a:t>Zookeeper</a:t>
            </a:r>
            <a:r>
              <a:rPr lang="zh-CN" altLang="en-US" dirty="0"/>
              <a:t>服务器，都需要在数据文件夹下创建一个名为</a:t>
            </a:r>
            <a:r>
              <a:rPr lang="en-US" altLang="zh-CN" dirty="0" err="1"/>
              <a:t>myid</a:t>
            </a:r>
            <a:r>
              <a:rPr lang="zh-CN" altLang="en-US" dirty="0"/>
              <a:t>的文件，该文件包含整个</a:t>
            </a:r>
            <a:r>
              <a:rPr lang="en-US" altLang="zh-CN" dirty="0"/>
              <a:t>Zookeeper</a:t>
            </a:r>
            <a:r>
              <a:rPr lang="zh-CN" altLang="en-US" dirty="0"/>
              <a:t>集群唯一的</a:t>
            </a:r>
            <a:r>
              <a:rPr lang="en-US" altLang="zh-CN" dirty="0"/>
              <a:t>ID</a:t>
            </a:r>
            <a:r>
              <a:rPr lang="zh-CN" altLang="en-US" dirty="0"/>
              <a:t>（整数）</a:t>
            </a:r>
            <a:r>
              <a:rPr lang="zh-CN" altLang="en-US" dirty="0" smtClean="0"/>
              <a:t>。</a:t>
            </a:r>
            <a:endParaRPr lang="en-US" altLang="zh-CN" dirty="0" smtClean="0"/>
          </a:p>
          <a:p>
            <a:pPr lvl="1"/>
            <a:r>
              <a:rPr lang="en-US" altLang="zh-CN" dirty="0" err="1" smtClean="0"/>
              <a:t>zxid</a:t>
            </a:r>
            <a:endParaRPr lang="en-US" altLang="zh-CN" dirty="0"/>
          </a:p>
          <a:p>
            <a:pPr lvl="2"/>
            <a:r>
              <a:rPr lang="zh-CN" altLang="en-US" dirty="0" smtClean="0"/>
              <a:t>用于</a:t>
            </a:r>
            <a:r>
              <a:rPr lang="zh-CN" altLang="en-US" dirty="0"/>
              <a:t>标识一次更新操作的</a:t>
            </a:r>
            <a:r>
              <a:rPr lang="en-US" altLang="zh-CN" dirty="0"/>
              <a:t>Proposal </a:t>
            </a:r>
            <a:r>
              <a:rPr lang="en-US" altLang="zh-CN" dirty="0" smtClean="0"/>
              <a:t>ID</a:t>
            </a:r>
          </a:p>
          <a:p>
            <a:pPr lvl="2"/>
            <a:r>
              <a:rPr lang="en-US" altLang="zh-CN" dirty="0" smtClean="0"/>
              <a:t>Zookeeper</a:t>
            </a:r>
            <a:r>
              <a:rPr lang="zh-CN" altLang="en-US" dirty="0"/>
              <a:t>使用一个</a:t>
            </a:r>
            <a:r>
              <a:rPr lang="en-US" altLang="zh-CN" dirty="0"/>
              <a:t>64</a:t>
            </a:r>
            <a:r>
              <a:rPr lang="zh-CN" altLang="en-US" dirty="0"/>
              <a:t>位的数来</a:t>
            </a:r>
            <a:r>
              <a:rPr lang="zh-CN" altLang="en-US" dirty="0" smtClean="0"/>
              <a:t>表示</a:t>
            </a:r>
            <a:endParaRPr lang="en-US" altLang="zh-CN" dirty="0" smtClean="0"/>
          </a:p>
          <a:p>
            <a:pPr lvl="3"/>
            <a:r>
              <a:rPr lang="zh-CN" altLang="en-US" dirty="0" smtClean="0"/>
              <a:t>高</a:t>
            </a:r>
            <a:r>
              <a:rPr lang="en-US" altLang="zh-CN" dirty="0"/>
              <a:t>32</a:t>
            </a:r>
            <a:r>
              <a:rPr lang="zh-CN" altLang="en-US" dirty="0"/>
              <a:t>位是</a:t>
            </a:r>
            <a:r>
              <a:rPr lang="en-US" altLang="zh-CN" dirty="0"/>
              <a:t>Leader</a:t>
            </a:r>
            <a:r>
              <a:rPr lang="zh-CN" altLang="en-US" dirty="0"/>
              <a:t>的</a:t>
            </a:r>
            <a:r>
              <a:rPr lang="en-US" altLang="zh-CN" dirty="0"/>
              <a:t>epoch</a:t>
            </a:r>
            <a:r>
              <a:rPr lang="zh-CN" altLang="en-US" dirty="0"/>
              <a:t>，从</a:t>
            </a:r>
            <a:r>
              <a:rPr lang="en-US" altLang="zh-CN" dirty="0"/>
              <a:t>1</a:t>
            </a:r>
            <a:r>
              <a:rPr lang="zh-CN" altLang="en-US" dirty="0"/>
              <a:t>开始，每次选出新的</a:t>
            </a:r>
            <a:r>
              <a:rPr lang="en-US" altLang="zh-CN" dirty="0"/>
              <a:t>Leader</a:t>
            </a:r>
            <a:r>
              <a:rPr lang="zh-CN" altLang="en-US" dirty="0"/>
              <a:t>，</a:t>
            </a:r>
            <a:r>
              <a:rPr lang="en-US" altLang="zh-CN" dirty="0" smtClean="0"/>
              <a:t>epoch</a:t>
            </a:r>
            <a:r>
              <a:rPr lang="zh-CN" altLang="en-US" dirty="0" smtClean="0"/>
              <a:t>自增</a:t>
            </a:r>
            <a:endParaRPr lang="en-US" altLang="zh-CN" dirty="0" smtClean="0"/>
          </a:p>
          <a:p>
            <a:pPr lvl="3"/>
            <a:r>
              <a:rPr lang="zh-CN" altLang="en-US" dirty="0" smtClean="0"/>
              <a:t>低</a:t>
            </a:r>
            <a:r>
              <a:rPr lang="en-US" altLang="zh-CN" dirty="0"/>
              <a:t>32</a:t>
            </a:r>
            <a:r>
              <a:rPr lang="zh-CN" altLang="en-US" dirty="0"/>
              <a:t>位为该</a:t>
            </a:r>
            <a:r>
              <a:rPr lang="en-US" altLang="zh-CN" dirty="0"/>
              <a:t>epoch</a:t>
            </a:r>
            <a:r>
              <a:rPr lang="zh-CN" altLang="en-US" dirty="0"/>
              <a:t>内的序号，每次</a:t>
            </a:r>
            <a:r>
              <a:rPr lang="en-US" altLang="zh-CN" dirty="0"/>
              <a:t>epoch</a:t>
            </a:r>
            <a:r>
              <a:rPr lang="zh-CN" altLang="en-US" dirty="0"/>
              <a:t>变化，都将低</a:t>
            </a:r>
            <a:r>
              <a:rPr lang="en-US" altLang="zh-CN" dirty="0"/>
              <a:t>32</a:t>
            </a:r>
            <a:r>
              <a:rPr lang="zh-CN" altLang="en-US" dirty="0"/>
              <a:t>位的序号</a:t>
            </a:r>
            <a:r>
              <a:rPr lang="zh-CN" altLang="en-US" dirty="0" smtClean="0"/>
              <a:t>重置</a:t>
            </a:r>
            <a:endParaRPr lang="en-US" altLang="zh-CN" dirty="0" smtClean="0"/>
          </a:p>
          <a:p>
            <a:endParaRPr lang="zh-CN" altLang="en-US" dirty="0"/>
          </a:p>
        </p:txBody>
      </p:sp>
    </p:spTree>
    <p:extLst>
      <p:ext uri="{BB962C8B-B14F-4D97-AF65-F5344CB8AC3E}">
        <p14:creationId xmlns:p14="http://schemas.microsoft.com/office/powerpoint/2010/main" val="10103655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4.1.3 </a:t>
            </a:r>
            <a:r>
              <a:rPr lang="zh-CN" altLang="en-US" dirty="0"/>
              <a:t>工作原理</a:t>
            </a:r>
          </a:p>
        </p:txBody>
      </p:sp>
      <p:sp>
        <p:nvSpPr>
          <p:cNvPr id="3" name="内容占位符 2"/>
          <p:cNvSpPr>
            <a:spLocks noGrp="1"/>
          </p:cNvSpPr>
          <p:nvPr>
            <p:ph idx="1"/>
          </p:nvPr>
        </p:nvSpPr>
        <p:spPr/>
        <p:txBody>
          <a:bodyPr/>
          <a:lstStyle/>
          <a:p>
            <a:r>
              <a:rPr lang="en-US" altLang="zh-CN" dirty="0" smtClean="0"/>
              <a:t>ZAB</a:t>
            </a:r>
            <a:r>
              <a:rPr lang="zh-CN" altLang="en-US" dirty="0"/>
              <a:t>协议定义的四种节点</a:t>
            </a:r>
            <a:r>
              <a:rPr lang="zh-CN" altLang="en-US" dirty="0" smtClean="0"/>
              <a:t>状态</a:t>
            </a:r>
            <a:endParaRPr lang="en-US" altLang="zh-CN" dirty="0" smtClean="0"/>
          </a:p>
          <a:p>
            <a:pPr lvl="1"/>
            <a:r>
              <a:rPr lang="en-US" altLang="zh-CN" dirty="0" smtClean="0"/>
              <a:t>Looking</a:t>
            </a:r>
            <a:r>
              <a:rPr lang="zh-CN" altLang="en-US" dirty="0" smtClean="0"/>
              <a:t>：</a:t>
            </a:r>
            <a:r>
              <a:rPr lang="zh-CN" altLang="en-US" dirty="0"/>
              <a:t>选举</a:t>
            </a:r>
            <a:r>
              <a:rPr lang="zh-CN" altLang="en-US" dirty="0" smtClean="0"/>
              <a:t>状态</a:t>
            </a:r>
            <a:endParaRPr lang="zh-CN" altLang="en-US" dirty="0"/>
          </a:p>
          <a:p>
            <a:pPr lvl="1"/>
            <a:r>
              <a:rPr lang="en-US" altLang="zh-CN" dirty="0" smtClean="0"/>
              <a:t>Following</a:t>
            </a:r>
            <a:r>
              <a:rPr lang="zh-CN" altLang="en-US" dirty="0" smtClean="0"/>
              <a:t>：</a:t>
            </a:r>
            <a:r>
              <a:rPr lang="en-US" altLang="zh-CN" dirty="0"/>
              <a:t>Follower </a:t>
            </a:r>
            <a:r>
              <a:rPr lang="zh-CN" altLang="en-US" dirty="0"/>
              <a:t>节点（从节点）所处的</a:t>
            </a:r>
            <a:r>
              <a:rPr lang="zh-CN" altLang="en-US" dirty="0" smtClean="0"/>
              <a:t>状态</a:t>
            </a:r>
            <a:endParaRPr lang="zh-CN" altLang="en-US" dirty="0"/>
          </a:p>
          <a:p>
            <a:pPr lvl="1"/>
            <a:r>
              <a:rPr lang="en-US" altLang="zh-CN" dirty="0" smtClean="0"/>
              <a:t>Leading</a:t>
            </a:r>
            <a:r>
              <a:rPr lang="zh-CN" altLang="en-US" dirty="0" smtClean="0"/>
              <a:t>：</a:t>
            </a:r>
            <a:r>
              <a:rPr lang="en-US" altLang="zh-CN" dirty="0"/>
              <a:t>Leader </a:t>
            </a:r>
            <a:r>
              <a:rPr lang="zh-CN" altLang="en-US" dirty="0"/>
              <a:t>节点（主节点）所处</a:t>
            </a:r>
            <a:r>
              <a:rPr lang="zh-CN" altLang="en-US" dirty="0" smtClean="0"/>
              <a:t>状态</a:t>
            </a:r>
            <a:endParaRPr lang="zh-CN" altLang="en-US" dirty="0"/>
          </a:p>
          <a:p>
            <a:pPr lvl="1"/>
            <a:r>
              <a:rPr lang="en-US" altLang="zh-CN" dirty="0"/>
              <a:t>Observing</a:t>
            </a:r>
            <a:r>
              <a:rPr lang="zh-CN" altLang="en-US" dirty="0"/>
              <a:t>：观察者节点所处的</a:t>
            </a:r>
            <a:r>
              <a:rPr lang="zh-CN" altLang="en-US" dirty="0" smtClean="0"/>
              <a:t>状态</a:t>
            </a:r>
            <a:endParaRPr lang="en-US" altLang="zh-CN" dirty="0" smtClean="0"/>
          </a:p>
          <a:p>
            <a:pPr lvl="1"/>
            <a:endParaRPr lang="en-US" altLang="zh-CN" dirty="0"/>
          </a:p>
          <a:p>
            <a:pPr lvl="1"/>
            <a:r>
              <a:rPr lang="zh-CN" altLang="en-US" dirty="0"/>
              <a:t>过半选举策略：</a:t>
            </a:r>
          </a:p>
          <a:p>
            <a:pPr lvl="2"/>
            <a:r>
              <a:rPr lang="zh-CN" altLang="en-US" dirty="0" smtClean="0"/>
              <a:t>获得超过</a:t>
            </a:r>
            <a:r>
              <a:rPr lang="zh-CN" altLang="en-US" dirty="0"/>
              <a:t>一半票数的节点就能成为主</a:t>
            </a:r>
            <a:r>
              <a:rPr lang="zh-CN" altLang="en-US" dirty="0" smtClean="0"/>
              <a:t>节点</a:t>
            </a:r>
            <a:endParaRPr lang="en-US" altLang="zh-CN" dirty="0" smtClean="0"/>
          </a:p>
          <a:p>
            <a:pPr lvl="3"/>
            <a:r>
              <a:rPr lang="en-US" altLang="zh-CN" dirty="0" smtClean="0"/>
              <a:t>3</a:t>
            </a:r>
            <a:r>
              <a:rPr lang="zh-CN" altLang="en-US" dirty="0"/>
              <a:t>台节点进行选举，也就意味着只要任意一个节点有两票就可以成为主节点。</a:t>
            </a:r>
          </a:p>
        </p:txBody>
      </p:sp>
    </p:spTree>
    <p:extLst>
      <p:ext uri="{BB962C8B-B14F-4D97-AF65-F5344CB8AC3E}">
        <p14:creationId xmlns:p14="http://schemas.microsoft.com/office/powerpoint/2010/main" val="18048351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a:t>
            </a:r>
            <a:r>
              <a:rPr lang="zh-CN" altLang="en-US" dirty="0" smtClean="0"/>
              <a:t>工作原理</a:t>
            </a:r>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b="0" dirty="0"/>
              <a:t>Leader</a:t>
            </a:r>
            <a:r>
              <a:rPr lang="zh-CN" altLang="en-US" b="0" dirty="0"/>
              <a:t>选举</a:t>
            </a:r>
            <a:endParaRPr lang="en-US" altLang="zh-CN" b="0" dirty="0"/>
          </a:p>
          <a:p>
            <a:pPr lvl="1"/>
            <a:r>
              <a:rPr lang="en-US" altLang="zh-CN" dirty="0" smtClean="0"/>
              <a:t>Leader</a:t>
            </a:r>
            <a:r>
              <a:rPr lang="zh-CN" altLang="en-US" dirty="0" smtClean="0"/>
              <a:t>选举</a:t>
            </a:r>
            <a:r>
              <a:rPr lang="en-US" altLang="zh-CN" dirty="0" err="1" smtClean="0"/>
              <a:t>ZooKeeper</a:t>
            </a:r>
            <a:r>
              <a:rPr lang="zh-CN" altLang="en-US" dirty="0" smtClean="0"/>
              <a:t>中最重要的技术之一，是</a:t>
            </a:r>
            <a:r>
              <a:rPr lang="zh-CN" altLang="en-US" dirty="0"/>
              <a:t>保证分布式数据一致性的关键所在</a:t>
            </a:r>
            <a:r>
              <a:rPr lang="zh-CN" altLang="en-US" dirty="0" smtClean="0"/>
              <a:t>。</a:t>
            </a:r>
            <a:endParaRPr lang="en-US" altLang="zh-CN" dirty="0" smtClean="0"/>
          </a:p>
          <a:p>
            <a:pPr lvl="1"/>
            <a:r>
              <a:rPr lang="zh-CN" altLang="en-US" dirty="0" smtClean="0"/>
              <a:t>当</a:t>
            </a:r>
            <a:r>
              <a:rPr lang="en-US" altLang="zh-CN" dirty="0"/>
              <a:t>Zookeeper</a:t>
            </a:r>
            <a:r>
              <a:rPr lang="zh-CN" altLang="en-US" dirty="0"/>
              <a:t>集群中的一台服务器出现以下两种情况之一时，需要进入</a:t>
            </a:r>
            <a:r>
              <a:rPr lang="en-US" altLang="zh-CN" dirty="0"/>
              <a:t>Leader</a:t>
            </a:r>
            <a:r>
              <a:rPr lang="zh-CN" altLang="en-US" dirty="0" smtClean="0"/>
              <a:t>选举</a:t>
            </a:r>
            <a:endParaRPr lang="zh-CN" altLang="en-US" dirty="0"/>
          </a:p>
          <a:p>
            <a:pPr lvl="2"/>
            <a:r>
              <a:rPr lang="zh-CN" altLang="en-US" dirty="0" smtClean="0"/>
              <a:t>服务器</a:t>
            </a:r>
            <a:r>
              <a:rPr lang="zh-CN" altLang="en-US" dirty="0"/>
              <a:t>初始化</a:t>
            </a:r>
            <a:r>
              <a:rPr lang="zh-CN" altLang="en-US" dirty="0" smtClean="0"/>
              <a:t>启动</a:t>
            </a:r>
            <a:endParaRPr lang="zh-CN" altLang="en-US" dirty="0"/>
          </a:p>
          <a:p>
            <a:pPr lvl="2"/>
            <a:r>
              <a:rPr lang="zh-CN" altLang="en-US" dirty="0" smtClean="0"/>
              <a:t>服务器运行期间无法和</a:t>
            </a:r>
            <a:r>
              <a:rPr lang="en-US" altLang="zh-CN" dirty="0" smtClean="0"/>
              <a:t>Leader</a:t>
            </a:r>
            <a:r>
              <a:rPr lang="zh-CN" altLang="en-US" dirty="0" smtClean="0"/>
              <a:t>保持连接</a:t>
            </a:r>
            <a:endParaRPr lang="en-US" altLang="zh-CN" dirty="0" smtClean="0"/>
          </a:p>
          <a:p>
            <a:pPr lvl="1"/>
            <a:r>
              <a:rPr lang="en-US" altLang="zh-CN" dirty="0"/>
              <a:t>ZK</a:t>
            </a:r>
            <a:r>
              <a:rPr lang="zh-CN" altLang="en-US" dirty="0"/>
              <a:t>中有三种选举</a:t>
            </a:r>
            <a:r>
              <a:rPr lang="zh-CN" altLang="en-US" dirty="0" smtClean="0"/>
              <a:t>算法</a:t>
            </a:r>
            <a:endParaRPr lang="en-US" altLang="zh-CN" dirty="0" smtClean="0"/>
          </a:p>
          <a:p>
            <a:pPr lvl="2"/>
            <a:r>
              <a:rPr lang="en-US" altLang="zh-CN" dirty="0" err="1" smtClean="0"/>
              <a:t>LeaderElection</a:t>
            </a:r>
            <a:endParaRPr lang="en-US" altLang="zh-CN" dirty="0" smtClean="0"/>
          </a:p>
          <a:p>
            <a:pPr lvl="2"/>
            <a:r>
              <a:rPr lang="en-US" altLang="zh-CN" dirty="0" err="1" smtClean="0">
                <a:solidFill>
                  <a:srgbClr val="FF0000"/>
                </a:solidFill>
              </a:rPr>
              <a:t>FastLeaderElection</a:t>
            </a:r>
            <a:endParaRPr lang="en-US" altLang="zh-CN" dirty="0" smtClean="0">
              <a:solidFill>
                <a:srgbClr val="FF0000"/>
              </a:solidFill>
            </a:endParaRPr>
          </a:p>
          <a:p>
            <a:pPr lvl="2"/>
            <a:r>
              <a:rPr lang="en-US" altLang="zh-CN" dirty="0" err="1" smtClean="0"/>
              <a:t>AuthLeaderElection</a:t>
            </a:r>
            <a:endParaRPr lang="en-US" altLang="zh-CN" dirty="0" smtClean="0"/>
          </a:p>
          <a:p>
            <a:pPr lvl="3"/>
            <a:r>
              <a:rPr lang="en-US" altLang="zh-CN" dirty="0" err="1" smtClean="0"/>
              <a:t>FastLeaderElection</a:t>
            </a:r>
            <a:r>
              <a:rPr lang="zh-CN" altLang="en-US" dirty="0"/>
              <a:t>和</a:t>
            </a:r>
            <a:r>
              <a:rPr lang="en-US" altLang="zh-CN" dirty="0" err="1" smtClean="0"/>
              <a:t>AuthLeaderElection</a:t>
            </a:r>
            <a:r>
              <a:rPr lang="zh-CN" altLang="en-US" dirty="0" smtClean="0"/>
              <a:t>类似，</a:t>
            </a:r>
            <a:r>
              <a:rPr lang="zh-CN" altLang="en-US" dirty="0"/>
              <a:t>唯一区别是后者加入了认证</a:t>
            </a:r>
            <a:r>
              <a:rPr lang="zh-CN" altLang="en-US" dirty="0" smtClean="0"/>
              <a:t>信息</a:t>
            </a:r>
            <a:endParaRPr lang="en-US" altLang="zh-CN" dirty="0" smtClean="0"/>
          </a:p>
          <a:p>
            <a:pPr lvl="3"/>
            <a:r>
              <a:rPr lang="en-US" altLang="zh-CN" dirty="0" err="1" smtClean="0"/>
              <a:t>FastLeaderElection</a:t>
            </a:r>
            <a:r>
              <a:rPr lang="zh-CN" altLang="en-US" dirty="0"/>
              <a:t>比</a:t>
            </a:r>
            <a:r>
              <a:rPr lang="en-US" altLang="zh-CN" dirty="0" err="1"/>
              <a:t>LeaderElection</a:t>
            </a:r>
            <a:r>
              <a:rPr lang="zh-CN" altLang="en-US" dirty="0"/>
              <a:t>更高效，后续的版本只保留</a:t>
            </a:r>
            <a:r>
              <a:rPr lang="en-US" altLang="zh-CN" dirty="0" err="1"/>
              <a:t>FastLeaderElection</a:t>
            </a:r>
            <a:r>
              <a:rPr lang="zh-CN" altLang="en-US" dirty="0"/>
              <a:t>。</a:t>
            </a:r>
          </a:p>
        </p:txBody>
      </p:sp>
    </p:spTree>
    <p:extLst>
      <p:ext uri="{BB962C8B-B14F-4D97-AF65-F5344CB8AC3E}">
        <p14:creationId xmlns:p14="http://schemas.microsoft.com/office/powerpoint/2010/main" val="20756464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4.1.3 </a:t>
            </a:r>
            <a:r>
              <a:rPr lang="zh-CN" altLang="en-US" dirty="0"/>
              <a:t>工作原理</a:t>
            </a:r>
          </a:p>
        </p:txBody>
      </p:sp>
      <p:sp>
        <p:nvSpPr>
          <p:cNvPr id="3" name="内容占位符 2"/>
          <p:cNvSpPr>
            <a:spLocks noGrp="1"/>
          </p:cNvSpPr>
          <p:nvPr>
            <p:ph idx="1"/>
          </p:nvPr>
        </p:nvSpPr>
        <p:spPr/>
        <p:txBody>
          <a:bodyPr>
            <a:normAutofit/>
          </a:bodyPr>
          <a:lstStyle/>
          <a:p>
            <a:r>
              <a:rPr lang="en-US" altLang="zh-CN" b="0" dirty="0"/>
              <a:t>Leader</a:t>
            </a:r>
            <a:r>
              <a:rPr lang="zh-CN" altLang="en-US" b="0" dirty="0"/>
              <a:t>选举</a:t>
            </a:r>
            <a:endParaRPr lang="en-US" altLang="zh-CN" b="0" dirty="0"/>
          </a:p>
          <a:p>
            <a:pPr lvl="1"/>
            <a:r>
              <a:rPr lang="zh-CN" altLang="en-US" dirty="0"/>
              <a:t>选票数据结构</a:t>
            </a:r>
          </a:p>
          <a:p>
            <a:pPr lvl="2"/>
            <a:r>
              <a:rPr lang="en-US" altLang="zh-CN" i="1" dirty="0" err="1" smtClean="0"/>
              <a:t>logicClock</a:t>
            </a:r>
            <a:r>
              <a:rPr lang="zh-CN" altLang="en-US" b="0" dirty="0" smtClean="0"/>
              <a:t>：每个</a:t>
            </a:r>
            <a:r>
              <a:rPr lang="zh-CN" altLang="en-US" b="0" dirty="0"/>
              <a:t>服务器会维护一个自增的整数</a:t>
            </a:r>
            <a:r>
              <a:rPr lang="zh-CN" altLang="en-US" b="0" dirty="0" smtClean="0"/>
              <a:t>，表示</a:t>
            </a:r>
            <a:r>
              <a:rPr lang="zh-CN" altLang="en-US" b="0" dirty="0"/>
              <a:t>这是该服务器发起的第多少轮投票</a:t>
            </a:r>
          </a:p>
          <a:p>
            <a:pPr lvl="2"/>
            <a:r>
              <a:rPr lang="en-US" altLang="zh-CN" i="1" dirty="0" smtClean="0"/>
              <a:t>state</a:t>
            </a:r>
            <a:r>
              <a:rPr lang="zh-CN" altLang="en-US" b="0" dirty="0" smtClean="0"/>
              <a:t>：当前</a:t>
            </a:r>
            <a:r>
              <a:rPr lang="zh-CN" altLang="en-US" b="0" dirty="0"/>
              <a:t>服务器的状态</a:t>
            </a:r>
          </a:p>
          <a:p>
            <a:pPr lvl="2"/>
            <a:r>
              <a:rPr lang="en-US" altLang="zh-CN" i="1" dirty="0" err="1" smtClean="0"/>
              <a:t>self_id</a:t>
            </a:r>
            <a:r>
              <a:rPr lang="zh-CN" altLang="en-US" b="0" dirty="0" smtClean="0"/>
              <a:t>：当前</a:t>
            </a:r>
            <a:r>
              <a:rPr lang="zh-CN" altLang="en-US" b="0" dirty="0"/>
              <a:t>服务器</a:t>
            </a:r>
            <a:r>
              <a:rPr lang="zh-CN" altLang="en-US" b="0" dirty="0" smtClean="0"/>
              <a:t>的</a:t>
            </a:r>
            <a:r>
              <a:rPr lang="en-US" altLang="zh-CN" b="0" dirty="0" err="1" smtClean="0"/>
              <a:t>sid</a:t>
            </a:r>
            <a:endParaRPr lang="en-US" altLang="zh-CN" b="0" dirty="0"/>
          </a:p>
          <a:p>
            <a:pPr lvl="2"/>
            <a:r>
              <a:rPr lang="en-US" altLang="zh-CN" i="1" dirty="0" err="1" smtClean="0"/>
              <a:t>self_zxid</a:t>
            </a:r>
            <a:r>
              <a:rPr lang="zh-CN" altLang="en-US" b="0" dirty="0" smtClean="0"/>
              <a:t>：当前</a:t>
            </a:r>
            <a:r>
              <a:rPr lang="zh-CN" altLang="en-US" b="0" dirty="0"/>
              <a:t>服务器上所保存的数据的最大</a:t>
            </a:r>
            <a:r>
              <a:rPr lang="en-US" altLang="zh-CN" b="0" dirty="0" err="1"/>
              <a:t>zxid</a:t>
            </a:r>
            <a:endParaRPr lang="en-US" altLang="zh-CN" b="0" dirty="0"/>
          </a:p>
          <a:p>
            <a:pPr lvl="2"/>
            <a:r>
              <a:rPr lang="en-US" altLang="zh-CN" i="1" dirty="0" err="1" smtClean="0"/>
              <a:t>vote_id</a:t>
            </a:r>
            <a:r>
              <a:rPr lang="zh-CN" altLang="en-US" b="0" dirty="0" smtClean="0"/>
              <a:t>：被</a:t>
            </a:r>
            <a:r>
              <a:rPr lang="zh-CN" altLang="en-US" b="0" dirty="0"/>
              <a:t>推举的服务器</a:t>
            </a:r>
            <a:r>
              <a:rPr lang="zh-CN" altLang="en-US" b="0" dirty="0" smtClean="0"/>
              <a:t>的</a:t>
            </a:r>
            <a:r>
              <a:rPr lang="en-US" altLang="zh-CN" b="0" dirty="0" err="1" smtClean="0"/>
              <a:t>sid</a:t>
            </a:r>
            <a:endParaRPr lang="en-US" altLang="zh-CN" b="0" dirty="0"/>
          </a:p>
          <a:p>
            <a:pPr lvl="2"/>
            <a:r>
              <a:rPr lang="en-US" altLang="zh-CN" i="1" dirty="0" err="1" smtClean="0"/>
              <a:t>vote_zxid</a:t>
            </a:r>
            <a:r>
              <a:rPr lang="zh-CN" altLang="en-US" b="0" dirty="0" smtClean="0"/>
              <a:t>：被</a:t>
            </a:r>
            <a:r>
              <a:rPr lang="zh-CN" altLang="en-US" b="0" dirty="0"/>
              <a:t>推举的服务器上所保存的数据的最大</a:t>
            </a:r>
            <a:r>
              <a:rPr lang="en-US" altLang="zh-CN" b="0" dirty="0" err="1"/>
              <a:t>zxid</a:t>
            </a:r>
            <a:endParaRPr lang="en-US" altLang="zh-CN" b="0" dirty="0"/>
          </a:p>
          <a:p>
            <a:endParaRPr lang="zh-CN" altLang="en-US" dirty="0"/>
          </a:p>
        </p:txBody>
      </p:sp>
    </p:spTree>
    <p:extLst>
      <p:ext uri="{BB962C8B-B14F-4D97-AF65-F5344CB8AC3E}">
        <p14:creationId xmlns:p14="http://schemas.microsoft.com/office/powerpoint/2010/main" val="9732589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4.1.3 </a:t>
            </a:r>
            <a:r>
              <a:rPr lang="zh-CN" altLang="en-US" dirty="0"/>
              <a:t>工作原理</a:t>
            </a:r>
          </a:p>
        </p:txBody>
      </p:sp>
      <p:sp>
        <p:nvSpPr>
          <p:cNvPr id="3" name="内容占位符 2"/>
          <p:cNvSpPr>
            <a:spLocks noGrp="1"/>
          </p:cNvSpPr>
          <p:nvPr>
            <p:ph idx="1"/>
          </p:nvPr>
        </p:nvSpPr>
        <p:spPr/>
        <p:txBody>
          <a:bodyPr>
            <a:normAutofit/>
          </a:bodyPr>
          <a:lstStyle/>
          <a:p>
            <a:r>
              <a:rPr lang="en-US" altLang="zh-CN" b="0" dirty="0" smtClean="0"/>
              <a:t>Leader</a:t>
            </a:r>
            <a:r>
              <a:rPr lang="zh-CN" altLang="en-US" b="0" dirty="0" smtClean="0"/>
              <a:t>选举</a:t>
            </a:r>
            <a:endParaRPr lang="en-US" altLang="zh-CN" b="0" dirty="0" smtClean="0"/>
          </a:p>
          <a:p>
            <a:pPr lvl="1"/>
            <a:r>
              <a:rPr lang="zh-CN" altLang="en-US" b="0" dirty="0" smtClean="0"/>
              <a:t>服务器</a:t>
            </a:r>
            <a:r>
              <a:rPr lang="zh-CN" altLang="en-US" b="0" dirty="0"/>
              <a:t>启动时期的</a:t>
            </a:r>
            <a:r>
              <a:rPr lang="en-US" altLang="zh-CN" b="0" dirty="0"/>
              <a:t>Leader</a:t>
            </a:r>
            <a:r>
              <a:rPr lang="zh-CN" altLang="en-US" b="0" dirty="0"/>
              <a:t>选举</a:t>
            </a:r>
          </a:p>
          <a:p>
            <a:pPr lvl="2"/>
            <a:r>
              <a:rPr lang="zh-CN" altLang="en-US" b="0" dirty="0" smtClean="0"/>
              <a:t>若</a:t>
            </a:r>
            <a:r>
              <a:rPr lang="zh-CN" altLang="en-US" b="0" dirty="0"/>
              <a:t>进行</a:t>
            </a:r>
            <a:r>
              <a:rPr lang="en-US" altLang="zh-CN" b="0" dirty="0"/>
              <a:t>Leader</a:t>
            </a:r>
            <a:r>
              <a:rPr lang="zh-CN" altLang="en-US" b="0" dirty="0"/>
              <a:t>选举，则</a:t>
            </a:r>
            <a:r>
              <a:rPr lang="zh-CN" altLang="en-US" b="0" dirty="0" smtClean="0"/>
              <a:t>至少需要启动半数以上的机器</a:t>
            </a:r>
            <a:endParaRPr lang="en-US" altLang="zh-CN" b="0" dirty="0" smtClean="0"/>
          </a:p>
          <a:p>
            <a:pPr lvl="3"/>
            <a:r>
              <a:rPr lang="zh-CN" altLang="en-US" b="0" dirty="0" smtClean="0"/>
              <a:t>以</a:t>
            </a:r>
            <a:r>
              <a:rPr lang="en-US" altLang="zh-CN" b="0" dirty="0" smtClean="0"/>
              <a:t>3</a:t>
            </a:r>
            <a:r>
              <a:rPr lang="zh-CN" altLang="en-US" b="0" dirty="0"/>
              <a:t>台机器组成的服务器集群为</a:t>
            </a:r>
            <a:r>
              <a:rPr lang="zh-CN" altLang="en-US" b="0" dirty="0" smtClean="0"/>
              <a:t>例，则至少需要启动</a:t>
            </a:r>
            <a:r>
              <a:rPr lang="zh-CN" altLang="en-US" dirty="0" smtClean="0"/>
              <a:t>两</a:t>
            </a:r>
            <a:r>
              <a:rPr lang="zh-CN" altLang="en-US" dirty="0"/>
              <a:t>台机器</a:t>
            </a:r>
            <a:endParaRPr lang="en-US" altLang="zh-CN" dirty="0"/>
          </a:p>
          <a:p>
            <a:pPr lvl="3"/>
            <a:r>
              <a:rPr lang="zh-CN" altLang="en-US" b="0" dirty="0" smtClean="0"/>
              <a:t>在</a:t>
            </a:r>
            <a:r>
              <a:rPr lang="zh-CN" altLang="en-US" b="0" dirty="0"/>
              <a:t>集群初始化阶段，当有一台服务器</a:t>
            </a:r>
            <a:r>
              <a:rPr lang="en-US" altLang="zh-CN" b="0" dirty="0"/>
              <a:t>Server1</a:t>
            </a:r>
            <a:r>
              <a:rPr lang="zh-CN" altLang="en-US" b="0" dirty="0"/>
              <a:t>启动时，其单独无法进行和完成</a:t>
            </a:r>
            <a:r>
              <a:rPr lang="en-US" altLang="zh-CN" b="0" dirty="0"/>
              <a:t>Leader</a:t>
            </a:r>
            <a:r>
              <a:rPr lang="zh-CN" altLang="en-US" b="0" dirty="0"/>
              <a:t>选举，当第二台服务器</a:t>
            </a:r>
            <a:r>
              <a:rPr lang="en-US" altLang="zh-CN" b="0" dirty="0"/>
              <a:t>Server2</a:t>
            </a:r>
            <a:r>
              <a:rPr lang="zh-CN" altLang="en-US" b="0" dirty="0"/>
              <a:t>启动时，此时两台机器可以相互通信，每台机器都试图找到</a:t>
            </a:r>
            <a:r>
              <a:rPr lang="en-US" altLang="zh-CN" b="0" dirty="0"/>
              <a:t>Leader</a:t>
            </a:r>
            <a:r>
              <a:rPr lang="zh-CN" altLang="en-US" b="0" dirty="0"/>
              <a:t>，于是进入</a:t>
            </a:r>
            <a:r>
              <a:rPr lang="en-US" altLang="zh-CN" b="0" dirty="0"/>
              <a:t>Leader</a:t>
            </a:r>
            <a:r>
              <a:rPr lang="zh-CN" altLang="en-US" b="0" dirty="0"/>
              <a:t>选举过程</a:t>
            </a:r>
            <a:r>
              <a:rPr lang="zh-CN" altLang="en-US" b="0" dirty="0" smtClean="0"/>
              <a:t>。</a:t>
            </a:r>
            <a:endParaRPr lang="zh-CN" altLang="en-US" dirty="0"/>
          </a:p>
        </p:txBody>
      </p:sp>
    </p:spTree>
    <p:extLst>
      <p:ext uri="{BB962C8B-B14F-4D97-AF65-F5344CB8AC3E}">
        <p14:creationId xmlns:p14="http://schemas.microsoft.com/office/powerpoint/2010/main" val="263218306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4.1.3 </a:t>
            </a:r>
            <a:r>
              <a:rPr lang="zh-CN" altLang="en-US" dirty="0"/>
              <a:t>工作原理</a:t>
            </a:r>
          </a:p>
        </p:txBody>
      </p:sp>
      <p:sp>
        <p:nvSpPr>
          <p:cNvPr id="3" name="内容占位符 2"/>
          <p:cNvSpPr>
            <a:spLocks noGrp="1"/>
          </p:cNvSpPr>
          <p:nvPr>
            <p:ph idx="1"/>
          </p:nvPr>
        </p:nvSpPr>
        <p:spPr/>
        <p:txBody>
          <a:bodyPr>
            <a:normAutofit fontScale="62500" lnSpcReduction="20000"/>
          </a:bodyPr>
          <a:lstStyle/>
          <a:p>
            <a:r>
              <a:rPr lang="en-US" altLang="zh-CN" sz="3400" b="0" dirty="0" smtClean="0"/>
              <a:t>Leader</a:t>
            </a:r>
            <a:r>
              <a:rPr lang="zh-CN" altLang="en-US" sz="3400" b="0" dirty="0" smtClean="0"/>
              <a:t>选举流程</a:t>
            </a:r>
            <a:endParaRPr lang="en-US" altLang="zh-CN" sz="3400" b="0" dirty="0" smtClean="0"/>
          </a:p>
          <a:p>
            <a:pPr lvl="1"/>
            <a:r>
              <a:rPr lang="zh-CN" altLang="en-US" sz="2600" b="1" dirty="0"/>
              <a:t>自增选举轮次</a:t>
            </a:r>
          </a:p>
          <a:p>
            <a:pPr lvl="2"/>
            <a:r>
              <a:rPr lang="en-US" altLang="zh-CN" sz="2300" dirty="0"/>
              <a:t>Zookeeper</a:t>
            </a:r>
            <a:r>
              <a:rPr lang="zh-CN" altLang="en-US" sz="2300" dirty="0"/>
              <a:t>规定所有有效的投票都必须在同一轮次中</a:t>
            </a:r>
            <a:r>
              <a:rPr lang="zh-CN" altLang="en-US" sz="2300" dirty="0" smtClean="0"/>
              <a:t>。</a:t>
            </a:r>
            <a:endParaRPr lang="en-US" altLang="zh-CN" sz="2300" dirty="0" smtClean="0"/>
          </a:p>
          <a:p>
            <a:pPr lvl="2"/>
            <a:r>
              <a:rPr lang="zh-CN" altLang="en-US" sz="2300" dirty="0" smtClean="0"/>
              <a:t>每个</a:t>
            </a:r>
            <a:r>
              <a:rPr lang="zh-CN" altLang="en-US" sz="2300" dirty="0"/>
              <a:t>服务器在开始新一轮投票时，会先对自己维护的</a:t>
            </a:r>
            <a:r>
              <a:rPr lang="en-US" altLang="zh-CN" sz="2300" dirty="0" err="1"/>
              <a:t>logicClock</a:t>
            </a:r>
            <a:r>
              <a:rPr lang="zh-CN" altLang="en-US" sz="2300" dirty="0"/>
              <a:t>进行自增</a:t>
            </a:r>
            <a:r>
              <a:rPr lang="zh-CN" altLang="en-US" sz="2300" dirty="0" smtClean="0"/>
              <a:t>操作</a:t>
            </a:r>
            <a:endParaRPr lang="zh-CN" altLang="en-US" sz="2300" dirty="0"/>
          </a:p>
          <a:p>
            <a:pPr lvl="1"/>
            <a:r>
              <a:rPr lang="zh-CN" altLang="en-US" sz="2600" b="1" dirty="0"/>
              <a:t>初始化选票</a:t>
            </a:r>
          </a:p>
          <a:p>
            <a:pPr lvl="2"/>
            <a:r>
              <a:rPr lang="zh-CN" altLang="en-US" sz="2300" dirty="0"/>
              <a:t>每个服务器在广播自己的选票前，会将自己的投票箱清</a:t>
            </a:r>
            <a:r>
              <a:rPr lang="zh-CN" altLang="en-US" sz="2300" dirty="0" smtClean="0"/>
              <a:t>空</a:t>
            </a:r>
            <a:endParaRPr lang="en-US" altLang="zh-CN" sz="2300" dirty="0" smtClean="0"/>
          </a:p>
          <a:p>
            <a:pPr lvl="3"/>
            <a:r>
              <a:rPr lang="zh-CN" altLang="en-US" sz="2100" dirty="0" smtClean="0"/>
              <a:t>该</a:t>
            </a:r>
            <a:r>
              <a:rPr lang="zh-CN" altLang="en-US" sz="2100" dirty="0"/>
              <a:t>投票箱记录了所收到的选票</a:t>
            </a:r>
            <a:r>
              <a:rPr lang="zh-CN" altLang="en-US" sz="2100" dirty="0" smtClean="0"/>
              <a:t>。</a:t>
            </a:r>
            <a:endParaRPr lang="en-US" altLang="zh-CN" sz="2100" dirty="0" smtClean="0"/>
          </a:p>
          <a:p>
            <a:pPr lvl="3"/>
            <a:r>
              <a:rPr lang="zh-CN" altLang="en-US" sz="2100" dirty="0" smtClean="0"/>
              <a:t>票箱</a:t>
            </a:r>
            <a:r>
              <a:rPr lang="zh-CN" altLang="en-US" sz="2100" dirty="0"/>
              <a:t>中只会记录每一投票者的最后一</a:t>
            </a:r>
            <a:r>
              <a:rPr lang="zh-CN" altLang="en-US" sz="2100" dirty="0" smtClean="0"/>
              <a:t>票</a:t>
            </a:r>
            <a:endParaRPr lang="zh-CN" altLang="en-US" sz="2100" dirty="0"/>
          </a:p>
          <a:p>
            <a:pPr lvl="1"/>
            <a:r>
              <a:rPr lang="zh-CN" altLang="en-US" sz="2600" b="1" dirty="0"/>
              <a:t>发送初始化选票</a:t>
            </a:r>
          </a:p>
          <a:p>
            <a:pPr lvl="2"/>
            <a:r>
              <a:rPr lang="zh-CN" altLang="en-US" sz="2300" dirty="0"/>
              <a:t>每个服务器最开始都是通过广播把票投给自己</a:t>
            </a:r>
            <a:r>
              <a:rPr lang="zh-CN" altLang="en-US" sz="2300" dirty="0" smtClean="0"/>
              <a:t>。</a:t>
            </a:r>
            <a:endParaRPr lang="zh-CN" altLang="en-US" sz="2300" dirty="0"/>
          </a:p>
          <a:p>
            <a:pPr lvl="1"/>
            <a:r>
              <a:rPr lang="zh-CN" altLang="en-US" sz="2600" b="1" dirty="0"/>
              <a:t>接收外部投票</a:t>
            </a:r>
          </a:p>
          <a:p>
            <a:pPr lvl="2"/>
            <a:r>
              <a:rPr lang="zh-CN" altLang="en-US" sz="2300" dirty="0"/>
              <a:t>服务器会尝试从其它服务器获取投票，并记入自己的投票箱内</a:t>
            </a:r>
            <a:r>
              <a:rPr lang="zh-CN" altLang="en-US" sz="2300" dirty="0" smtClean="0"/>
              <a:t>。</a:t>
            </a:r>
            <a:endParaRPr lang="en-US" altLang="zh-CN" sz="2300" dirty="0" smtClean="0"/>
          </a:p>
          <a:p>
            <a:pPr lvl="3"/>
            <a:r>
              <a:rPr lang="zh-CN" altLang="en-US" sz="2100" dirty="0" smtClean="0"/>
              <a:t>如果</a:t>
            </a:r>
            <a:r>
              <a:rPr lang="zh-CN" altLang="en-US" sz="2100" dirty="0"/>
              <a:t>无法获取任何外部投票，则会确认自己是否与集群中其它服务器保持着有效连接。如果是，则再次发送自己的投票；如果否，则马上与之建立连接。</a:t>
            </a:r>
          </a:p>
          <a:p>
            <a:pPr lvl="1"/>
            <a:r>
              <a:rPr lang="zh-CN" altLang="en-US" sz="2600" b="1" dirty="0" smtClean="0"/>
              <a:t>判断</a:t>
            </a:r>
            <a:r>
              <a:rPr lang="zh-CN" altLang="en-US" sz="2600" b="1" dirty="0"/>
              <a:t>选举轮次</a:t>
            </a:r>
          </a:p>
          <a:p>
            <a:pPr lvl="2"/>
            <a:r>
              <a:rPr lang="zh-CN" altLang="en-US" sz="2300" dirty="0"/>
              <a:t>收到外部投票后，首先会根据投票信息中所包含的</a:t>
            </a:r>
            <a:r>
              <a:rPr lang="en-US" altLang="zh-CN" sz="2300" dirty="0" err="1"/>
              <a:t>logicClock</a:t>
            </a:r>
            <a:r>
              <a:rPr lang="zh-CN" altLang="en-US" sz="2300" dirty="0"/>
              <a:t>来进行不同</a:t>
            </a:r>
            <a:r>
              <a:rPr lang="zh-CN" altLang="en-US" sz="2300" dirty="0" smtClean="0"/>
              <a:t>处理</a:t>
            </a:r>
            <a:endParaRPr lang="zh-CN" altLang="en-US" sz="2300" dirty="0"/>
          </a:p>
          <a:p>
            <a:pPr lvl="3"/>
            <a:r>
              <a:rPr lang="zh-CN" altLang="en-US" sz="2000" dirty="0"/>
              <a:t>外部投票的</a:t>
            </a:r>
            <a:r>
              <a:rPr lang="en-US" altLang="zh-CN" sz="2000" dirty="0" err="1"/>
              <a:t>logicClock</a:t>
            </a:r>
            <a:r>
              <a:rPr lang="zh-CN" altLang="en-US" sz="2000" b="1" dirty="0">
                <a:solidFill>
                  <a:srgbClr val="FF0000"/>
                </a:solidFill>
              </a:rPr>
              <a:t>大于</a:t>
            </a:r>
            <a:r>
              <a:rPr lang="zh-CN" altLang="en-US" sz="2000" dirty="0"/>
              <a:t>自己的</a:t>
            </a:r>
            <a:r>
              <a:rPr lang="en-US" altLang="zh-CN" sz="2000" dirty="0" err="1" smtClean="0"/>
              <a:t>logicClock</a:t>
            </a:r>
            <a:r>
              <a:rPr lang="zh-CN" altLang="en-US" sz="2000" dirty="0" smtClean="0"/>
              <a:t>：说明</a:t>
            </a:r>
            <a:r>
              <a:rPr lang="zh-CN" altLang="en-US" sz="2000" dirty="0"/>
              <a:t>该服务器的选举轮次落后于其它服务器的选举轮次，立即清空自己的投票箱并将自己的</a:t>
            </a:r>
            <a:r>
              <a:rPr lang="en-US" altLang="zh-CN" sz="2000" dirty="0" err="1"/>
              <a:t>logicClock</a:t>
            </a:r>
            <a:r>
              <a:rPr lang="zh-CN" altLang="en-US" sz="2000" dirty="0"/>
              <a:t>更新为收到的</a:t>
            </a:r>
            <a:r>
              <a:rPr lang="en-US" altLang="zh-CN" sz="2000" dirty="0" err="1"/>
              <a:t>logicClock</a:t>
            </a:r>
            <a:r>
              <a:rPr lang="zh-CN" altLang="en-US" sz="2000" dirty="0"/>
              <a:t>，然后再对比自己之前的投票与收到的投票以确定是否需要变更自己的投票，最终再次将自己的投票广播</a:t>
            </a:r>
            <a:r>
              <a:rPr lang="zh-CN" altLang="en-US" sz="2000" dirty="0" smtClean="0"/>
              <a:t>出去</a:t>
            </a:r>
          </a:p>
          <a:p>
            <a:pPr lvl="3"/>
            <a:r>
              <a:rPr lang="zh-CN" altLang="en-US" sz="2000" dirty="0" smtClean="0"/>
              <a:t>外部投票的</a:t>
            </a:r>
            <a:r>
              <a:rPr lang="en-US" altLang="zh-CN" sz="2000" dirty="0" err="1" smtClean="0"/>
              <a:t>logicClock</a:t>
            </a:r>
            <a:r>
              <a:rPr lang="zh-CN" altLang="en-US" sz="2000" b="1" dirty="0" smtClean="0">
                <a:solidFill>
                  <a:srgbClr val="FF0000"/>
                </a:solidFill>
              </a:rPr>
              <a:t>小于</a:t>
            </a:r>
            <a:r>
              <a:rPr lang="zh-CN" altLang="en-US" sz="2000" dirty="0" smtClean="0"/>
              <a:t>自己的</a:t>
            </a:r>
            <a:r>
              <a:rPr lang="en-US" altLang="zh-CN" sz="2000" dirty="0" err="1" smtClean="0"/>
              <a:t>logicClock</a:t>
            </a:r>
            <a:r>
              <a:rPr lang="zh-CN" altLang="en-US" sz="2000" dirty="0" smtClean="0"/>
              <a:t>：当前服务器直接忽略该投票，继续处理下一个投票</a:t>
            </a:r>
          </a:p>
          <a:p>
            <a:pPr lvl="3"/>
            <a:r>
              <a:rPr lang="zh-CN" altLang="en-US" sz="2000" dirty="0" smtClean="0"/>
              <a:t>外部投票的</a:t>
            </a:r>
            <a:r>
              <a:rPr lang="en-US" altLang="zh-CN" sz="2000" dirty="0" err="1" smtClean="0"/>
              <a:t>logickClock</a:t>
            </a:r>
            <a:r>
              <a:rPr lang="zh-CN" altLang="en-US" sz="2000" b="1" dirty="0" smtClean="0">
                <a:solidFill>
                  <a:srgbClr val="FF0000"/>
                </a:solidFill>
              </a:rPr>
              <a:t>等于</a:t>
            </a:r>
            <a:r>
              <a:rPr lang="zh-CN" altLang="en-US" sz="2000" dirty="0"/>
              <a:t>自己的</a:t>
            </a:r>
            <a:r>
              <a:rPr lang="en-US" altLang="zh-CN" sz="2000" dirty="0" err="1" smtClean="0"/>
              <a:t>logicClock</a:t>
            </a:r>
            <a:r>
              <a:rPr lang="zh-CN" altLang="en-US" sz="2000" dirty="0" smtClean="0"/>
              <a:t>：进行选票</a:t>
            </a:r>
            <a:r>
              <a:rPr lang="en-US" altLang="zh-CN" sz="2000" dirty="0" smtClean="0"/>
              <a:t>PK</a:t>
            </a:r>
            <a:endParaRPr lang="zh-CN" altLang="en-US" sz="2000" dirty="0" smtClean="0"/>
          </a:p>
          <a:p>
            <a:pPr lvl="1"/>
            <a:endParaRPr lang="en-US" altLang="zh-CN" b="0" dirty="0" smtClean="0"/>
          </a:p>
        </p:txBody>
      </p:sp>
    </p:spTree>
    <p:extLst>
      <p:ext uri="{BB962C8B-B14F-4D97-AF65-F5344CB8AC3E}">
        <p14:creationId xmlns:p14="http://schemas.microsoft.com/office/powerpoint/2010/main" val="37765655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4.1.3 </a:t>
            </a:r>
            <a:r>
              <a:rPr lang="zh-CN" altLang="en-US" dirty="0"/>
              <a:t>工作原理</a:t>
            </a:r>
          </a:p>
        </p:txBody>
      </p:sp>
      <p:sp>
        <p:nvSpPr>
          <p:cNvPr id="3" name="内容占位符 2"/>
          <p:cNvSpPr>
            <a:spLocks noGrp="1"/>
          </p:cNvSpPr>
          <p:nvPr>
            <p:ph idx="1"/>
          </p:nvPr>
        </p:nvSpPr>
        <p:spPr/>
        <p:txBody>
          <a:bodyPr>
            <a:normAutofit fontScale="92500" lnSpcReduction="20000"/>
          </a:bodyPr>
          <a:lstStyle/>
          <a:p>
            <a:r>
              <a:rPr lang="en-US" altLang="zh-CN" b="0" dirty="0"/>
              <a:t>Leader</a:t>
            </a:r>
            <a:r>
              <a:rPr lang="zh-CN" altLang="en-US" b="0" dirty="0" smtClean="0"/>
              <a:t>选举（续）</a:t>
            </a:r>
            <a:endParaRPr lang="en-US" altLang="zh-CN" dirty="0" smtClean="0"/>
          </a:p>
          <a:p>
            <a:pPr lvl="1"/>
            <a:r>
              <a:rPr lang="zh-CN" altLang="en-US" sz="2100" b="1" dirty="0"/>
              <a:t>选票</a:t>
            </a:r>
            <a:r>
              <a:rPr lang="en-US" altLang="zh-CN" sz="2100" b="1" dirty="0"/>
              <a:t>PK</a:t>
            </a:r>
          </a:p>
          <a:p>
            <a:pPr lvl="2"/>
            <a:r>
              <a:rPr lang="zh-CN" altLang="en-US" sz="1900" dirty="0"/>
              <a:t>选票</a:t>
            </a:r>
            <a:r>
              <a:rPr lang="en-US" altLang="zh-CN" sz="1900" dirty="0"/>
              <a:t>PK</a:t>
            </a:r>
            <a:r>
              <a:rPr lang="zh-CN" altLang="en-US" sz="1900" dirty="0"/>
              <a:t>是基于</a:t>
            </a:r>
            <a:r>
              <a:rPr lang="en-US" altLang="zh-CN" sz="1900" dirty="0"/>
              <a:t>(</a:t>
            </a:r>
            <a:r>
              <a:rPr lang="en-US" altLang="zh-CN" sz="1900" dirty="0" err="1"/>
              <a:t>self_id</a:t>
            </a:r>
            <a:r>
              <a:rPr lang="en-US" altLang="zh-CN" sz="1900" dirty="0"/>
              <a:t>, </a:t>
            </a:r>
            <a:r>
              <a:rPr lang="en-US" altLang="zh-CN" sz="1900" dirty="0" err="1"/>
              <a:t>self_zxid</a:t>
            </a:r>
            <a:r>
              <a:rPr lang="en-US" altLang="zh-CN" sz="1900" dirty="0"/>
              <a:t>)</a:t>
            </a:r>
            <a:r>
              <a:rPr lang="zh-CN" altLang="en-US" sz="1900" dirty="0"/>
              <a:t>与</a:t>
            </a:r>
            <a:r>
              <a:rPr lang="en-US" altLang="zh-CN" sz="1900" dirty="0"/>
              <a:t>(</a:t>
            </a:r>
            <a:r>
              <a:rPr lang="en-US" altLang="zh-CN" sz="1900" dirty="0" err="1"/>
              <a:t>vote_id</a:t>
            </a:r>
            <a:r>
              <a:rPr lang="en-US" altLang="zh-CN" sz="1900" dirty="0"/>
              <a:t>, </a:t>
            </a:r>
            <a:r>
              <a:rPr lang="en-US" altLang="zh-CN" sz="1900" dirty="0" err="1"/>
              <a:t>vote_zxid</a:t>
            </a:r>
            <a:r>
              <a:rPr lang="en-US" altLang="zh-CN" sz="1900" dirty="0"/>
              <a:t>)</a:t>
            </a:r>
            <a:r>
              <a:rPr lang="zh-CN" altLang="en-US" sz="1900" dirty="0"/>
              <a:t>的对比</a:t>
            </a:r>
          </a:p>
          <a:p>
            <a:pPr lvl="3"/>
            <a:r>
              <a:rPr lang="zh-CN" altLang="en-US" sz="1600" dirty="0" smtClean="0"/>
              <a:t>若</a:t>
            </a:r>
            <a:r>
              <a:rPr lang="en-US" altLang="zh-CN" sz="1600" dirty="0" err="1"/>
              <a:t>logicClock</a:t>
            </a:r>
            <a:r>
              <a:rPr lang="zh-CN" altLang="en-US" sz="1600" dirty="0"/>
              <a:t>一致，则对比二者的</a:t>
            </a:r>
            <a:r>
              <a:rPr lang="en-US" altLang="zh-CN" sz="1600" dirty="0" err="1"/>
              <a:t>vote_zxid</a:t>
            </a:r>
            <a:r>
              <a:rPr lang="zh-CN" altLang="en-US" sz="1600" dirty="0"/>
              <a:t>，若外部投票的</a:t>
            </a:r>
            <a:r>
              <a:rPr lang="en-US" altLang="zh-CN" sz="1600" dirty="0" err="1"/>
              <a:t>vote_zxid</a:t>
            </a:r>
            <a:r>
              <a:rPr lang="zh-CN" altLang="en-US" sz="1600" dirty="0"/>
              <a:t>比较大，则将自己的票中的</a:t>
            </a:r>
            <a:r>
              <a:rPr lang="en-US" altLang="zh-CN" sz="1600" dirty="0" err="1"/>
              <a:t>vote_zxid</a:t>
            </a:r>
            <a:r>
              <a:rPr lang="zh-CN" altLang="en-US" sz="1600" dirty="0"/>
              <a:t>与</a:t>
            </a:r>
            <a:r>
              <a:rPr lang="en-US" altLang="zh-CN" sz="1600" dirty="0" err="1"/>
              <a:t>vote_myid</a:t>
            </a:r>
            <a:r>
              <a:rPr lang="zh-CN" altLang="en-US" sz="1600" dirty="0"/>
              <a:t>更新为收到的票中的</a:t>
            </a:r>
            <a:r>
              <a:rPr lang="en-US" altLang="zh-CN" sz="1600" dirty="0" err="1"/>
              <a:t>vote_zxid</a:t>
            </a:r>
            <a:r>
              <a:rPr lang="zh-CN" altLang="en-US" sz="1600" dirty="0"/>
              <a:t>与</a:t>
            </a:r>
            <a:r>
              <a:rPr lang="en-US" altLang="zh-CN" sz="1600" dirty="0" err="1"/>
              <a:t>vote_myid</a:t>
            </a:r>
            <a:r>
              <a:rPr lang="zh-CN" altLang="en-US" sz="1600" dirty="0"/>
              <a:t>并广播出去，另外将收到的票及自己更新后的票放入自己的票箱。如果票箱内已存在</a:t>
            </a:r>
            <a:r>
              <a:rPr lang="en-US" altLang="zh-CN" sz="1600" dirty="0"/>
              <a:t>(</a:t>
            </a:r>
            <a:r>
              <a:rPr lang="en-US" altLang="zh-CN" sz="1600" dirty="0" err="1"/>
              <a:t>self_myid</a:t>
            </a:r>
            <a:r>
              <a:rPr lang="en-US" altLang="zh-CN" sz="1600" dirty="0"/>
              <a:t>, </a:t>
            </a:r>
            <a:r>
              <a:rPr lang="en-US" altLang="zh-CN" sz="1600" dirty="0" err="1"/>
              <a:t>self_zxid</a:t>
            </a:r>
            <a:r>
              <a:rPr lang="en-US" altLang="zh-CN" sz="1600" dirty="0"/>
              <a:t>)</a:t>
            </a:r>
            <a:r>
              <a:rPr lang="zh-CN" altLang="en-US" sz="1600" dirty="0"/>
              <a:t>相同的选票，则直接覆盖</a:t>
            </a:r>
          </a:p>
          <a:p>
            <a:pPr lvl="3"/>
            <a:r>
              <a:rPr lang="zh-CN" altLang="en-US" sz="1600" dirty="0"/>
              <a:t>若二者</a:t>
            </a:r>
            <a:r>
              <a:rPr lang="en-US" altLang="zh-CN" sz="1600" dirty="0" err="1"/>
              <a:t>vote_zxid</a:t>
            </a:r>
            <a:r>
              <a:rPr lang="zh-CN" altLang="en-US" sz="1600" dirty="0"/>
              <a:t>一致，则比较二者的</a:t>
            </a:r>
            <a:r>
              <a:rPr lang="en-US" altLang="zh-CN" sz="1600" dirty="0" err="1"/>
              <a:t>vote_myid</a:t>
            </a:r>
            <a:r>
              <a:rPr lang="zh-CN" altLang="en-US" sz="1600" dirty="0"/>
              <a:t>，若外部投票的</a:t>
            </a:r>
            <a:r>
              <a:rPr lang="en-US" altLang="zh-CN" sz="1600" dirty="0" err="1"/>
              <a:t>vote_myid</a:t>
            </a:r>
            <a:r>
              <a:rPr lang="zh-CN" altLang="en-US" sz="1600" dirty="0"/>
              <a:t>比较大，则将自己的票中的</a:t>
            </a:r>
            <a:r>
              <a:rPr lang="en-US" altLang="zh-CN" sz="1600" dirty="0" err="1"/>
              <a:t>vote_myid</a:t>
            </a:r>
            <a:r>
              <a:rPr lang="zh-CN" altLang="en-US" sz="1600" dirty="0"/>
              <a:t>更新为收到的票中的</a:t>
            </a:r>
            <a:r>
              <a:rPr lang="en-US" altLang="zh-CN" sz="1600" dirty="0" err="1"/>
              <a:t>vote_myid</a:t>
            </a:r>
            <a:r>
              <a:rPr lang="zh-CN" altLang="en-US" sz="1600" dirty="0"/>
              <a:t>并广播出去，另外将收到的票及自己更新后的票放入自己的票箱</a:t>
            </a:r>
          </a:p>
          <a:p>
            <a:pPr lvl="1"/>
            <a:r>
              <a:rPr lang="zh-CN" altLang="en-US" sz="2100" b="1" dirty="0"/>
              <a:t>统计选票</a:t>
            </a:r>
          </a:p>
          <a:p>
            <a:pPr lvl="2"/>
            <a:r>
              <a:rPr lang="zh-CN" altLang="en-US" sz="1900" dirty="0"/>
              <a:t>如果已经确定有过半服务器认可了自己的投票（可能是更新后的投票），则终止投票。否则继续接收其它服务器的投票。</a:t>
            </a:r>
          </a:p>
          <a:p>
            <a:pPr lvl="1"/>
            <a:r>
              <a:rPr lang="zh-CN" altLang="en-US" sz="2100" b="1" dirty="0"/>
              <a:t>更新服务器状态</a:t>
            </a:r>
          </a:p>
          <a:p>
            <a:pPr lvl="2"/>
            <a:r>
              <a:rPr lang="zh-CN" altLang="en-US" sz="1900" dirty="0"/>
              <a:t>投票终止后，服务器开始更新自身状态。若过半的票投给了自己，则将自己的服务器状态更新为</a:t>
            </a:r>
            <a:r>
              <a:rPr lang="en-US" altLang="zh-CN" sz="1900" dirty="0"/>
              <a:t>LEADING</a:t>
            </a:r>
            <a:r>
              <a:rPr lang="zh-CN" altLang="en-US" sz="1900" dirty="0"/>
              <a:t>，否则将自己的状态更新为</a:t>
            </a:r>
            <a:r>
              <a:rPr lang="en-US" altLang="zh-CN" sz="1900" dirty="0"/>
              <a:t>FOLLOWING</a:t>
            </a:r>
          </a:p>
          <a:p>
            <a:pPr lvl="1"/>
            <a:endParaRPr lang="zh-CN" altLang="en-US" dirty="0"/>
          </a:p>
        </p:txBody>
      </p:sp>
    </p:spTree>
    <p:extLst>
      <p:ext uri="{BB962C8B-B14F-4D97-AF65-F5344CB8AC3E}">
        <p14:creationId xmlns:p14="http://schemas.microsoft.com/office/powerpoint/2010/main" val="3176866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4.1.3 </a:t>
            </a:r>
            <a:r>
              <a:rPr lang="zh-CN" altLang="en-US" dirty="0"/>
              <a:t>工作原理</a:t>
            </a:r>
          </a:p>
        </p:txBody>
      </p:sp>
      <p:sp>
        <p:nvSpPr>
          <p:cNvPr id="3" name="内容占位符 2"/>
          <p:cNvSpPr>
            <a:spLocks noGrp="1"/>
          </p:cNvSpPr>
          <p:nvPr>
            <p:ph idx="1"/>
          </p:nvPr>
        </p:nvSpPr>
        <p:spPr/>
        <p:txBody>
          <a:bodyPr>
            <a:normAutofit/>
          </a:bodyPr>
          <a:lstStyle/>
          <a:p>
            <a:r>
              <a:rPr lang="zh-CN" altLang="en-US" b="0" dirty="0" smtClean="0"/>
              <a:t>写数据</a:t>
            </a:r>
            <a:endParaRPr lang="en-US" altLang="zh-CN" b="0" dirty="0" smtClean="0"/>
          </a:p>
          <a:p>
            <a:pPr lvl="1"/>
            <a:r>
              <a:rPr lang="zh-CN" altLang="en-US" dirty="0"/>
              <a:t>通过</a:t>
            </a:r>
            <a:r>
              <a:rPr lang="en-US" altLang="zh-CN" dirty="0"/>
              <a:t>Leader</a:t>
            </a:r>
            <a:r>
              <a:rPr lang="zh-CN" altLang="en-US" dirty="0" smtClean="0"/>
              <a:t>进行写操作</a:t>
            </a:r>
            <a:endParaRPr lang="en-US" altLang="zh-CN" dirty="0" smtClean="0"/>
          </a:p>
          <a:p>
            <a:pPr lvl="1"/>
            <a:r>
              <a:rPr lang="zh-CN" altLang="en-US" dirty="0"/>
              <a:t>通过</a:t>
            </a:r>
            <a:r>
              <a:rPr lang="en-US" altLang="zh-CN" dirty="0"/>
              <a:t>Follower/Observer</a:t>
            </a:r>
            <a:r>
              <a:rPr lang="zh-CN" altLang="en-US" dirty="0"/>
              <a:t>进行写操作</a:t>
            </a:r>
          </a:p>
          <a:p>
            <a:pPr marL="457200" lvl="1" indent="0">
              <a:buNone/>
            </a:pPr>
            <a:endParaRPr lang="en-US" altLang="zh-CN" b="0" dirty="0" smtClean="0"/>
          </a:p>
        </p:txBody>
      </p:sp>
    </p:spTree>
    <p:extLst>
      <p:ext uri="{BB962C8B-B14F-4D97-AF65-F5344CB8AC3E}">
        <p14:creationId xmlns:p14="http://schemas.microsoft.com/office/powerpoint/2010/main" val="18848202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4.1.3 </a:t>
            </a:r>
            <a:r>
              <a:rPr lang="zh-CN" altLang="en-US" dirty="0"/>
              <a:t>工作原理</a:t>
            </a:r>
          </a:p>
        </p:txBody>
      </p:sp>
      <p:sp>
        <p:nvSpPr>
          <p:cNvPr id="3" name="内容占位符 2"/>
          <p:cNvSpPr>
            <a:spLocks noGrp="1"/>
          </p:cNvSpPr>
          <p:nvPr>
            <p:ph idx="1"/>
          </p:nvPr>
        </p:nvSpPr>
        <p:spPr/>
        <p:txBody>
          <a:bodyPr>
            <a:normAutofit fontScale="85000" lnSpcReduction="20000"/>
          </a:bodyPr>
          <a:lstStyle/>
          <a:p>
            <a:r>
              <a:rPr lang="zh-CN" altLang="en-US" b="0" dirty="0" smtClean="0"/>
              <a:t>写数据</a:t>
            </a:r>
            <a:endParaRPr lang="en-US" altLang="zh-CN" b="0" dirty="0" smtClean="0"/>
          </a:p>
          <a:p>
            <a:pPr lvl="1"/>
            <a:r>
              <a:rPr lang="zh-CN" altLang="en-US" dirty="0" smtClean="0"/>
              <a:t>通过</a:t>
            </a:r>
            <a:r>
              <a:rPr lang="en-US" altLang="zh-CN" dirty="0" smtClean="0"/>
              <a:t>Leader</a:t>
            </a:r>
            <a:r>
              <a:rPr lang="zh-CN" altLang="en-US" dirty="0" smtClean="0"/>
              <a:t>进行写操作</a:t>
            </a:r>
          </a:p>
          <a:p>
            <a:pPr lvl="2"/>
            <a:r>
              <a:rPr lang="zh-CN" altLang="en-US" dirty="0" smtClean="0"/>
              <a:t>客户端</a:t>
            </a:r>
            <a:r>
              <a:rPr lang="zh-CN" altLang="en-US" dirty="0"/>
              <a:t>向</a:t>
            </a:r>
            <a:r>
              <a:rPr lang="en-US" altLang="zh-CN" dirty="0"/>
              <a:t>Leader</a:t>
            </a:r>
            <a:r>
              <a:rPr lang="zh-CN" altLang="en-US" dirty="0"/>
              <a:t>发起写请求</a:t>
            </a:r>
          </a:p>
          <a:p>
            <a:pPr lvl="2"/>
            <a:r>
              <a:rPr lang="en-US" altLang="zh-CN" dirty="0"/>
              <a:t>Leader</a:t>
            </a:r>
            <a:r>
              <a:rPr lang="zh-CN" altLang="en-US" dirty="0"/>
              <a:t>将写请求以</a:t>
            </a:r>
            <a:r>
              <a:rPr lang="en-US" altLang="zh-CN" dirty="0"/>
              <a:t>Proposal</a:t>
            </a:r>
            <a:r>
              <a:rPr lang="zh-CN" altLang="en-US" dirty="0"/>
              <a:t>的形式发给所有</a:t>
            </a:r>
            <a:r>
              <a:rPr lang="en-US" altLang="zh-CN" dirty="0"/>
              <a:t>Follower</a:t>
            </a:r>
            <a:r>
              <a:rPr lang="zh-CN" altLang="en-US" dirty="0"/>
              <a:t>并等待</a:t>
            </a:r>
            <a:r>
              <a:rPr lang="en-US" altLang="zh-CN" dirty="0"/>
              <a:t>ACK</a:t>
            </a:r>
          </a:p>
          <a:p>
            <a:pPr lvl="2"/>
            <a:r>
              <a:rPr lang="en-US" altLang="zh-CN" dirty="0"/>
              <a:t>Follower</a:t>
            </a:r>
            <a:r>
              <a:rPr lang="zh-CN" altLang="en-US" dirty="0"/>
              <a:t>收到</a:t>
            </a:r>
            <a:r>
              <a:rPr lang="en-US" altLang="zh-CN" dirty="0"/>
              <a:t>Leader</a:t>
            </a:r>
            <a:r>
              <a:rPr lang="zh-CN" altLang="en-US" dirty="0"/>
              <a:t>的</a:t>
            </a:r>
            <a:r>
              <a:rPr lang="en-US" altLang="zh-CN" dirty="0"/>
              <a:t>Proposal</a:t>
            </a:r>
            <a:r>
              <a:rPr lang="zh-CN" altLang="en-US" dirty="0"/>
              <a:t>后返回</a:t>
            </a:r>
            <a:r>
              <a:rPr lang="en-US" altLang="zh-CN" dirty="0"/>
              <a:t>ACK</a:t>
            </a:r>
          </a:p>
          <a:p>
            <a:pPr lvl="2"/>
            <a:r>
              <a:rPr lang="en-US" altLang="zh-CN" dirty="0"/>
              <a:t>Leader</a:t>
            </a:r>
            <a:r>
              <a:rPr lang="zh-CN" altLang="en-US" dirty="0"/>
              <a:t>得到过半数的</a:t>
            </a:r>
            <a:r>
              <a:rPr lang="en-US" altLang="zh-CN" dirty="0"/>
              <a:t>ACK</a:t>
            </a:r>
            <a:r>
              <a:rPr lang="zh-CN" altLang="en-US" dirty="0"/>
              <a:t>（</a:t>
            </a:r>
            <a:r>
              <a:rPr lang="en-US" altLang="zh-CN" dirty="0"/>
              <a:t>Leader</a:t>
            </a:r>
            <a:r>
              <a:rPr lang="zh-CN" altLang="en-US" dirty="0"/>
              <a:t>对自己默认有一个</a:t>
            </a:r>
            <a:r>
              <a:rPr lang="en-US" altLang="zh-CN" dirty="0"/>
              <a:t>ACK</a:t>
            </a:r>
            <a:r>
              <a:rPr lang="zh-CN" altLang="en-US" dirty="0"/>
              <a:t>）后向所有的</a:t>
            </a:r>
            <a:r>
              <a:rPr lang="en-US" altLang="zh-CN" dirty="0"/>
              <a:t>Follower</a:t>
            </a:r>
            <a:r>
              <a:rPr lang="zh-CN" altLang="en-US" dirty="0"/>
              <a:t>和</a:t>
            </a:r>
            <a:r>
              <a:rPr lang="en-US" altLang="zh-CN" dirty="0"/>
              <a:t>Observer</a:t>
            </a:r>
            <a:r>
              <a:rPr lang="zh-CN" altLang="en-US" dirty="0"/>
              <a:t>发送</a:t>
            </a:r>
            <a:r>
              <a:rPr lang="en-US" altLang="zh-CN" dirty="0" err="1"/>
              <a:t>Commmit</a:t>
            </a:r>
            <a:endParaRPr lang="en-US" altLang="zh-CN" dirty="0"/>
          </a:p>
          <a:p>
            <a:pPr lvl="2"/>
            <a:r>
              <a:rPr lang="en-US" altLang="zh-CN" dirty="0"/>
              <a:t>Leader</a:t>
            </a:r>
            <a:r>
              <a:rPr lang="zh-CN" altLang="en-US" dirty="0"/>
              <a:t>将处理结果返回给</a:t>
            </a:r>
            <a:r>
              <a:rPr lang="zh-CN" altLang="en-US" dirty="0" smtClean="0"/>
              <a:t>客户端</a:t>
            </a:r>
            <a:endParaRPr lang="en-US" altLang="zh-CN" dirty="0" smtClean="0"/>
          </a:p>
          <a:p>
            <a:pPr lvl="2"/>
            <a:endParaRPr lang="en-US" altLang="zh-CN" b="0" dirty="0"/>
          </a:p>
          <a:p>
            <a:pPr lvl="2"/>
            <a:r>
              <a:rPr lang="zh-CN" altLang="en-US" b="0" dirty="0" smtClean="0"/>
              <a:t>需要注意：</a:t>
            </a:r>
            <a:endParaRPr lang="zh-CN" altLang="en-US" b="0" dirty="0"/>
          </a:p>
          <a:p>
            <a:pPr lvl="3"/>
            <a:r>
              <a:rPr lang="en-US" altLang="zh-CN" b="0" dirty="0"/>
              <a:t>Leader</a:t>
            </a:r>
            <a:r>
              <a:rPr lang="zh-CN" altLang="en-US" b="0" dirty="0"/>
              <a:t>并不需要得到</a:t>
            </a:r>
            <a:r>
              <a:rPr lang="en-US" altLang="zh-CN" b="0" dirty="0"/>
              <a:t>Observer</a:t>
            </a:r>
            <a:r>
              <a:rPr lang="zh-CN" altLang="en-US" b="0" dirty="0"/>
              <a:t>的</a:t>
            </a:r>
            <a:r>
              <a:rPr lang="en-US" altLang="zh-CN" b="0" dirty="0"/>
              <a:t>ACK</a:t>
            </a:r>
            <a:r>
              <a:rPr lang="zh-CN" altLang="en-US" b="0" dirty="0"/>
              <a:t>，即</a:t>
            </a:r>
            <a:r>
              <a:rPr lang="en-US" altLang="zh-CN" b="0" dirty="0"/>
              <a:t>Observer</a:t>
            </a:r>
            <a:r>
              <a:rPr lang="zh-CN" altLang="en-US" b="0" dirty="0"/>
              <a:t>无投票权</a:t>
            </a:r>
          </a:p>
          <a:p>
            <a:pPr lvl="3"/>
            <a:r>
              <a:rPr lang="en-US" altLang="zh-CN" b="0" dirty="0"/>
              <a:t>Leader</a:t>
            </a:r>
            <a:r>
              <a:rPr lang="zh-CN" altLang="en-US" b="0" dirty="0"/>
              <a:t>不需要得到所有</a:t>
            </a:r>
            <a:r>
              <a:rPr lang="en-US" altLang="zh-CN" b="0" dirty="0"/>
              <a:t>Follower</a:t>
            </a:r>
            <a:r>
              <a:rPr lang="zh-CN" altLang="en-US" b="0" dirty="0"/>
              <a:t>的</a:t>
            </a:r>
            <a:r>
              <a:rPr lang="en-US" altLang="zh-CN" b="0" dirty="0"/>
              <a:t>ACK</a:t>
            </a:r>
            <a:r>
              <a:rPr lang="zh-CN" altLang="en-US" b="0" dirty="0"/>
              <a:t>，只要收到过半的</a:t>
            </a:r>
            <a:r>
              <a:rPr lang="en-US" altLang="zh-CN" b="0" dirty="0"/>
              <a:t>ACK</a:t>
            </a:r>
            <a:r>
              <a:rPr lang="zh-CN" altLang="en-US" b="0" dirty="0"/>
              <a:t>即可，同时</a:t>
            </a:r>
            <a:r>
              <a:rPr lang="en-US" altLang="zh-CN" b="0" dirty="0"/>
              <a:t>Leader</a:t>
            </a:r>
            <a:r>
              <a:rPr lang="zh-CN" altLang="en-US" b="0" dirty="0"/>
              <a:t>本身对自己有一个</a:t>
            </a:r>
            <a:r>
              <a:rPr lang="en-US" altLang="zh-CN" b="0" dirty="0" smtClean="0"/>
              <a:t>ACK</a:t>
            </a:r>
            <a:endParaRPr lang="en-US" altLang="zh-CN" b="0" dirty="0"/>
          </a:p>
          <a:p>
            <a:pPr lvl="3"/>
            <a:r>
              <a:rPr lang="en-US" altLang="zh-CN" b="0" dirty="0"/>
              <a:t>Observer</a:t>
            </a:r>
            <a:r>
              <a:rPr lang="zh-CN" altLang="en-US" b="0" dirty="0"/>
              <a:t>虽然无投票权，但仍须同步</a:t>
            </a:r>
            <a:r>
              <a:rPr lang="en-US" altLang="zh-CN" b="0" dirty="0"/>
              <a:t>Leader</a:t>
            </a:r>
            <a:r>
              <a:rPr lang="zh-CN" altLang="en-US" b="0" dirty="0"/>
              <a:t>的数据从而在处理读请求时可以返回尽可能新的数据</a:t>
            </a:r>
          </a:p>
          <a:p>
            <a:pPr lvl="2"/>
            <a:endParaRPr lang="en-US" altLang="zh-CN" b="0" dirty="0" smtClean="0"/>
          </a:p>
          <a:p>
            <a:pPr lvl="1"/>
            <a:endParaRPr lang="en-US" altLang="zh-CN" b="0" dirty="0" smtClean="0"/>
          </a:p>
        </p:txBody>
      </p:sp>
    </p:spTree>
    <p:extLst>
      <p:ext uri="{BB962C8B-B14F-4D97-AF65-F5344CB8AC3E}">
        <p14:creationId xmlns:p14="http://schemas.microsoft.com/office/powerpoint/2010/main" val="36336756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4.1.3 </a:t>
            </a:r>
            <a:r>
              <a:rPr lang="zh-CN" altLang="en-US" dirty="0"/>
              <a:t>工作原理</a:t>
            </a:r>
          </a:p>
        </p:txBody>
      </p:sp>
      <p:sp>
        <p:nvSpPr>
          <p:cNvPr id="3" name="内容占位符 2"/>
          <p:cNvSpPr>
            <a:spLocks noGrp="1"/>
          </p:cNvSpPr>
          <p:nvPr>
            <p:ph idx="1"/>
          </p:nvPr>
        </p:nvSpPr>
        <p:spPr/>
        <p:txBody>
          <a:bodyPr>
            <a:normAutofit/>
          </a:bodyPr>
          <a:lstStyle/>
          <a:p>
            <a:r>
              <a:rPr lang="zh-CN" altLang="en-US" b="0" dirty="0" smtClean="0"/>
              <a:t>写数据</a:t>
            </a:r>
            <a:endParaRPr lang="en-US" altLang="zh-CN" b="0" dirty="0" smtClean="0"/>
          </a:p>
          <a:p>
            <a:pPr lvl="1"/>
            <a:r>
              <a:rPr lang="zh-CN" altLang="en-US" dirty="0"/>
              <a:t>通过</a:t>
            </a:r>
            <a:r>
              <a:rPr lang="en-US" altLang="zh-CN" dirty="0"/>
              <a:t>Follower/Observer</a:t>
            </a:r>
            <a:r>
              <a:rPr lang="zh-CN" altLang="en-US" dirty="0"/>
              <a:t>进行写操作</a:t>
            </a:r>
          </a:p>
          <a:p>
            <a:pPr lvl="2"/>
            <a:r>
              <a:rPr lang="en-US" altLang="zh-CN" b="0" dirty="0" smtClean="0"/>
              <a:t>Follower/Observer</a:t>
            </a:r>
            <a:r>
              <a:rPr lang="zh-CN" altLang="en-US" b="0" dirty="0"/>
              <a:t>均可接受写</a:t>
            </a:r>
            <a:r>
              <a:rPr lang="zh-CN" altLang="en-US" b="0" dirty="0" smtClean="0"/>
              <a:t>请求</a:t>
            </a:r>
            <a:endParaRPr lang="en-US" altLang="zh-CN" b="0" dirty="0" smtClean="0"/>
          </a:p>
          <a:p>
            <a:pPr lvl="2"/>
            <a:r>
              <a:rPr lang="en-US" altLang="zh-CN" dirty="0"/>
              <a:t>Follower/Observer</a:t>
            </a:r>
            <a:r>
              <a:rPr lang="zh-CN" altLang="en-US" b="0" dirty="0" smtClean="0"/>
              <a:t>不能</a:t>
            </a:r>
            <a:r>
              <a:rPr lang="zh-CN" altLang="en-US" b="0" dirty="0"/>
              <a:t>直接处理，而需要将写请求转发给</a:t>
            </a:r>
            <a:r>
              <a:rPr lang="en-US" altLang="zh-CN" b="0" dirty="0"/>
              <a:t>Leader</a:t>
            </a:r>
            <a:r>
              <a:rPr lang="zh-CN" altLang="en-US" b="0" dirty="0" smtClean="0"/>
              <a:t>处理</a:t>
            </a:r>
            <a:endParaRPr lang="en-US" altLang="zh-CN" b="0" dirty="0" smtClean="0"/>
          </a:p>
          <a:p>
            <a:pPr lvl="2"/>
            <a:r>
              <a:rPr lang="zh-CN" altLang="en-US" b="0" dirty="0" smtClean="0"/>
              <a:t>仅多</a:t>
            </a:r>
            <a:r>
              <a:rPr lang="zh-CN" altLang="en-US" b="0" dirty="0"/>
              <a:t>了一步请求转发，其它流程与直接写</a:t>
            </a:r>
            <a:r>
              <a:rPr lang="en-US" altLang="zh-CN" b="0" dirty="0"/>
              <a:t>Leader</a:t>
            </a:r>
            <a:r>
              <a:rPr lang="zh-CN" altLang="en-US" b="0" dirty="0" smtClean="0"/>
              <a:t>无区别</a:t>
            </a:r>
            <a:endParaRPr lang="zh-CN" altLang="en-US" b="0" dirty="0"/>
          </a:p>
          <a:p>
            <a:pPr lvl="2"/>
            <a:endParaRPr lang="en-US" altLang="zh-CN" b="0" dirty="0" smtClean="0"/>
          </a:p>
          <a:p>
            <a:pPr lvl="1"/>
            <a:endParaRPr lang="en-US" altLang="zh-CN" b="0" dirty="0" smtClean="0"/>
          </a:p>
        </p:txBody>
      </p:sp>
    </p:spTree>
    <p:extLst>
      <p:ext uri="{BB962C8B-B14F-4D97-AF65-F5344CB8AC3E}">
        <p14:creationId xmlns:p14="http://schemas.microsoft.com/office/powerpoint/2010/main" val="31372445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4.1.3 </a:t>
            </a:r>
            <a:r>
              <a:rPr lang="zh-CN" altLang="en-US" dirty="0"/>
              <a:t>工作原理</a:t>
            </a:r>
          </a:p>
        </p:txBody>
      </p:sp>
      <p:sp>
        <p:nvSpPr>
          <p:cNvPr id="3" name="内容占位符 2"/>
          <p:cNvSpPr>
            <a:spLocks noGrp="1"/>
          </p:cNvSpPr>
          <p:nvPr>
            <p:ph idx="1"/>
          </p:nvPr>
        </p:nvSpPr>
        <p:spPr/>
        <p:txBody>
          <a:bodyPr>
            <a:normAutofit/>
          </a:bodyPr>
          <a:lstStyle/>
          <a:p>
            <a:r>
              <a:rPr lang="zh-CN" altLang="en-US" b="0" dirty="0" smtClean="0"/>
              <a:t>读数据</a:t>
            </a:r>
            <a:endParaRPr lang="en-US" altLang="zh-CN" b="0" dirty="0" smtClean="0"/>
          </a:p>
          <a:p>
            <a:pPr lvl="1"/>
            <a:r>
              <a:rPr lang="en-US" altLang="zh-CN" dirty="0"/>
              <a:t>Leader/Follower/Observer</a:t>
            </a:r>
            <a:r>
              <a:rPr lang="zh-CN" altLang="en-US" dirty="0"/>
              <a:t>都可直接处理读请求，从</a:t>
            </a:r>
            <a:r>
              <a:rPr lang="zh-CN" altLang="en-US" dirty="0">
                <a:solidFill>
                  <a:srgbClr val="FF0000"/>
                </a:solidFill>
              </a:rPr>
              <a:t>本地内存</a:t>
            </a:r>
            <a:r>
              <a:rPr lang="zh-CN" altLang="en-US" dirty="0"/>
              <a:t>中读取数据并返回给客户端即</a:t>
            </a:r>
            <a:r>
              <a:rPr lang="zh-CN" altLang="en-US" dirty="0" smtClean="0"/>
              <a:t>可</a:t>
            </a:r>
            <a:endParaRPr lang="en-US" altLang="zh-CN" dirty="0" smtClean="0"/>
          </a:p>
          <a:p>
            <a:pPr lvl="1"/>
            <a:r>
              <a:rPr lang="zh-CN" altLang="en-US" dirty="0"/>
              <a:t>由于处理读请求不需要服务器之间的交互，</a:t>
            </a:r>
            <a:r>
              <a:rPr lang="en-US" altLang="zh-CN" dirty="0"/>
              <a:t>Follower/Observer</a:t>
            </a:r>
            <a:r>
              <a:rPr lang="zh-CN" altLang="en-US" dirty="0"/>
              <a:t>越多，整体可处理的读请求量越大，也即读性能越好</a:t>
            </a:r>
            <a:endParaRPr lang="en-US" altLang="zh-CN" dirty="0" smtClean="0"/>
          </a:p>
          <a:p>
            <a:pPr lvl="1"/>
            <a:endParaRPr lang="en-US" altLang="zh-CN" b="0" dirty="0" smtClean="0"/>
          </a:p>
          <a:p>
            <a:pPr lvl="1"/>
            <a:endParaRPr lang="en-US" altLang="zh-CN" b="0" dirty="0" smtClean="0"/>
          </a:p>
        </p:txBody>
      </p:sp>
    </p:spTree>
    <p:extLst>
      <p:ext uri="{BB962C8B-B14F-4D97-AF65-F5344CB8AC3E}">
        <p14:creationId xmlns:p14="http://schemas.microsoft.com/office/powerpoint/2010/main" val="420517840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4.1.4 </a:t>
            </a:r>
            <a:r>
              <a:rPr lang="zh-CN" altLang="en-US" dirty="0" smtClean="0"/>
              <a:t>容错机制</a:t>
            </a:r>
            <a:endParaRPr lang="zh-CN" altLang="en-US" dirty="0"/>
          </a:p>
        </p:txBody>
      </p:sp>
      <p:sp>
        <p:nvSpPr>
          <p:cNvPr id="3" name="内容占位符 2"/>
          <p:cNvSpPr>
            <a:spLocks noGrp="1"/>
          </p:cNvSpPr>
          <p:nvPr>
            <p:ph idx="1"/>
          </p:nvPr>
        </p:nvSpPr>
        <p:spPr/>
        <p:txBody>
          <a:bodyPr/>
          <a:lstStyle/>
          <a:p>
            <a:r>
              <a:rPr lang="zh-CN" altLang="en-US" dirty="0" smtClean="0"/>
              <a:t>系统发生故障的类型可以分为：</a:t>
            </a:r>
            <a:endParaRPr lang="en-US" altLang="zh-CN" dirty="0" smtClean="0"/>
          </a:p>
          <a:p>
            <a:pPr lvl="1"/>
            <a:r>
              <a:rPr lang="zh-CN" altLang="en-US" dirty="0" smtClean="0"/>
              <a:t>领导者故障</a:t>
            </a:r>
            <a:endParaRPr lang="en-US" altLang="zh-CN" dirty="0" smtClean="0"/>
          </a:p>
          <a:p>
            <a:pPr lvl="1"/>
            <a:r>
              <a:rPr lang="zh-CN" altLang="en-US" dirty="0" smtClean="0"/>
              <a:t>追随者故障</a:t>
            </a:r>
            <a:endParaRPr lang="en-US" altLang="zh-CN" dirty="0" smtClean="0"/>
          </a:p>
          <a:p>
            <a:pPr lvl="1"/>
            <a:r>
              <a:rPr lang="zh-CN" altLang="en-US" dirty="0" smtClean="0"/>
              <a:t>观察者故障</a:t>
            </a:r>
            <a:endParaRPr lang="en-US" altLang="zh-CN" dirty="0" smtClean="0"/>
          </a:p>
        </p:txBody>
      </p:sp>
    </p:spTree>
    <p:extLst>
      <p:ext uri="{BB962C8B-B14F-4D97-AF65-F5344CB8AC3E}">
        <p14:creationId xmlns:p14="http://schemas.microsoft.com/office/powerpoint/2010/main" val="24111219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4.1.4 </a:t>
            </a:r>
            <a:r>
              <a:rPr lang="zh-CN" altLang="en-US" dirty="0" smtClean="0"/>
              <a:t>容错机制</a:t>
            </a:r>
            <a:endParaRPr lang="zh-CN" altLang="en-US" dirty="0"/>
          </a:p>
        </p:txBody>
      </p:sp>
      <p:sp>
        <p:nvSpPr>
          <p:cNvPr id="3" name="内容占位符 2"/>
          <p:cNvSpPr>
            <a:spLocks noGrp="1"/>
          </p:cNvSpPr>
          <p:nvPr>
            <p:ph idx="1"/>
          </p:nvPr>
        </p:nvSpPr>
        <p:spPr/>
        <p:txBody>
          <a:bodyPr/>
          <a:lstStyle/>
          <a:p>
            <a:r>
              <a:rPr lang="zh-CN" altLang="en-US" dirty="0"/>
              <a:t>领导者</a:t>
            </a:r>
            <a:r>
              <a:rPr lang="zh-CN" altLang="en-US" dirty="0" smtClean="0"/>
              <a:t>故障</a:t>
            </a:r>
            <a:endParaRPr lang="en-US" altLang="zh-CN" dirty="0" smtClean="0"/>
          </a:p>
          <a:p>
            <a:pPr lvl="1"/>
            <a:r>
              <a:rPr lang="en-US" altLang="zh-CN" dirty="0" err="1" smtClean="0"/>
              <a:t>ZooKeeper</a:t>
            </a:r>
            <a:r>
              <a:rPr lang="zh-CN" altLang="en-US" dirty="0" smtClean="0"/>
              <a:t>无法提供服务，需要重新进行领导者选举，确定新领导者</a:t>
            </a:r>
            <a:endParaRPr lang="en-US" altLang="zh-CN" dirty="0" smtClean="0"/>
          </a:p>
          <a:p>
            <a:r>
              <a:rPr lang="zh-CN" altLang="en-US" dirty="0" smtClean="0"/>
              <a:t>追随者</a:t>
            </a:r>
            <a:r>
              <a:rPr lang="en-US" altLang="zh-CN" dirty="0" smtClean="0"/>
              <a:t>/</a:t>
            </a:r>
            <a:r>
              <a:rPr lang="zh-CN" altLang="en-US" dirty="0" smtClean="0"/>
              <a:t>观察者故障</a:t>
            </a:r>
            <a:endParaRPr lang="en-US" altLang="zh-CN" dirty="0" smtClean="0"/>
          </a:p>
          <a:p>
            <a:pPr lvl="1"/>
            <a:r>
              <a:rPr lang="zh-CN" altLang="en-US" dirty="0" smtClean="0"/>
              <a:t>该节点无法对外提供服务，其它节点仍然可以正常提供服务，因此不会影响</a:t>
            </a:r>
            <a:r>
              <a:rPr lang="en-US" altLang="zh-CN" dirty="0" err="1" smtClean="0"/>
              <a:t>ZooKeeper</a:t>
            </a:r>
            <a:r>
              <a:rPr lang="zh-CN" altLang="en-US" dirty="0" smtClean="0"/>
              <a:t>系统的服务</a:t>
            </a:r>
            <a:endParaRPr lang="en-US" altLang="zh-CN" dirty="0" smtClean="0"/>
          </a:p>
          <a:p>
            <a:pPr lvl="1"/>
            <a:r>
              <a:rPr lang="zh-CN" altLang="en-US" dirty="0" smtClean="0"/>
              <a:t>如果故障节点重启，能够从领导者节点或其他节点进行数据恢复</a:t>
            </a:r>
            <a:endParaRPr lang="zh-CN" altLang="en-US" dirty="0"/>
          </a:p>
        </p:txBody>
      </p:sp>
    </p:spTree>
    <p:extLst>
      <p:ext uri="{BB962C8B-B14F-4D97-AF65-F5344CB8AC3E}">
        <p14:creationId xmlns:p14="http://schemas.microsoft.com/office/powerpoint/2010/main" val="37375882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4.1.5 </a:t>
            </a:r>
            <a:r>
              <a:rPr lang="zh-CN" altLang="en-US" dirty="0" smtClean="0"/>
              <a:t>典型应用</a:t>
            </a:r>
            <a:endParaRPr lang="zh-CN" altLang="en-US" dirty="0"/>
          </a:p>
        </p:txBody>
      </p:sp>
      <p:sp>
        <p:nvSpPr>
          <p:cNvPr id="3" name="内容占位符 2"/>
          <p:cNvSpPr>
            <a:spLocks noGrp="1"/>
          </p:cNvSpPr>
          <p:nvPr>
            <p:ph idx="1"/>
          </p:nvPr>
        </p:nvSpPr>
        <p:spPr/>
        <p:txBody>
          <a:bodyPr/>
          <a:lstStyle/>
          <a:p>
            <a:r>
              <a:rPr lang="zh-CN" altLang="en-US" dirty="0" smtClean="0"/>
              <a:t>主要应用</a:t>
            </a:r>
            <a:endParaRPr lang="en-US" altLang="zh-CN" dirty="0" smtClean="0"/>
          </a:p>
          <a:p>
            <a:pPr lvl="1"/>
            <a:r>
              <a:rPr lang="zh-CN" altLang="en-US" dirty="0" smtClean="0"/>
              <a:t>命名服务</a:t>
            </a:r>
            <a:endParaRPr lang="en-US" altLang="zh-CN" dirty="0" smtClean="0"/>
          </a:p>
          <a:p>
            <a:pPr lvl="1"/>
            <a:r>
              <a:rPr lang="zh-CN" altLang="en-US" dirty="0" smtClean="0"/>
              <a:t>集群管理</a:t>
            </a:r>
            <a:endParaRPr lang="en-US" altLang="zh-CN" dirty="0" smtClean="0"/>
          </a:p>
          <a:p>
            <a:pPr lvl="1"/>
            <a:r>
              <a:rPr lang="zh-CN" altLang="en-US" dirty="0" smtClean="0"/>
              <a:t>配置更新</a:t>
            </a:r>
            <a:endParaRPr lang="en-US" altLang="zh-CN" dirty="0" smtClean="0"/>
          </a:p>
          <a:p>
            <a:pPr lvl="1"/>
            <a:r>
              <a:rPr lang="zh-CN" altLang="en-US" dirty="0" smtClean="0"/>
              <a:t>同步控制</a:t>
            </a:r>
            <a:endParaRPr lang="en-US" altLang="zh-CN" dirty="0" smtClean="0"/>
          </a:p>
          <a:p>
            <a:pPr lvl="1"/>
            <a:endParaRPr lang="en-US" altLang="zh-CN" dirty="0"/>
          </a:p>
          <a:p>
            <a:pPr lvl="1"/>
            <a:r>
              <a:rPr lang="zh-CN" altLang="en-US" dirty="0" smtClean="0"/>
              <a:t>大量分布式系统采用</a:t>
            </a:r>
            <a:r>
              <a:rPr lang="en-US" altLang="zh-CN" dirty="0" err="1" smtClean="0"/>
              <a:t>ZooKeeper</a:t>
            </a:r>
            <a:r>
              <a:rPr lang="zh-CN" altLang="en-US" dirty="0" smtClean="0"/>
              <a:t>实现协调服务</a:t>
            </a:r>
            <a:endParaRPr lang="en-US" altLang="zh-CN" dirty="0" smtClean="0"/>
          </a:p>
          <a:p>
            <a:pPr lvl="2"/>
            <a:r>
              <a:rPr lang="en-US" altLang="zh-CN" dirty="0" smtClean="0"/>
              <a:t>Hadoop</a:t>
            </a:r>
            <a:r>
              <a:rPr lang="zh-CN" altLang="en-US" dirty="0" smtClean="0"/>
              <a:t>、</a:t>
            </a:r>
            <a:r>
              <a:rPr lang="en-US" altLang="zh-CN" dirty="0" err="1" smtClean="0"/>
              <a:t>HBase</a:t>
            </a:r>
            <a:r>
              <a:rPr lang="zh-CN" altLang="en-US" dirty="0" smtClean="0"/>
              <a:t>、</a:t>
            </a:r>
            <a:r>
              <a:rPr lang="en-US" altLang="zh-CN" dirty="0" smtClean="0"/>
              <a:t>Storm</a:t>
            </a:r>
            <a:r>
              <a:rPr lang="zh-CN" altLang="en-US" dirty="0" smtClean="0"/>
              <a:t>、</a:t>
            </a:r>
            <a:r>
              <a:rPr lang="en-US" altLang="zh-CN" dirty="0" smtClean="0"/>
              <a:t>Hive</a:t>
            </a:r>
            <a:r>
              <a:rPr lang="zh-CN" altLang="en-US" dirty="0" smtClean="0"/>
              <a:t>、</a:t>
            </a:r>
            <a:r>
              <a:rPr lang="en-US" altLang="zh-CN" dirty="0" smtClean="0"/>
              <a:t>Kafka</a:t>
            </a:r>
            <a:r>
              <a:rPr lang="zh-CN" altLang="en-US" dirty="0" smtClean="0"/>
              <a:t>、</a:t>
            </a:r>
            <a:r>
              <a:rPr lang="en-US" altLang="zh-CN" dirty="0" smtClean="0"/>
              <a:t>Spark</a:t>
            </a:r>
            <a:r>
              <a:rPr lang="zh-CN" altLang="en-US" dirty="0" smtClean="0"/>
              <a:t>、</a:t>
            </a:r>
            <a:r>
              <a:rPr lang="en-US" altLang="zh-CN" dirty="0" err="1" smtClean="0"/>
              <a:t>Flink</a:t>
            </a:r>
            <a:r>
              <a:rPr lang="zh-CN" altLang="en-US" dirty="0" smtClean="0"/>
              <a:t>等</a:t>
            </a:r>
            <a:endParaRPr lang="en-US" altLang="zh-CN" dirty="0" smtClean="0"/>
          </a:p>
          <a:p>
            <a:endParaRPr lang="zh-CN" altLang="en-US" dirty="0"/>
          </a:p>
        </p:txBody>
      </p:sp>
    </p:spTree>
    <p:extLst>
      <p:ext uri="{BB962C8B-B14F-4D97-AF65-F5344CB8AC3E}">
        <p14:creationId xmlns:p14="http://schemas.microsoft.com/office/powerpoint/2010/main" val="42107553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pPr marL="0" algn="l">
              <a:buSzTx/>
              <a:buNone/>
            </a:pPr>
            <a:r>
              <a:rPr lang="en-US" altLang="zh-CN" dirty="0"/>
              <a:t>4.1 </a:t>
            </a:r>
            <a:r>
              <a:rPr lang="en-US" altLang="zh-CN" dirty="0" err="1"/>
              <a:t>ZooKeeper简介</a:t>
            </a:r>
            <a:endParaRPr lang="en-US" altLang="zh-CN" dirty="0"/>
          </a:p>
          <a:p>
            <a:pPr marL="0" algn="l">
              <a:buSzTx/>
              <a:buNone/>
            </a:pPr>
            <a:r>
              <a:rPr lang="en-US" altLang="zh-CN" dirty="0">
                <a:solidFill>
                  <a:srgbClr val="FF0000"/>
                </a:solidFill>
              </a:rPr>
              <a:t>4.2 </a:t>
            </a:r>
            <a:r>
              <a:rPr lang="en-US" altLang="zh-CN" dirty="0">
                <a:solidFill>
                  <a:srgbClr val="FF0000"/>
                </a:solidFill>
                <a:sym typeface="+mn-ea"/>
              </a:rPr>
              <a:t>ZooKeeper安装配置</a:t>
            </a:r>
          </a:p>
          <a:p>
            <a:pPr marL="0" indent="0">
              <a:buNone/>
            </a:pPr>
            <a:r>
              <a:rPr lang="en-US" altLang="zh-CN" dirty="0"/>
              <a:t>4.3 </a:t>
            </a:r>
            <a:r>
              <a:rPr lang="en-US" altLang="zh-CN" dirty="0">
                <a:sym typeface="+mn-ea"/>
              </a:rPr>
              <a:t>ZooKeeper</a:t>
            </a:r>
            <a:r>
              <a:rPr lang="zh-CN" altLang="en-US" dirty="0">
                <a:sym typeface="+mn-ea"/>
              </a:rPr>
              <a:t>命令行操作</a:t>
            </a:r>
            <a:endParaRPr lang="zh-CN" altLang="en-US" dirty="0"/>
          </a:p>
          <a:p>
            <a:pPr marL="0" indent="0">
              <a:buNone/>
            </a:pPr>
            <a:r>
              <a:rPr lang="en-US" altLang="zh-CN" dirty="0"/>
              <a:t>4.4 </a:t>
            </a:r>
            <a:r>
              <a:rPr lang="en-US" dirty="0">
                <a:sym typeface="+mn-ea"/>
              </a:rPr>
              <a:t>HDFS HA</a:t>
            </a:r>
            <a:r>
              <a:rPr lang="zh-CN" altLang="en-US" dirty="0">
                <a:sym typeface="+mn-ea"/>
              </a:rPr>
              <a:t>与</a:t>
            </a:r>
            <a:r>
              <a:rPr lang="en-US" altLang="zh-CN" dirty="0">
                <a:sym typeface="+mn-ea"/>
              </a:rPr>
              <a:t>YARN HA</a:t>
            </a:r>
          </a:p>
          <a:p>
            <a:pPr marL="0" indent="0">
              <a:buNone/>
            </a:pPr>
            <a:r>
              <a:rPr lang="en-US" altLang="zh-CN" dirty="0">
                <a:sym typeface="+mn-ea"/>
              </a:rPr>
              <a:t>4.5 ZooKeeper Java API</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en-US" altLang="zh-CN" dirty="0" err="1"/>
              <a:t>ZooKeeper安装配置</a:t>
            </a:r>
            <a:r>
              <a:rPr lang="en-US" altLang="zh-CN" dirty="0"/>
              <a:t> </a:t>
            </a:r>
          </a:p>
        </p:txBody>
      </p:sp>
      <p:sp>
        <p:nvSpPr>
          <p:cNvPr id="3" name="内容占位符 2"/>
          <p:cNvSpPr>
            <a:spLocks noGrp="1"/>
          </p:cNvSpPr>
          <p:nvPr>
            <p:ph idx="1"/>
          </p:nvPr>
        </p:nvSpPr>
        <p:spPr/>
        <p:txBody>
          <a:bodyPr/>
          <a:lstStyle/>
          <a:p>
            <a:r>
              <a:rPr lang="zh-CN" altLang="en-US" dirty="0"/>
              <a:t>在</a:t>
            </a:r>
            <a:r>
              <a:rPr lang="en-US" altLang="zh-CN" dirty="0" err="1"/>
              <a:t>ZooKeeper</a:t>
            </a:r>
            <a:r>
              <a:rPr lang="zh-CN" altLang="en-US" dirty="0">
                <a:ea typeface="宋体" panose="02010600030101010101" pitchFamily="2" charset="-122"/>
              </a:rPr>
              <a:t>集群中，会有一个</a:t>
            </a:r>
            <a:r>
              <a:rPr lang="en-US" altLang="zh-CN" dirty="0">
                <a:ea typeface="宋体" panose="02010600030101010101" pitchFamily="2" charset="-122"/>
              </a:rPr>
              <a:t>Leader</a:t>
            </a:r>
            <a:r>
              <a:rPr lang="zh-CN" altLang="en-US" dirty="0">
                <a:ea typeface="宋体" panose="02010600030101010101" pitchFamily="2" charset="-122"/>
              </a:rPr>
              <a:t>服务器负责管理和协调其他服务器。因此，服务器的数量通常是单数</a:t>
            </a:r>
            <a:r>
              <a:rPr lang="en-US" altLang="zh-CN" dirty="0">
                <a:ea typeface="宋体" panose="02010600030101010101" pitchFamily="2" charset="-122"/>
              </a:rPr>
              <a:t>(</a:t>
            </a:r>
            <a:r>
              <a:rPr lang="zh-CN" altLang="en-US" dirty="0">
                <a:ea typeface="宋体" panose="02010600030101010101" pitchFamily="2" charset="-122"/>
              </a:rPr>
              <a:t>如</a:t>
            </a:r>
            <a:r>
              <a:rPr lang="en-US" altLang="zh-CN" dirty="0">
                <a:ea typeface="宋体" panose="02010600030101010101" pitchFamily="2" charset="-122"/>
              </a:rPr>
              <a:t>3</a:t>
            </a:r>
            <a:r>
              <a:rPr lang="zh-CN" altLang="en-US" dirty="0">
                <a:ea typeface="宋体" panose="02010600030101010101" pitchFamily="2" charset="-122"/>
              </a:rPr>
              <a:t>、</a:t>
            </a:r>
            <a:r>
              <a:rPr lang="en-US" altLang="zh-CN" dirty="0">
                <a:ea typeface="宋体" panose="02010600030101010101" pitchFamily="2" charset="-122"/>
              </a:rPr>
              <a:t>5</a:t>
            </a:r>
            <a:r>
              <a:rPr lang="zh-CN" altLang="en-US" dirty="0">
                <a:ea typeface="宋体" panose="02010600030101010101" pitchFamily="2" charset="-122"/>
              </a:rPr>
              <a:t>、</a:t>
            </a:r>
            <a:r>
              <a:rPr lang="en-US" altLang="zh-CN" dirty="0">
                <a:ea typeface="宋体" panose="02010600030101010101" pitchFamily="2" charset="-122"/>
              </a:rPr>
              <a:t>7)</a:t>
            </a:r>
            <a:r>
              <a:rPr lang="zh-CN" altLang="en-US" dirty="0">
                <a:ea typeface="宋体" panose="02010600030101010101" pitchFamily="2" charset="-122"/>
              </a:rPr>
              <a:t>，</a:t>
            </a:r>
            <a:r>
              <a:rPr lang="en-US" altLang="zh-CN" dirty="0">
                <a:ea typeface="宋体" panose="02010600030101010101" pitchFamily="2" charset="-122"/>
              </a:rPr>
              <a:t>2n+1</a:t>
            </a:r>
            <a:r>
              <a:rPr lang="zh-CN" altLang="en-US" dirty="0">
                <a:ea typeface="宋体" panose="02010600030101010101" pitchFamily="2" charset="-122"/>
              </a:rPr>
              <a:t>服务器组成的集群最多</a:t>
            </a:r>
            <a:r>
              <a:rPr lang="zh-CN" altLang="en-US" dirty="0" smtClean="0">
                <a:ea typeface="宋体" panose="02010600030101010101" pitchFamily="2" charset="-122"/>
              </a:rPr>
              <a:t>可以允许</a:t>
            </a:r>
            <a:r>
              <a:rPr lang="en-US" altLang="zh-CN" dirty="0" smtClean="0">
                <a:ea typeface="宋体" panose="02010600030101010101" pitchFamily="2" charset="-122"/>
              </a:rPr>
              <a:t>n</a:t>
            </a:r>
            <a:r>
              <a:rPr lang="zh-CN" altLang="en-US" dirty="0">
                <a:ea typeface="宋体" panose="02010600030101010101" pitchFamily="2" charset="-122"/>
              </a:rPr>
              <a:t>台服务器失效。</a:t>
            </a:r>
          </a:p>
          <a:p>
            <a:r>
              <a:rPr lang="zh-CN" altLang="en-US" dirty="0">
                <a:ea typeface="宋体" panose="02010600030101010101" pitchFamily="2" charset="-122"/>
              </a:rPr>
              <a:t>配置要点：</a:t>
            </a:r>
          </a:p>
          <a:p>
            <a:pPr lvl="1"/>
            <a:r>
              <a:rPr lang="zh-CN" altLang="en-US" dirty="0">
                <a:ea typeface="宋体" panose="02010600030101010101" pitchFamily="2" charset="-122"/>
              </a:rPr>
              <a:t>编写配置文件：</a:t>
            </a:r>
            <a:r>
              <a:rPr lang="en-US" altLang="zh-CN" dirty="0">
                <a:ea typeface="宋体" panose="02010600030101010101" pitchFamily="2" charset="-122"/>
              </a:rPr>
              <a:t>conf/</a:t>
            </a:r>
            <a:r>
              <a:rPr lang="en-US" altLang="zh-CN" dirty="0" err="1">
                <a:ea typeface="宋体" panose="02010600030101010101" pitchFamily="2" charset="-122"/>
              </a:rPr>
              <a:t>zoo.cfg</a:t>
            </a:r>
            <a:endParaRPr lang="en-US" altLang="zh-CN" dirty="0">
              <a:ea typeface="宋体" panose="02010600030101010101" pitchFamily="2" charset="-122"/>
            </a:endParaRPr>
          </a:p>
          <a:p>
            <a:pPr lvl="1"/>
            <a:r>
              <a:rPr lang="zh-CN" altLang="en-US" dirty="0">
                <a:ea typeface="宋体" panose="02010600030101010101" pitchFamily="2" charset="-122"/>
              </a:rPr>
              <a:t>配置服务器</a:t>
            </a:r>
            <a:r>
              <a:rPr lang="en-US" altLang="zh-CN" dirty="0">
                <a:ea typeface="宋体" panose="02010600030101010101" pitchFamily="2" charset="-122"/>
              </a:rPr>
              <a:t>id</a:t>
            </a:r>
            <a:endParaRPr lang="zh-CN" altLang="en-US" dirty="0">
              <a:ea typeface="宋体" panose="02010600030101010101" pitchFamily="2" charset="-122"/>
            </a:endParaRPr>
          </a:p>
          <a:p>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en-US" altLang="zh-CN" dirty="0" err="1"/>
              <a:t>ZooKeeper安装配置</a:t>
            </a:r>
            <a:r>
              <a:rPr lang="en-US" altLang="zh-CN" dirty="0"/>
              <a:t> </a:t>
            </a:r>
            <a:endParaRPr lang="zh-CN" altLang="en-US" dirty="0"/>
          </a:p>
        </p:txBody>
      </p:sp>
      <p:sp>
        <p:nvSpPr>
          <p:cNvPr id="3" name="内容占位符 2"/>
          <p:cNvSpPr>
            <a:spLocks noGrp="1"/>
          </p:cNvSpPr>
          <p:nvPr>
            <p:ph idx="1"/>
          </p:nvPr>
        </p:nvSpPr>
        <p:spPr>
          <a:xfrm>
            <a:off x="422176" y="1340768"/>
            <a:ext cx="7899400" cy="4953000"/>
          </a:xfrm>
        </p:spPr>
        <p:txBody>
          <a:bodyPr/>
          <a:lstStyle/>
          <a:p>
            <a:r>
              <a:rPr lang="zh-CN" altLang="en-US" dirty="0"/>
              <a:t>编写配置文件</a:t>
            </a:r>
            <a:endParaRPr lang="en-US" altLang="zh-CN" dirty="0"/>
          </a:p>
          <a:p>
            <a:pPr marL="457200" indent="-457200" defTabSz="914400">
              <a:spcBef>
                <a:spcPct val="35000"/>
              </a:spcBef>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zh-TW" altLang="en-US" sz="2400" dirty="0">
                <a:latin typeface="Times New Roman" panose="02020603050405020304" pitchFamily="18" charset="0"/>
                <a:ea typeface="华文仿宋" panose="02010600040101010101" charset="-122"/>
                <a:sym typeface="+mn-ea"/>
              </a:rPr>
              <a:t>在</a:t>
            </a:r>
            <a:r>
              <a:rPr lang="en-US" altLang="zh-TW" sz="2400" dirty="0">
                <a:latin typeface="Times New Roman" panose="02020603050405020304" pitchFamily="18" charset="0"/>
                <a:cs typeface="Times New Roman" panose="02020603050405020304" pitchFamily="18" charset="0"/>
                <a:sym typeface="+mn-ea"/>
              </a:rPr>
              <a:t>conf</a:t>
            </a:r>
            <a:r>
              <a:rPr lang="zh-TW" altLang="en-US" sz="2400" dirty="0">
                <a:latin typeface="Times New Roman" panose="02020603050405020304" pitchFamily="18" charset="0"/>
                <a:ea typeface="华文仿宋" panose="02010600040101010101" charset="-122"/>
                <a:sym typeface="+mn-ea"/>
              </a:rPr>
              <a:t>目录下创建一个配置文件</a:t>
            </a:r>
            <a:r>
              <a:rPr lang="en-US" altLang="zh-TW" sz="2400" dirty="0" err="1">
                <a:latin typeface="Times New Roman" panose="02020603050405020304" pitchFamily="18" charset="0"/>
                <a:cs typeface="Times New Roman" panose="02020603050405020304" pitchFamily="18" charset="0"/>
                <a:sym typeface="+mn-ea"/>
              </a:rPr>
              <a:t>zoo.cfg</a:t>
            </a:r>
            <a:r>
              <a:rPr lang="zh-CN" altLang="en-US" sz="2400" dirty="0">
                <a:latin typeface="Times New Roman" panose="02020603050405020304" pitchFamily="18" charset="0"/>
                <a:ea typeface="华文仿宋" panose="02010600040101010101" charset="-122"/>
                <a:sym typeface="+mn-ea"/>
              </a:rPr>
              <a:t>，</a:t>
            </a:r>
            <a:endParaRPr lang="en-US" altLang="zh-CN" sz="2400" dirty="0">
              <a:latin typeface="Times New Roman" panose="02020603050405020304" pitchFamily="18" charset="0"/>
              <a:ea typeface="华文仿宋" panose="02010600040101010101" charset="-122"/>
              <a:sym typeface="+mn-ea"/>
            </a:endParaRPr>
          </a:p>
          <a:p>
            <a:pPr marL="0" indent="0" defTabSz="914400">
              <a:spcBef>
                <a:spcPts val="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dirty="0">
                <a:latin typeface="Times New Roman" panose="02020603050405020304" pitchFamily="18" charset="0"/>
                <a:cs typeface="Times New Roman" panose="02020603050405020304" pitchFamily="18" charset="0"/>
                <a:sym typeface="+mn-ea"/>
              </a:rPr>
              <a:t>       #</a:t>
            </a:r>
            <a:r>
              <a:rPr lang="en-US" altLang="ja-JP" sz="1800" dirty="0">
                <a:latin typeface="Times New Roman" panose="02020603050405020304" pitchFamily="18" charset="0"/>
                <a:cs typeface="Times New Roman" panose="02020603050405020304" pitchFamily="18" charset="0"/>
                <a:sym typeface="+mn-ea"/>
              </a:rPr>
              <a:t> </a:t>
            </a:r>
            <a:r>
              <a:rPr lang="zh-CN" altLang="en-US" sz="1800" dirty="0">
                <a:latin typeface="Times New Roman" panose="02020603050405020304" pitchFamily="18" charset="0"/>
                <a:cs typeface="Times New Roman" panose="02020603050405020304" pitchFamily="18" charset="0"/>
                <a:sym typeface="+mn-ea"/>
              </a:rPr>
              <a:t>基本事件单元，一个心跳的时长，单位：</a:t>
            </a:r>
            <a:r>
              <a:rPr lang="en-US" altLang="zh-CN" sz="1800" dirty="0" err="1">
                <a:latin typeface="Times New Roman" panose="02020603050405020304" pitchFamily="18" charset="0"/>
                <a:cs typeface="Times New Roman" panose="02020603050405020304" pitchFamily="18" charset="0"/>
                <a:sym typeface="+mn-ea"/>
              </a:rPr>
              <a:t>ms</a:t>
            </a:r>
            <a:endParaRPr lang="en-US" altLang="ja-JP" sz="1800" dirty="0">
              <a:latin typeface="Times New Roman" panose="02020603050405020304" pitchFamily="18" charset="0"/>
              <a:cs typeface="Times New Roman" panose="02020603050405020304" pitchFamily="18" charset="0"/>
              <a:sym typeface="+mn-ea"/>
            </a:endParaRPr>
          </a:p>
          <a:p>
            <a:pPr marL="0" indent="0" defTabSz="914400">
              <a:spcBef>
                <a:spcPts val="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ja-JP" sz="1800" dirty="0">
                <a:solidFill>
                  <a:srgbClr val="FF0000"/>
                </a:solidFill>
                <a:latin typeface="Times New Roman" panose="02020603050405020304" pitchFamily="18" charset="0"/>
                <a:cs typeface="Times New Roman" panose="02020603050405020304" pitchFamily="18" charset="0"/>
                <a:sym typeface="+mn-ea"/>
              </a:rPr>
              <a:t>       </a:t>
            </a:r>
            <a:r>
              <a:rPr lang="en-US" altLang="ja-JP" sz="1800" b="0" dirty="0" err="1">
                <a:solidFill>
                  <a:srgbClr val="FF0000"/>
                </a:solidFill>
                <a:latin typeface="Times New Roman" panose="02020603050405020304" pitchFamily="18" charset="0"/>
                <a:cs typeface="Times New Roman" panose="02020603050405020304" pitchFamily="18" charset="0"/>
                <a:sym typeface="+mn-ea"/>
              </a:rPr>
              <a:t>tickTime</a:t>
            </a:r>
            <a:r>
              <a:rPr lang="en-US" altLang="ja-JP" sz="1800" b="0" dirty="0">
                <a:solidFill>
                  <a:srgbClr val="FF0000"/>
                </a:solidFill>
                <a:latin typeface="Times New Roman" panose="02020603050405020304" pitchFamily="18" charset="0"/>
                <a:cs typeface="Times New Roman" panose="02020603050405020304" pitchFamily="18" charset="0"/>
                <a:sym typeface="+mn-ea"/>
              </a:rPr>
              <a:t>=2000</a:t>
            </a:r>
          </a:p>
          <a:p>
            <a:pPr marL="0" indent="0" defTabSz="914400">
              <a:spcBef>
                <a:spcPts val="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dirty="0">
                <a:latin typeface="Times New Roman" panose="02020603050405020304" pitchFamily="18" charset="0"/>
                <a:cs typeface="Times New Roman" panose="02020603050405020304" pitchFamily="18" charset="0"/>
                <a:sym typeface="+mn-ea"/>
              </a:rPr>
              <a:t>       #</a:t>
            </a:r>
            <a:r>
              <a:rPr lang="en-US" altLang="ja-JP" sz="1800" dirty="0">
                <a:latin typeface="Times New Roman" panose="02020603050405020304" pitchFamily="18" charset="0"/>
                <a:cs typeface="Times New Roman" panose="02020603050405020304" pitchFamily="18" charset="0"/>
                <a:sym typeface="+mn-ea"/>
              </a:rPr>
              <a:t> </a:t>
            </a:r>
            <a:r>
              <a:rPr lang="en-US" altLang="zh-CN" sz="1800" dirty="0">
                <a:latin typeface="Times New Roman" panose="02020603050405020304" pitchFamily="18" charset="0"/>
                <a:cs typeface="Times New Roman" panose="02020603050405020304" pitchFamily="18" charset="0"/>
                <a:sym typeface="+mn-ea"/>
              </a:rPr>
              <a:t>Follower</a:t>
            </a:r>
            <a:r>
              <a:rPr lang="zh-CN" altLang="en-US" sz="1800" dirty="0">
                <a:latin typeface="Times New Roman" panose="02020603050405020304" pitchFamily="18" charset="0"/>
                <a:cs typeface="Times New Roman" panose="02020603050405020304" pitchFamily="18" charset="0"/>
                <a:sym typeface="+mn-ea"/>
              </a:rPr>
              <a:t>服务器初始化连接</a:t>
            </a:r>
            <a:r>
              <a:rPr lang="en-US" altLang="zh-CN" sz="1800" dirty="0">
                <a:latin typeface="Times New Roman" panose="02020603050405020304" pitchFamily="18" charset="0"/>
                <a:cs typeface="Times New Roman" panose="02020603050405020304" pitchFamily="18" charset="0"/>
                <a:sym typeface="+mn-ea"/>
              </a:rPr>
              <a:t>Leader</a:t>
            </a:r>
            <a:r>
              <a:rPr lang="zh-CN" altLang="en-US" sz="1800" dirty="0">
                <a:latin typeface="Times New Roman" panose="02020603050405020304" pitchFamily="18" charset="0"/>
                <a:cs typeface="Times New Roman" panose="02020603050405020304" pitchFamily="18" charset="0"/>
                <a:sym typeface="+mn-ea"/>
              </a:rPr>
              <a:t>服务器时能等待的最大心跳数</a:t>
            </a:r>
            <a:endParaRPr lang="en-US" altLang="ja-JP" sz="1800" dirty="0">
              <a:latin typeface="Times New Roman" panose="02020603050405020304" pitchFamily="18" charset="0"/>
              <a:cs typeface="Times New Roman" panose="02020603050405020304" pitchFamily="18" charset="0"/>
              <a:sym typeface="+mn-ea"/>
            </a:endParaRPr>
          </a:p>
          <a:p>
            <a:pPr marL="400050" lvl="1" indent="0" defTabSz="914400">
              <a:spcBef>
                <a:spcPts val="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ja-JP" sz="1800" dirty="0" err="1">
                <a:solidFill>
                  <a:srgbClr val="FF0000"/>
                </a:solidFill>
                <a:latin typeface="Times New Roman" panose="02020603050405020304" pitchFamily="18" charset="0"/>
                <a:cs typeface="Times New Roman" panose="02020603050405020304" pitchFamily="18" charset="0"/>
                <a:sym typeface="+mn-ea"/>
              </a:rPr>
              <a:t>initLimit</a:t>
            </a:r>
            <a:r>
              <a:rPr lang="en-US" altLang="ja-JP" sz="1800" dirty="0">
                <a:solidFill>
                  <a:srgbClr val="FF0000"/>
                </a:solidFill>
                <a:latin typeface="Times New Roman" panose="02020603050405020304" pitchFamily="18" charset="0"/>
                <a:cs typeface="Times New Roman" panose="02020603050405020304" pitchFamily="18" charset="0"/>
                <a:sym typeface="+mn-ea"/>
              </a:rPr>
              <a:t>=5	</a:t>
            </a:r>
          </a:p>
          <a:p>
            <a:pPr marL="400050" lvl="1" indent="0">
              <a:spcBef>
                <a:spcPts val="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dirty="0">
                <a:latin typeface="Times New Roman" panose="02020603050405020304" pitchFamily="18" charset="0"/>
                <a:cs typeface="Times New Roman" panose="02020603050405020304" pitchFamily="18" charset="0"/>
                <a:sym typeface="+mn-ea"/>
              </a:rPr>
              <a:t>#</a:t>
            </a:r>
            <a:r>
              <a:rPr lang="en-US" altLang="ja-JP" sz="1800" dirty="0">
                <a:solidFill>
                  <a:srgbClr val="FF0000"/>
                </a:solidFill>
                <a:latin typeface="Times New Roman" panose="02020603050405020304" pitchFamily="18" charset="0"/>
                <a:cs typeface="Times New Roman" panose="02020603050405020304" pitchFamily="18" charset="0"/>
                <a:sym typeface="+mn-ea"/>
              </a:rPr>
              <a:t> </a:t>
            </a:r>
            <a:r>
              <a:rPr lang="en-US" altLang="zh-CN" sz="1800" b="1" dirty="0">
                <a:solidFill>
                  <a:schemeClr val="accent1"/>
                </a:solidFill>
                <a:latin typeface="Times New Roman" panose="02020603050405020304" pitchFamily="18" charset="0"/>
                <a:ea typeface="+mn-ea"/>
                <a:cs typeface="Times New Roman" panose="02020603050405020304" pitchFamily="18" charset="0"/>
                <a:sym typeface="+mn-ea"/>
              </a:rPr>
              <a:t>Follower</a:t>
            </a:r>
            <a:r>
              <a:rPr lang="zh-CN" altLang="en-US" sz="1800" b="1" dirty="0">
                <a:solidFill>
                  <a:schemeClr val="accent1"/>
                </a:solidFill>
                <a:latin typeface="Times New Roman" panose="02020603050405020304" pitchFamily="18" charset="0"/>
                <a:ea typeface="+mn-ea"/>
                <a:cs typeface="Times New Roman" panose="02020603050405020304" pitchFamily="18" charset="0"/>
                <a:sym typeface="+mn-ea"/>
              </a:rPr>
              <a:t>服务器与</a:t>
            </a:r>
            <a:r>
              <a:rPr lang="en-US" altLang="zh-CN" sz="1800" b="1" dirty="0">
                <a:solidFill>
                  <a:schemeClr val="accent1"/>
                </a:solidFill>
                <a:latin typeface="Times New Roman" panose="02020603050405020304" pitchFamily="18" charset="0"/>
                <a:ea typeface="+mn-ea"/>
                <a:cs typeface="Times New Roman" panose="02020603050405020304" pitchFamily="18" charset="0"/>
                <a:sym typeface="+mn-ea"/>
              </a:rPr>
              <a:t>Leader</a:t>
            </a:r>
            <a:r>
              <a:rPr lang="zh-CN" altLang="en-US" sz="1800" b="1" dirty="0">
                <a:solidFill>
                  <a:schemeClr val="accent1"/>
                </a:solidFill>
                <a:latin typeface="Times New Roman" panose="02020603050405020304" pitchFamily="18" charset="0"/>
                <a:ea typeface="+mn-ea"/>
                <a:cs typeface="Times New Roman" panose="02020603050405020304" pitchFamily="18" charset="0"/>
                <a:sym typeface="+mn-ea"/>
              </a:rPr>
              <a:t>服务器之间发送消息以及</a:t>
            </a:r>
            <a:r>
              <a:rPr lang="zh-CN" altLang="en-US" sz="1800" b="1" dirty="0" smtClean="0">
                <a:solidFill>
                  <a:schemeClr val="accent1"/>
                </a:solidFill>
                <a:latin typeface="Times New Roman" panose="02020603050405020304" pitchFamily="18" charset="0"/>
                <a:ea typeface="+mn-ea"/>
                <a:cs typeface="Times New Roman" panose="02020603050405020304" pitchFamily="18" charset="0"/>
                <a:sym typeface="+mn-ea"/>
              </a:rPr>
              <a:t>请求</a:t>
            </a:r>
            <a:r>
              <a:rPr lang="en-US" altLang="zh-CN" sz="1800" b="1" dirty="0">
                <a:solidFill>
                  <a:schemeClr val="accent1"/>
                </a:solidFill>
                <a:latin typeface="Times New Roman" panose="02020603050405020304" pitchFamily="18" charset="0"/>
                <a:ea typeface="+mn-ea"/>
                <a:cs typeface="Times New Roman" panose="02020603050405020304" pitchFamily="18" charset="0"/>
                <a:sym typeface="+mn-ea"/>
              </a:rPr>
              <a:t>/</a:t>
            </a:r>
            <a:r>
              <a:rPr lang="zh-CN" altLang="en-US" sz="1800" b="1" dirty="0">
                <a:solidFill>
                  <a:schemeClr val="accent1"/>
                </a:solidFill>
                <a:latin typeface="Times New Roman" panose="02020603050405020304" pitchFamily="18" charset="0"/>
                <a:ea typeface="+mn-ea"/>
                <a:cs typeface="Times New Roman" panose="02020603050405020304" pitchFamily="18" charset="0"/>
                <a:sym typeface="+mn-ea"/>
              </a:rPr>
              <a:t>应答时所能等待的最多心跳数</a:t>
            </a:r>
            <a:r>
              <a:rPr lang="en-US" altLang="ja-JP" sz="1800" b="1" dirty="0">
                <a:solidFill>
                  <a:schemeClr val="accent1"/>
                </a:solidFill>
                <a:latin typeface="Times New Roman" panose="02020603050405020304" pitchFamily="18" charset="0"/>
                <a:ea typeface="+mn-ea"/>
                <a:cs typeface="Times New Roman" panose="02020603050405020304" pitchFamily="18" charset="0"/>
                <a:sym typeface="+mn-ea"/>
              </a:rPr>
              <a:t>		</a:t>
            </a:r>
            <a:r>
              <a:rPr lang="en-US" altLang="ja-JP" sz="1800" dirty="0">
                <a:solidFill>
                  <a:srgbClr val="FF0000"/>
                </a:solidFill>
                <a:latin typeface="Times New Roman" panose="02020603050405020304" pitchFamily="18" charset="0"/>
                <a:cs typeface="Times New Roman" panose="02020603050405020304" pitchFamily="18" charset="0"/>
                <a:sym typeface="+mn-ea"/>
              </a:rPr>
              <a:t>	   </a:t>
            </a:r>
            <a:endParaRPr lang="en-US" altLang="ja-JP" sz="1800" dirty="0">
              <a:solidFill>
                <a:srgbClr val="FF0000"/>
              </a:solidFill>
              <a:latin typeface="Times New Roman" panose="02020603050405020304" pitchFamily="18" charset="0"/>
              <a:cs typeface="Times New Roman" panose="02020603050405020304" pitchFamily="18" charset="0"/>
            </a:endParaRPr>
          </a:p>
          <a:p>
            <a:pPr marL="400050" lvl="1" indent="0" defTabSz="914400">
              <a:spcBef>
                <a:spcPts val="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ja-JP" sz="1800" dirty="0" err="1">
                <a:solidFill>
                  <a:srgbClr val="FF0000"/>
                </a:solidFill>
                <a:latin typeface="Times New Roman" panose="02020603050405020304" pitchFamily="18" charset="0"/>
                <a:cs typeface="Times New Roman" panose="02020603050405020304" pitchFamily="18" charset="0"/>
                <a:sym typeface="+mn-ea"/>
              </a:rPr>
              <a:t>syncLimit</a:t>
            </a:r>
            <a:r>
              <a:rPr lang="en-US" altLang="ja-JP" sz="1800" dirty="0">
                <a:solidFill>
                  <a:srgbClr val="FF0000"/>
                </a:solidFill>
                <a:latin typeface="Times New Roman" panose="02020603050405020304" pitchFamily="18" charset="0"/>
                <a:cs typeface="Times New Roman" panose="02020603050405020304" pitchFamily="18" charset="0"/>
                <a:sym typeface="+mn-ea"/>
              </a:rPr>
              <a:t>=2</a:t>
            </a:r>
          </a:p>
          <a:p>
            <a:pPr marL="400050" lvl="1" indent="0" defTabSz="914400">
              <a:spcBef>
                <a:spcPts val="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b="1" dirty="0">
                <a:solidFill>
                  <a:schemeClr val="accent1"/>
                </a:solidFill>
                <a:latin typeface="Times New Roman" panose="02020603050405020304" pitchFamily="18" charset="0"/>
                <a:ea typeface="+mn-ea"/>
                <a:cs typeface="Times New Roman" panose="02020603050405020304" pitchFamily="18" charset="0"/>
                <a:sym typeface="+mn-ea"/>
              </a:rPr>
              <a:t>#</a:t>
            </a:r>
            <a:r>
              <a:rPr lang="zh-CN" altLang="en-US" sz="1800" b="1" dirty="0">
                <a:solidFill>
                  <a:schemeClr val="accent1"/>
                </a:solidFill>
                <a:latin typeface="Times New Roman" panose="02020603050405020304" pitchFamily="18" charset="0"/>
                <a:ea typeface="+mn-ea"/>
                <a:cs typeface="Times New Roman" panose="02020603050405020304" pitchFamily="18" charset="0"/>
                <a:sym typeface="+mn-ea"/>
              </a:rPr>
              <a:t>存储数据的目录，需提前存在</a:t>
            </a:r>
            <a:r>
              <a:rPr lang="en-US" altLang="ja-JP" sz="2400" dirty="0">
                <a:latin typeface="Times New Roman" panose="02020603050405020304" pitchFamily="18" charset="0"/>
                <a:cs typeface="Times New Roman" panose="02020603050405020304" pitchFamily="18" charset="0"/>
                <a:sym typeface="+mn-ea"/>
              </a:rPr>
              <a:t/>
            </a:r>
            <a:br>
              <a:rPr lang="en-US" altLang="ja-JP" sz="2400" dirty="0">
                <a:latin typeface="Times New Roman" panose="02020603050405020304" pitchFamily="18" charset="0"/>
                <a:cs typeface="Times New Roman" panose="02020603050405020304" pitchFamily="18" charset="0"/>
                <a:sym typeface="+mn-ea"/>
              </a:rPr>
            </a:br>
            <a:r>
              <a:rPr lang="en-US" altLang="ja-JP" sz="1800" dirty="0" err="1">
                <a:solidFill>
                  <a:srgbClr val="FF0000"/>
                </a:solidFill>
                <a:latin typeface="Times New Roman" panose="02020603050405020304" pitchFamily="18" charset="0"/>
                <a:cs typeface="Times New Roman" panose="02020603050405020304" pitchFamily="18" charset="0"/>
                <a:sym typeface="+mn-ea"/>
              </a:rPr>
              <a:t>dataDir</a:t>
            </a:r>
            <a:r>
              <a:rPr lang="en-US" altLang="ja-JP" sz="1800" dirty="0">
                <a:solidFill>
                  <a:srgbClr val="FF0000"/>
                </a:solidFill>
                <a:latin typeface="Times New Roman" panose="02020603050405020304" pitchFamily="18" charset="0"/>
                <a:cs typeface="Times New Roman" panose="02020603050405020304" pitchFamily="18" charset="0"/>
                <a:sym typeface="+mn-ea"/>
              </a:rPr>
              <a:t>=(</a:t>
            </a:r>
            <a:r>
              <a:rPr lang="en-US" altLang="zh-CN" sz="1800" dirty="0">
                <a:solidFill>
                  <a:srgbClr val="FF0000"/>
                </a:solidFill>
                <a:latin typeface="Times New Roman" panose="02020603050405020304" pitchFamily="18" charset="0"/>
                <a:cs typeface="Times New Roman" panose="02020603050405020304" pitchFamily="18" charset="0"/>
                <a:sym typeface="+mn-ea"/>
              </a:rPr>
              <a:t>ZOOKEEPER_HOME)</a:t>
            </a:r>
            <a:r>
              <a:rPr lang="en-US" altLang="ja-JP" sz="1800" dirty="0">
                <a:solidFill>
                  <a:srgbClr val="FF0000"/>
                </a:solidFill>
                <a:latin typeface="Times New Roman" panose="02020603050405020304" pitchFamily="18" charset="0"/>
                <a:cs typeface="Times New Roman" panose="02020603050405020304" pitchFamily="18" charset="0"/>
                <a:sym typeface="+mn-ea"/>
              </a:rPr>
              <a:t>/</a:t>
            </a:r>
            <a:r>
              <a:rPr lang="en-US" altLang="ja-JP" sz="1800" dirty="0" err="1">
                <a:solidFill>
                  <a:srgbClr val="FF0000"/>
                </a:solidFill>
                <a:latin typeface="Times New Roman" panose="02020603050405020304" pitchFamily="18" charset="0"/>
                <a:cs typeface="Times New Roman" panose="02020603050405020304" pitchFamily="18" charset="0"/>
                <a:sym typeface="+mn-ea"/>
              </a:rPr>
              <a:t>dataDir</a:t>
            </a:r>
            <a:endParaRPr lang="en-US" altLang="ja-JP" sz="1800" dirty="0">
              <a:solidFill>
                <a:srgbClr val="FF0000"/>
              </a:solidFill>
              <a:latin typeface="Times New Roman" panose="02020603050405020304" pitchFamily="18" charset="0"/>
              <a:cs typeface="Times New Roman" panose="02020603050405020304" pitchFamily="18" charset="0"/>
              <a:sym typeface="+mn-ea"/>
            </a:endParaRPr>
          </a:p>
          <a:p>
            <a:pPr marL="400050" lvl="1" indent="0" defTabSz="914400">
              <a:spcBef>
                <a:spcPts val="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ja-JP" sz="1800" b="1" dirty="0">
                <a:solidFill>
                  <a:schemeClr val="accent1"/>
                </a:solidFill>
                <a:latin typeface="Times New Roman" panose="02020603050405020304" pitchFamily="18" charset="0"/>
                <a:ea typeface="+mn-ea"/>
                <a:cs typeface="Times New Roman" panose="02020603050405020304" pitchFamily="18" charset="0"/>
                <a:sym typeface="+mn-ea"/>
              </a:rPr>
              <a:t>#</a:t>
            </a:r>
            <a:r>
              <a:rPr lang="zh-CN" altLang="en-US" sz="1800" b="1" dirty="0">
                <a:solidFill>
                  <a:schemeClr val="accent1"/>
                </a:solidFill>
                <a:latin typeface="Times New Roman" panose="02020603050405020304" pitchFamily="18" charset="0"/>
                <a:ea typeface="+mn-ea"/>
                <a:cs typeface="Times New Roman" panose="02020603050405020304" pitchFamily="18" charset="0"/>
                <a:sym typeface="+mn-ea"/>
              </a:rPr>
              <a:t>客服端连接</a:t>
            </a:r>
            <a:r>
              <a:rPr lang="en-US" altLang="zh-CN" sz="1800" b="1" dirty="0" err="1">
                <a:solidFill>
                  <a:schemeClr val="accent1"/>
                </a:solidFill>
                <a:latin typeface="Times New Roman" panose="02020603050405020304" pitchFamily="18" charset="0"/>
                <a:ea typeface="+mn-ea"/>
                <a:cs typeface="Times New Roman" panose="02020603050405020304" pitchFamily="18" charset="0"/>
                <a:sym typeface="+mn-ea"/>
              </a:rPr>
              <a:t>ZooKeeper</a:t>
            </a:r>
            <a:r>
              <a:rPr lang="zh-CN" altLang="en-US" sz="1800" b="1" dirty="0">
                <a:solidFill>
                  <a:schemeClr val="accent1"/>
                </a:solidFill>
                <a:latin typeface="Times New Roman" panose="02020603050405020304" pitchFamily="18" charset="0"/>
                <a:ea typeface="+mn-ea"/>
                <a:cs typeface="Times New Roman" panose="02020603050405020304" pitchFamily="18" charset="0"/>
                <a:sym typeface="+mn-ea"/>
              </a:rPr>
              <a:t>服务器的端口</a:t>
            </a:r>
            <a:endParaRPr lang="en-US" altLang="ja-JP" sz="1800" b="1" dirty="0">
              <a:solidFill>
                <a:schemeClr val="accent1"/>
              </a:solidFill>
              <a:latin typeface="Times New Roman" panose="02020603050405020304" pitchFamily="18" charset="0"/>
              <a:ea typeface="+mn-ea"/>
              <a:cs typeface="Times New Roman" panose="02020603050405020304" pitchFamily="18" charset="0"/>
              <a:sym typeface="+mn-ea"/>
            </a:endParaRPr>
          </a:p>
          <a:p>
            <a:pPr marL="400050" lvl="1" indent="0" defTabSz="914400">
              <a:spcBef>
                <a:spcPts val="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ja-JP" sz="1800" dirty="0" err="1">
                <a:solidFill>
                  <a:srgbClr val="FF0000"/>
                </a:solidFill>
                <a:latin typeface="Times New Roman" panose="02020603050405020304" pitchFamily="18" charset="0"/>
                <a:cs typeface="Times New Roman" panose="02020603050405020304" pitchFamily="18" charset="0"/>
                <a:sym typeface="+mn-ea"/>
              </a:rPr>
              <a:t>clientPort</a:t>
            </a:r>
            <a:r>
              <a:rPr lang="en-US" altLang="ja-JP" sz="1800" dirty="0">
                <a:solidFill>
                  <a:srgbClr val="FF0000"/>
                </a:solidFill>
                <a:latin typeface="Times New Roman" panose="02020603050405020304" pitchFamily="18" charset="0"/>
                <a:cs typeface="Times New Roman" panose="02020603050405020304" pitchFamily="18" charset="0"/>
                <a:sym typeface="+mn-ea"/>
              </a:rPr>
              <a:t>=2181  				      </a:t>
            </a:r>
            <a:endParaRPr lang="en-US" altLang="ja-JP" sz="1800" dirty="0">
              <a:solidFill>
                <a:srgbClr val="FF0000"/>
              </a:solidFill>
              <a:latin typeface="Times New Roman" panose="02020603050405020304" pitchFamily="18" charset="0"/>
              <a:cs typeface="Times New Roman" panose="02020603050405020304" pitchFamily="18" charset="0"/>
            </a:endParaRPr>
          </a:p>
          <a:p>
            <a:pPr marL="400050" lvl="1" indent="0" defTabSz="914400">
              <a:spcBef>
                <a:spcPts val="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dirty="0">
                <a:solidFill>
                  <a:srgbClr val="FF0000"/>
                </a:solidFill>
                <a:latin typeface="Times New Roman" panose="02020603050405020304" pitchFamily="18" charset="0"/>
                <a:cs typeface="Times New Roman" panose="02020603050405020304" pitchFamily="18" charset="0"/>
                <a:sym typeface="+mn-ea"/>
              </a:rPr>
              <a:t>#</a:t>
            </a:r>
            <a:r>
              <a:rPr lang="zh-CN" altLang="en-US" sz="1800" dirty="0">
                <a:solidFill>
                  <a:srgbClr val="FF0000"/>
                </a:solidFill>
                <a:latin typeface="Times New Roman" panose="02020603050405020304" pitchFamily="18" charset="0"/>
                <a:cs typeface="Times New Roman" panose="02020603050405020304" pitchFamily="18" charset="0"/>
                <a:sym typeface="+mn-ea"/>
              </a:rPr>
              <a:t>服务器，</a:t>
            </a:r>
            <a:r>
              <a:rPr lang="en-US" altLang="zh-CN" sz="1800" dirty="0">
                <a:solidFill>
                  <a:srgbClr val="FF0000"/>
                </a:solidFill>
                <a:latin typeface="Times New Roman" panose="02020603050405020304" pitchFamily="18" charset="0"/>
                <a:cs typeface="Times New Roman" panose="02020603050405020304" pitchFamily="18" charset="0"/>
                <a:sym typeface="+mn-ea"/>
              </a:rPr>
              <a:t>id</a:t>
            </a:r>
            <a:r>
              <a:rPr lang="zh-CN" altLang="en-US" sz="1800" dirty="0">
                <a:solidFill>
                  <a:srgbClr val="FF0000"/>
                </a:solidFill>
                <a:latin typeface="Times New Roman" panose="02020603050405020304" pitchFamily="18" charset="0"/>
                <a:cs typeface="Times New Roman" panose="02020603050405020304" pitchFamily="18" charset="0"/>
                <a:sym typeface="+mn-ea"/>
              </a:rPr>
              <a:t>值需唯一（</a:t>
            </a:r>
            <a:r>
              <a:rPr lang="en-US" altLang="zh-CN" sz="1800" dirty="0">
                <a:solidFill>
                  <a:srgbClr val="FF0000"/>
                </a:solidFill>
                <a:latin typeface="Times New Roman" panose="02020603050405020304" pitchFamily="18" charset="0"/>
                <a:cs typeface="Times New Roman" panose="02020603050405020304" pitchFamily="18" charset="0"/>
                <a:sym typeface="+mn-ea"/>
              </a:rPr>
              <a:t>1~255</a:t>
            </a:r>
            <a:r>
              <a:rPr lang="zh-CN" altLang="en-US" sz="1800" dirty="0">
                <a:solidFill>
                  <a:srgbClr val="FF0000"/>
                </a:solidFill>
                <a:latin typeface="Times New Roman" panose="02020603050405020304" pitchFamily="18" charset="0"/>
                <a:cs typeface="Times New Roman" panose="02020603050405020304" pitchFamily="18" charset="0"/>
                <a:sym typeface="+mn-ea"/>
              </a:rPr>
              <a:t>）后两个端口分别为</a:t>
            </a:r>
            <a:r>
              <a:rPr lang="en-US" altLang="zh-CN" sz="1800" dirty="0">
                <a:solidFill>
                  <a:srgbClr val="FF0000"/>
                </a:solidFill>
                <a:latin typeface="Times New Roman" panose="02020603050405020304" pitchFamily="18" charset="0"/>
                <a:cs typeface="Times New Roman" panose="02020603050405020304" pitchFamily="18" charset="0"/>
                <a:sym typeface="+mn-ea"/>
              </a:rPr>
              <a:t>Leader</a:t>
            </a:r>
            <a:r>
              <a:rPr lang="zh-CN" altLang="en-US" sz="1800" dirty="0">
                <a:solidFill>
                  <a:srgbClr val="FF0000"/>
                </a:solidFill>
                <a:latin typeface="Times New Roman" panose="02020603050405020304" pitchFamily="18" charset="0"/>
                <a:cs typeface="Times New Roman" panose="02020603050405020304" pitchFamily="18" charset="0"/>
                <a:sym typeface="+mn-ea"/>
              </a:rPr>
              <a:t>端口、选举</a:t>
            </a:r>
            <a:r>
              <a:rPr lang="zh-CN" altLang="en-US" sz="1800" dirty="0" smtClean="0">
                <a:solidFill>
                  <a:srgbClr val="FF0000"/>
                </a:solidFill>
                <a:latin typeface="Times New Roman" panose="02020603050405020304" pitchFamily="18" charset="0"/>
                <a:cs typeface="Times New Roman" panose="02020603050405020304" pitchFamily="18" charset="0"/>
                <a:sym typeface="+mn-ea"/>
              </a:rPr>
              <a:t>端口</a:t>
            </a:r>
            <a:endParaRPr lang="en-US" altLang="ja-JP" sz="1800" dirty="0">
              <a:solidFill>
                <a:srgbClr val="FF0000"/>
              </a:solidFill>
              <a:latin typeface="Times New Roman" panose="02020603050405020304" pitchFamily="18" charset="0"/>
              <a:cs typeface="Times New Roman" panose="02020603050405020304" pitchFamily="18" charset="0"/>
            </a:endParaRPr>
          </a:p>
          <a:p>
            <a:pPr marL="400050" lvl="1" indent="0" defTabSz="914400">
              <a:spcBef>
                <a:spcPts val="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ja-JP" sz="1800" dirty="0">
                <a:solidFill>
                  <a:srgbClr val="FF0000"/>
                </a:solidFill>
                <a:latin typeface="Times New Roman" panose="02020603050405020304" pitchFamily="18" charset="0"/>
                <a:cs typeface="Times New Roman" panose="02020603050405020304" pitchFamily="18" charset="0"/>
                <a:sym typeface="+mn-ea"/>
              </a:rPr>
              <a:t>server.1=</a:t>
            </a:r>
            <a:r>
              <a:rPr lang="en-US" altLang="zh-CN" sz="1800" dirty="0">
                <a:solidFill>
                  <a:srgbClr val="FF0000"/>
                </a:solidFill>
                <a:latin typeface="Times New Roman" panose="02020603050405020304" pitchFamily="18" charset="0"/>
                <a:cs typeface="Times New Roman" panose="02020603050405020304" pitchFamily="18" charset="0"/>
                <a:sym typeface="+mn-ea"/>
              </a:rPr>
              <a:t>centos01</a:t>
            </a:r>
            <a:r>
              <a:rPr lang="en-US" altLang="ja-JP" sz="1800" dirty="0">
                <a:solidFill>
                  <a:srgbClr val="FF0000"/>
                </a:solidFill>
                <a:latin typeface="Times New Roman" panose="02020603050405020304" pitchFamily="18" charset="0"/>
                <a:cs typeface="Times New Roman" panose="02020603050405020304" pitchFamily="18" charset="0"/>
                <a:sym typeface="+mn-ea"/>
              </a:rPr>
              <a:t>:2888:3888 	</a:t>
            </a:r>
            <a:endParaRPr lang="en-US" altLang="ja-JP" sz="1800" dirty="0">
              <a:solidFill>
                <a:srgbClr val="FF0000"/>
              </a:solidFill>
              <a:latin typeface="Times New Roman" panose="02020603050405020304" pitchFamily="18" charset="0"/>
              <a:cs typeface="Times New Roman" panose="02020603050405020304" pitchFamily="18" charset="0"/>
            </a:endParaRPr>
          </a:p>
          <a:p>
            <a:pPr marL="400050" lvl="1" indent="0" defTabSz="914400">
              <a:spcBef>
                <a:spcPts val="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ja-JP" sz="1800" dirty="0">
                <a:solidFill>
                  <a:srgbClr val="FF0000"/>
                </a:solidFill>
                <a:latin typeface="Times New Roman" panose="02020603050405020304" pitchFamily="18" charset="0"/>
                <a:cs typeface="Times New Roman" panose="02020603050405020304" pitchFamily="18" charset="0"/>
                <a:sym typeface="+mn-ea"/>
              </a:rPr>
              <a:t>server.2=</a:t>
            </a:r>
            <a:r>
              <a:rPr lang="en-US" altLang="zh-CN" sz="1800" dirty="0">
                <a:solidFill>
                  <a:srgbClr val="FF0000"/>
                </a:solidFill>
                <a:latin typeface="Times New Roman" panose="02020603050405020304" pitchFamily="18" charset="0"/>
                <a:cs typeface="Times New Roman" panose="02020603050405020304" pitchFamily="18" charset="0"/>
                <a:sym typeface="+mn-ea"/>
              </a:rPr>
              <a:t>centos02</a:t>
            </a:r>
            <a:r>
              <a:rPr lang="en-US" altLang="ja-JP" sz="1800" dirty="0">
                <a:solidFill>
                  <a:srgbClr val="FF0000"/>
                </a:solidFill>
                <a:latin typeface="Times New Roman" panose="02020603050405020304" pitchFamily="18" charset="0"/>
                <a:cs typeface="Times New Roman" panose="02020603050405020304" pitchFamily="18" charset="0"/>
                <a:sym typeface="+mn-ea"/>
              </a:rPr>
              <a:t>:2888:3888 </a:t>
            </a:r>
            <a:endParaRPr lang="en-US" altLang="ja-JP" sz="1800" dirty="0">
              <a:solidFill>
                <a:srgbClr val="FF0000"/>
              </a:solidFill>
              <a:latin typeface="Times New Roman" panose="02020603050405020304" pitchFamily="18" charset="0"/>
              <a:cs typeface="Times New Roman" panose="02020603050405020304" pitchFamily="18" charset="0"/>
            </a:endParaRPr>
          </a:p>
          <a:p>
            <a:pPr marL="400050" lvl="1" indent="0" defTabSz="914400">
              <a:spcBef>
                <a:spcPts val="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nl-NL" altLang="ja-JP" sz="1800" dirty="0">
                <a:solidFill>
                  <a:srgbClr val="FF0000"/>
                </a:solidFill>
                <a:latin typeface="Times New Roman" panose="02020603050405020304" pitchFamily="18" charset="0"/>
                <a:cs typeface="Times New Roman" panose="02020603050405020304" pitchFamily="18" charset="0"/>
                <a:sym typeface="+mn-ea"/>
              </a:rPr>
              <a:t>server.3=</a:t>
            </a:r>
            <a:r>
              <a:rPr lang="en-US" altLang="zh-CN" sz="1800" dirty="0">
                <a:solidFill>
                  <a:srgbClr val="FF0000"/>
                </a:solidFill>
                <a:latin typeface="Times New Roman" panose="02020603050405020304" pitchFamily="18" charset="0"/>
                <a:cs typeface="Times New Roman" panose="02020603050405020304" pitchFamily="18" charset="0"/>
                <a:sym typeface="+mn-ea"/>
              </a:rPr>
              <a:t>centos03</a:t>
            </a:r>
            <a:r>
              <a:rPr lang="nl-NL" altLang="ja-JP" sz="1800" dirty="0">
                <a:solidFill>
                  <a:srgbClr val="FF0000"/>
                </a:solidFill>
                <a:latin typeface="Times New Roman" panose="02020603050405020304" pitchFamily="18" charset="0"/>
                <a:cs typeface="Times New Roman" panose="02020603050405020304" pitchFamily="18" charset="0"/>
                <a:sym typeface="+mn-ea"/>
              </a:rPr>
              <a:t>:2888:3888</a:t>
            </a:r>
            <a:endParaRPr lang="en-US" altLang="ja-JP" sz="1800" dirty="0">
              <a:solidFill>
                <a:srgbClr val="FF0000"/>
              </a:solidFill>
              <a:latin typeface="Times New Roman" panose="02020603050405020304" pitchFamily="18" charset="0"/>
              <a:cs typeface="Times New Roman" panose="02020603050405020304" pitchFamily="18" charset="0"/>
            </a:endParaRPr>
          </a:p>
          <a:p>
            <a:pPr lvl="1"/>
            <a:endParaRPr lang="zh-CN" alt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en-US" altLang="zh-CN" dirty="0" err="1"/>
              <a:t>ZooKeeper安装配置</a:t>
            </a:r>
            <a:r>
              <a:rPr lang="en-US" altLang="zh-CN" dirty="0"/>
              <a:t> </a:t>
            </a:r>
            <a:endParaRPr lang="zh-CN" altLang="en-US" dirty="0"/>
          </a:p>
        </p:txBody>
      </p:sp>
      <p:sp>
        <p:nvSpPr>
          <p:cNvPr id="3" name="内容占位符 2"/>
          <p:cNvSpPr>
            <a:spLocks noGrp="1"/>
          </p:cNvSpPr>
          <p:nvPr>
            <p:ph idx="1"/>
          </p:nvPr>
        </p:nvSpPr>
        <p:spPr/>
        <p:txBody>
          <a:bodyPr/>
          <a:lstStyle/>
          <a:p>
            <a:r>
              <a:rPr lang="zh-CN" altLang="en-US" dirty="0"/>
              <a:t>配置服务器</a:t>
            </a:r>
            <a:r>
              <a:rPr lang="en-US" altLang="zh-CN" dirty="0"/>
              <a:t>id</a:t>
            </a:r>
          </a:p>
          <a:p>
            <a:pPr lvl="1"/>
            <a:r>
              <a:rPr lang="zh-CN" altLang="en-US" dirty="0"/>
              <a:t>在指定的数据目录</a:t>
            </a:r>
            <a:r>
              <a:rPr lang="en-US" altLang="zh-CN" dirty="0"/>
              <a:t>(</a:t>
            </a:r>
            <a:r>
              <a:rPr lang="zh-CN" altLang="en-US" dirty="0"/>
              <a:t>配置参数中</a:t>
            </a:r>
            <a:r>
              <a:rPr lang="en-US" altLang="zh-CN" dirty="0" err="1"/>
              <a:t>dataDir</a:t>
            </a:r>
            <a:r>
              <a:rPr lang="en-US" altLang="zh-CN" dirty="0"/>
              <a:t>)</a:t>
            </a:r>
            <a:r>
              <a:rPr lang="zh-CN" altLang="en-US" dirty="0"/>
              <a:t>下创建文件</a:t>
            </a:r>
            <a:r>
              <a:rPr lang="en-US" altLang="zh-CN" dirty="0" err="1"/>
              <a:t>myid</a:t>
            </a:r>
            <a:r>
              <a:rPr lang="en-US" altLang="zh-CN" dirty="0"/>
              <a:t>,</a:t>
            </a:r>
            <a:r>
              <a:rPr lang="zh-CN" altLang="en-US" dirty="0"/>
              <a:t>输入当前服务器</a:t>
            </a:r>
            <a:r>
              <a:rPr lang="en-US" altLang="zh-CN" dirty="0"/>
              <a:t>id</a:t>
            </a:r>
            <a:r>
              <a:rPr lang="zh-CN" altLang="en-US" dirty="0"/>
              <a:t>值</a:t>
            </a:r>
            <a:r>
              <a:rPr lang="en-US" altLang="zh-CN" dirty="0"/>
              <a:t>(</a:t>
            </a:r>
            <a:r>
              <a:rPr lang="zh-CN" altLang="en-US" dirty="0"/>
              <a:t>注意与参数</a:t>
            </a:r>
            <a:r>
              <a:rPr lang="en-US" altLang="zh-CN" dirty="0"/>
              <a:t>server.id</a:t>
            </a:r>
            <a:r>
              <a:rPr lang="zh-CN" altLang="en-US" dirty="0"/>
              <a:t>中的</a:t>
            </a:r>
            <a:r>
              <a:rPr lang="en-US" altLang="zh-CN" dirty="0"/>
              <a:t>id</a:t>
            </a:r>
            <a:r>
              <a:rPr lang="zh-CN" altLang="en-US" dirty="0"/>
              <a:t>保持一致）</a:t>
            </a:r>
            <a:endParaRPr lang="en-US" altLang="zh-CN"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en-US" altLang="zh-CN" dirty="0" err="1"/>
              <a:t>ZooKeeper安装配置</a:t>
            </a:r>
            <a:r>
              <a:rPr lang="en-US" altLang="zh-CN" dirty="0"/>
              <a:t> </a:t>
            </a:r>
            <a:endParaRPr lang="zh-CN" altLang="en-US" dirty="0"/>
          </a:p>
        </p:txBody>
      </p:sp>
      <p:sp>
        <p:nvSpPr>
          <p:cNvPr id="3" name="内容占位符 2"/>
          <p:cNvSpPr>
            <a:spLocks noGrp="1"/>
          </p:cNvSpPr>
          <p:nvPr>
            <p:ph idx="1"/>
          </p:nvPr>
        </p:nvSpPr>
        <p:spPr/>
        <p:txBody>
          <a:bodyPr/>
          <a:lstStyle/>
          <a:p>
            <a:r>
              <a:rPr lang="zh-CN" altLang="en-US" dirty="0"/>
              <a:t>启动</a:t>
            </a:r>
            <a:r>
              <a:rPr lang="en-US" altLang="zh-CN" dirty="0"/>
              <a:t>ZooKeeper</a:t>
            </a:r>
          </a:p>
          <a:p>
            <a:pPr lvl="1"/>
            <a:r>
              <a:rPr lang="zh-CN" altLang="en-US" dirty="0"/>
              <a:t>在每个节点执行如下命令</a:t>
            </a:r>
            <a:endParaRPr lang="en-US" altLang="zh-CN" dirty="0"/>
          </a:p>
          <a:p>
            <a:pPr marL="914400" lvl="2" indent="0">
              <a:buNone/>
            </a:pPr>
            <a:r>
              <a:rPr lang="en-US" altLang="zh-CN" dirty="0"/>
              <a:t>bin/zkServer.sh start</a:t>
            </a:r>
          </a:p>
          <a:p>
            <a:pPr lvl="1"/>
            <a:r>
              <a:rPr lang="zh-CN" altLang="en-US" dirty="0"/>
              <a:t>查看启动状态</a:t>
            </a:r>
            <a:endParaRPr lang="en-US" altLang="zh-CN" dirty="0"/>
          </a:p>
          <a:p>
            <a:pPr marL="914400" lvl="2" indent="0">
              <a:buNone/>
            </a:pPr>
            <a:r>
              <a:rPr lang="en-US" altLang="zh-CN" dirty="0"/>
              <a:t>bin/zkServer.sh status</a:t>
            </a:r>
          </a:p>
          <a:p>
            <a:pPr lvl="2"/>
            <a:endParaRPr lang="en-US" altLang="zh-CN"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pPr marL="0" algn="l">
              <a:buSzTx/>
              <a:buNone/>
            </a:pPr>
            <a:r>
              <a:rPr lang="en-US" altLang="zh-CN" dirty="0"/>
              <a:t>4.1 </a:t>
            </a:r>
            <a:r>
              <a:rPr lang="en-US" altLang="zh-CN" dirty="0" err="1"/>
              <a:t>ZooKeeper简介</a:t>
            </a:r>
            <a:endParaRPr lang="en-US" altLang="zh-CN" dirty="0"/>
          </a:p>
          <a:p>
            <a:pPr marL="0" algn="l">
              <a:buSzTx/>
              <a:buNone/>
            </a:pPr>
            <a:r>
              <a:rPr lang="en-US" altLang="zh-CN" dirty="0"/>
              <a:t>4.2 </a:t>
            </a:r>
            <a:r>
              <a:rPr lang="en-US" altLang="zh-CN" dirty="0">
                <a:sym typeface="+mn-ea"/>
              </a:rPr>
              <a:t>ZooKeeper安装配置</a:t>
            </a:r>
          </a:p>
          <a:p>
            <a:pPr marL="0" indent="0">
              <a:buNone/>
            </a:pPr>
            <a:r>
              <a:rPr lang="en-US" altLang="zh-CN" dirty="0">
                <a:solidFill>
                  <a:srgbClr val="FF0000"/>
                </a:solidFill>
              </a:rPr>
              <a:t>4.3 </a:t>
            </a:r>
            <a:r>
              <a:rPr lang="en-US" altLang="zh-CN" dirty="0">
                <a:solidFill>
                  <a:srgbClr val="FF0000"/>
                </a:solidFill>
                <a:sym typeface="+mn-ea"/>
              </a:rPr>
              <a:t>ZooKeeper</a:t>
            </a:r>
            <a:r>
              <a:rPr lang="zh-CN" altLang="en-US" dirty="0">
                <a:solidFill>
                  <a:srgbClr val="FF0000"/>
                </a:solidFill>
                <a:sym typeface="+mn-ea"/>
              </a:rPr>
              <a:t>命令行操作</a:t>
            </a:r>
            <a:endParaRPr lang="zh-CN" altLang="en-US" dirty="0">
              <a:solidFill>
                <a:srgbClr val="FF0000"/>
              </a:solidFill>
            </a:endParaRPr>
          </a:p>
          <a:p>
            <a:pPr marL="0" indent="0">
              <a:buNone/>
            </a:pPr>
            <a:r>
              <a:rPr lang="en-US" altLang="zh-CN" dirty="0"/>
              <a:t>4.4 </a:t>
            </a:r>
            <a:r>
              <a:rPr lang="en-US" dirty="0">
                <a:sym typeface="+mn-ea"/>
              </a:rPr>
              <a:t>HDFS HA</a:t>
            </a:r>
            <a:r>
              <a:rPr lang="zh-CN" altLang="en-US" dirty="0">
                <a:sym typeface="+mn-ea"/>
              </a:rPr>
              <a:t>与</a:t>
            </a:r>
            <a:r>
              <a:rPr lang="en-US" altLang="zh-CN" dirty="0">
                <a:sym typeface="+mn-ea"/>
              </a:rPr>
              <a:t>YARN HA</a:t>
            </a:r>
          </a:p>
          <a:p>
            <a:pPr marL="0" indent="0">
              <a:buNone/>
            </a:pPr>
            <a:r>
              <a:rPr lang="en-US" altLang="zh-CN" dirty="0">
                <a:sym typeface="+mn-ea"/>
              </a:rPr>
              <a:t>4.5 ZooKeeper Java API</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4.3 ZooKeeper命令行操作</a:t>
            </a:r>
            <a:r>
              <a:rPr lang="en-US" altLang="zh-CN" dirty="0"/>
              <a:t> </a:t>
            </a:r>
            <a:endParaRPr lang="zh-CN" altLang="en-US" dirty="0"/>
          </a:p>
        </p:txBody>
      </p:sp>
      <p:sp>
        <p:nvSpPr>
          <p:cNvPr id="3" name="内容占位符 2"/>
          <p:cNvSpPr>
            <a:spLocks noGrp="1"/>
          </p:cNvSpPr>
          <p:nvPr>
            <p:ph idx="1"/>
          </p:nvPr>
        </p:nvSpPr>
        <p:spPr/>
        <p:txBody>
          <a:bodyPr/>
          <a:lstStyle/>
          <a:p>
            <a:pPr lvl="0"/>
            <a:r>
              <a:rPr lang="zh-CN" dirty="0">
                <a:ea typeface="宋体" panose="02010600030101010101" pitchFamily="2" charset="-122"/>
              </a:rPr>
              <a:t>连接到</a:t>
            </a:r>
            <a:r>
              <a:rPr lang="en-US" altLang="zh-CN" dirty="0">
                <a:ea typeface="宋体" panose="02010600030101010101" pitchFamily="2" charset="-122"/>
              </a:rPr>
              <a:t>ZooKeeper</a:t>
            </a:r>
            <a:r>
              <a:rPr lang="zh-CN" altLang="en-US" dirty="0">
                <a:ea typeface="宋体" panose="02010600030101010101" pitchFamily="2" charset="-122"/>
              </a:rPr>
              <a:t>服务器</a:t>
            </a:r>
          </a:p>
          <a:p>
            <a:pPr marL="457200" lvl="1" indent="0">
              <a:buNone/>
            </a:pPr>
            <a:r>
              <a:rPr lang="en-US" altLang="zh-CN" dirty="0">
                <a:ea typeface="宋体" panose="02010600030101010101" pitchFamily="2" charset="-122"/>
              </a:rPr>
              <a:t>bin/zkCli.sh -server centos01:2181</a:t>
            </a:r>
          </a:p>
          <a:p>
            <a:pPr lvl="0"/>
            <a:r>
              <a:rPr lang="zh-CN" altLang="en-US" dirty="0">
                <a:ea typeface="宋体" panose="02010600030101010101" pitchFamily="2" charset="-122"/>
              </a:rPr>
              <a:t>常用命令</a:t>
            </a:r>
          </a:p>
          <a:p>
            <a:pPr lvl="1"/>
            <a:r>
              <a:rPr lang="zh-CN" altLang="en-US" dirty="0">
                <a:ea typeface="宋体" panose="02010600030101010101" pitchFamily="2" charset="-122"/>
              </a:rPr>
              <a:t>查询节点列表 ：</a:t>
            </a:r>
            <a:r>
              <a:rPr lang="en-US" altLang="zh-CN" dirty="0">
                <a:ea typeface="宋体" panose="02010600030101010101" pitchFamily="2" charset="-122"/>
              </a:rPr>
              <a:t>ls /</a:t>
            </a:r>
          </a:p>
          <a:p>
            <a:pPr lvl="1"/>
            <a:r>
              <a:rPr lang="zh-CN" altLang="en-US" dirty="0">
                <a:ea typeface="宋体" panose="02010600030101010101" pitchFamily="2" charset="-122"/>
              </a:rPr>
              <a:t>创建节点</a:t>
            </a:r>
            <a:r>
              <a:rPr lang="en-US" altLang="zh-CN" dirty="0">
                <a:ea typeface="宋体" panose="02010600030101010101" pitchFamily="2" charset="-122"/>
              </a:rPr>
              <a:t>:create /zk “mydata”	</a:t>
            </a:r>
          </a:p>
          <a:p>
            <a:pPr lvl="1"/>
            <a:r>
              <a:rPr lang="zh-CN" altLang="en-US" dirty="0">
                <a:ea typeface="宋体" panose="02010600030101010101" pitchFamily="2" charset="-122"/>
              </a:rPr>
              <a:t>查看节点详细信息：</a:t>
            </a:r>
            <a:r>
              <a:rPr lang="en-US" altLang="zh-CN" dirty="0">
                <a:ea typeface="宋体" panose="02010600030101010101" pitchFamily="2" charset="-122"/>
              </a:rPr>
              <a:t>get /zk</a:t>
            </a:r>
          </a:p>
          <a:p>
            <a:pPr lvl="1"/>
            <a:r>
              <a:rPr lang="zh-CN" altLang="en-US" dirty="0">
                <a:ea typeface="宋体" panose="02010600030101010101" pitchFamily="2" charset="-122"/>
              </a:rPr>
              <a:t>修改节点： </a:t>
            </a:r>
            <a:r>
              <a:rPr lang="en-US" altLang="zh-CN" dirty="0">
                <a:ea typeface="宋体" panose="02010600030101010101" pitchFamily="2" charset="-122"/>
              </a:rPr>
              <a:t>set /zk “mydatanew”</a:t>
            </a:r>
          </a:p>
          <a:p>
            <a:pPr lvl="1"/>
            <a:r>
              <a:rPr lang="zh-CN" altLang="en-US" dirty="0">
                <a:ea typeface="宋体" panose="02010600030101010101" pitchFamily="2" charset="-122"/>
              </a:rPr>
              <a:t>删除节点：</a:t>
            </a:r>
            <a:r>
              <a:rPr lang="en-US" altLang="zh-CN" dirty="0">
                <a:ea typeface="宋体" panose="02010600030101010101" pitchFamily="2" charset="-122"/>
              </a:rPr>
              <a:t>delete /zk</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pPr marL="0" algn="l">
              <a:buSzTx/>
              <a:buNone/>
            </a:pPr>
            <a:r>
              <a:rPr lang="en-US" altLang="zh-CN" dirty="0"/>
              <a:t>4.1 </a:t>
            </a:r>
            <a:r>
              <a:rPr lang="en-US" altLang="zh-CN" dirty="0" err="1"/>
              <a:t>ZooKeeper简介</a:t>
            </a:r>
            <a:endParaRPr lang="en-US" altLang="zh-CN" dirty="0"/>
          </a:p>
          <a:p>
            <a:pPr marL="0" algn="l">
              <a:buSzTx/>
              <a:buNone/>
            </a:pPr>
            <a:r>
              <a:rPr lang="en-US" altLang="zh-CN" dirty="0"/>
              <a:t>4.2 </a:t>
            </a:r>
            <a:r>
              <a:rPr lang="en-US" altLang="zh-CN" dirty="0">
                <a:sym typeface="+mn-ea"/>
              </a:rPr>
              <a:t>ZooKeeper安装配置</a:t>
            </a:r>
          </a:p>
          <a:p>
            <a:pPr marL="0" algn="l">
              <a:buSzTx/>
              <a:buNone/>
            </a:pPr>
            <a:r>
              <a:rPr lang="en-US" altLang="zh-CN" dirty="0"/>
              <a:t>4.3 </a:t>
            </a:r>
            <a:r>
              <a:rPr lang="en-US" altLang="zh-CN" dirty="0">
                <a:sym typeface="+mn-ea"/>
              </a:rPr>
              <a:t>ZooKeeper命令行操作</a:t>
            </a:r>
            <a:endParaRPr lang="en-US" altLang="zh-CN" dirty="0"/>
          </a:p>
          <a:p>
            <a:pPr marL="0" algn="l">
              <a:buSzTx/>
              <a:buNone/>
            </a:pPr>
            <a:r>
              <a:rPr lang="en-US" altLang="zh-CN" dirty="0">
                <a:solidFill>
                  <a:srgbClr val="FF0000"/>
                </a:solidFill>
              </a:rPr>
              <a:t>4.4 </a:t>
            </a:r>
            <a:r>
              <a:rPr lang="en-US" altLang="zh-CN" dirty="0">
                <a:solidFill>
                  <a:srgbClr val="FF0000"/>
                </a:solidFill>
                <a:sym typeface="+mn-ea"/>
              </a:rPr>
              <a:t>HDFS HA与YARN HA</a:t>
            </a:r>
          </a:p>
          <a:p>
            <a:pPr marL="0" indent="0">
              <a:buNone/>
            </a:pPr>
            <a:r>
              <a:rPr lang="en-US" altLang="zh-CN" dirty="0">
                <a:sym typeface="+mn-ea"/>
              </a:rPr>
              <a:t>4.5 ZooKeeper Java API</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a:sym typeface="+mn-ea"/>
              </a:rPr>
              <a:t>4.4.1 HDFS HA</a:t>
            </a:r>
            <a:endParaRPr lang="en-US" altLang="zh-CN"/>
          </a:p>
        </p:txBody>
      </p:sp>
      <p:sp>
        <p:nvSpPr>
          <p:cNvPr id="3" name="内容占位符 2"/>
          <p:cNvSpPr>
            <a:spLocks noGrp="1"/>
          </p:cNvSpPr>
          <p:nvPr>
            <p:ph idx="1"/>
          </p:nvPr>
        </p:nvSpPr>
        <p:spPr/>
        <p:txBody>
          <a:bodyPr>
            <a:normAutofit fontScale="92500" lnSpcReduction="10000"/>
          </a:bodyPr>
          <a:lstStyle/>
          <a:p>
            <a:r>
              <a:rPr lang="zh-CN" altLang="en-US" dirty="0">
                <a:ea typeface="宋体" panose="02010600030101010101" pitchFamily="2" charset="-122"/>
              </a:rPr>
              <a:t>在</a:t>
            </a:r>
            <a:r>
              <a:rPr lang="en-US" altLang="zh-CN" dirty="0">
                <a:ea typeface="宋体" panose="02010600030101010101" pitchFamily="2" charset="-122"/>
              </a:rPr>
              <a:t>Hadoop2.x</a:t>
            </a:r>
            <a:r>
              <a:rPr lang="zh-CN" altLang="en-US" dirty="0">
                <a:ea typeface="宋体" panose="02010600030101010101" pitchFamily="2" charset="-122"/>
              </a:rPr>
              <a:t>之前，一个</a:t>
            </a:r>
            <a:r>
              <a:rPr lang="en-US" altLang="zh-CN" dirty="0">
                <a:ea typeface="宋体" panose="02010600030101010101" pitchFamily="2" charset="-122"/>
              </a:rPr>
              <a:t>HDFS</a:t>
            </a:r>
            <a:r>
              <a:rPr lang="zh-CN" altLang="en-US" dirty="0">
                <a:ea typeface="宋体" panose="02010600030101010101" pitchFamily="2" charset="-122"/>
              </a:rPr>
              <a:t>集群只有一</a:t>
            </a:r>
            <a:r>
              <a:rPr lang="zh-CN" altLang="en-US" dirty="0" smtClean="0">
                <a:ea typeface="宋体" panose="02010600030101010101" pitchFamily="2" charset="-122"/>
              </a:rPr>
              <a:t>个</a:t>
            </a:r>
            <a:r>
              <a:rPr lang="en-US" altLang="zh-CN" dirty="0" err="1" smtClean="0">
                <a:ea typeface="宋体" panose="02010600030101010101" pitchFamily="2" charset="-122"/>
              </a:rPr>
              <a:t>NameNode</a:t>
            </a:r>
            <a:r>
              <a:rPr lang="zh-CN" altLang="en-US" dirty="0">
                <a:ea typeface="宋体" panose="02010600030101010101" pitchFamily="2" charset="-122"/>
              </a:rPr>
              <a:t>，一旦</a:t>
            </a:r>
            <a:r>
              <a:rPr lang="en-US" altLang="zh-CN" dirty="0" err="1">
                <a:ea typeface="宋体" panose="02010600030101010101" pitchFamily="2" charset="-122"/>
              </a:rPr>
              <a:t>NameNode</a:t>
            </a:r>
            <a:r>
              <a:rPr lang="zh-CN" altLang="en-US" dirty="0">
                <a:ea typeface="宋体" panose="02010600030101010101" pitchFamily="2" charset="-122"/>
              </a:rPr>
              <a:t>服务不可用，则整个集群无法访问</a:t>
            </a:r>
          </a:p>
          <a:p>
            <a:r>
              <a:rPr lang="en-US" altLang="zh-CN" dirty="0">
                <a:ea typeface="宋体" panose="02010600030101010101" pitchFamily="2" charset="-122"/>
              </a:rPr>
              <a:t>HDFS HA </a:t>
            </a:r>
            <a:r>
              <a:rPr lang="zh-CN" altLang="en-US" dirty="0">
                <a:ea typeface="宋体" panose="02010600030101010101" pitchFamily="2" charset="-122"/>
              </a:rPr>
              <a:t>解决了上述问题，可以在同一个集群中运行两个</a:t>
            </a:r>
            <a:r>
              <a:rPr lang="en-US" altLang="zh-CN" dirty="0" err="1" smtClean="0">
                <a:ea typeface="宋体" panose="02010600030101010101" pitchFamily="2" charset="-122"/>
              </a:rPr>
              <a:t>NameNode</a:t>
            </a:r>
            <a:r>
              <a:rPr lang="en-US" altLang="zh-CN" dirty="0" smtClean="0">
                <a:ea typeface="宋体" panose="02010600030101010101" pitchFamily="2" charset="-122"/>
              </a:rPr>
              <a:t>（</a:t>
            </a:r>
            <a:r>
              <a:rPr lang="zh-CN" altLang="en-US" dirty="0" smtClean="0">
                <a:ea typeface="宋体" panose="02010600030101010101" pitchFamily="2" charset="-122"/>
              </a:rPr>
              <a:t>目前允许多个</a:t>
            </a:r>
            <a:r>
              <a:rPr lang="en-US" altLang="zh-CN" dirty="0" err="1" smtClean="0">
                <a:ea typeface="宋体" panose="02010600030101010101" pitchFamily="2" charset="-122"/>
              </a:rPr>
              <a:t>NameNode</a:t>
            </a:r>
            <a:r>
              <a:rPr lang="zh-CN" altLang="en-US" dirty="0" smtClean="0">
                <a:ea typeface="宋体" panose="02010600030101010101" pitchFamily="2" charset="-122"/>
              </a:rPr>
              <a:t>）</a:t>
            </a:r>
            <a:endParaRPr lang="en-US" altLang="zh-CN" dirty="0">
              <a:ea typeface="宋体" panose="02010600030101010101" pitchFamily="2" charset="-122"/>
            </a:endParaRPr>
          </a:p>
          <a:p>
            <a:pPr lvl="1"/>
            <a:r>
              <a:rPr lang="zh-CN" altLang="en-US" dirty="0">
                <a:ea typeface="宋体" panose="02010600030101010101" pitchFamily="2" charset="-122"/>
              </a:rPr>
              <a:t>其中一个处于活动状态（</a:t>
            </a:r>
            <a:r>
              <a:rPr lang="en-US" altLang="zh-CN" dirty="0">
                <a:ea typeface="宋体" panose="02010600030101010101" pitchFamily="2" charset="-122"/>
              </a:rPr>
              <a:t>active</a:t>
            </a:r>
            <a:r>
              <a:rPr lang="zh-CN" altLang="en-US" dirty="0">
                <a:ea typeface="宋体" panose="02010600030101010101" pitchFamily="2" charset="-122"/>
              </a:rPr>
              <a:t>），另一个处于备用状态</a:t>
            </a:r>
            <a:r>
              <a:rPr lang="en-US" altLang="zh-CN" dirty="0">
                <a:ea typeface="宋体" panose="02010600030101010101" pitchFamily="2" charset="-122"/>
              </a:rPr>
              <a:t>(standby),</a:t>
            </a:r>
            <a:r>
              <a:rPr lang="zh-CN" altLang="en-US" dirty="0">
                <a:ea typeface="宋体" panose="02010600030101010101" pitchFamily="2" charset="-122"/>
              </a:rPr>
              <a:t>且只有活动状态的</a:t>
            </a:r>
            <a:r>
              <a:rPr lang="en-US" altLang="zh-CN" dirty="0" err="1">
                <a:ea typeface="宋体" panose="02010600030101010101" pitchFamily="2" charset="-122"/>
              </a:rPr>
              <a:t>NameNode</a:t>
            </a:r>
            <a:r>
              <a:rPr lang="zh-CN" altLang="en-US" dirty="0">
                <a:ea typeface="宋体" panose="02010600030101010101" pitchFamily="2" charset="-122"/>
              </a:rPr>
              <a:t>可以对外提供读写服务。</a:t>
            </a:r>
            <a:endParaRPr lang="en-US" altLang="zh-CN" dirty="0">
              <a:ea typeface="宋体" panose="02010600030101010101" pitchFamily="2" charset="-122"/>
            </a:endParaRPr>
          </a:p>
          <a:p>
            <a:pPr lvl="1"/>
            <a:r>
              <a:rPr lang="zh-CN" altLang="en-US" dirty="0">
                <a:ea typeface="宋体" panose="02010600030101010101" pitchFamily="2" charset="-122"/>
              </a:rPr>
              <a:t>当活动状态的</a:t>
            </a:r>
            <a:r>
              <a:rPr lang="en-US" altLang="zh-CN" dirty="0" err="1">
                <a:ea typeface="宋体" panose="02010600030101010101" pitchFamily="2" charset="-122"/>
              </a:rPr>
              <a:t>NameNode</a:t>
            </a:r>
            <a:r>
              <a:rPr lang="zh-CN" altLang="en-US" dirty="0">
                <a:ea typeface="宋体" panose="02010600030101010101" pitchFamily="2" charset="-122"/>
              </a:rPr>
              <a:t>崩溃时，</a:t>
            </a:r>
            <a:r>
              <a:rPr lang="en-US" altLang="zh-CN" dirty="0">
                <a:ea typeface="宋体" panose="02010600030101010101" pitchFamily="2" charset="-122"/>
              </a:rPr>
              <a:t>HDFS</a:t>
            </a:r>
            <a:r>
              <a:rPr lang="zh-CN" altLang="en-US" dirty="0">
                <a:ea typeface="宋体" panose="02010600030101010101" pitchFamily="2" charset="-122"/>
              </a:rPr>
              <a:t>集群可以快速切换到备用的</a:t>
            </a:r>
            <a:r>
              <a:rPr lang="en-US" altLang="zh-CN" dirty="0" err="1">
                <a:ea typeface="宋体" panose="02010600030101010101" pitchFamily="2" charset="-122"/>
              </a:rPr>
              <a:t>NameNode</a:t>
            </a:r>
            <a:r>
              <a:rPr lang="zh-CN" altLang="en-US" dirty="0">
                <a:ea typeface="宋体" panose="02010600030101010101" pitchFamily="2" charset="-122"/>
              </a:rPr>
              <a:t>，这样也就是实现了故障自动转移</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ym typeface="+mn-ea"/>
              </a:rPr>
              <a:t>4.4.1 </a:t>
            </a:r>
            <a:r>
              <a:rPr lang="en-US" altLang="zh-CN" dirty="0">
                <a:sym typeface="+mn-ea"/>
              </a:rPr>
              <a:t>HDFS HA</a:t>
            </a:r>
            <a:endParaRPr lang="zh-CN" altLang="en-US" dirty="0"/>
          </a:p>
        </p:txBody>
      </p:sp>
      <p:sp>
        <p:nvSpPr>
          <p:cNvPr id="3" name="内容占位符 2"/>
          <p:cNvSpPr>
            <a:spLocks noGrp="1"/>
          </p:cNvSpPr>
          <p:nvPr>
            <p:ph idx="1"/>
          </p:nvPr>
        </p:nvSpPr>
        <p:spPr/>
        <p:txBody>
          <a:bodyPr/>
          <a:lstStyle/>
          <a:p>
            <a:r>
              <a:rPr lang="en-US" altLang="zh-CN" dirty="0">
                <a:ea typeface="宋体" panose="02010600030101010101" pitchFamily="2" charset="-122"/>
              </a:rPr>
              <a:t>HDFS HA</a:t>
            </a:r>
            <a:r>
              <a:rPr lang="zh-CN" altLang="en-US" dirty="0">
                <a:ea typeface="宋体" panose="02010600030101010101" pitchFamily="2" charset="-122"/>
              </a:rPr>
              <a:t>集群架构原理</a:t>
            </a:r>
          </a:p>
          <a:p>
            <a:pPr lvl="1"/>
            <a:r>
              <a:rPr lang="zh-CN" altLang="en-US" dirty="0" smtClean="0"/>
              <a:t>两个关键问题</a:t>
            </a:r>
            <a:endParaRPr lang="en-US" altLang="zh-CN" dirty="0" smtClean="0"/>
          </a:p>
          <a:p>
            <a:pPr lvl="2"/>
            <a:r>
              <a:rPr lang="zh-CN" altLang="en-US" dirty="0" smtClean="0"/>
              <a:t>主备</a:t>
            </a:r>
            <a:r>
              <a:rPr lang="en-US" altLang="zh-CN" dirty="0" err="1" smtClean="0"/>
              <a:t>NameNode</a:t>
            </a:r>
            <a:r>
              <a:rPr lang="zh-CN" altLang="en-US" dirty="0" smtClean="0"/>
              <a:t>数据同步</a:t>
            </a:r>
            <a:endParaRPr lang="en-US" altLang="zh-CN" dirty="0" smtClean="0"/>
          </a:p>
          <a:p>
            <a:pPr lvl="2"/>
            <a:r>
              <a:rPr lang="zh-CN" altLang="en-US" dirty="0" smtClean="0"/>
              <a:t>热</a:t>
            </a:r>
            <a:r>
              <a:rPr lang="zh-CN" altLang="en-US" dirty="0"/>
              <a:t>备切换机制</a:t>
            </a:r>
          </a:p>
        </p:txBody>
      </p:sp>
    </p:spTree>
    <p:extLst>
      <p:ext uri="{BB962C8B-B14F-4D97-AF65-F5344CB8AC3E}">
        <p14:creationId xmlns:p14="http://schemas.microsoft.com/office/powerpoint/2010/main" val="254352771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dirty="0" smtClean="0">
                <a:sym typeface="+mn-ea"/>
              </a:rPr>
              <a:t>4.4.1 HDFS HA</a:t>
            </a:r>
            <a:endParaRPr lang="en-US" altLang="zh-CN" dirty="0"/>
          </a:p>
        </p:txBody>
      </p:sp>
      <p:sp>
        <p:nvSpPr>
          <p:cNvPr id="3" name="内容占位符 2"/>
          <p:cNvSpPr>
            <a:spLocks noGrp="1"/>
          </p:cNvSpPr>
          <p:nvPr>
            <p:ph idx="1"/>
          </p:nvPr>
        </p:nvSpPr>
        <p:spPr/>
        <p:txBody>
          <a:bodyPr/>
          <a:lstStyle/>
          <a:p>
            <a:r>
              <a:rPr lang="en-US" altLang="zh-CN" dirty="0">
                <a:ea typeface="宋体" panose="02010600030101010101" pitchFamily="2" charset="-122"/>
              </a:rPr>
              <a:t>HDFS HA</a:t>
            </a:r>
            <a:r>
              <a:rPr lang="zh-CN" altLang="en-US" dirty="0">
                <a:ea typeface="宋体" panose="02010600030101010101" pitchFamily="2" charset="-122"/>
              </a:rPr>
              <a:t>集群架构原理</a:t>
            </a:r>
          </a:p>
          <a:p>
            <a:pPr lvl="1"/>
            <a:r>
              <a:rPr lang="zh-CN" altLang="en-US" sz="2400" dirty="0" smtClean="0">
                <a:ea typeface="宋体" panose="02010600030101010101" pitchFamily="2" charset="-122"/>
              </a:rPr>
              <a:t>为了让</a:t>
            </a:r>
            <a:r>
              <a:rPr lang="zh-CN" altLang="en-US" sz="2400" dirty="0">
                <a:ea typeface="宋体" panose="02010600030101010101" pitchFamily="2" charset="-122"/>
              </a:rPr>
              <a:t>备用</a:t>
            </a:r>
            <a:r>
              <a:rPr lang="en-US" altLang="zh-CN" sz="2400" dirty="0" err="1">
                <a:ea typeface="宋体" panose="02010600030101010101" pitchFamily="2" charset="-122"/>
              </a:rPr>
              <a:t>NameNode</a:t>
            </a:r>
            <a:r>
              <a:rPr lang="zh-CN" altLang="en-US" sz="2400" dirty="0">
                <a:ea typeface="宋体" panose="02010600030101010101" pitchFamily="2" charset="-122"/>
              </a:rPr>
              <a:t>的状态保持与活动</a:t>
            </a:r>
            <a:r>
              <a:rPr lang="en-US" altLang="zh-CN" sz="2400" dirty="0" err="1">
                <a:ea typeface="宋体" panose="02010600030101010101" pitchFamily="2" charset="-122"/>
                <a:sym typeface="+mn-ea"/>
              </a:rPr>
              <a:t>NameNode</a:t>
            </a:r>
            <a:r>
              <a:rPr lang="zh-CN" altLang="en-US" sz="2400" dirty="0" smtClean="0">
                <a:ea typeface="宋体" panose="02010600030101010101" pitchFamily="2" charset="-122"/>
                <a:sym typeface="+mn-ea"/>
              </a:rPr>
              <a:t>同步</a:t>
            </a:r>
            <a:endParaRPr lang="zh-CN" altLang="en-US" sz="2400" dirty="0">
              <a:ea typeface="宋体" panose="02010600030101010101" pitchFamily="2" charset="-122"/>
              <a:sym typeface="+mn-ea"/>
            </a:endParaRPr>
          </a:p>
          <a:p>
            <a:pPr lvl="2"/>
            <a:r>
              <a:rPr lang="zh-CN" altLang="en-US" sz="2000" dirty="0">
                <a:ea typeface="宋体" panose="02010600030101010101" pitchFamily="2" charset="-122"/>
                <a:sym typeface="+mn-ea"/>
              </a:rPr>
              <a:t>两个</a:t>
            </a:r>
            <a:r>
              <a:rPr lang="en-US" altLang="zh-CN" sz="2000" dirty="0" err="1">
                <a:ea typeface="宋体" panose="02010600030101010101" pitchFamily="2" charset="-122"/>
                <a:sym typeface="+mn-ea"/>
              </a:rPr>
              <a:t>NameNode</a:t>
            </a:r>
            <a:r>
              <a:rPr lang="zh-CN" altLang="en-US" sz="2000" dirty="0">
                <a:ea typeface="宋体" panose="02010600030101010101" pitchFamily="2" charset="-122"/>
                <a:sym typeface="+mn-ea"/>
              </a:rPr>
              <a:t>都与一</a:t>
            </a:r>
            <a:r>
              <a:rPr lang="zh-CN" altLang="en-US" sz="2000" dirty="0" smtClean="0">
                <a:ea typeface="宋体" panose="02010600030101010101" pitchFamily="2" charset="-122"/>
                <a:sym typeface="+mn-ea"/>
              </a:rPr>
              <a:t>组 </a:t>
            </a:r>
            <a:r>
              <a:rPr lang="en-US" altLang="zh-CN" sz="2000" dirty="0" smtClean="0">
                <a:ea typeface="宋体" panose="02010600030101010101" pitchFamily="2" charset="-122"/>
                <a:sym typeface="+mn-ea"/>
              </a:rPr>
              <a:t>“</a:t>
            </a:r>
            <a:r>
              <a:rPr lang="en-US" altLang="zh-CN" sz="2000" dirty="0" err="1">
                <a:ea typeface="宋体" panose="02010600030101010101" pitchFamily="2" charset="-122"/>
                <a:sym typeface="+mn-ea"/>
              </a:rPr>
              <a:t>JournalNode</a:t>
            </a:r>
            <a:r>
              <a:rPr lang="en-US" altLang="zh-CN" sz="2000" dirty="0" smtClean="0">
                <a:ea typeface="宋体" panose="02010600030101010101" pitchFamily="2" charset="-122"/>
                <a:sym typeface="+mn-ea"/>
              </a:rPr>
              <a:t>”</a:t>
            </a:r>
            <a:r>
              <a:rPr lang="zh-CN" altLang="en-US" sz="2000" dirty="0" smtClean="0">
                <a:ea typeface="宋体" panose="02010600030101010101" pitchFamily="2" charset="-122"/>
                <a:sym typeface="+mn-ea"/>
              </a:rPr>
              <a:t> 独立进程通信</a:t>
            </a:r>
            <a:endParaRPr lang="zh-CN" altLang="en-US" sz="2000" dirty="0">
              <a:ea typeface="宋体" panose="02010600030101010101" pitchFamily="2" charset="-122"/>
              <a:sym typeface="+mn-ea"/>
            </a:endParaRPr>
          </a:p>
          <a:p>
            <a:pPr lvl="3"/>
            <a:r>
              <a:rPr lang="zh-CN" altLang="en-US" sz="1800" dirty="0">
                <a:ea typeface="宋体" panose="02010600030101010101" pitchFamily="2" charset="-122"/>
                <a:sym typeface="+mn-ea"/>
              </a:rPr>
              <a:t>这种实现方式称为</a:t>
            </a:r>
            <a:r>
              <a:rPr lang="en-US" altLang="zh-CN" sz="1800" dirty="0" smtClean="0">
                <a:solidFill>
                  <a:srgbClr val="FF0000"/>
                </a:solidFill>
                <a:ea typeface="宋体" panose="02010600030101010101" pitchFamily="2" charset="-122"/>
                <a:sym typeface="+mn-ea"/>
              </a:rPr>
              <a:t>QJM(Quorum </a:t>
            </a:r>
            <a:r>
              <a:rPr lang="en-US" altLang="zh-CN" sz="1800" dirty="0">
                <a:solidFill>
                  <a:srgbClr val="FF0000"/>
                </a:solidFill>
                <a:ea typeface="宋体" panose="02010600030101010101" pitchFamily="2" charset="-122"/>
                <a:sym typeface="+mn-ea"/>
              </a:rPr>
              <a:t>Journal Manager)</a:t>
            </a:r>
            <a:r>
              <a:rPr lang="zh-CN" altLang="en-US" sz="1800" dirty="0">
                <a:ea typeface="宋体" panose="02010600030101010101" pitchFamily="2" charset="-122"/>
                <a:sym typeface="+mn-ea"/>
              </a:rPr>
              <a:t>，使用</a:t>
            </a:r>
            <a:r>
              <a:rPr lang="en-US" altLang="zh-CN" sz="1800" dirty="0">
                <a:ea typeface="宋体" panose="02010600030101010101" pitchFamily="2" charset="-122"/>
                <a:sym typeface="+mn-ea"/>
              </a:rPr>
              <a:t>2N+1</a:t>
            </a:r>
            <a:r>
              <a:rPr lang="zh-CN" altLang="en-US" sz="1800" dirty="0">
                <a:ea typeface="宋体" panose="02010600030101010101" pitchFamily="2" charset="-122"/>
                <a:sym typeface="+mn-ea"/>
              </a:rPr>
              <a:t>台</a:t>
            </a:r>
            <a:r>
              <a:rPr lang="en-US" altLang="zh-CN" sz="1800" dirty="0" err="1">
                <a:ea typeface="宋体" panose="02010600030101010101" pitchFamily="2" charset="-122"/>
                <a:sym typeface="+mn-ea"/>
              </a:rPr>
              <a:t>JornalNode</a:t>
            </a:r>
            <a:r>
              <a:rPr lang="zh-CN" altLang="en-US" sz="1800" dirty="0">
                <a:ea typeface="宋体" panose="02010600030101010101" pitchFamily="2" charset="-122"/>
                <a:sym typeface="+mn-ea"/>
              </a:rPr>
              <a:t>存储元数据信息，当活动</a:t>
            </a:r>
            <a:r>
              <a:rPr lang="en-US" altLang="zh-CN" sz="1800" dirty="0" err="1">
                <a:ea typeface="宋体" panose="02010600030101010101" pitchFamily="2" charset="-122"/>
                <a:sym typeface="+mn-ea"/>
              </a:rPr>
              <a:t>NameNode</a:t>
            </a:r>
            <a:r>
              <a:rPr lang="zh-CN" altLang="en-US" sz="1800" dirty="0">
                <a:ea typeface="宋体" panose="02010600030101010101" pitchFamily="2" charset="-122"/>
                <a:sym typeface="+mn-ea"/>
              </a:rPr>
              <a:t>向</a:t>
            </a:r>
            <a:r>
              <a:rPr lang="en-US" altLang="zh-CN" sz="1800" dirty="0">
                <a:ea typeface="宋体" panose="02010600030101010101" pitchFamily="2" charset="-122"/>
                <a:sym typeface="+mn-ea"/>
              </a:rPr>
              <a:t>QJM</a:t>
            </a:r>
            <a:r>
              <a:rPr lang="zh-CN" altLang="en-US" sz="1800" dirty="0">
                <a:ea typeface="宋体" panose="02010600030101010101" pitchFamily="2" charset="-122"/>
                <a:sym typeface="+mn-ea"/>
              </a:rPr>
              <a:t>写入信息时，只要多数</a:t>
            </a:r>
            <a:r>
              <a:rPr lang="en-US" altLang="zh-CN" sz="1800" dirty="0">
                <a:ea typeface="宋体" panose="02010600030101010101" pitchFamily="2" charset="-122"/>
                <a:sym typeface="+mn-ea"/>
              </a:rPr>
              <a:t>(</a:t>
            </a:r>
            <a:r>
              <a:rPr lang="en-US" altLang="zh-CN" sz="1800" dirty="0">
                <a:ea typeface="宋体" panose="02010600030101010101" pitchFamily="2" charset="-122"/>
                <a:cs typeface="Arial" panose="020B0604020202020204" pitchFamily="34" charset="0"/>
                <a:sym typeface="+mn-ea"/>
              </a:rPr>
              <a:t>≥N+1</a:t>
            </a:r>
            <a:r>
              <a:rPr lang="en-US" altLang="zh-CN" sz="1800" dirty="0">
                <a:ea typeface="宋体" panose="02010600030101010101" pitchFamily="2" charset="-122"/>
                <a:sym typeface="+mn-ea"/>
              </a:rPr>
              <a:t>)</a:t>
            </a:r>
            <a:r>
              <a:rPr lang="en-US" altLang="zh-CN" sz="1800" dirty="0" err="1">
                <a:ea typeface="宋体" panose="02010600030101010101" pitchFamily="2" charset="-122"/>
                <a:sym typeface="+mn-ea"/>
              </a:rPr>
              <a:t>JornalNode</a:t>
            </a:r>
            <a:r>
              <a:rPr lang="zh-CN" altLang="en-US" sz="1800" dirty="0">
                <a:ea typeface="宋体" panose="02010600030101010101" pitchFamily="2" charset="-122"/>
                <a:sym typeface="+mn-ea"/>
              </a:rPr>
              <a:t>返回成功，即可认为该次数据写入成功，以此保证数据高可用性</a:t>
            </a:r>
          </a:p>
          <a:p>
            <a:pPr lvl="3"/>
            <a:r>
              <a:rPr lang="en-US" altLang="zh-CN" sz="1800" dirty="0">
                <a:ea typeface="宋体" panose="02010600030101010101" pitchFamily="2" charset="-122"/>
                <a:sym typeface="+mn-ea"/>
              </a:rPr>
              <a:t>QJM</a:t>
            </a:r>
            <a:r>
              <a:rPr lang="zh-CN" altLang="en-US" sz="1800" dirty="0">
                <a:ea typeface="宋体" panose="02010600030101010101" pitchFamily="2" charset="-122"/>
                <a:sym typeface="+mn-ea"/>
              </a:rPr>
              <a:t>集群最多容忍</a:t>
            </a:r>
            <a:r>
              <a:rPr lang="en-US" altLang="zh-CN" sz="1800" dirty="0">
                <a:ea typeface="宋体" panose="02010600030101010101" pitchFamily="2" charset="-122"/>
                <a:sym typeface="+mn-ea"/>
              </a:rPr>
              <a:t>N</a:t>
            </a:r>
            <a:r>
              <a:rPr lang="zh-CN" altLang="en-US" sz="1800" dirty="0">
                <a:ea typeface="宋体" panose="02010600030101010101" pitchFamily="2" charset="-122"/>
                <a:sym typeface="+mn-ea"/>
              </a:rPr>
              <a:t>台计算机宕机</a:t>
            </a:r>
          </a:p>
        </p:txBody>
      </p:sp>
      <p:pic>
        <p:nvPicPr>
          <p:cNvPr id="4" name="图片 3" descr="微信图片_20200407130919"/>
          <p:cNvPicPr>
            <a:picLocks noChangeAspect="1"/>
          </p:cNvPicPr>
          <p:nvPr>
            <p:custDataLst>
              <p:tags r:id="rId1"/>
            </p:custDataLst>
          </p:nvPr>
        </p:nvPicPr>
        <p:blipFill>
          <a:blip r:embed="rId3"/>
          <a:stretch>
            <a:fillRect/>
          </a:stretch>
        </p:blipFill>
        <p:spPr>
          <a:xfrm>
            <a:off x="2051720" y="4509120"/>
            <a:ext cx="5390525" cy="2189148"/>
          </a:xfrm>
          <a:prstGeom prst="rect">
            <a:avLst/>
          </a:prstGeom>
        </p:spPr>
      </p:pic>
    </p:spTree>
    <p:extLst>
      <p:ext uri="{BB962C8B-B14F-4D97-AF65-F5344CB8AC3E}">
        <p14:creationId xmlns:p14="http://schemas.microsoft.com/office/powerpoint/2010/main" val="185679135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a:sym typeface="+mn-ea"/>
              </a:rPr>
              <a:t>4.4.1 HDFS HA</a:t>
            </a:r>
            <a:endParaRPr lang="en-US" altLang="zh-CN"/>
          </a:p>
        </p:txBody>
      </p:sp>
      <p:sp>
        <p:nvSpPr>
          <p:cNvPr id="3" name="内容占位符 2"/>
          <p:cNvSpPr>
            <a:spLocks noGrp="1"/>
          </p:cNvSpPr>
          <p:nvPr>
            <p:ph idx="1"/>
          </p:nvPr>
        </p:nvSpPr>
        <p:spPr/>
        <p:txBody>
          <a:bodyPr/>
          <a:lstStyle/>
          <a:p>
            <a:r>
              <a:rPr lang="en-US" altLang="zh-CN" dirty="0">
                <a:ea typeface="宋体" panose="02010600030101010101" pitchFamily="2" charset="-122"/>
              </a:rPr>
              <a:t>HDFS HA</a:t>
            </a:r>
            <a:r>
              <a:rPr lang="zh-CN" altLang="en-US" dirty="0">
                <a:ea typeface="宋体" panose="02010600030101010101" pitchFamily="2" charset="-122"/>
              </a:rPr>
              <a:t>集群架构原理</a:t>
            </a:r>
          </a:p>
          <a:p>
            <a:pPr lvl="1"/>
            <a:r>
              <a:rPr lang="zh-CN" altLang="en-US" dirty="0">
                <a:ea typeface="宋体" panose="02010600030101010101" pitchFamily="2" charset="-122"/>
              </a:rPr>
              <a:t>此外，还需要备用</a:t>
            </a:r>
            <a:r>
              <a:rPr lang="en-US" altLang="zh-CN" dirty="0" err="1">
                <a:ea typeface="宋体" panose="02010600030101010101" pitchFamily="2" charset="-122"/>
              </a:rPr>
              <a:t>NameNode</a:t>
            </a:r>
            <a:r>
              <a:rPr lang="zh-CN" altLang="en-US" dirty="0">
                <a:ea typeface="宋体" panose="02010600030101010101" pitchFamily="2" charset="-122"/>
              </a:rPr>
              <a:t>拥有关于集群中块位置的最新信息</a:t>
            </a:r>
          </a:p>
          <a:p>
            <a:pPr lvl="2"/>
            <a:r>
              <a:rPr lang="en-US" altLang="zh-CN" dirty="0" err="1" smtClean="0">
                <a:ea typeface="宋体" panose="02010600030101010101" pitchFamily="2" charset="-122"/>
              </a:rPr>
              <a:t>DataNode</a:t>
            </a:r>
            <a:r>
              <a:rPr lang="zh-CN" altLang="en-US" dirty="0" smtClean="0">
                <a:ea typeface="宋体" panose="02010600030101010101" pitchFamily="2" charset="-122"/>
              </a:rPr>
              <a:t>需要将</a:t>
            </a:r>
            <a:r>
              <a:rPr lang="zh-CN" altLang="en-US" dirty="0">
                <a:ea typeface="宋体" panose="02010600030101010101" pitchFamily="2" charset="-122"/>
              </a:rPr>
              <a:t>块位置信息和心跳</a:t>
            </a:r>
            <a:r>
              <a:rPr lang="zh-CN" altLang="en-US" dirty="0" smtClean="0">
                <a:ea typeface="宋体" panose="02010600030101010101" pitchFamily="2" charset="-122"/>
              </a:rPr>
              <a:t>发送给两个</a:t>
            </a:r>
            <a:r>
              <a:rPr lang="en-US" altLang="zh-CN" dirty="0" err="1" smtClean="0">
                <a:ea typeface="宋体" panose="02010600030101010101" pitchFamily="2" charset="-122"/>
              </a:rPr>
              <a:t>NameNode</a:t>
            </a:r>
            <a:endParaRPr lang="zh-CN" altLang="en-US" dirty="0">
              <a:ea typeface="宋体" panose="02010600030101010101" pitchFamily="2" charset="-122"/>
            </a:endParaRPr>
          </a:p>
        </p:txBody>
      </p:sp>
      <p:pic>
        <p:nvPicPr>
          <p:cNvPr id="5" name="图片 4" descr="微信图片_20200407130923"/>
          <p:cNvPicPr>
            <a:picLocks noChangeAspect="1"/>
          </p:cNvPicPr>
          <p:nvPr/>
        </p:nvPicPr>
        <p:blipFill>
          <a:blip r:embed="rId2"/>
          <a:stretch>
            <a:fillRect/>
          </a:stretch>
        </p:blipFill>
        <p:spPr>
          <a:xfrm>
            <a:off x="1863725" y="3801745"/>
            <a:ext cx="5086350" cy="2310130"/>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a:sym typeface="+mn-ea"/>
              </a:rPr>
              <a:t>4.4.1 HDFS HA</a:t>
            </a:r>
            <a:endParaRPr lang="en-US" altLang="zh-CN"/>
          </a:p>
        </p:txBody>
      </p:sp>
      <p:sp>
        <p:nvSpPr>
          <p:cNvPr id="3" name="内容占位符 2"/>
          <p:cNvSpPr>
            <a:spLocks noGrp="1"/>
          </p:cNvSpPr>
          <p:nvPr>
            <p:ph idx="1"/>
          </p:nvPr>
        </p:nvSpPr>
        <p:spPr/>
        <p:txBody>
          <a:bodyPr/>
          <a:lstStyle/>
          <a:p>
            <a:r>
              <a:rPr lang="en-US" altLang="zh-CN">
                <a:ea typeface="宋体" panose="02010600030101010101" pitchFamily="2" charset="-122"/>
              </a:rPr>
              <a:t>HDFS</a:t>
            </a:r>
            <a:r>
              <a:rPr lang="zh-CN" altLang="en-US">
                <a:ea typeface="宋体" panose="02010600030101010101" pitchFamily="2" charset="-122"/>
              </a:rPr>
              <a:t>自动故障转移</a:t>
            </a:r>
          </a:p>
          <a:p>
            <a:pPr lvl="1"/>
            <a:r>
              <a:rPr lang="zh-CN" altLang="en-US">
                <a:ea typeface="宋体" panose="02010600030101010101" pitchFamily="2" charset="-122"/>
              </a:rPr>
              <a:t>虽然系统配备了两个</a:t>
            </a:r>
            <a:r>
              <a:rPr lang="en-US" altLang="zh-CN">
                <a:ea typeface="宋体" panose="02010600030101010101" pitchFamily="2" charset="-122"/>
              </a:rPr>
              <a:t>NameNode</a:t>
            </a:r>
            <a:r>
              <a:rPr lang="zh-CN" altLang="en-US">
                <a:ea typeface="宋体" panose="02010600030101010101" pitchFamily="2" charset="-122"/>
              </a:rPr>
              <a:t>，但即使活动</a:t>
            </a:r>
            <a:r>
              <a:rPr lang="en-US" altLang="zh-CN">
                <a:ea typeface="宋体" panose="02010600030101010101" pitchFamily="2" charset="-122"/>
              </a:rPr>
              <a:t>NameNode</a:t>
            </a:r>
            <a:r>
              <a:rPr lang="zh-CN" altLang="en-US">
                <a:ea typeface="宋体" panose="02010600030101010101" pitchFamily="2" charset="-122"/>
              </a:rPr>
              <a:t>出现故障，系统也不会自动触发从活动</a:t>
            </a:r>
            <a:r>
              <a:rPr lang="en-US" altLang="zh-CN">
                <a:ea typeface="宋体" panose="02010600030101010101" pitchFamily="2" charset="-122"/>
                <a:sym typeface="+mn-ea"/>
              </a:rPr>
              <a:t>NameNode</a:t>
            </a:r>
            <a:r>
              <a:rPr lang="zh-CN" altLang="en-US">
                <a:ea typeface="宋体" panose="02010600030101010101" pitchFamily="2" charset="-122"/>
                <a:sym typeface="+mn-ea"/>
              </a:rPr>
              <a:t>切换到备用</a:t>
            </a:r>
            <a:r>
              <a:rPr lang="en-US" altLang="zh-CN">
                <a:ea typeface="宋体" panose="02010600030101010101" pitchFamily="2" charset="-122"/>
                <a:sym typeface="+mn-ea"/>
              </a:rPr>
              <a:t>NameNode</a:t>
            </a:r>
            <a:r>
              <a:rPr lang="zh-CN" altLang="en-US">
                <a:ea typeface="宋体" panose="02010600030101010101" pitchFamily="2" charset="-122"/>
                <a:sym typeface="+mn-ea"/>
              </a:rPr>
              <a:t>的故障转移。</a:t>
            </a:r>
            <a:endParaRPr lang="en-US" altLang="zh-CN">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a:sym typeface="+mn-ea"/>
              </a:rPr>
              <a:t>4.4.1 HDFS HA</a:t>
            </a:r>
            <a:endParaRPr lang="en-US" altLang="zh-CN"/>
          </a:p>
        </p:txBody>
      </p:sp>
      <p:sp>
        <p:nvSpPr>
          <p:cNvPr id="3" name="内容占位符 2"/>
          <p:cNvSpPr>
            <a:spLocks noGrp="1"/>
          </p:cNvSpPr>
          <p:nvPr>
            <p:ph idx="1"/>
          </p:nvPr>
        </p:nvSpPr>
        <p:spPr/>
        <p:txBody>
          <a:bodyPr>
            <a:normAutofit fontScale="92500" lnSpcReduction="20000"/>
          </a:bodyPr>
          <a:lstStyle/>
          <a:p>
            <a:r>
              <a:rPr lang="en-US" altLang="zh-CN" dirty="0">
                <a:ea typeface="宋体" panose="02010600030101010101" pitchFamily="2" charset="-122"/>
              </a:rPr>
              <a:t>HDFS</a:t>
            </a:r>
            <a:r>
              <a:rPr lang="zh-CN" altLang="en-US" dirty="0">
                <a:ea typeface="宋体" panose="02010600030101010101" pitchFamily="2" charset="-122"/>
              </a:rPr>
              <a:t>自动故障转移</a:t>
            </a:r>
          </a:p>
          <a:p>
            <a:pPr lvl="1"/>
            <a:r>
              <a:rPr lang="zh-CN" altLang="en-US" dirty="0">
                <a:ea typeface="宋体" panose="02010600030101010101" pitchFamily="2" charset="-122"/>
                <a:sym typeface="+mn-ea"/>
              </a:rPr>
              <a:t>要实现故障自动转移，还需要添加两个组件</a:t>
            </a:r>
          </a:p>
          <a:p>
            <a:pPr lvl="2"/>
            <a:r>
              <a:rPr lang="en-US" altLang="zh-CN" dirty="0" err="1">
                <a:ea typeface="宋体" panose="02010600030101010101" pitchFamily="2" charset="-122"/>
                <a:sym typeface="+mn-ea"/>
              </a:rPr>
              <a:t>ZooKeeper</a:t>
            </a:r>
            <a:r>
              <a:rPr lang="zh-CN" altLang="en-US" dirty="0">
                <a:ea typeface="宋体" panose="02010600030101010101" pitchFamily="2" charset="-122"/>
                <a:sym typeface="+mn-ea"/>
              </a:rPr>
              <a:t>：故障检测和</a:t>
            </a:r>
            <a:r>
              <a:rPr lang="en-US" altLang="zh-CN" dirty="0" err="1">
                <a:ea typeface="宋体" panose="02010600030101010101" pitchFamily="2" charset="-122"/>
                <a:sym typeface="+mn-ea"/>
              </a:rPr>
              <a:t>NameNode</a:t>
            </a:r>
            <a:r>
              <a:rPr lang="zh-CN" altLang="en-US" dirty="0">
                <a:ea typeface="宋体" panose="02010600030101010101" pitchFamily="2" charset="-122"/>
                <a:sym typeface="+mn-ea"/>
              </a:rPr>
              <a:t>选举</a:t>
            </a:r>
          </a:p>
          <a:p>
            <a:pPr lvl="3"/>
            <a:r>
              <a:rPr lang="zh-CN" altLang="en-US" dirty="0">
                <a:ea typeface="宋体" panose="02010600030101010101" pitchFamily="2" charset="-122"/>
                <a:sym typeface="+mn-ea"/>
              </a:rPr>
              <a:t>每个</a:t>
            </a:r>
            <a:r>
              <a:rPr lang="en-US" altLang="zh-CN" dirty="0" err="1">
                <a:ea typeface="宋体" panose="02010600030101010101" pitchFamily="2" charset="-122"/>
                <a:sym typeface="+mn-ea"/>
              </a:rPr>
              <a:t>NameNode</a:t>
            </a:r>
            <a:r>
              <a:rPr lang="zh-CN" altLang="en-US" dirty="0">
                <a:ea typeface="宋体" panose="02010600030101010101" pitchFamily="2" charset="-122"/>
                <a:sym typeface="+mn-ea"/>
              </a:rPr>
              <a:t>都在</a:t>
            </a:r>
            <a:r>
              <a:rPr lang="en-US" altLang="zh-CN" dirty="0" err="1">
                <a:ea typeface="宋体" panose="02010600030101010101" pitchFamily="2" charset="-122"/>
                <a:sym typeface="+mn-ea"/>
              </a:rPr>
              <a:t>ZooKeeper</a:t>
            </a:r>
            <a:r>
              <a:rPr lang="zh-CN" altLang="en-US" dirty="0">
                <a:ea typeface="宋体" panose="02010600030101010101" pitchFamily="2" charset="-122"/>
                <a:sym typeface="+mn-ea"/>
              </a:rPr>
              <a:t>中维护一个持久会话，如果计算机崩溃，会话就会过期，</a:t>
            </a:r>
            <a:r>
              <a:rPr lang="en-US" altLang="zh-CN" dirty="0" err="1">
                <a:ea typeface="宋体" panose="02010600030101010101" pitchFamily="2" charset="-122"/>
                <a:sym typeface="+mn-ea"/>
              </a:rPr>
              <a:t>ZooKeeper</a:t>
            </a:r>
            <a:r>
              <a:rPr lang="zh-CN" altLang="en-US" dirty="0">
                <a:ea typeface="宋体" panose="02010600030101010101" pitchFamily="2" charset="-122"/>
                <a:sym typeface="+mn-ea"/>
              </a:rPr>
              <a:t>将通知另一个</a:t>
            </a:r>
            <a:r>
              <a:rPr lang="en-US" altLang="zh-CN" dirty="0" err="1">
                <a:ea typeface="宋体" panose="02010600030101010101" pitchFamily="2" charset="-122"/>
                <a:sym typeface="+mn-ea"/>
              </a:rPr>
              <a:t>NameNode</a:t>
            </a:r>
            <a:r>
              <a:rPr lang="zh-CN" altLang="en-US" dirty="0">
                <a:ea typeface="宋体" panose="02010600030101010101" pitchFamily="2" charset="-122"/>
                <a:sym typeface="+mn-ea"/>
              </a:rPr>
              <a:t>，从而实现故障转移</a:t>
            </a:r>
          </a:p>
          <a:p>
            <a:pPr lvl="3"/>
            <a:r>
              <a:rPr lang="zh-CN" altLang="en-US" dirty="0">
                <a:ea typeface="宋体" panose="02010600030101010101" pitchFamily="2" charset="-122"/>
                <a:sym typeface="+mn-ea"/>
              </a:rPr>
              <a:t>当活动</a:t>
            </a:r>
            <a:r>
              <a:rPr lang="en-US" altLang="zh-CN" dirty="0" err="1">
                <a:ea typeface="宋体" panose="02010600030101010101" pitchFamily="2" charset="-122"/>
                <a:sym typeface="+mn-ea"/>
              </a:rPr>
              <a:t>NameNode</a:t>
            </a:r>
            <a:r>
              <a:rPr lang="zh-CN" altLang="en-US" dirty="0">
                <a:ea typeface="宋体" panose="02010600030101010101" pitchFamily="2" charset="-122"/>
                <a:sym typeface="+mn-ea"/>
              </a:rPr>
              <a:t>故障时，</a:t>
            </a:r>
            <a:r>
              <a:rPr lang="en-US" altLang="zh-CN" dirty="0" err="1">
                <a:ea typeface="宋体" panose="02010600030101010101" pitchFamily="2" charset="-122"/>
                <a:sym typeface="+mn-ea"/>
              </a:rPr>
              <a:t>ZooKeeper</a:t>
            </a:r>
            <a:r>
              <a:rPr lang="zh-CN" altLang="en-US" dirty="0">
                <a:ea typeface="宋体" panose="02010600030101010101" pitchFamily="2" charset="-122"/>
                <a:sym typeface="+mn-ea"/>
              </a:rPr>
              <a:t>提供了一个简单的选举机制，从备用</a:t>
            </a:r>
            <a:r>
              <a:rPr lang="en-US" altLang="zh-CN" dirty="0" err="1">
                <a:ea typeface="宋体" panose="02010600030101010101" pitchFamily="2" charset="-122"/>
                <a:sym typeface="+mn-ea"/>
              </a:rPr>
              <a:t>NameNode</a:t>
            </a:r>
            <a:r>
              <a:rPr lang="zh-CN" altLang="en-US" dirty="0">
                <a:ea typeface="宋体" panose="02010600030101010101" pitchFamily="2" charset="-122"/>
                <a:sym typeface="+mn-ea"/>
              </a:rPr>
              <a:t>中选举一个作为活动</a:t>
            </a:r>
            <a:r>
              <a:rPr lang="en-US" altLang="zh-CN" dirty="0" err="1">
                <a:ea typeface="宋体" panose="02010600030101010101" pitchFamily="2" charset="-122"/>
                <a:sym typeface="+mn-ea"/>
              </a:rPr>
              <a:t>NameNode</a:t>
            </a:r>
            <a:r>
              <a:rPr lang="zh-CN" altLang="en-US" dirty="0">
                <a:ea typeface="宋体" panose="02010600030101010101" pitchFamily="2" charset="-122"/>
                <a:sym typeface="+mn-ea"/>
              </a:rPr>
              <a:t>（目前只有唯一的备用</a:t>
            </a:r>
            <a:r>
              <a:rPr lang="en-US" altLang="zh-CN" dirty="0" err="1">
                <a:ea typeface="宋体" panose="02010600030101010101" pitchFamily="2" charset="-122"/>
                <a:sym typeface="+mn-ea"/>
              </a:rPr>
              <a:t>NameNode</a:t>
            </a:r>
            <a:r>
              <a:rPr lang="zh-CN" altLang="en-US" dirty="0">
                <a:ea typeface="宋体" panose="02010600030101010101" pitchFamily="2" charset="-122"/>
                <a:sym typeface="+mn-ea"/>
              </a:rPr>
              <a:t>）</a:t>
            </a:r>
          </a:p>
          <a:p>
            <a:pPr lvl="2"/>
            <a:r>
              <a:rPr lang="en-US" altLang="zh-CN" dirty="0" err="1">
                <a:ea typeface="宋体" panose="02010600030101010101" pitchFamily="2" charset="-122"/>
                <a:sym typeface="+mn-ea"/>
              </a:rPr>
              <a:t>ZKFailoverController</a:t>
            </a:r>
            <a:r>
              <a:rPr lang="zh-CN" altLang="en-US" dirty="0">
                <a:ea typeface="宋体" panose="02010600030101010101" pitchFamily="2" charset="-122"/>
                <a:sym typeface="+mn-ea"/>
              </a:rPr>
              <a:t>进程</a:t>
            </a:r>
          </a:p>
          <a:p>
            <a:pPr lvl="3"/>
            <a:r>
              <a:rPr lang="zh-CN" altLang="en-US" dirty="0">
                <a:ea typeface="宋体" panose="02010600030101010101" pitchFamily="2" charset="-122"/>
                <a:sym typeface="+mn-ea"/>
              </a:rPr>
              <a:t>独立进程，相当于</a:t>
            </a:r>
            <a:r>
              <a:rPr lang="en-US" altLang="zh-CN" dirty="0" err="1">
                <a:ea typeface="宋体" panose="02010600030101010101" pitchFamily="2" charset="-122"/>
                <a:sym typeface="+mn-ea"/>
              </a:rPr>
              <a:t>ZooKeeper</a:t>
            </a:r>
            <a:r>
              <a:rPr lang="zh-CN" altLang="en-US" dirty="0">
                <a:ea typeface="宋体" panose="02010600030101010101" pitchFamily="2" charset="-122"/>
                <a:sym typeface="+mn-ea"/>
              </a:rPr>
              <a:t>客户端，负责监视和管理</a:t>
            </a:r>
            <a:r>
              <a:rPr lang="en-US" altLang="zh-CN" dirty="0" err="1">
                <a:ea typeface="宋体" panose="02010600030101010101" pitchFamily="2" charset="-122"/>
                <a:sym typeface="+mn-ea"/>
              </a:rPr>
              <a:t>NameNode</a:t>
            </a:r>
            <a:r>
              <a:rPr lang="zh-CN" altLang="en-US" dirty="0">
                <a:ea typeface="宋体" panose="02010600030101010101" pitchFamily="2" charset="-122"/>
                <a:sym typeface="+mn-ea"/>
              </a:rPr>
              <a:t>的状态，对</a:t>
            </a:r>
            <a:r>
              <a:rPr lang="en-US" altLang="zh-CN" dirty="0" err="1">
                <a:ea typeface="宋体" panose="02010600030101010101" pitchFamily="2" charset="-122"/>
                <a:sym typeface="+mn-ea"/>
              </a:rPr>
              <a:t>NameNode</a:t>
            </a:r>
            <a:r>
              <a:rPr lang="zh-CN" altLang="en-US" dirty="0">
                <a:ea typeface="宋体" panose="02010600030101010101" pitchFamily="2" charset="-122"/>
                <a:sym typeface="+mn-ea"/>
              </a:rPr>
              <a:t>的主</a:t>
            </a:r>
            <a:r>
              <a:rPr lang="en-US" altLang="zh-CN" dirty="0">
                <a:ea typeface="宋体" panose="02010600030101010101" pitchFamily="2" charset="-122"/>
                <a:sym typeface="+mn-ea"/>
              </a:rPr>
              <a:t>/</a:t>
            </a:r>
            <a:r>
              <a:rPr lang="zh-CN" altLang="en-US" dirty="0">
                <a:ea typeface="宋体" panose="02010600030101010101" pitchFamily="2" charset="-122"/>
                <a:sym typeface="+mn-ea"/>
              </a:rPr>
              <a:t>备</a:t>
            </a:r>
            <a:r>
              <a:rPr lang="zh-CN" altLang="en-US" dirty="0" smtClean="0">
                <a:ea typeface="宋体" panose="02010600030101010101" pitchFamily="2" charset="-122"/>
                <a:sym typeface="+mn-ea"/>
              </a:rPr>
              <a:t>切换进行</a:t>
            </a:r>
            <a:r>
              <a:rPr lang="zh-CN" altLang="en-US" dirty="0">
                <a:ea typeface="宋体" panose="02010600030101010101" pitchFamily="2" charset="-122"/>
                <a:sym typeface="+mn-ea"/>
              </a:rPr>
              <a:t>总体控制</a:t>
            </a:r>
          </a:p>
          <a:p>
            <a:pPr lvl="3"/>
            <a:r>
              <a:rPr lang="zh-CN" altLang="en-US" dirty="0">
                <a:ea typeface="宋体" panose="02010600030101010101" pitchFamily="2" charset="-122"/>
                <a:sym typeface="+mn-ea"/>
              </a:rPr>
              <a:t>每个</a:t>
            </a:r>
            <a:r>
              <a:rPr lang="en-US" altLang="zh-CN" dirty="0" err="1">
                <a:ea typeface="宋体" panose="02010600030101010101" pitchFamily="2" charset="-122"/>
                <a:sym typeface="+mn-ea"/>
              </a:rPr>
              <a:t>NameNode</a:t>
            </a:r>
            <a:r>
              <a:rPr lang="zh-CN" altLang="en-US" dirty="0">
                <a:ea typeface="宋体" panose="02010600030101010101" pitchFamily="2" charset="-122"/>
                <a:sym typeface="+mn-ea"/>
              </a:rPr>
              <a:t>都会运行一个</a:t>
            </a:r>
            <a:r>
              <a:rPr lang="en-US" altLang="zh-CN" dirty="0">
                <a:ea typeface="宋体" panose="02010600030101010101" pitchFamily="2" charset="-122"/>
                <a:sym typeface="+mn-ea"/>
              </a:rPr>
              <a:t>ZKFC</a:t>
            </a:r>
            <a:r>
              <a:rPr lang="zh-CN" altLang="en-US" dirty="0">
                <a:ea typeface="宋体" panose="02010600030101010101" pitchFamily="2" charset="-122"/>
                <a:sym typeface="+mn-ea"/>
              </a:rPr>
              <a:t>，负责定期检测本地</a:t>
            </a:r>
            <a:r>
              <a:rPr lang="en-US" altLang="zh-CN" dirty="0" err="1">
                <a:ea typeface="宋体" panose="02010600030101010101" pitchFamily="2" charset="-122"/>
                <a:sym typeface="+mn-ea"/>
              </a:rPr>
              <a:t>NameNode</a:t>
            </a:r>
            <a:r>
              <a:rPr lang="zh-CN" altLang="en-US" dirty="0">
                <a:ea typeface="宋体" panose="02010600030101010101" pitchFamily="2" charset="-122"/>
                <a:sym typeface="+mn-ea"/>
              </a:rPr>
              <a:t>的健康状态，一旦发现问题，及时通知</a:t>
            </a:r>
            <a:r>
              <a:rPr lang="en-US" altLang="zh-CN" dirty="0" err="1">
                <a:ea typeface="宋体" panose="02010600030101010101" pitchFamily="2" charset="-122"/>
                <a:sym typeface="+mn-ea"/>
              </a:rPr>
              <a:t>ZooKeeper</a:t>
            </a:r>
            <a:endParaRPr lang="zh-CN" altLang="en-US" dirty="0">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4.4.1 HDFS HA</a:t>
            </a:r>
            <a:endParaRPr lang="zh-CN" altLang="en-US"/>
          </a:p>
        </p:txBody>
      </p:sp>
      <p:sp>
        <p:nvSpPr>
          <p:cNvPr id="3" name="内容占位符 2"/>
          <p:cNvSpPr>
            <a:spLocks noGrp="1"/>
          </p:cNvSpPr>
          <p:nvPr>
            <p:ph idx="1"/>
          </p:nvPr>
        </p:nvSpPr>
        <p:spPr/>
        <p:txBody>
          <a:bodyPr/>
          <a:lstStyle/>
          <a:p>
            <a:r>
              <a:rPr lang="en-US" altLang="zh-CN"/>
              <a:t>HDFS</a:t>
            </a:r>
            <a:r>
              <a:rPr lang="zh-CN" altLang="en-US">
                <a:ea typeface="宋体" panose="02010600030101010101" pitchFamily="2" charset="-122"/>
              </a:rPr>
              <a:t>结合</a:t>
            </a:r>
            <a:r>
              <a:rPr lang="en-US" altLang="zh-CN">
                <a:ea typeface="宋体" panose="02010600030101010101" pitchFamily="2" charset="-122"/>
              </a:rPr>
              <a:t>ZooKeeper</a:t>
            </a:r>
            <a:r>
              <a:rPr lang="zh-CN" altLang="en-US">
                <a:ea typeface="宋体" panose="02010600030101010101" pitchFamily="2" charset="-122"/>
              </a:rPr>
              <a:t>自动故障转移架构</a:t>
            </a:r>
          </a:p>
        </p:txBody>
      </p:sp>
      <p:pic>
        <p:nvPicPr>
          <p:cNvPr id="4" name="图片 3" descr="微信图片_20200407130928"/>
          <p:cNvPicPr>
            <a:picLocks noChangeAspect="1"/>
          </p:cNvPicPr>
          <p:nvPr/>
        </p:nvPicPr>
        <p:blipFill>
          <a:blip r:embed="rId2"/>
          <a:stretch>
            <a:fillRect/>
          </a:stretch>
        </p:blipFill>
        <p:spPr>
          <a:xfrm>
            <a:off x="1264920" y="2075815"/>
            <a:ext cx="6059170" cy="4027805"/>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dirty="0">
                <a:sym typeface="+mn-ea"/>
              </a:rPr>
              <a:t>4.4.1 HDFS HA</a:t>
            </a:r>
            <a:endParaRPr lang="en-US" altLang="zh-CN" dirty="0"/>
          </a:p>
        </p:txBody>
      </p:sp>
      <p:sp>
        <p:nvSpPr>
          <p:cNvPr id="3" name="内容占位符 2"/>
          <p:cNvSpPr>
            <a:spLocks noGrp="1"/>
          </p:cNvSpPr>
          <p:nvPr>
            <p:ph idx="1"/>
          </p:nvPr>
        </p:nvSpPr>
        <p:spPr/>
        <p:txBody>
          <a:bodyPr/>
          <a:lstStyle/>
          <a:p>
            <a:r>
              <a:rPr lang="en-US" altLang="zh-CN">
                <a:ea typeface="宋体" panose="02010600030101010101" pitchFamily="2" charset="-122"/>
              </a:rPr>
              <a:t>HDFS HA</a:t>
            </a:r>
            <a:r>
              <a:rPr lang="zh-CN" altLang="en-US">
                <a:ea typeface="宋体" panose="02010600030101010101" pitchFamily="2" charset="-122"/>
              </a:rPr>
              <a:t>集群角色分配</a:t>
            </a:r>
          </a:p>
          <a:p>
            <a:pPr lvl="1"/>
            <a:endParaRPr lang="zh-CN" altLang="en-US">
              <a:ea typeface="宋体" panose="02010600030101010101" pitchFamily="2" charset="-122"/>
            </a:endParaRPr>
          </a:p>
        </p:txBody>
      </p:sp>
      <p:pic>
        <p:nvPicPr>
          <p:cNvPr id="4" name="图片 3" descr="无标题"/>
          <p:cNvPicPr>
            <a:picLocks noChangeAspect="1"/>
          </p:cNvPicPr>
          <p:nvPr/>
        </p:nvPicPr>
        <p:blipFill>
          <a:blip r:embed="rId2"/>
          <a:stretch>
            <a:fillRect/>
          </a:stretch>
        </p:blipFill>
        <p:spPr>
          <a:xfrm>
            <a:off x="1297305" y="1977390"/>
            <a:ext cx="5588635" cy="4301490"/>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4.4.1 HDFS HA</a:t>
            </a:r>
            <a:endParaRPr lang="zh-CN" altLang="en-US" dirty="0"/>
          </a:p>
        </p:txBody>
      </p:sp>
      <p:sp>
        <p:nvSpPr>
          <p:cNvPr id="3" name="内容占位符 2"/>
          <p:cNvSpPr>
            <a:spLocks noGrp="1"/>
          </p:cNvSpPr>
          <p:nvPr>
            <p:ph idx="1"/>
          </p:nvPr>
        </p:nvSpPr>
        <p:spPr/>
        <p:txBody>
          <a:bodyPr/>
          <a:lstStyle/>
          <a:p>
            <a:r>
              <a:rPr lang="zh-CN" altLang="en-US" dirty="0"/>
              <a:t>主要配置参数</a:t>
            </a:r>
            <a:endParaRPr lang="en-US" altLang="zh-CN" dirty="0"/>
          </a:p>
          <a:p>
            <a:pPr lvl="1"/>
            <a:r>
              <a:rPr lang="en-US" altLang="zh-CN" dirty="0"/>
              <a:t>hdfs-site.xml</a:t>
            </a:r>
          </a:p>
          <a:p>
            <a:pPr lvl="1"/>
            <a:endParaRPr lang="zh-CN" altLang="en-US" dirty="0"/>
          </a:p>
        </p:txBody>
      </p:sp>
      <p:pic>
        <p:nvPicPr>
          <p:cNvPr id="5" name="图片 4" descr="屏幕截图(70)"/>
          <p:cNvPicPr>
            <a:picLocks noChangeAspect="1"/>
          </p:cNvPicPr>
          <p:nvPr/>
        </p:nvPicPr>
        <p:blipFill>
          <a:blip r:embed="rId2"/>
          <a:stretch>
            <a:fillRect/>
          </a:stretch>
        </p:blipFill>
        <p:spPr>
          <a:xfrm>
            <a:off x="922769" y="2400471"/>
            <a:ext cx="6968262" cy="2895258"/>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4.4.1 HDFS HA</a:t>
            </a:r>
            <a:endParaRPr lang="zh-CN" altLang="en-US" dirty="0"/>
          </a:p>
        </p:txBody>
      </p:sp>
      <p:sp>
        <p:nvSpPr>
          <p:cNvPr id="3" name="内容占位符 2"/>
          <p:cNvSpPr>
            <a:spLocks noGrp="1"/>
          </p:cNvSpPr>
          <p:nvPr>
            <p:ph idx="1"/>
          </p:nvPr>
        </p:nvSpPr>
        <p:spPr/>
        <p:txBody>
          <a:bodyPr/>
          <a:lstStyle/>
          <a:p>
            <a:r>
              <a:rPr lang="zh-CN" altLang="en-US" dirty="0"/>
              <a:t>主要配置参数</a:t>
            </a:r>
            <a:endParaRPr lang="en-US" altLang="zh-CN" dirty="0"/>
          </a:p>
          <a:p>
            <a:pPr lvl="1"/>
            <a:r>
              <a:rPr lang="en-US" altLang="zh-CN" dirty="0"/>
              <a:t>core-site.xml</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2332965"/>
            <a:ext cx="4896544" cy="4120371"/>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4.4.1 HDFS HA</a:t>
            </a:r>
            <a:endParaRPr lang="zh-CN" altLang="en-US" dirty="0"/>
          </a:p>
        </p:txBody>
      </p:sp>
      <p:sp>
        <p:nvSpPr>
          <p:cNvPr id="3" name="内容占位符 2"/>
          <p:cNvSpPr>
            <a:spLocks noGrp="1"/>
          </p:cNvSpPr>
          <p:nvPr>
            <p:ph idx="1"/>
          </p:nvPr>
        </p:nvSpPr>
        <p:spPr/>
        <p:txBody>
          <a:bodyPr>
            <a:normAutofit fontScale="70000" lnSpcReduction="20000"/>
          </a:bodyPr>
          <a:lstStyle/>
          <a:p>
            <a:r>
              <a:rPr lang="zh-CN" altLang="en-US" dirty="0"/>
              <a:t>第一次启动</a:t>
            </a:r>
            <a:endParaRPr lang="en-US" altLang="zh-CN" dirty="0"/>
          </a:p>
          <a:p>
            <a:pPr lvl="1"/>
            <a:r>
              <a:rPr lang="zh-CN" altLang="en-US" sz="2900" dirty="0">
                <a:solidFill>
                  <a:srgbClr val="FF0000"/>
                </a:solidFill>
              </a:rPr>
              <a:t>启动</a:t>
            </a:r>
            <a:r>
              <a:rPr lang="en-US" altLang="zh-CN" sz="2900" dirty="0" err="1">
                <a:solidFill>
                  <a:srgbClr val="FF0000"/>
                </a:solidFill>
              </a:rPr>
              <a:t>ZooKeeper</a:t>
            </a:r>
            <a:r>
              <a:rPr lang="zh-CN" altLang="en-US" sz="2900" dirty="0">
                <a:solidFill>
                  <a:srgbClr val="FF0000"/>
                </a:solidFill>
              </a:rPr>
              <a:t>集群</a:t>
            </a:r>
            <a:endParaRPr lang="en-US" altLang="zh-CN" sz="2900" dirty="0">
              <a:solidFill>
                <a:srgbClr val="FF0000"/>
              </a:solidFill>
            </a:endParaRPr>
          </a:p>
          <a:p>
            <a:pPr lvl="2"/>
            <a:r>
              <a:rPr lang="en-US" altLang="zh-CN" dirty="0" smtClean="0"/>
              <a:t>zkServer.sh start</a:t>
            </a:r>
            <a:r>
              <a:rPr lang="zh-CN" altLang="en-US" dirty="0" smtClean="0">
                <a:ea typeface="宋体" panose="02010600030101010101" pitchFamily="2" charset="-122"/>
              </a:rPr>
              <a:t>（每个节点）</a:t>
            </a:r>
            <a:endParaRPr lang="en-US" altLang="zh-CN" dirty="0"/>
          </a:p>
          <a:p>
            <a:pPr lvl="1"/>
            <a:r>
              <a:rPr lang="zh-CN" altLang="en-US" dirty="0">
                <a:solidFill>
                  <a:srgbClr val="FF0000"/>
                </a:solidFill>
              </a:rPr>
              <a:t>启动</a:t>
            </a:r>
            <a:r>
              <a:rPr lang="en-US" altLang="zh-CN" dirty="0" err="1">
                <a:solidFill>
                  <a:srgbClr val="FF0000"/>
                </a:solidFill>
              </a:rPr>
              <a:t>JournalNode</a:t>
            </a:r>
            <a:r>
              <a:rPr lang="zh-CN" altLang="en-US" dirty="0" smtClean="0">
                <a:solidFill>
                  <a:srgbClr val="FF0000"/>
                </a:solidFill>
              </a:rPr>
              <a:t>进程</a:t>
            </a:r>
            <a:endParaRPr lang="en-US" altLang="zh-CN" dirty="0" smtClean="0">
              <a:solidFill>
                <a:srgbClr val="FF0000"/>
              </a:solidFill>
            </a:endParaRPr>
          </a:p>
          <a:p>
            <a:pPr lvl="2"/>
            <a:r>
              <a:rPr lang="en-US" altLang="zh-CN" dirty="0" smtClean="0">
                <a:solidFill>
                  <a:schemeClr val="tx1"/>
                </a:solidFill>
              </a:rPr>
              <a:t>hadoop-daemon.sh start </a:t>
            </a:r>
            <a:r>
              <a:rPr lang="en-US" altLang="zh-CN" dirty="0" err="1" smtClean="0">
                <a:solidFill>
                  <a:schemeClr val="tx1"/>
                </a:solidFill>
              </a:rPr>
              <a:t>journalnode</a:t>
            </a:r>
            <a:r>
              <a:rPr lang="zh-CN" altLang="en-US" dirty="0" err="1" smtClean="0">
                <a:solidFill>
                  <a:schemeClr val="tx1"/>
                </a:solidFill>
                <a:ea typeface="宋体" panose="02010600030101010101" pitchFamily="2" charset="-122"/>
              </a:rPr>
              <a:t>（每个节点）</a:t>
            </a:r>
            <a:endParaRPr lang="en-US" altLang="zh-CN" dirty="0">
              <a:solidFill>
                <a:schemeClr val="tx1"/>
              </a:solidFill>
            </a:endParaRPr>
          </a:p>
          <a:p>
            <a:pPr lvl="1"/>
            <a:r>
              <a:rPr lang="zh-CN" altLang="en-US" dirty="0">
                <a:solidFill>
                  <a:srgbClr val="FF0000"/>
                </a:solidFill>
              </a:rPr>
              <a:t>格式化活动</a:t>
            </a:r>
            <a:r>
              <a:rPr lang="en-US" altLang="zh-CN" dirty="0" err="1" smtClean="0">
                <a:solidFill>
                  <a:srgbClr val="FF0000"/>
                </a:solidFill>
              </a:rPr>
              <a:t>NameNode</a:t>
            </a:r>
            <a:endParaRPr lang="en-US" altLang="zh-CN" dirty="0" smtClean="0">
              <a:solidFill>
                <a:srgbClr val="FF0000"/>
              </a:solidFill>
            </a:endParaRPr>
          </a:p>
          <a:p>
            <a:pPr lvl="2"/>
            <a:r>
              <a:rPr lang="en-US" altLang="zh-CN" dirty="0" err="1" smtClean="0">
                <a:solidFill>
                  <a:schemeClr val="tx1"/>
                </a:solidFill>
              </a:rPr>
              <a:t>hdfs</a:t>
            </a:r>
            <a:r>
              <a:rPr lang="en-US" altLang="zh-CN" dirty="0" smtClean="0">
                <a:solidFill>
                  <a:schemeClr val="tx1"/>
                </a:solidFill>
              </a:rPr>
              <a:t> </a:t>
            </a:r>
            <a:r>
              <a:rPr lang="en-US" altLang="zh-CN" dirty="0" err="1" smtClean="0">
                <a:solidFill>
                  <a:schemeClr val="tx1"/>
                </a:solidFill>
              </a:rPr>
              <a:t>namenode</a:t>
            </a:r>
            <a:r>
              <a:rPr lang="en-US" altLang="zh-CN" dirty="0" smtClean="0">
                <a:solidFill>
                  <a:schemeClr val="tx1"/>
                </a:solidFill>
              </a:rPr>
              <a:t> -format</a:t>
            </a:r>
            <a:endParaRPr lang="en-US" altLang="zh-CN" dirty="0">
              <a:solidFill>
                <a:schemeClr val="tx1"/>
              </a:solidFill>
            </a:endParaRPr>
          </a:p>
          <a:p>
            <a:pPr lvl="1"/>
            <a:r>
              <a:rPr lang="zh-CN" altLang="en-US" dirty="0">
                <a:solidFill>
                  <a:srgbClr val="FF0000"/>
                </a:solidFill>
              </a:rPr>
              <a:t>复制元数据到备用</a:t>
            </a:r>
            <a:r>
              <a:rPr lang="en-US" altLang="zh-CN" dirty="0" err="1">
                <a:solidFill>
                  <a:srgbClr val="FF0000"/>
                </a:solidFill>
              </a:rPr>
              <a:t>NameNode</a:t>
            </a:r>
            <a:endParaRPr lang="en-US" altLang="zh-CN" dirty="0">
              <a:solidFill>
                <a:srgbClr val="FF0000"/>
              </a:solidFill>
            </a:endParaRPr>
          </a:p>
          <a:p>
            <a:pPr lvl="2"/>
            <a:r>
              <a:rPr lang="en-US" altLang="zh-CN" dirty="0" smtClean="0"/>
              <a:t>hadoop-daemon.sh start </a:t>
            </a:r>
            <a:r>
              <a:rPr lang="en-US" altLang="zh-CN" dirty="0" err="1" smtClean="0"/>
              <a:t>namenode</a:t>
            </a:r>
            <a:r>
              <a:rPr lang="en-US" altLang="zh-CN" dirty="0" smtClean="0"/>
              <a:t>(</a:t>
            </a:r>
            <a:r>
              <a:rPr lang="zh-CN" altLang="en-US" dirty="0" smtClean="0"/>
              <a:t>启动</a:t>
            </a:r>
            <a:r>
              <a:rPr lang="zh-CN" altLang="en-US" dirty="0">
                <a:solidFill>
                  <a:srgbClr val="FF0000"/>
                </a:solidFill>
              </a:rPr>
              <a:t>活动</a:t>
            </a:r>
            <a:r>
              <a:rPr lang="en-US" altLang="zh-CN" dirty="0" err="1" smtClean="0">
                <a:solidFill>
                  <a:srgbClr val="FF0000"/>
                </a:solidFill>
              </a:rPr>
              <a:t>NameNode</a:t>
            </a:r>
            <a:r>
              <a:rPr lang="en-US" altLang="zh-CN" dirty="0" smtClean="0"/>
              <a:t>)</a:t>
            </a:r>
          </a:p>
          <a:p>
            <a:pPr lvl="2"/>
            <a:r>
              <a:rPr lang="en-US" altLang="zh-CN" dirty="0" err="1" smtClean="0"/>
              <a:t>hdfs</a:t>
            </a:r>
            <a:r>
              <a:rPr lang="en-US" altLang="zh-CN" dirty="0" smtClean="0"/>
              <a:t> </a:t>
            </a:r>
            <a:r>
              <a:rPr lang="en-US" altLang="zh-CN" dirty="0" err="1" smtClean="0"/>
              <a:t>namenode</a:t>
            </a:r>
            <a:r>
              <a:rPr lang="en-US" altLang="zh-CN" dirty="0" smtClean="0"/>
              <a:t> -</a:t>
            </a:r>
            <a:r>
              <a:rPr lang="en-US" altLang="zh-CN" dirty="0" err="1" smtClean="0"/>
              <a:t>bootstrapStandby</a:t>
            </a:r>
            <a:endParaRPr lang="en-US" altLang="zh-CN" dirty="0"/>
          </a:p>
          <a:p>
            <a:pPr lvl="1"/>
            <a:r>
              <a:rPr lang="zh-CN" altLang="en-US" dirty="0">
                <a:solidFill>
                  <a:srgbClr val="FF0000"/>
                </a:solidFill>
              </a:rPr>
              <a:t>初始化</a:t>
            </a:r>
            <a:r>
              <a:rPr lang="en-US" altLang="zh-CN" dirty="0">
                <a:solidFill>
                  <a:srgbClr val="FF0000"/>
                </a:solidFill>
              </a:rPr>
              <a:t>HA</a:t>
            </a:r>
            <a:r>
              <a:rPr lang="zh-CN" altLang="en-US" dirty="0">
                <a:solidFill>
                  <a:srgbClr val="FF0000"/>
                </a:solidFill>
              </a:rPr>
              <a:t>在</a:t>
            </a:r>
            <a:r>
              <a:rPr lang="en-US" altLang="zh-CN" dirty="0" err="1">
                <a:solidFill>
                  <a:srgbClr val="FF0000"/>
                </a:solidFill>
              </a:rPr>
              <a:t>ZooKeeper</a:t>
            </a:r>
            <a:r>
              <a:rPr lang="zh-CN" altLang="en-US" dirty="0">
                <a:solidFill>
                  <a:srgbClr val="FF0000"/>
                </a:solidFill>
              </a:rPr>
              <a:t>中状态</a:t>
            </a:r>
          </a:p>
          <a:p>
            <a:pPr lvl="2"/>
            <a:r>
              <a:rPr lang="en-US" altLang="zh-CN" dirty="0" err="1" smtClean="0"/>
              <a:t>stop-dfs.sh</a:t>
            </a:r>
          </a:p>
          <a:p>
            <a:pPr lvl="2"/>
            <a:r>
              <a:rPr lang="en-US" altLang="zh-CN" dirty="0" err="1" smtClean="0"/>
              <a:t>hdfs</a:t>
            </a:r>
            <a:r>
              <a:rPr lang="en-US" altLang="zh-CN" dirty="0" smtClean="0"/>
              <a:t> </a:t>
            </a:r>
            <a:r>
              <a:rPr lang="en-US" altLang="zh-CN" dirty="0" err="1" smtClean="0"/>
              <a:t>zkfc</a:t>
            </a:r>
            <a:r>
              <a:rPr lang="en-US" altLang="zh-CN" dirty="0" smtClean="0"/>
              <a:t> -</a:t>
            </a:r>
            <a:r>
              <a:rPr lang="en-US" altLang="zh-CN" dirty="0" err="1" smtClean="0"/>
              <a:t>formatZK</a:t>
            </a:r>
            <a:endParaRPr lang="en-US" altLang="zh-CN" dirty="0" smtClean="0"/>
          </a:p>
          <a:p>
            <a:pPr lvl="1"/>
            <a:r>
              <a:rPr lang="zh-CN" altLang="en-US" sz="2900" dirty="0">
                <a:solidFill>
                  <a:srgbClr val="FF0000"/>
                </a:solidFill>
              </a:rPr>
              <a:t>启动</a:t>
            </a:r>
            <a:r>
              <a:rPr lang="en-US" altLang="zh-CN" sz="2900" dirty="0">
                <a:solidFill>
                  <a:srgbClr val="FF0000"/>
                </a:solidFill>
              </a:rPr>
              <a:t>HDFS</a:t>
            </a:r>
            <a:r>
              <a:rPr lang="zh-CN" altLang="en-US" sz="2900" dirty="0">
                <a:solidFill>
                  <a:srgbClr val="FF0000"/>
                </a:solidFill>
              </a:rPr>
              <a:t>集群</a:t>
            </a:r>
            <a:endParaRPr lang="en-US" altLang="zh-CN" sz="2900" dirty="0">
              <a:solidFill>
                <a:srgbClr val="FF0000"/>
              </a:solidFill>
            </a:endParaRPr>
          </a:p>
          <a:p>
            <a:pPr lvl="2"/>
            <a:r>
              <a:rPr lang="en-US" altLang="zh-CN" dirty="0" smtClean="0"/>
              <a:t>start-dfs.sh</a:t>
            </a:r>
            <a:endParaRPr lang="en-US" altLang="zh-CN" dirty="0"/>
          </a:p>
          <a:p>
            <a:pPr lvl="1"/>
            <a:r>
              <a:rPr lang="zh-CN" altLang="en-US" sz="2900" dirty="0">
                <a:solidFill>
                  <a:srgbClr val="FF0000"/>
                </a:solidFill>
              </a:rPr>
              <a:t>启动</a:t>
            </a:r>
            <a:r>
              <a:rPr lang="en-US" altLang="zh-CN" sz="2900" dirty="0">
                <a:solidFill>
                  <a:srgbClr val="FF0000"/>
                </a:solidFill>
              </a:rPr>
              <a:t>ZKFC</a:t>
            </a:r>
            <a:r>
              <a:rPr lang="zh-CN" altLang="en-US" sz="2900" dirty="0">
                <a:solidFill>
                  <a:srgbClr val="FF0000"/>
                </a:solidFill>
              </a:rPr>
              <a:t>守护进程</a:t>
            </a:r>
            <a:endParaRPr lang="en-US" altLang="zh-CN" sz="2900" dirty="0">
              <a:solidFill>
                <a:srgbClr val="FF0000"/>
              </a:solidFill>
            </a:endParaRPr>
          </a:p>
          <a:p>
            <a:pPr lvl="2"/>
            <a:r>
              <a:rPr lang="en-US" altLang="zh-CN" dirty="0" smtClean="0"/>
              <a:t>hadoop-daemon.sh start </a:t>
            </a:r>
            <a:r>
              <a:rPr lang="en-US" altLang="zh-CN" dirty="0" err="1" smtClean="0"/>
              <a:t>zkfc</a:t>
            </a:r>
            <a:endParaRPr lang="zh-CN" altLang="en-US" dirty="0"/>
          </a:p>
          <a:p>
            <a:pPr lvl="1"/>
            <a:endParaRPr lang="en-US" altLang="zh-CN" dirty="0"/>
          </a:p>
          <a:p>
            <a:pPr lvl="1"/>
            <a:endParaRPr lang="en-US" altLang="zh-CN"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4.4.1 HDFS HA</a:t>
            </a:r>
            <a:endParaRPr lang="zh-CN" altLang="en-US" dirty="0"/>
          </a:p>
        </p:txBody>
      </p:sp>
      <p:sp>
        <p:nvSpPr>
          <p:cNvPr id="3" name="内容占位符 2"/>
          <p:cNvSpPr>
            <a:spLocks noGrp="1"/>
          </p:cNvSpPr>
          <p:nvPr>
            <p:ph idx="1"/>
          </p:nvPr>
        </p:nvSpPr>
        <p:spPr/>
        <p:txBody>
          <a:bodyPr>
            <a:normAutofit/>
          </a:bodyPr>
          <a:lstStyle/>
          <a:p>
            <a:r>
              <a:rPr lang="zh-CN" altLang="en-US" dirty="0" smtClean="0"/>
              <a:t>正常启动</a:t>
            </a:r>
            <a:endParaRPr lang="en-US" altLang="zh-CN" dirty="0"/>
          </a:p>
          <a:p>
            <a:pPr lvl="1"/>
            <a:r>
              <a:rPr lang="zh-CN" altLang="en-US" dirty="0"/>
              <a:t>启动</a:t>
            </a:r>
            <a:r>
              <a:rPr lang="en-US" altLang="zh-CN" dirty="0" err="1"/>
              <a:t>ZooKeeper</a:t>
            </a:r>
            <a:r>
              <a:rPr lang="zh-CN" altLang="en-US" dirty="0"/>
              <a:t>集群</a:t>
            </a:r>
            <a:endParaRPr lang="en-US" altLang="zh-CN" dirty="0"/>
          </a:p>
          <a:p>
            <a:pPr lvl="1"/>
            <a:r>
              <a:rPr lang="zh-CN" altLang="en-US" dirty="0"/>
              <a:t>启动</a:t>
            </a:r>
            <a:r>
              <a:rPr lang="en-US" altLang="zh-CN" dirty="0"/>
              <a:t>HDFS</a:t>
            </a:r>
            <a:r>
              <a:rPr lang="zh-CN" altLang="en-US" dirty="0"/>
              <a:t>集群</a:t>
            </a:r>
            <a:endParaRPr lang="en-US" altLang="zh-CN" dirty="0"/>
          </a:p>
          <a:p>
            <a:pPr lvl="1"/>
            <a:r>
              <a:rPr lang="zh-CN" altLang="en-US" dirty="0"/>
              <a:t>启动</a:t>
            </a:r>
            <a:r>
              <a:rPr lang="en-US" altLang="zh-CN" dirty="0"/>
              <a:t>ZKFC</a:t>
            </a:r>
            <a:r>
              <a:rPr lang="zh-CN" altLang="en-US" dirty="0"/>
              <a:t>守护进程</a:t>
            </a:r>
          </a:p>
          <a:p>
            <a:pPr lvl="1"/>
            <a:endParaRPr lang="en-US" altLang="zh-CN" dirty="0"/>
          </a:p>
          <a:p>
            <a:pPr lvl="1"/>
            <a:endParaRPr lang="en-US" altLang="zh-CN"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4.4.2 YARN HA</a:t>
            </a:r>
            <a:endParaRPr lang="zh-CN" altLang="en-US" dirty="0"/>
          </a:p>
        </p:txBody>
      </p:sp>
      <p:sp>
        <p:nvSpPr>
          <p:cNvPr id="3" name="内容占位符 2"/>
          <p:cNvSpPr>
            <a:spLocks noGrp="1"/>
          </p:cNvSpPr>
          <p:nvPr>
            <p:ph idx="1"/>
          </p:nvPr>
        </p:nvSpPr>
        <p:spPr/>
        <p:txBody>
          <a:bodyPr/>
          <a:lstStyle/>
          <a:p>
            <a:r>
              <a:rPr lang="zh-CN" altLang="en-US" dirty="0"/>
              <a:t>在</a:t>
            </a:r>
            <a:r>
              <a:rPr lang="en-US" altLang="zh-CN" dirty="0"/>
              <a:t>Hadoop 2.4</a:t>
            </a:r>
            <a:r>
              <a:rPr lang="zh-CN" altLang="en-US" dirty="0"/>
              <a:t>之前，</a:t>
            </a:r>
            <a:r>
              <a:rPr lang="en-US" altLang="zh-CN" dirty="0"/>
              <a:t>Hadoop</a:t>
            </a:r>
            <a:r>
              <a:rPr lang="zh-CN" altLang="en-US" dirty="0"/>
              <a:t>集群只有一个</a:t>
            </a:r>
            <a:r>
              <a:rPr lang="en-US" altLang="zh-CN" dirty="0" err="1"/>
              <a:t>ResourceManager</a:t>
            </a:r>
            <a:r>
              <a:rPr lang="zh-CN" altLang="en-US" dirty="0"/>
              <a:t>，当</a:t>
            </a:r>
            <a:r>
              <a:rPr lang="en-US" altLang="zh-CN" dirty="0" err="1"/>
              <a:t>ResourceManager</a:t>
            </a:r>
            <a:r>
              <a:rPr lang="zh-CN" altLang="en-US" dirty="0"/>
              <a:t>出现故障，将影响整个集群</a:t>
            </a:r>
            <a:endParaRPr lang="en-US" altLang="zh-CN" dirty="0"/>
          </a:p>
          <a:p>
            <a:r>
              <a:rPr lang="en-US" altLang="zh-CN" dirty="0"/>
              <a:t>YARN HA</a:t>
            </a:r>
            <a:r>
              <a:rPr lang="zh-CN" altLang="en-US" dirty="0"/>
              <a:t>增加了冗余，即一个活动</a:t>
            </a:r>
            <a:r>
              <a:rPr lang="en-US" altLang="zh-CN" dirty="0"/>
              <a:t>/</a:t>
            </a:r>
            <a:r>
              <a:rPr lang="zh-CN" altLang="en-US" dirty="0"/>
              <a:t>备用</a:t>
            </a:r>
            <a:r>
              <a:rPr lang="en-US" altLang="zh-CN" dirty="0" err="1"/>
              <a:t>ResourceManager</a:t>
            </a:r>
            <a:r>
              <a:rPr lang="zh-CN" altLang="en-US" dirty="0"/>
              <a:t>对，以便可以进行故障转移</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4.4.2 YARN HA</a:t>
            </a:r>
            <a:endParaRPr lang="zh-CN" altLang="en-US" dirty="0"/>
          </a:p>
        </p:txBody>
      </p:sp>
      <p:sp>
        <p:nvSpPr>
          <p:cNvPr id="3" name="内容占位符 2"/>
          <p:cNvSpPr>
            <a:spLocks noGrp="1"/>
          </p:cNvSpPr>
          <p:nvPr>
            <p:ph idx="1"/>
          </p:nvPr>
        </p:nvSpPr>
        <p:spPr/>
        <p:txBody>
          <a:bodyPr/>
          <a:lstStyle/>
          <a:p>
            <a:r>
              <a:rPr lang="en-US" altLang="zh-CN" dirty="0"/>
              <a:t>YARN HA</a:t>
            </a:r>
            <a:r>
              <a:rPr lang="zh-CN" altLang="en-US" dirty="0"/>
              <a:t>架构</a:t>
            </a:r>
            <a:endParaRPr lang="en-US" altLang="zh-CN" dirty="0"/>
          </a:p>
          <a:p>
            <a:pPr lvl="1"/>
            <a:r>
              <a:rPr lang="zh-CN" altLang="en-US" dirty="0"/>
              <a:t>与</a:t>
            </a:r>
            <a:r>
              <a:rPr lang="en-US" altLang="zh-CN" dirty="0"/>
              <a:t>HDFS HA</a:t>
            </a:r>
            <a:r>
              <a:rPr lang="zh-CN" altLang="en-US" dirty="0"/>
              <a:t>不同，</a:t>
            </a:r>
            <a:r>
              <a:rPr lang="en-US" altLang="zh-CN" dirty="0"/>
              <a:t> </a:t>
            </a:r>
            <a:r>
              <a:rPr lang="en-US" altLang="zh-CN" dirty="0" err="1"/>
              <a:t>ResourceManager</a:t>
            </a:r>
            <a:r>
              <a:rPr lang="zh-CN" altLang="en-US" dirty="0"/>
              <a:t>中的</a:t>
            </a:r>
            <a:r>
              <a:rPr lang="en-US" altLang="zh-CN" dirty="0"/>
              <a:t>ZKFC</a:t>
            </a:r>
            <a:r>
              <a:rPr lang="zh-CN" altLang="en-US" dirty="0"/>
              <a:t>只是作为</a:t>
            </a:r>
            <a:r>
              <a:rPr lang="en-US" altLang="zh-CN" dirty="0" err="1"/>
              <a:t>ResourceManager</a:t>
            </a:r>
            <a:r>
              <a:rPr lang="zh-CN" altLang="en-US" dirty="0"/>
              <a:t>的一个线程，而不是一个独立的进程</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3284984"/>
            <a:ext cx="5438775" cy="2928938"/>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4.4.2 YARN HA</a:t>
            </a:r>
            <a:endParaRPr lang="zh-CN" altLang="en-US" dirty="0"/>
          </a:p>
        </p:txBody>
      </p:sp>
      <p:sp>
        <p:nvSpPr>
          <p:cNvPr id="3" name="内容占位符 2"/>
          <p:cNvSpPr>
            <a:spLocks noGrp="1"/>
          </p:cNvSpPr>
          <p:nvPr>
            <p:ph idx="1"/>
          </p:nvPr>
        </p:nvSpPr>
        <p:spPr/>
        <p:txBody>
          <a:bodyPr/>
          <a:lstStyle/>
          <a:p>
            <a:r>
              <a:rPr lang="en-US" altLang="zh-CN" dirty="0"/>
              <a:t>YARN HA</a:t>
            </a:r>
            <a:r>
              <a:rPr lang="zh-CN" altLang="en-US" dirty="0"/>
              <a:t>集群角色分配</a:t>
            </a:r>
            <a:endParaRPr lang="en-US" altLang="zh-CN" dirty="0"/>
          </a:p>
        </p:txBody>
      </p:sp>
      <p:pic>
        <p:nvPicPr>
          <p:cNvPr id="4" name="图片 3" descr="微信图片_20200409170538"/>
          <p:cNvPicPr>
            <a:picLocks noChangeAspect="1"/>
          </p:cNvPicPr>
          <p:nvPr/>
        </p:nvPicPr>
        <p:blipFill>
          <a:blip r:embed="rId2"/>
          <a:stretch>
            <a:fillRect/>
          </a:stretch>
        </p:blipFill>
        <p:spPr>
          <a:xfrm>
            <a:off x="789940" y="2119630"/>
            <a:ext cx="6901180" cy="2731135"/>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4.4.2 YARN HA</a:t>
            </a:r>
            <a:endParaRPr lang="zh-CN" altLang="en-US" dirty="0"/>
          </a:p>
        </p:txBody>
      </p:sp>
      <p:sp>
        <p:nvSpPr>
          <p:cNvPr id="5" name="内容占位符 4"/>
          <p:cNvSpPr>
            <a:spLocks noGrp="1"/>
          </p:cNvSpPr>
          <p:nvPr>
            <p:ph idx="1"/>
          </p:nvPr>
        </p:nvSpPr>
        <p:spPr/>
        <p:txBody>
          <a:bodyPr/>
          <a:lstStyle/>
          <a:p>
            <a:r>
              <a:rPr lang="zh-CN" altLang="en-US" dirty="0" smtClean="0"/>
              <a:t>主要配置参数</a:t>
            </a:r>
            <a:endParaRPr lang="en-US" altLang="zh-CN" dirty="0" smtClean="0"/>
          </a:p>
          <a:p>
            <a:pPr lvl="1"/>
            <a:r>
              <a:rPr lang="en-US" altLang="zh-CN" dirty="0" smtClean="0"/>
              <a:t>yarn-site.xml</a:t>
            </a:r>
            <a:endParaRPr lang="zh-CN" altLang="en-US" dirty="0"/>
          </a:p>
        </p:txBody>
      </p:sp>
      <p:pic>
        <p:nvPicPr>
          <p:cNvPr id="6" name="内容占位符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3347864" y="1500787"/>
            <a:ext cx="4896544" cy="469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4.4.2 YARN HA</a:t>
            </a:r>
            <a:endParaRPr lang="zh-CN" altLang="en-US" dirty="0"/>
          </a:p>
        </p:txBody>
      </p:sp>
      <p:sp>
        <p:nvSpPr>
          <p:cNvPr id="3" name="内容占位符 2"/>
          <p:cNvSpPr>
            <a:spLocks noGrp="1"/>
          </p:cNvSpPr>
          <p:nvPr>
            <p:ph idx="1"/>
          </p:nvPr>
        </p:nvSpPr>
        <p:spPr/>
        <p:txBody>
          <a:bodyPr/>
          <a:lstStyle/>
          <a:p>
            <a:r>
              <a:rPr lang="zh-CN" altLang="en-US" dirty="0"/>
              <a:t>启动顺序</a:t>
            </a:r>
            <a:endParaRPr lang="en-US" altLang="zh-CN" dirty="0"/>
          </a:p>
          <a:p>
            <a:pPr lvl="1"/>
            <a:r>
              <a:rPr lang="zh-CN" altLang="en-US" dirty="0"/>
              <a:t>启动</a:t>
            </a:r>
            <a:r>
              <a:rPr lang="en-US" altLang="zh-CN" dirty="0" err="1"/>
              <a:t>ZooKeeper</a:t>
            </a:r>
            <a:r>
              <a:rPr lang="zh-CN" altLang="en-US" dirty="0"/>
              <a:t>集群</a:t>
            </a:r>
            <a:endParaRPr lang="en-US" altLang="zh-CN" dirty="0"/>
          </a:p>
          <a:p>
            <a:pPr lvl="1"/>
            <a:r>
              <a:rPr lang="zh-CN" altLang="en-US" dirty="0"/>
              <a:t>分别在</a:t>
            </a:r>
            <a:r>
              <a:rPr lang="en-US" altLang="zh-CN" dirty="0" err="1"/>
              <a:t>ResourceManager</a:t>
            </a:r>
            <a:r>
              <a:rPr lang="zh-CN" altLang="en-US" dirty="0"/>
              <a:t>节点上启动</a:t>
            </a:r>
            <a:r>
              <a:rPr lang="en-US" altLang="zh-CN" dirty="0"/>
              <a:t>yarn</a:t>
            </a:r>
          </a:p>
          <a:p>
            <a:pPr lvl="2"/>
            <a:r>
              <a:rPr lang="zh-CN" altLang="en-US" sz="2000" dirty="0"/>
              <a:t>也可分别启动</a:t>
            </a:r>
            <a:r>
              <a:rPr lang="en-US" altLang="zh-CN" sz="2000" dirty="0" err="1"/>
              <a:t>ResourceManager</a:t>
            </a:r>
            <a:r>
              <a:rPr lang="zh-CN" altLang="en-US" sz="2000" dirty="0"/>
              <a:t>、</a:t>
            </a:r>
            <a:r>
              <a:rPr lang="en-US" altLang="zh-CN" sz="2000" dirty="0" err="1"/>
              <a:t>NodeManager</a:t>
            </a:r>
            <a:endParaRPr lang="en-US" altLang="zh-CN" sz="20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pPr marL="0" algn="l">
              <a:buSzTx/>
              <a:buNone/>
            </a:pPr>
            <a:r>
              <a:rPr lang="en-US" altLang="zh-CN" dirty="0"/>
              <a:t>4.1 </a:t>
            </a:r>
            <a:r>
              <a:rPr lang="en-US" altLang="zh-CN" dirty="0" err="1"/>
              <a:t>ZooKeeper简介</a:t>
            </a:r>
            <a:endParaRPr lang="en-US" altLang="zh-CN" dirty="0"/>
          </a:p>
          <a:p>
            <a:pPr marL="0" algn="l">
              <a:buSzTx/>
              <a:buNone/>
            </a:pPr>
            <a:r>
              <a:rPr lang="en-US" altLang="zh-CN" dirty="0"/>
              <a:t>4.2 </a:t>
            </a:r>
            <a:r>
              <a:rPr lang="en-US" altLang="zh-CN" dirty="0">
                <a:sym typeface="+mn-ea"/>
              </a:rPr>
              <a:t>ZooKeeper安装配置</a:t>
            </a:r>
          </a:p>
          <a:p>
            <a:pPr marL="0" algn="l">
              <a:buSzTx/>
              <a:buNone/>
            </a:pPr>
            <a:r>
              <a:rPr lang="en-US" altLang="zh-CN" dirty="0"/>
              <a:t>4.3 </a:t>
            </a:r>
            <a:r>
              <a:rPr lang="en-US" altLang="zh-CN" dirty="0">
                <a:sym typeface="+mn-ea"/>
              </a:rPr>
              <a:t>ZooKeeper命令行操作</a:t>
            </a:r>
            <a:endParaRPr lang="en-US" altLang="zh-CN" dirty="0"/>
          </a:p>
          <a:p>
            <a:pPr marL="0" algn="l">
              <a:buSzTx/>
              <a:buNone/>
            </a:pPr>
            <a:r>
              <a:rPr lang="en-US" altLang="zh-CN" dirty="0"/>
              <a:t>4.4 </a:t>
            </a:r>
            <a:r>
              <a:rPr lang="en-US" altLang="zh-CN" dirty="0">
                <a:sym typeface="+mn-ea"/>
              </a:rPr>
              <a:t>HDFS HA与YARN HA</a:t>
            </a:r>
          </a:p>
          <a:p>
            <a:pPr marL="0" indent="0">
              <a:buNone/>
            </a:pPr>
            <a:r>
              <a:rPr lang="en-US" altLang="zh-CN" dirty="0">
                <a:solidFill>
                  <a:srgbClr val="FF0000"/>
                </a:solidFill>
                <a:sym typeface="+mn-ea"/>
              </a:rPr>
              <a:t>4.5 ZooKeeper Java API</a:t>
            </a:r>
            <a:endParaRPr lang="zh-CN" altLang="en-US" dirty="0">
              <a:solidFill>
                <a:srgbClr val="FF0000"/>
              </a:solidFill>
            </a:endParaRPr>
          </a:p>
          <a:p>
            <a:endParaRPr lang="zh-CN" alt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 </a:t>
            </a:r>
            <a:r>
              <a:rPr lang="en-US" altLang="zh-CN" dirty="0" err="1"/>
              <a:t>ZooKeeper</a:t>
            </a:r>
            <a:r>
              <a:rPr lang="en-US" altLang="zh-CN" dirty="0"/>
              <a:t> Java API</a:t>
            </a:r>
            <a:endParaRPr lang="zh-CN" altLang="en-US" dirty="0"/>
          </a:p>
        </p:txBody>
      </p:sp>
      <p:sp>
        <p:nvSpPr>
          <p:cNvPr id="3" name="内容占位符 2"/>
          <p:cNvSpPr>
            <a:spLocks noGrp="1"/>
          </p:cNvSpPr>
          <p:nvPr>
            <p:ph idx="1"/>
          </p:nvPr>
        </p:nvSpPr>
        <p:spPr/>
        <p:txBody>
          <a:bodyPr>
            <a:normAutofit fontScale="85000" lnSpcReduction="20000"/>
          </a:bodyPr>
          <a:lstStyle/>
          <a:p>
            <a:r>
              <a:rPr lang="zh-CN" altLang="en-US" dirty="0"/>
              <a:t>主要</a:t>
            </a:r>
            <a:r>
              <a:rPr lang="en-US" altLang="zh-CN" dirty="0"/>
              <a:t>API</a:t>
            </a:r>
            <a:r>
              <a:rPr lang="zh-CN" altLang="en-US" dirty="0"/>
              <a:t>接口</a:t>
            </a:r>
            <a:endParaRPr lang="en-US" altLang="zh-CN" dirty="0"/>
          </a:p>
          <a:p>
            <a:pPr lvl="1"/>
            <a:r>
              <a:rPr lang="en-US" altLang="zh-CN" dirty="0"/>
              <a:t>String create(String path, byte[] data, List&lt;ACL&gt; </a:t>
            </a:r>
            <a:r>
              <a:rPr lang="en-US" altLang="zh-CN" dirty="0" err="1"/>
              <a:t>acl</a:t>
            </a:r>
            <a:r>
              <a:rPr lang="en-US" altLang="zh-CN" dirty="0"/>
              <a:t>, </a:t>
            </a:r>
            <a:r>
              <a:rPr lang="en-US" altLang="zh-CN" dirty="0" err="1"/>
              <a:t>CreateMode</a:t>
            </a:r>
            <a:r>
              <a:rPr lang="en-US" altLang="zh-CN" dirty="0"/>
              <a:t> </a:t>
            </a:r>
            <a:r>
              <a:rPr lang="en-US" altLang="zh-CN" dirty="0" err="1"/>
              <a:t>createMode</a:t>
            </a:r>
            <a:r>
              <a:rPr lang="en-US" altLang="zh-CN" dirty="0"/>
              <a:t>) </a:t>
            </a:r>
          </a:p>
          <a:p>
            <a:pPr lvl="1"/>
            <a:r>
              <a:rPr lang="en-US" altLang="zh-CN" dirty="0"/>
              <a:t>Stat exists(String path, </a:t>
            </a:r>
            <a:r>
              <a:rPr lang="en-US" altLang="zh-CN" dirty="0" err="1"/>
              <a:t>boolean</a:t>
            </a:r>
            <a:r>
              <a:rPr lang="en-US" altLang="zh-CN" dirty="0"/>
              <a:t> watch) </a:t>
            </a:r>
          </a:p>
          <a:p>
            <a:pPr lvl="1"/>
            <a:r>
              <a:rPr lang="en-US" altLang="zh-CN" dirty="0"/>
              <a:t>void delete(String path, int version) </a:t>
            </a:r>
          </a:p>
          <a:p>
            <a:pPr lvl="1"/>
            <a:r>
              <a:rPr lang="en-US" altLang="zh-CN" dirty="0"/>
              <a:t>List&lt;String&gt; </a:t>
            </a:r>
            <a:r>
              <a:rPr lang="en-US" altLang="zh-CN" dirty="0" err="1"/>
              <a:t>getChildren</a:t>
            </a:r>
            <a:r>
              <a:rPr lang="en-US" altLang="zh-CN" dirty="0"/>
              <a:t>(String path, </a:t>
            </a:r>
            <a:r>
              <a:rPr lang="en-US" altLang="zh-CN" dirty="0" err="1"/>
              <a:t>boolean</a:t>
            </a:r>
            <a:r>
              <a:rPr lang="en-US" altLang="zh-CN" dirty="0"/>
              <a:t> watch) </a:t>
            </a:r>
          </a:p>
          <a:p>
            <a:pPr lvl="1"/>
            <a:r>
              <a:rPr lang="en-US" altLang="zh-CN" dirty="0"/>
              <a:t>List&lt;String&gt; </a:t>
            </a:r>
            <a:r>
              <a:rPr lang="en-US" altLang="zh-CN" dirty="0" err="1"/>
              <a:t>getChildren</a:t>
            </a:r>
            <a:r>
              <a:rPr lang="en-US" altLang="zh-CN" dirty="0"/>
              <a:t>(String path, </a:t>
            </a:r>
            <a:r>
              <a:rPr lang="en-US" altLang="zh-CN" dirty="0" err="1"/>
              <a:t>boolean</a:t>
            </a:r>
            <a:r>
              <a:rPr lang="en-US" altLang="zh-CN" dirty="0"/>
              <a:t> watch) </a:t>
            </a:r>
          </a:p>
          <a:p>
            <a:pPr lvl="1"/>
            <a:r>
              <a:rPr lang="en-US" altLang="zh-CN" dirty="0"/>
              <a:t>Stat </a:t>
            </a:r>
            <a:r>
              <a:rPr lang="en-US" altLang="zh-CN" dirty="0" err="1"/>
              <a:t>setData</a:t>
            </a:r>
            <a:r>
              <a:rPr lang="en-US" altLang="zh-CN" dirty="0"/>
              <a:t>(String path, byte[] data, int version) </a:t>
            </a:r>
          </a:p>
          <a:p>
            <a:pPr lvl="1"/>
            <a:r>
              <a:rPr lang="en-US" altLang="zh-CN" dirty="0"/>
              <a:t>byte[] </a:t>
            </a:r>
            <a:r>
              <a:rPr lang="en-US" altLang="zh-CN" dirty="0" err="1"/>
              <a:t>getData</a:t>
            </a:r>
            <a:r>
              <a:rPr lang="en-US" altLang="zh-CN" dirty="0"/>
              <a:t>(String path, </a:t>
            </a:r>
            <a:r>
              <a:rPr lang="en-US" altLang="zh-CN" dirty="0" err="1"/>
              <a:t>boolean</a:t>
            </a:r>
            <a:r>
              <a:rPr lang="en-US" altLang="zh-CN" dirty="0"/>
              <a:t> watch, Stat stat) </a:t>
            </a:r>
          </a:p>
          <a:p>
            <a:pPr lvl="1"/>
            <a:r>
              <a:rPr lang="en-US" altLang="zh-CN" dirty="0"/>
              <a:t>void </a:t>
            </a:r>
            <a:r>
              <a:rPr lang="en-US" altLang="zh-CN" dirty="0" err="1"/>
              <a:t>addAuthInfo</a:t>
            </a:r>
            <a:r>
              <a:rPr lang="en-US" altLang="zh-CN" dirty="0"/>
              <a:t>(String scheme, byte[] auth) </a:t>
            </a:r>
          </a:p>
          <a:p>
            <a:pPr lvl="1"/>
            <a:r>
              <a:rPr lang="en-US" altLang="zh-CN" dirty="0"/>
              <a:t>Stat </a:t>
            </a:r>
            <a:r>
              <a:rPr lang="en-US" altLang="zh-CN" dirty="0" err="1"/>
              <a:t>setACL</a:t>
            </a:r>
            <a:r>
              <a:rPr lang="en-US" altLang="zh-CN" dirty="0"/>
              <a:t>(String path, List&lt;ACL&gt; </a:t>
            </a:r>
            <a:r>
              <a:rPr lang="en-US" altLang="zh-CN" dirty="0" err="1"/>
              <a:t>acl</a:t>
            </a:r>
            <a:r>
              <a:rPr lang="en-US" altLang="zh-CN" dirty="0"/>
              <a:t>, int version) </a:t>
            </a:r>
          </a:p>
          <a:p>
            <a:pPr lvl="1"/>
            <a:r>
              <a:rPr lang="en-US" altLang="zh-CN" dirty="0"/>
              <a:t>List&lt;ACL&gt; </a:t>
            </a:r>
            <a:r>
              <a:rPr lang="en-US" altLang="zh-CN" dirty="0" err="1"/>
              <a:t>getACL</a:t>
            </a:r>
            <a:r>
              <a:rPr lang="en-US" altLang="zh-CN" dirty="0"/>
              <a:t>(String path, Stat stat) </a:t>
            </a:r>
          </a:p>
          <a:p>
            <a:pPr lvl="1"/>
            <a:endParaRPr lang="en-US" altLang="zh-CN" dirty="0"/>
          </a:p>
          <a:p>
            <a:pPr lvl="1"/>
            <a:endParaRPr lang="zh-CN" alt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 </a:t>
            </a:r>
            <a:r>
              <a:rPr lang="en-US" altLang="zh-CN" dirty="0" err="1"/>
              <a:t>ZooKeeper</a:t>
            </a:r>
            <a:r>
              <a:rPr lang="en-US" altLang="zh-CN" dirty="0"/>
              <a:t> Java API</a:t>
            </a:r>
            <a:endParaRPr lang="zh-CN" altLang="en-US" dirty="0"/>
          </a:p>
        </p:txBody>
      </p:sp>
      <p:sp>
        <p:nvSpPr>
          <p:cNvPr id="3" name="内容占位符 2"/>
          <p:cNvSpPr>
            <a:spLocks noGrp="1"/>
          </p:cNvSpPr>
          <p:nvPr>
            <p:ph idx="1"/>
          </p:nvPr>
        </p:nvSpPr>
        <p:spPr/>
        <p:txBody>
          <a:bodyPr/>
          <a:lstStyle/>
          <a:p>
            <a:r>
              <a:rPr lang="zh-CN" altLang="en-US" dirty="0"/>
              <a:t>主要</a:t>
            </a:r>
            <a:r>
              <a:rPr lang="zh-CN" altLang="en-US" dirty="0" smtClean="0"/>
              <a:t>功能演示代码（</a:t>
            </a:r>
            <a:r>
              <a:rPr lang="en-US" altLang="zh-CN" dirty="0" smtClean="0"/>
              <a:t>P114~P128</a:t>
            </a:r>
            <a:r>
              <a:rPr lang="zh-CN" altLang="en-US" dirty="0" smtClean="0"/>
              <a:t>）</a:t>
            </a:r>
            <a:endParaRPr lang="en-US" altLang="zh-CN" dirty="0"/>
          </a:p>
          <a:p>
            <a:pPr lvl="1"/>
            <a:r>
              <a:rPr lang="zh-CN" altLang="en-US" dirty="0"/>
              <a:t>创建节点</a:t>
            </a:r>
            <a:endParaRPr lang="en-US" altLang="zh-CN" dirty="0"/>
          </a:p>
          <a:p>
            <a:pPr lvl="1"/>
            <a:r>
              <a:rPr lang="zh-CN" altLang="en-US" dirty="0"/>
              <a:t>修改数据</a:t>
            </a:r>
            <a:endParaRPr lang="en-US" altLang="zh-CN" dirty="0"/>
          </a:p>
          <a:p>
            <a:pPr lvl="1"/>
            <a:r>
              <a:rPr lang="zh-CN" altLang="en-US" dirty="0"/>
              <a:t>获取数据</a:t>
            </a:r>
            <a:endParaRPr lang="en-US" altLang="zh-CN" dirty="0"/>
          </a:p>
          <a:p>
            <a:pPr lvl="1"/>
            <a:r>
              <a:rPr lang="zh-CN" altLang="en-US" dirty="0"/>
              <a:t>删除节点</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subTitle" idx="1"/>
          </p:nvPr>
        </p:nvSpPr>
        <p:spPr bwMode="white">
          <a:xfrm>
            <a:off x="2819400" y="4953000"/>
            <a:ext cx="5167313" cy="414338"/>
          </a:xfrm>
          <a:extLst>
            <a:ext uri="{91240B29-F687-4F45-9708-019B960494DF}">
              <a14:hiddenLine xmlns:a14="http://schemas.microsoft.com/office/drawing/2010/main" w="9525">
                <a:solidFill>
                  <a:schemeClr val="bg1"/>
                </a:solidFill>
                <a:miter lim="800000"/>
                <a:headEnd/>
                <a:tailEnd/>
              </a14:hiddenLine>
            </a:ext>
          </a:extLst>
        </p:spPr>
        <p:txBody>
          <a:bodyPr/>
          <a:lstStyle/>
          <a:p>
            <a:pPr algn="dist">
              <a:lnSpc>
                <a:spcPct val="80000"/>
              </a:lnSpc>
            </a:pPr>
            <a:r>
              <a:rPr lang="en-US" altLang="zh-CN" sz="1800" b="1">
                <a:solidFill>
                  <a:schemeClr val="bg1"/>
                </a:solidFill>
                <a:latin typeface="Arial" panose="020B0604020202020204" pitchFamily="34" charset="0"/>
                <a:ea typeface="宋体" panose="02010600030101010101" pitchFamily="2" charset="-122"/>
              </a:rPr>
              <a:t>Click to edit company slogan .</a:t>
            </a:r>
          </a:p>
        </p:txBody>
      </p:sp>
      <p:sp>
        <p:nvSpPr>
          <p:cNvPr id="87045" name="WordArt 5"/>
          <p:cNvSpPr>
            <a:spLocks noChangeArrowheads="1" noChangeShapeType="1" noTextEdit="1"/>
          </p:cNvSpPr>
          <p:nvPr/>
        </p:nvSpPr>
        <p:spPr bwMode="gray">
          <a:xfrm>
            <a:off x="3674864" y="4396333"/>
            <a:ext cx="1728192" cy="587896"/>
          </a:xfrm>
          <a:prstGeom prst="rect">
            <a:avLst/>
          </a:prstGeom>
        </p:spPr>
        <p:txBody>
          <a:bodyPr wrap="none" fromWordArt="1">
            <a:prstTxWarp prst="textDeflate">
              <a:avLst>
                <a:gd name="adj" fmla="val 0"/>
              </a:avLst>
            </a:prstTxWarp>
          </a:bodyPr>
          <a:lstStyle/>
          <a:p>
            <a:pPr algn="ctr"/>
            <a:r>
              <a:rPr lang="zh-CN" altLang="en-US" sz="3600" b="1" kern="10" dirty="0">
                <a:ln w="19050">
                  <a:solidFill>
                    <a:schemeClr val="bg1"/>
                  </a:solidFill>
                  <a:round/>
                </a:ln>
                <a:gradFill rotWithShape="1">
                  <a:gsLst>
                    <a:gs pos="0">
                      <a:schemeClr val="accent1">
                        <a:gamma/>
                        <a:shade val="46275"/>
                        <a:invGamma/>
                      </a:schemeClr>
                    </a:gs>
                    <a:gs pos="100000">
                      <a:schemeClr val="accent1"/>
                    </a:gs>
                  </a:gsLst>
                  <a:lin ang="0" scaled="1"/>
                </a:gradFill>
                <a:effectLst>
                  <a:outerShdw dist="63500" dir="2212194" algn="ctr" rotWithShape="0">
                    <a:srgbClr val="868686">
                      <a:alpha val="50000"/>
                    </a:srgbClr>
                  </a:outerShdw>
                </a:effectLst>
                <a:latin typeface="Arial" panose="020B0604020202020204"/>
                <a:cs typeface="Arial" panose="020B0604020202020204"/>
              </a:rPr>
              <a:t>谢谢</a:t>
            </a:r>
            <a:r>
              <a:rPr lang="en-US" altLang="zh-CN" sz="3600" b="1" kern="10" dirty="0">
                <a:ln w="19050">
                  <a:solidFill>
                    <a:schemeClr val="bg1"/>
                  </a:solidFill>
                  <a:round/>
                </a:ln>
                <a:gradFill rotWithShape="1">
                  <a:gsLst>
                    <a:gs pos="0">
                      <a:schemeClr val="accent1">
                        <a:gamma/>
                        <a:shade val="46275"/>
                        <a:invGamma/>
                      </a:schemeClr>
                    </a:gs>
                    <a:gs pos="100000">
                      <a:schemeClr val="accent1"/>
                    </a:gs>
                  </a:gsLst>
                  <a:lin ang="0" scaled="1"/>
                </a:gradFill>
                <a:effectLst>
                  <a:outerShdw dist="63500" dir="2212194" algn="ctr" rotWithShape="0">
                    <a:srgbClr val="868686">
                      <a:alpha val="50000"/>
                    </a:srgbClr>
                  </a:outerShdw>
                </a:effectLst>
                <a:latin typeface="Arial" panose="020B0604020202020204"/>
                <a:cs typeface="Arial" panose="020B0604020202020204"/>
              </a:rPr>
              <a:t>!</a:t>
            </a:r>
            <a:endParaRPr lang="zh-CN" altLang="en-US" sz="3600" b="1" kern="10" dirty="0">
              <a:ln w="19050">
                <a:solidFill>
                  <a:schemeClr val="bg1"/>
                </a:solidFill>
                <a:round/>
              </a:ln>
              <a:gradFill rotWithShape="1">
                <a:gsLst>
                  <a:gs pos="0">
                    <a:schemeClr val="accent1">
                      <a:gamma/>
                      <a:shade val="46275"/>
                      <a:invGamma/>
                    </a:schemeClr>
                  </a:gs>
                  <a:gs pos="100000">
                    <a:schemeClr val="accent1"/>
                  </a:gs>
                </a:gsLst>
                <a:lin ang="0" scaled="1"/>
              </a:gradFill>
              <a:effectLst>
                <a:outerShdw dist="63500" dir="2212194" algn="ctr" rotWithShape="0">
                  <a:srgbClr val="868686">
                    <a:alpha val="50000"/>
                  </a:srgbClr>
                </a:outerShdw>
              </a:effectLst>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7045"/>
                                        </p:tgtEl>
                                        <p:attrNameLst>
                                          <p:attrName>style.visibility</p:attrName>
                                        </p:attrNameLst>
                                      </p:cBhvr>
                                      <p:to>
                                        <p:strVal val="visible"/>
                                      </p:to>
                                    </p:set>
                                    <p:anim calcmode="lin" valueType="num">
                                      <p:cBhvr>
                                        <p:cTn id="7" dur="500" fill="hold"/>
                                        <p:tgtEl>
                                          <p:spTgt spid="87045"/>
                                        </p:tgtEl>
                                        <p:attrNameLst>
                                          <p:attrName>ppt_w</p:attrName>
                                        </p:attrNameLst>
                                      </p:cBhvr>
                                      <p:tavLst>
                                        <p:tav tm="0">
                                          <p:val>
                                            <p:fltVal val="0"/>
                                          </p:val>
                                        </p:tav>
                                        <p:tav tm="100000">
                                          <p:val>
                                            <p:strVal val="#ppt_w"/>
                                          </p:val>
                                        </p:tav>
                                      </p:tavLst>
                                    </p:anim>
                                    <p:anim calcmode="lin" valueType="num">
                                      <p:cBhvr>
                                        <p:cTn id="8" dur="500" fill="hold"/>
                                        <p:tgtEl>
                                          <p:spTgt spid="87045"/>
                                        </p:tgtEl>
                                        <p:attrNameLst>
                                          <p:attrName>ppt_h</p:attrName>
                                        </p:attrNameLst>
                                      </p:cBhvr>
                                      <p:tavLst>
                                        <p:tav tm="0">
                                          <p:val>
                                            <p:fltVal val="0"/>
                                          </p:val>
                                        </p:tav>
                                        <p:tav tm="100000">
                                          <p:val>
                                            <p:strVal val="#ppt_h"/>
                                          </p:val>
                                        </p:tav>
                                      </p:tavLst>
                                    </p:anim>
                                    <p:animEffect transition="in" filter="fade">
                                      <p:cBhvr>
                                        <p:cTn id="9" dur="500"/>
                                        <p:tgtEl>
                                          <p:spTgt spid="87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REFSHAPE" val="510588108"/>
</p:tagLst>
</file>

<file path=ppt/tags/tag2.xml><?xml version="1.0" encoding="utf-8"?>
<p:tagLst xmlns:a="http://schemas.openxmlformats.org/drawingml/2006/main" xmlns:r="http://schemas.openxmlformats.org/officeDocument/2006/relationships" xmlns:p="http://schemas.openxmlformats.org/presentationml/2006/main">
  <p:tag name="REFSHAPE" val="428015436"/>
  <p:tag name="KSO_WM_UNIT_PLACING_PICTURE_USER_VIEWPORT" val="{&quot;height&quot;:3908,&quot;width&quot;:9623}"/>
</p:tagLst>
</file>

<file path=ppt/theme/theme1.xml><?xml version="1.0" encoding="utf-8"?>
<a:theme xmlns:a="http://schemas.openxmlformats.org/drawingml/2006/main" name="cdb2004c012l">
  <a:themeElements>
    <a:clrScheme name="sample 1">
      <a:dk1>
        <a:srgbClr val="2B166E"/>
      </a:dk1>
      <a:lt1>
        <a:srgbClr val="FFFFFF"/>
      </a:lt1>
      <a:dk2>
        <a:srgbClr val="336699"/>
      </a:dk2>
      <a:lt2>
        <a:srgbClr val="C0C0C0"/>
      </a:lt2>
      <a:accent1>
        <a:srgbClr val="458F8F"/>
      </a:accent1>
      <a:accent2>
        <a:srgbClr val="CCCC00"/>
      </a:accent2>
      <a:accent3>
        <a:srgbClr val="FFFFFF"/>
      </a:accent3>
      <a:accent4>
        <a:srgbClr val="23115D"/>
      </a:accent4>
      <a:accent5>
        <a:srgbClr val="B0C6C6"/>
      </a:accent5>
      <a:accent6>
        <a:srgbClr val="B9B900"/>
      </a:accent6>
      <a:hlink>
        <a:srgbClr val="9999FF"/>
      </a:hlink>
      <a:folHlink>
        <a:srgbClr val="6C9BBE"/>
      </a:folHlink>
    </a:clrScheme>
    <a:fontScheme name="samp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2B166E"/>
        </a:dk1>
        <a:lt1>
          <a:srgbClr val="FFFFFF"/>
        </a:lt1>
        <a:dk2>
          <a:srgbClr val="336699"/>
        </a:dk2>
        <a:lt2>
          <a:srgbClr val="C0C0C0"/>
        </a:lt2>
        <a:accent1>
          <a:srgbClr val="458F8F"/>
        </a:accent1>
        <a:accent2>
          <a:srgbClr val="CCCC00"/>
        </a:accent2>
        <a:accent3>
          <a:srgbClr val="FFFFFF"/>
        </a:accent3>
        <a:accent4>
          <a:srgbClr val="23115D"/>
        </a:accent4>
        <a:accent5>
          <a:srgbClr val="B0C6C6"/>
        </a:accent5>
        <a:accent6>
          <a:srgbClr val="B9B900"/>
        </a:accent6>
        <a:hlink>
          <a:srgbClr val="9999FF"/>
        </a:hlink>
        <a:folHlink>
          <a:srgbClr val="6C9BBE"/>
        </a:folHlink>
      </a:clrScheme>
      <a:clrMap bg1="lt1" tx1="dk1" bg2="lt2" tx2="dk2" accent1="accent1" accent2="accent2" accent3="accent3" accent4="accent4" accent5="accent5" accent6="accent6" hlink="hlink" folHlink="folHlink"/>
    </a:extraClrScheme>
    <a:extraClrScheme>
      <a:clrScheme name="sample 2">
        <a:dk1>
          <a:srgbClr val="1D528D"/>
        </a:dk1>
        <a:lt1>
          <a:srgbClr val="FFFFFF"/>
        </a:lt1>
        <a:dk2>
          <a:srgbClr val="000000"/>
        </a:dk2>
        <a:lt2>
          <a:srgbClr val="C0C0C0"/>
        </a:lt2>
        <a:accent1>
          <a:srgbClr val="2CA3C8"/>
        </a:accent1>
        <a:accent2>
          <a:srgbClr val="FF9900"/>
        </a:accent2>
        <a:accent3>
          <a:srgbClr val="FFFFFF"/>
        </a:accent3>
        <a:accent4>
          <a:srgbClr val="174578"/>
        </a:accent4>
        <a:accent5>
          <a:srgbClr val="ACCEE0"/>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sample 3">
        <a:dk1>
          <a:srgbClr val="666633"/>
        </a:dk1>
        <a:lt1>
          <a:srgbClr val="FFFFFF"/>
        </a:lt1>
        <a:dk2>
          <a:srgbClr val="000000"/>
        </a:dk2>
        <a:lt2>
          <a:srgbClr val="D1C68D"/>
        </a:lt2>
        <a:accent1>
          <a:srgbClr val="C86C62"/>
        </a:accent1>
        <a:accent2>
          <a:srgbClr val="C78DD7"/>
        </a:accent2>
        <a:accent3>
          <a:srgbClr val="FFFFFF"/>
        </a:accent3>
        <a:accent4>
          <a:srgbClr val="56562A"/>
        </a:accent4>
        <a:accent5>
          <a:srgbClr val="E0BAB7"/>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cdb2004c012l</Template>
  <TotalTime>83</TotalTime>
  <Words>3264</Words>
  <Application>Microsoft Office PowerPoint</Application>
  <PresentationFormat>全屏显示(4:3)</PresentationFormat>
  <Paragraphs>391</Paragraphs>
  <Slides>59</Slides>
  <Notes>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59</vt:i4>
      </vt:variant>
    </vt:vector>
  </HeadingPairs>
  <TitlesOfParts>
    <vt:vector size="68" baseType="lpstr">
      <vt:lpstr>华文仿宋</vt:lpstr>
      <vt:lpstr>宋体</vt:lpstr>
      <vt:lpstr>Arial</vt:lpstr>
      <vt:lpstr>Calibri</vt:lpstr>
      <vt:lpstr>Times New Roman</vt:lpstr>
      <vt:lpstr>Verdana</vt:lpstr>
      <vt:lpstr>Wingdings</vt:lpstr>
      <vt:lpstr>cdb2004c012l</vt:lpstr>
      <vt:lpstr>Microsoft Word 文档</vt:lpstr>
      <vt:lpstr>第4章分布式协调服务ZooKeeper</vt:lpstr>
      <vt:lpstr>主要内容</vt:lpstr>
      <vt:lpstr>4.1 ZooKeeper简介</vt:lpstr>
      <vt:lpstr>4.1.1 基本概念</vt:lpstr>
      <vt:lpstr>4.1.1 基本概念</vt:lpstr>
      <vt:lpstr>4.1.1 基本概念</vt:lpstr>
      <vt:lpstr>4.1.1 基本概念</vt:lpstr>
      <vt:lpstr>4.1.1 基本概念</vt:lpstr>
      <vt:lpstr>4.1.1 基本概念</vt:lpstr>
      <vt:lpstr>4.1.2 体系架构</vt:lpstr>
      <vt:lpstr>4.1.2 体系架构</vt:lpstr>
      <vt:lpstr>4.1.2 体系架构</vt:lpstr>
      <vt:lpstr>4.1.2 体系架构</vt:lpstr>
      <vt:lpstr>4.1.2 体系架构</vt:lpstr>
      <vt:lpstr>4.1.3 工作原理</vt:lpstr>
      <vt:lpstr>4.1.3 工作原理</vt:lpstr>
      <vt:lpstr>4.1.3 工作原理</vt:lpstr>
      <vt:lpstr>4.1.3 工作原理</vt:lpstr>
      <vt:lpstr>4.1.3 工作原理</vt:lpstr>
      <vt:lpstr>4.1.3 工作原理</vt:lpstr>
      <vt:lpstr>4.1.3 工作原理</vt:lpstr>
      <vt:lpstr>4.1.3 工作原理</vt:lpstr>
      <vt:lpstr>4.1.3 工作原理</vt:lpstr>
      <vt:lpstr>4.1.3 工作原理</vt:lpstr>
      <vt:lpstr>4.1.3 工作原理</vt:lpstr>
      <vt:lpstr>4.1.3 工作原理</vt:lpstr>
      <vt:lpstr>4.1.3 工作原理</vt:lpstr>
      <vt:lpstr>4.1.4 容错机制</vt:lpstr>
      <vt:lpstr>4.1.4 容错机制</vt:lpstr>
      <vt:lpstr>4.1.5 典型应用</vt:lpstr>
      <vt:lpstr>主要内容</vt:lpstr>
      <vt:lpstr>4.2 ZooKeeper安装配置 </vt:lpstr>
      <vt:lpstr>4.2 ZooKeeper安装配置 </vt:lpstr>
      <vt:lpstr>4.2 ZooKeeper安装配置 </vt:lpstr>
      <vt:lpstr>4.2 ZooKeeper安装配置 </vt:lpstr>
      <vt:lpstr>主要内容</vt:lpstr>
      <vt:lpstr>4.3 ZooKeeper命令行操作 </vt:lpstr>
      <vt:lpstr>主要内容</vt:lpstr>
      <vt:lpstr>4.4.1 HDFS HA</vt:lpstr>
      <vt:lpstr>4.4.1 HDFS HA</vt:lpstr>
      <vt:lpstr>4.4.1 HDFS HA</vt:lpstr>
      <vt:lpstr>4.4.1 HDFS HA</vt:lpstr>
      <vt:lpstr>4.4.1 HDFS HA</vt:lpstr>
      <vt:lpstr>4.4.1 HDFS HA</vt:lpstr>
      <vt:lpstr>4.4.1 HDFS HA</vt:lpstr>
      <vt:lpstr>4.4.1 HDFS HA</vt:lpstr>
      <vt:lpstr>4.4.1 HDFS HA</vt:lpstr>
      <vt:lpstr>4.4.1 HDFS HA</vt:lpstr>
      <vt:lpstr>4.4.1 HDFS HA</vt:lpstr>
      <vt:lpstr>4.4.1 HDFS HA</vt:lpstr>
      <vt:lpstr>4.4.2 YARN HA</vt:lpstr>
      <vt:lpstr>4.4.2 YARN HA</vt:lpstr>
      <vt:lpstr>4.4.2 YARN HA</vt:lpstr>
      <vt:lpstr>4.4.2 YARN HA</vt:lpstr>
      <vt:lpstr>4.4.2 YARN HA</vt:lpstr>
      <vt:lpstr>主要内容</vt:lpstr>
      <vt:lpstr>4.5 ZooKeeper Java API</vt:lpstr>
      <vt:lpstr>4.5 ZooKeeper Java API</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hadoop</dc:creator>
  <cp:lastModifiedBy>Chen Hongshun</cp:lastModifiedBy>
  <cp:revision>270</cp:revision>
  <dcterms:created xsi:type="dcterms:W3CDTF">2017-03-03T01:55:00Z</dcterms:created>
  <dcterms:modified xsi:type="dcterms:W3CDTF">2023-03-22T08:27:41Z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F026A9F261634E49BABAC70941A03A6A</vt:lpwstr>
  </property>
</Properties>
</file>