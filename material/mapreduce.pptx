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4"/>
  </p:notesMasterIdLst>
  <p:handoutMasterIdLst>
    <p:handoutMasterId r:id="rId105"/>
  </p:handoutMasterIdLst>
  <p:sldIdLst>
    <p:sldId id="256" r:id="rId2"/>
    <p:sldId id="309" r:id="rId3"/>
    <p:sldId id="406" r:id="rId4"/>
    <p:sldId id="407" r:id="rId5"/>
    <p:sldId id="537" r:id="rId6"/>
    <p:sldId id="538" r:id="rId7"/>
    <p:sldId id="408" r:id="rId8"/>
    <p:sldId id="405" r:id="rId9"/>
    <p:sldId id="411" r:id="rId10"/>
    <p:sldId id="414" r:id="rId11"/>
    <p:sldId id="415" r:id="rId12"/>
    <p:sldId id="540" r:id="rId13"/>
    <p:sldId id="541" r:id="rId14"/>
    <p:sldId id="542" r:id="rId15"/>
    <p:sldId id="543" r:id="rId16"/>
    <p:sldId id="544" r:id="rId17"/>
    <p:sldId id="545" r:id="rId18"/>
    <p:sldId id="546" r:id="rId19"/>
    <p:sldId id="547" r:id="rId20"/>
    <p:sldId id="548" r:id="rId21"/>
    <p:sldId id="549" r:id="rId22"/>
    <p:sldId id="550" r:id="rId23"/>
    <p:sldId id="551" r:id="rId24"/>
    <p:sldId id="553" r:id="rId25"/>
    <p:sldId id="554" r:id="rId26"/>
    <p:sldId id="555" r:id="rId27"/>
    <p:sldId id="556" r:id="rId28"/>
    <p:sldId id="557" r:id="rId29"/>
    <p:sldId id="558" r:id="rId30"/>
    <p:sldId id="559" r:id="rId31"/>
    <p:sldId id="560" r:id="rId32"/>
    <p:sldId id="561" r:id="rId33"/>
    <p:sldId id="562" r:id="rId34"/>
    <p:sldId id="563" r:id="rId35"/>
    <p:sldId id="564" r:id="rId36"/>
    <p:sldId id="565" r:id="rId37"/>
    <p:sldId id="566" r:id="rId38"/>
    <p:sldId id="567" r:id="rId39"/>
    <p:sldId id="568" r:id="rId40"/>
    <p:sldId id="569" r:id="rId41"/>
    <p:sldId id="570" r:id="rId42"/>
    <p:sldId id="571" r:id="rId43"/>
    <p:sldId id="572" r:id="rId44"/>
    <p:sldId id="573" r:id="rId45"/>
    <p:sldId id="574" r:id="rId46"/>
    <p:sldId id="576" r:id="rId47"/>
    <p:sldId id="577" r:id="rId48"/>
    <p:sldId id="578" r:id="rId49"/>
    <p:sldId id="597" r:id="rId50"/>
    <p:sldId id="579" r:id="rId51"/>
    <p:sldId id="598" r:id="rId52"/>
    <p:sldId id="580" r:id="rId53"/>
    <p:sldId id="581" r:id="rId54"/>
    <p:sldId id="582" r:id="rId55"/>
    <p:sldId id="583" r:id="rId56"/>
    <p:sldId id="584" r:id="rId57"/>
    <p:sldId id="585" r:id="rId58"/>
    <p:sldId id="586" r:id="rId59"/>
    <p:sldId id="587" r:id="rId60"/>
    <p:sldId id="588" r:id="rId61"/>
    <p:sldId id="589" r:id="rId62"/>
    <p:sldId id="590" r:id="rId63"/>
    <p:sldId id="591" r:id="rId64"/>
    <p:sldId id="592" r:id="rId65"/>
    <p:sldId id="593" r:id="rId66"/>
    <p:sldId id="594" r:id="rId67"/>
    <p:sldId id="521" r:id="rId68"/>
    <p:sldId id="536" r:id="rId69"/>
    <p:sldId id="524" r:id="rId70"/>
    <p:sldId id="526" r:id="rId71"/>
    <p:sldId id="527" r:id="rId72"/>
    <p:sldId id="528" r:id="rId73"/>
    <p:sldId id="529" r:id="rId74"/>
    <p:sldId id="530" r:id="rId75"/>
    <p:sldId id="522" r:id="rId76"/>
    <p:sldId id="475" r:id="rId77"/>
    <p:sldId id="487" r:id="rId78"/>
    <p:sldId id="481" r:id="rId79"/>
    <p:sldId id="485" r:id="rId80"/>
    <p:sldId id="518" r:id="rId81"/>
    <p:sldId id="514" r:id="rId82"/>
    <p:sldId id="516" r:id="rId83"/>
    <p:sldId id="517" r:id="rId84"/>
    <p:sldId id="523" r:id="rId85"/>
    <p:sldId id="488" r:id="rId86"/>
    <p:sldId id="495" r:id="rId87"/>
    <p:sldId id="489" r:id="rId88"/>
    <p:sldId id="496" r:id="rId89"/>
    <p:sldId id="491" r:id="rId90"/>
    <p:sldId id="498" r:id="rId91"/>
    <p:sldId id="503" r:id="rId92"/>
    <p:sldId id="499" r:id="rId93"/>
    <p:sldId id="500" r:id="rId94"/>
    <p:sldId id="501" r:id="rId95"/>
    <p:sldId id="504" r:id="rId96"/>
    <p:sldId id="505" r:id="rId97"/>
    <p:sldId id="506" r:id="rId98"/>
    <p:sldId id="490" r:id="rId99"/>
    <p:sldId id="493" r:id="rId100"/>
    <p:sldId id="492" r:id="rId101"/>
    <p:sldId id="494" r:id="rId102"/>
    <p:sldId id="276" r:id="rId10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60" autoAdjust="0"/>
  </p:normalViewPr>
  <p:slideViewPr>
    <p:cSldViewPr>
      <p:cViewPr varScale="1">
        <p:scale>
          <a:sx n="99" d="100"/>
          <a:sy n="99" d="100"/>
        </p:scale>
        <p:origin x="1866" y="84"/>
      </p:cViewPr>
      <p:guideLst>
        <p:guide orient="horz" pos="2160"/>
        <p:guide pos="2880"/>
      </p:guideLst>
    </p:cSldViewPr>
  </p:slideViewPr>
  <p:notesTextViewPr>
    <p:cViewPr>
      <p:scale>
        <a:sx n="1" d="1"/>
        <a:sy n="1" d="1"/>
      </p:scale>
      <p:origin x="0" y="0"/>
    </p:cViewPr>
  </p:notesTextViewPr>
  <p:notesViewPr>
    <p:cSldViewPr>
      <p:cViewPr varScale="1">
        <p:scale>
          <a:sx n="54" d="100"/>
          <a:sy n="54" d="100"/>
        </p:scale>
        <p:origin x="-292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63790A-1AF8-41FD-8613-F98BEDF9DBBB}" type="datetimeFigureOut">
              <a:rPr lang="zh-CN" altLang="en-US" smtClean="0"/>
              <a:t>2023/3/8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1B559C9-FBFA-44CB-8D4D-CA6FFD5A7E2C}"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DAADD5-90F8-4BC9-AC30-6195DA8BE947}" type="datetimeFigureOut">
              <a:rPr lang="zh-CN" altLang="en-US" smtClean="0"/>
              <a:t>2023/3/8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4D408B-9088-4E1B-998F-9D60A79664C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089" name="Rectangle 17"/>
          <p:cNvSpPr>
            <a:spLocks noChangeArrowheads="1"/>
          </p:cNvSpPr>
          <p:nvPr/>
        </p:nvSpPr>
        <p:spPr bwMode="gray">
          <a:xfrm>
            <a:off x="0" y="0"/>
            <a:ext cx="9144000" cy="609600"/>
          </a:xfrm>
          <a:prstGeom prst="rect">
            <a:avLst/>
          </a:prstGeom>
          <a:gradFill rotWithShape="1">
            <a:gsLst>
              <a:gs pos="0">
                <a:schemeClr val="tx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 name="Rectangle 2"/>
          <p:cNvSpPr>
            <a:spLocks noGrp="1" noChangeArrowheads="1"/>
          </p:cNvSpPr>
          <p:nvPr>
            <p:ph type="ctrTitle"/>
          </p:nvPr>
        </p:nvSpPr>
        <p:spPr bwMode="gray">
          <a:xfrm>
            <a:off x="457200" y="4114800"/>
            <a:ext cx="8229600" cy="762000"/>
          </a:xfrm>
        </p:spPr>
        <p:txBody>
          <a:bodyPr/>
          <a:lstStyle>
            <a:lvl1pPr>
              <a:defRPr>
                <a:solidFill>
                  <a:schemeClr val="tx1"/>
                </a:solidFill>
              </a:defRPr>
            </a:lvl1pPr>
          </a:lstStyle>
          <a:p>
            <a:pPr lvl="0"/>
            <a:r>
              <a:rPr lang="zh-CN" altLang="en-US" noProof="0" dirty="0"/>
              <a:t>单击此处编辑母版标题样式</a:t>
            </a:r>
            <a:endParaRPr lang="en-US" altLang="zh-CN" noProof="0" dirty="0"/>
          </a:p>
        </p:txBody>
      </p:sp>
      <p:sp>
        <p:nvSpPr>
          <p:cNvPr id="3075" name="Rectangle 3"/>
          <p:cNvSpPr>
            <a:spLocks noGrp="1" noChangeArrowheads="1"/>
          </p:cNvSpPr>
          <p:nvPr>
            <p:ph type="subTitle" idx="1"/>
          </p:nvPr>
        </p:nvSpPr>
        <p:spPr bwMode="gray">
          <a:xfrm>
            <a:off x="1524000" y="4948238"/>
            <a:ext cx="5943600" cy="609600"/>
          </a:xfrm>
        </p:spPr>
        <p:txBody>
          <a:bodyPr/>
          <a:lstStyle>
            <a:lvl1pPr marL="0" indent="0" algn="ctr">
              <a:buFont typeface="Wingdings" panose="05000000000000000000" pitchFamily="2" charset="2"/>
              <a:buNone/>
              <a:defRPr sz="2000" b="0">
                <a:solidFill>
                  <a:schemeClr val="tx1"/>
                </a:solidFill>
              </a:defRPr>
            </a:lvl1pPr>
          </a:lstStyle>
          <a:p>
            <a:pPr lvl="0"/>
            <a:r>
              <a:rPr lang="zh-CN" altLang="en-US" noProof="0"/>
              <a:t>单击此处编辑母版副标题样式</a:t>
            </a:r>
            <a:endParaRPr lang="en-US" altLang="zh-CN" noProof="0"/>
          </a:p>
        </p:txBody>
      </p:sp>
      <p:sp>
        <p:nvSpPr>
          <p:cNvPr id="3076" name="Rectangle 4"/>
          <p:cNvSpPr>
            <a:spLocks noGrp="1" noChangeArrowheads="1"/>
          </p:cNvSpPr>
          <p:nvPr>
            <p:ph type="dt" sz="half" idx="2"/>
          </p:nvPr>
        </p:nvSpPr>
        <p:spPr>
          <a:xfrm>
            <a:off x="457200" y="6553200"/>
            <a:ext cx="2133600" cy="168275"/>
          </a:xfrm>
          <a:prstGeom prst="rect">
            <a:avLst/>
          </a:prstGeom>
        </p:spPr>
        <p:txBody>
          <a:bodyPr/>
          <a:lstStyle>
            <a:lvl1pPr>
              <a:defRPr sz="1400">
                <a:latin typeface="Times New Roman" panose="02020603050405020304" pitchFamily="18" charset="0"/>
              </a:defRPr>
            </a:lvl1pPr>
          </a:lstStyle>
          <a:p>
            <a:endParaRPr lang="en-US" altLang="zh-CN"/>
          </a:p>
        </p:txBody>
      </p:sp>
      <p:sp>
        <p:nvSpPr>
          <p:cNvPr id="3077" name="Rectangle 5"/>
          <p:cNvSpPr>
            <a:spLocks noGrp="1" noChangeArrowheads="1"/>
          </p:cNvSpPr>
          <p:nvPr>
            <p:ph type="ftr" sz="quarter" idx="3"/>
          </p:nvPr>
        </p:nvSpPr>
        <p:spPr>
          <a:xfrm>
            <a:off x="3124200" y="6551613"/>
            <a:ext cx="2895600" cy="169862"/>
          </a:xfrm>
          <a:prstGeom prst="rect">
            <a:avLst/>
          </a:prstGeom>
        </p:spPr>
        <p:txBody>
          <a:bodyPr/>
          <a:lstStyle>
            <a:lvl1pPr algn="ctr">
              <a:defRPr sz="1400">
                <a:latin typeface="Times New Roman" panose="02020603050405020304" pitchFamily="18" charset="0"/>
              </a:defRPr>
            </a:lvl1pPr>
          </a:lstStyle>
          <a:p>
            <a:endParaRPr lang="en-US" altLang="zh-CN"/>
          </a:p>
        </p:txBody>
      </p:sp>
      <p:sp>
        <p:nvSpPr>
          <p:cNvPr id="3078" name="Rectangle 6"/>
          <p:cNvSpPr>
            <a:spLocks noGrp="1" noChangeArrowheads="1"/>
          </p:cNvSpPr>
          <p:nvPr>
            <p:ph type="sldNum" sz="quarter" idx="4"/>
          </p:nvPr>
        </p:nvSpPr>
        <p:spPr>
          <a:xfrm>
            <a:off x="6553200" y="6553200"/>
            <a:ext cx="2133600" cy="168275"/>
          </a:xfrm>
        </p:spPr>
        <p:txBody>
          <a:bodyPr/>
          <a:lstStyle>
            <a:lvl1pPr algn="r">
              <a:defRPr sz="1400">
                <a:latin typeface="Times New Roman" panose="02020603050405020304" pitchFamily="18" charset="0"/>
              </a:defRPr>
            </a:lvl1pPr>
          </a:lstStyle>
          <a:p>
            <a:fld id="{18BA97A7-D52C-4F62-9E2B-2E1482E68D18}" type="slidenum">
              <a:rPr lang="en-US" altLang="zh-CN"/>
              <a:t>‹#›</a:t>
            </a:fld>
            <a:endParaRPr lang="en-US" altLang="zh-CN"/>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8000" y="609600"/>
            <a:ext cx="8128000" cy="339546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p:txBody>
          <a:bodyPr/>
          <a:lstStyle>
            <a:lvl1pPr>
              <a:defRPr/>
            </a:lvl1pPr>
          </a:lstStyle>
          <a:p>
            <a:fld id="{C1C4B0C5-5BE3-40C4-8F17-4C7632BBC37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BC1FD71B-C5BD-44C5-88B5-B9FC0532CD1E}"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6762A2FB-1A22-4885-8807-38E2257E939D}"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8" name="页脚占位符 7"/>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9" name="灯片编号占位符 8"/>
          <p:cNvSpPr>
            <a:spLocks noGrp="1"/>
          </p:cNvSpPr>
          <p:nvPr>
            <p:ph type="sldNum" sz="quarter" idx="12"/>
          </p:nvPr>
        </p:nvSpPr>
        <p:spPr/>
        <p:txBody>
          <a:bodyPr/>
          <a:lstStyle>
            <a:lvl1pPr>
              <a:defRPr/>
            </a:lvl1pPr>
          </a:lstStyle>
          <a:p>
            <a:fld id="{4C3F31E5-079D-4AFE-8F69-467FDA11ECA6}"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4" name="页脚占位符 3"/>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5" name="灯片编号占位符 4"/>
          <p:cNvSpPr>
            <a:spLocks noGrp="1"/>
          </p:cNvSpPr>
          <p:nvPr>
            <p:ph type="sldNum" sz="quarter" idx="12"/>
          </p:nvPr>
        </p:nvSpPr>
        <p:spPr/>
        <p:txBody>
          <a:bodyPr/>
          <a:lstStyle>
            <a:lvl1pPr>
              <a:defRPr/>
            </a:lvl1pPr>
          </a:lstStyle>
          <a:p>
            <a:fld id="{7AB19AB6-2D3D-436B-9E78-64B2C249B45E}"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3" name="页脚占位符 2"/>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4" name="灯片编号占位符 3"/>
          <p:cNvSpPr>
            <a:spLocks noGrp="1"/>
          </p:cNvSpPr>
          <p:nvPr>
            <p:ph type="sldNum" sz="quarter" idx="12"/>
          </p:nvPr>
        </p:nvSpPr>
        <p:spPr/>
        <p:txBody>
          <a:bodyPr/>
          <a:lstStyle>
            <a:lvl1pPr>
              <a:defRPr/>
            </a:lvl1pPr>
          </a:lstStyle>
          <a:p>
            <a:fld id="{50B39E09-CF7B-4C88-85E0-A8CE0F5F92B0}"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8D1FB353-AD44-4DB0-AD58-7E72BC63F76E}"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CC2EE334-34F5-4D9E-B1DF-4BE72B082B0C}"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074B2DF3-AE52-4E11-B0CF-C14697DFC2D4}"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19088"/>
            <a:ext cx="2057400" cy="60055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19088"/>
            <a:ext cx="6019800" cy="60055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B4B4B3D2-56CB-4388-9D8C-8B1C0741F73C}"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319088"/>
            <a:ext cx="6172200" cy="563562"/>
          </a:xfrm>
        </p:spPr>
        <p:txBody>
          <a:bodyPr/>
          <a:lstStyle/>
          <a:p>
            <a:r>
              <a:rPr lang="zh-CN" altLang="en-US"/>
              <a:t>单击此处编辑母版标题样式</a:t>
            </a:r>
          </a:p>
        </p:txBody>
      </p:sp>
      <p:sp>
        <p:nvSpPr>
          <p:cNvPr id="3" name="表格占位符 2"/>
          <p:cNvSpPr>
            <a:spLocks noGrp="1"/>
          </p:cNvSpPr>
          <p:nvPr>
            <p:ph type="tbl" idx="1" hasCustomPrompt="1"/>
          </p:nvPr>
        </p:nvSpPr>
        <p:spPr>
          <a:xfrm>
            <a:off x="457200" y="1371600"/>
            <a:ext cx="8229600" cy="4953000"/>
          </a:xfrm>
        </p:spPr>
        <p:txBody>
          <a:bodyPr/>
          <a:lstStyle/>
          <a:p>
            <a:r>
              <a:rPr lang="zh-CN" altLang="en-US"/>
              <a:t>单击图标添加表格</a:t>
            </a:r>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a:xfrm>
            <a:off x="3200400" y="6480175"/>
            <a:ext cx="2133600" cy="320675"/>
          </a:xfrm>
        </p:spPr>
        <p:txBody>
          <a:bodyPr/>
          <a:lstStyle>
            <a:lvl1pPr>
              <a:defRPr/>
            </a:lvl1pPr>
          </a:lstStyle>
          <a:p>
            <a:fld id="{581F0AB5-730F-41FD-B2B7-C4E08C420F30}"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76200"/>
            <a:ext cx="8001000" cy="914400"/>
          </a:xfrm>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8356600" y="981075"/>
            <a:ext cx="787400" cy="587692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21"/>
          <p:cNvSpPr>
            <a:spLocks noChangeShapeType="1"/>
          </p:cNvSpPr>
          <p:nvPr/>
        </p:nvSpPr>
        <p:spPr bwMode="auto">
          <a:xfrm>
            <a:off x="425450" y="6524625"/>
            <a:ext cx="83534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0" name="Rectangle 16"/>
          <p:cNvSpPr>
            <a:spLocks noChangeArrowheads="1"/>
          </p:cNvSpPr>
          <p:nvPr/>
        </p:nvSpPr>
        <p:spPr bwMode="gray">
          <a:xfrm>
            <a:off x="0" y="0"/>
            <a:ext cx="9144000" cy="981075"/>
          </a:xfrm>
          <a:prstGeom prst="rect">
            <a:avLst/>
          </a:prstGeom>
          <a:gradFill rotWithShape="1">
            <a:gsLst>
              <a:gs pos="0">
                <a:schemeClr val="tx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371600"/>
            <a:ext cx="7899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200400" y="648017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effectLst>
                  <a:outerShdw blurRad="38100" dist="38100" dir="2700000" algn="tl">
                    <a:srgbClr val="C0C0C0"/>
                  </a:outerShdw>
                </a:effectLst>
                <a:latin typeface="+mn-lt"/>
                <a:ea typeface="宋体" panose="02010600030101010101" pitchFamily="2" charset="-122"/>
              </a:defRPr>
            </a:lvl1pPr>
          </a:lstStyle>
          <a:p>
            <a:fld id="{F2D526F6-2200-4386-AD27-E628E3B61413}" type="slidenum">
              <a:rPr lang="en-US" altLang="zh-CN"/>
              <a:t>‹#›</a:t>
            </a:fld>
            <a:endParaRPr lang="en-US" altLang="zh-CN"/>
          </a:p>
        </p:txBody>
      </p:sp>
      <p:sp>
        <p:nvSpPr>
          <p:cNvPr id="1026" name="Rectangle 2"/>
          <p:cNvSpPr>
            <a:spLocks noGrp="1" noChangeArrowheads="1"/>
          </p:cNvSpPr>
          <p:nvPr>
            <p:ph type="title"/>
          </p:nvPr>
        </p:nvSpPr>
        <p:spPr bwMode="white">
          <a:xfrm>
            <a:off x="457200" y="319088"/>
            <a:ext cx="78994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dirty="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4.jpeg"/></Relationships>
</file>

<file path=ppt/slides/_rels/slide7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57200" y="4267200"/>
            <a:ext cx="8229600" cy="762000"/>
          </a:xfrm>
        </p:spPr>
        <p:txBody>
          <a:bodyPr/>
          <a:lstStyle/>
          <a:p>
            <a:pPr algn="ctr"/>
            <a:r>
              <a:rPr lang="zh-CN" altLang="en-US" sz="3600" dirty="0" smtClean="0">
                <a:solidFill>
                  <a:schemeClr val="tx2"/>
                </a:solidFill>
                <a:ea typeface="宋体" panose="02010600030101010101" pitchFamily="2" charset="-122"/>
              </a:rPr>
              <a:t>第</a:t>
            </a:r>
            <a:r>
              <a:rPr lang="en-US" altLang="zh-CN" sz="3600" dirty="0">
                <a:solidFill>
                  <a:schemeClr val="tx2"/>
                </a:solidFill>
                <a:ea typeface="宋体" panose="02010600030101010101" pitchFamily="2" charset="-122"/>
              </a:rPr>
              <a:t>3</a:t>
            </a:r>
            <a:r>
              <a:rPr lang="zh-CN" altLang="en-US" sz="3600" dirty="0">
                <a:solidFill>
                  <a:schemeClr val="tx2"/>
                </a:solidFill>
                <a:ea typeface="宋体" panose="02010600030101010101" pitchFamily="2" charset="-122"/>
              </a:rPr>
              <a:t>章 分布式计算框架</a:t>
            </a:r>
            <a:r>
              <a:rPr lang="en-US" altLang="zh-CN" sz="3600" dirty="0" err="1">
                <a:solidFill>
                  <a:schemeClr val="tx2"/>
                </a:solidFill>
                <a:ea typeface="宋体" panose="02010600030101010101" pitchFamily="2" charset="-122"/>
              </a:rPr>
              <a:t>MapReduce</a:t>
            </a:r>
            <a:endParaRPr lang="zh-CN" altLang="en-US" sz="3600" dirty="0">
              <a:solidFill>
                <a:schemeClr val="tx2"/>
              </a:solidFill>
              <a:ea typeface="宋体" panose="02010600030101010101" pitchFamily="2" charset="-122"/>
            </a:endParaRPr>
          </a:p>
        </p:txBody>
      </p:sp>
      <p:sp>
        <p:nvSpPr>
          <p:cNvPr id="2051" name="Rectangle 3"/>
          <p:cNvSpPr>
            <a:spLocks noGrp="1" noChangeArrowheads="1"/>
          </p:cNvSpPr>
          <p:nvPr>
            <p:ph type="subTitle" idx="1"/>
          </p:nvPr>
        </p:nvSpPr>
        <p:spPr>
          <a:xfrm>
            <a:off x="1752600" y="5091113"/>
            <a:ext cx="5943600" cy="609600"/>
          </a:xfrm>
        </p:spPr>
        <p:txBody>
          <a:bodyPr/>
          <a:lstStyle/>
          <a:p>
            <a:endParaRPr lang="en-US" altLang="zh-CN" dirty="0">
              <a:ea typeface="宋体" panose="02010600030101010101" pitchFamily="2" charset="-122"/>
            </a:endParaRPr>
          </a:p>
        </p:txBody>
      </p:sp>
      <p:sp>
        <p:nvSpPr>
          <p:cNvPr id="2052" name="Line 4"/>
          <p:cNvSpPr>
            <a:spLocks noChangeShapeType="1"/>
          </p:cNvSpPr>
          <p:nvPr/>
        </p:nvSpPr>
        <p:spPr bwMode="auto">
          <a:xfrm flipV="1">
            <a:off x="179388" y="4648199"/>
            <a:ext cx="432172" cy="9525"/>
          </a:xfrm>
          <a:prstGeom prst="line">
            <a:avLst/>
          </a:prstGeom>
          <a:noFill/>
          <a:ln w="762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 name="Line 5"/>
          <p:cNvSpPr>
            <a:spLocks noChangeShapeType="1"/>
          </p:cNvSpPr>
          <p:nvPr/>
        </p:nvSpPr>
        <p:spPr bwMode="auto">
          <a:xfrm>
            <a:off x="8532440" y="4648200"/>
            <a:ext cx="413123" cy="1588"/>
          </a:xfrm>
          <a:prstGeom prst="line">
            <a:avLst/>
          </a:prstGeom>
          <a:noFill/>
          <a:ln w="76200"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indent="0">
              <a:buNone/>
            </a:pPr>
            <a:r>
              <a:rPr lang="en-US" altLang="zh-CN" dirty="0">
                <a:solidFill>
                  <a:srgbClr val="FF0000"/>
                </a:solidFill>
                <a:ea typeface="宋体" panose="02010600030101010101" pitchFamily="2" charset="-122"/>
              </a:rPr>
              <a:t>3.1 </a:t>
            </a:r>
            <a:r>
              <a:rPr lang="en-US" altLang="zh-CN" dirty="0" err="1">
                <a:solidFill>
                  <a:srgbClr val="FF0000"/>
                </a:solidFill>
                <a:ea typeface="宋体" panose="02010600030101010101" pitchFamily="2" charset="-122"/>
                <a:sym typeface="+mn-ea"/>
              </a:rPr>
              <a:t>MapReduce</a:t>
            </a:r>
            <a:r>
              <a:rPr lang="zh-CN" altLang="en-US" dirty="0">
                <a:solidFill>
                  <a:srgbClr val="FF0000"/>
                </a:solidFill>
                <a:ea typeface="宋体" panose="02010600030101010101" pitchFamily="2" charset="-122"/>
                <a:sym typeface="+mn-ea"/>
              </a:rPr>
              <a:t>原理</a:t>
            </a:r>
            <a:endParaRPr lang="en-US" altLang="zh-CN" dirty="0">
              <a:solidFill>
                <a:srgbClr val="FF0000"/>
              </a:solidFill>
              <a:ea typeface="宋体" panose="02010600030101010101" pitchFamily="2" charset="-122"/>
              <a:sym typeface="+mn-ea"/>
            </a:endParaRPr>
          </a:p>
          <a:p>
            <a:pPr marL="0" indent="0">
              <a:buNone/>
            </a:pPr>
            <a:r>
              <a:rPr lang="en-US" altLang="zh-CN" dirty="0"/>
              <a:t>3.2 </a:t>
            </a:r>
            <a:r>
              <a:rPr lang="en-US" altLang="zh-CN" dirty="0" err="1"/>
              <a:t>MapReduce</a:t>
            </a:r>
            <a:r>
              <a:rPr lang="zh-CN" altLang="en-US" dirty="0"/>
              <a:t>编程基础</a:t>
            </a:r>
            <a:endParaRPr lang="zh-CN" dirty="0"/>
          </a:p>
          <a:p>
            <a:pPr marL="0" indent="0">
              <a:buNone/>
              <a:defRPr/>
            </a:pPr>
            <a:r>
              <a:rPr lang="en-US" altLang="zh-CN" dirty="0" smtClean="0"/>
              <a:t>3.3 </a:t>
            </a:r>
            <a:r>
              <a:rPr lang="en-US" altLang="zh-CN" dirty="0"/>
              <a:t>MapReduce</a:t>
            </a:r>
            <a:r>
              <a:rPr lang="zh-CN" altLang="en-US" dirty="0"/>
              <a:t>程序编写步骤</a:t>
            </a:r>
          </a:p>
          <a:p>
            <a:pPr marL="0" indent="0">
              <a:buNone/>
            </a:pPr>
            <a:r>
              <a:rPr lang="en-US" altLang="zh-CN" dirty="0"/>
              <a:t>3.4 </a:t>
            </a:r>
            <a:r>
              <a:rPr lang="en-US" altLang="zh-CN" dirty="0" err="1" smtClean="0">
                <a:sym typeface="+mn-ea"/>
              </a:rPr>
              <a:t>MapReduce</a:t>
            </a:r>
            <a:r>
              <a:rPr lang="zh-CN" altLang="en-US" dirty="0" smtClean="0">
                <a:sym typeface="+mn-ea"/>
              </a:rPr>
              <a:t>综合案例</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 </a:t>
            </a:r>
            <a:r>
              <a:rPr lang="en-US" altLang="zh-CN" dirty="0" err="1" smtClean="0"/>
              <a:t>MapReduce</a:t>
            </a:r>
            <a:r>
              <a:rPr lang="zh-CN" altLang="en-US" dirty="0" smtClean="0"/>
              <a:t>原理</a:t>
            </a:r>
            <a:endParaRPr lang="zh-CN" altLang="en-US" dirty="0"/>
          </a:p>
        </p:txBody>
      </p:sp>
      <p:sp>
        <p:nvSpPr>
          <p:cNvPr id="3" name="内容占位符 2"/>
          <p:cNvSpPr>
            <a:spLocks noGrp="1"/>
          </p:cNvSpPr>
          <p:nvPr>
            <p:ph idx="1"/>
          </p:nvPr>
        </p:nvSpPr>
        <p:spPr/>
        <p:txBody>
          <a:bodyPr/>
          <a:lstStyle/>
          <a:p>
            <a:r>
              <a:rPr lang="en-US" altLang="zh-CN" dirty="0" smtClean="0"/>
              <a:t>3.1.1</a:t>
            </a:r>
            <a:r>
              <a:rPr lang="zh-CN" altLang="en-US" dirty="0" smtClean="0"/>
              <a:t> </a:t>
            </a:r>
            <a:r>
              <a:rPr lang="zh-CN" altLang="en-US" dirty="0"/>
              <a:t>设计思想</a:t>
            </a:r>
            <a:endParaRPr lang="en-US" altLang="zh-CN" dirty="0"/>
          </a:p>
          <a:p>
            <a:r>
              <a:rPr lang="en-US" altLang="zh-CN" dirty="0" smtClean="0"/>
              <a:t>3.1.2 </a:t>
            </a:r>
            <a:r>
              <a:rPr lang="en-US" altLang="zh-CN" dirty="0" err="1"/>
              <a:t>MapReduce</a:t>
            </a:r>
            <a:r>
              <a:rPr lang="zh-CN" altLang="en-US" dirty="0"/>
              <a:t>体系结构</a:t>
            </a:r>
          </a:p>
          <a:p>
            <a:r>
              <a:rPr lang="en-US" altLang="zh-CN" dirty="0" smtClean="0"/>
              <a:t>3.1.3 </a:t>
            </a:r>
            <a:r>
              <a:rPr lang="zh-CN" altLang="en-US" dirty="0"/>
              <a:t>资源管理器</a:t>
            </a:r>
            <a:r>
              <a:rPr lang="en-US" altLang="zh-CN" dirty="0"/>
              <a:t>YARN</a:t>
            </a:r>
          </a:p>
          <a:p>
            <a:r>
              <a:rPr lang="en-US" altLang="zh-CN" dirty="0" smtClean="0"/>
              <a:t>3.1.4 </a:t>
            </a:r>
            <a:r>
              <a:rPr lang="en-US" altLang="zh-CN" dirty="0" err="1"/>
              <a:t>MapReduce</a:t>
            </a:r>
            <a:r>
              <a:rPr lang="zh-CN" altLang="en-US" dirty="0"/>
              <a:t>工作</a:t>
            </a:r>
            <a:r>
              <a:rPr lang="zh-CN" altLang="en-US" dirty="0" smtClean="0"/>
              <a:t>原理</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3.1.1 </a:t>
            </a:r>
            <a:r>
              <a:rPr lang="zh-CN" altLang="en-US" dirty="0" smtClean="0"/>
              <a:t>设计思想</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a:t>什么是</a:t>
            </a:r>
            <a:r>
              <a:rPr lang="en-US" altLang="zh-CN" dirty="0"/>
              <a:t>MapReduce</a:t>
            </a:r>
          </a:p>
          <a:p>
            <a:pPr lvl="1"/>
            <a:r>
              <a:rPr lang="en-US" altLang="zh-CN" dirty="0"/>
              <a:t>MapReduce</a:t>
            </a:r>
            <a:r>
              <a:rPr lang="zh-CN" altLang="en-US" dirty="0"/>
              <a:t>是面向大规模数据并行处理的：</a:t>
            </a:r>
          </a:p>
          <a:p>
            <a:pPr lvl="2"/>
            <a:r>
              <a:rPr lang="zh-CN" altLang="en-US" dirty="0">
                <a:solidFill>
                  <a:srgbClr val="FF0000"/>
                </a:solidFill>
              </a:rPr>
              <a:t>基于集群的高性能并行计算平台</a:t>
            </a:r>
            <a:r>
              <a:rPr lang="en-US" altLang="zh-CN" dirty="0"/>
              <a:t>(Cluster Infrastructure)</a:t>
            </a:r>
          </a:p>
          <a:p>
            <a:pPr lvl="3"/>
            <a:r>
              <a:rPr lang="zh-CN" altLang="en-US" dirty="0"/>
              <a:t>允许用市场</a:t>
            </a:r>
            <a:r>
              <a:rPr lang="zh-CN" altLang="en-US" dirty="0" smtClean="0"/>
              <a:t>上普通</a:t>
            </a:r>
            <a:r>
              <a:rPr lang="zh-CN" altLang="en-US" dirty="0"/>
              <a:t>的</a:t>
            </a:r>
            <a:r>
              <a:rPr lang="en-US" altLang="zh-CN" dirty="0" smtClean="0"/>
              <a:t>PC</a:t>
            </a:r>
            <a:r>
              <a:rPr lang="zh-CN" altLang="en-US" dirty="0" smtClean="0"/>
              <a:t>机或</a:t>
            </a:r>
            <a:r>
              <a:rPr lang="zh-CN" altLang="en-US" dirty="0"/>
              <a:t>性能较高的刀架或机架式服务器，构成一个包含数千个节点的分布式并行计算集群。</a:t>
            </a:r>
          </a:p>
          <a:p>
            <a:pPr lvl="2"/>
            <a:r>
              <a:rPr lang="zh-CN" altLang="en-US" dirty="0" smtClean="0">
                <a:solidFill>
                  <a:srgbClr val="FF0000"/>
                </a:solidFill>
              </a:rPr>
              <a:t>并行计算与运行软件框架</a:t>
            </a:r>
            <a:r>
              <a:rPr lang="en-US" altLang="zh-CN" dirty="0"/>
              <a:t>(Software Framework)</a:t>
            </a:r>
          </a:p>
          <a:p>
            <a:pPr lvl="3"/>
            <a:r>
              <a:rPr lang="zh-CN" altLang="en-US" dirty="0"/>
              <a:t>提供了一个庞大但设计精良的并行计算软件构架，能自动完成计算任务的并行化处理，自动划分计算数据和计算任务，在集群节点上自动分配和执行子任务以及收集计算结果，将数据分布存储、数据通信、容错处理等并行计算中的很多复杂细节交由系统负责处理，大大减少了软件开发人员的负担。</a:t>
            </a:r>
          </a:p>
          <a:p>
            <a:pPr lvl="2"/>
            <a:r>
              <a:rPr lang="zh-CN" altLang="en-US" dirty="0">
                <a:solidFill>
                  <a:srgbClr val="FF0000"/>
                </a:solidFill>
              </a:rPr>
              <a:t>并行程序设计模型与方法</a:t>
            </a:r>
            <a:r>
              <a:rPr lang="en-US" altLang="zh-CN" dirty="0"/>
              <a:t>(Programming Model &amp; Methodology)</a:t>
            </a:r>
          </a:p>
          <a:p>
            <a:pPr lvl="3"/>
            <a:r>
              <a:rPr lang="zh-CN" altLang="en-US" dirty="0"/>
              <a:t>借助于函数式语言中的设计思想，提供了一种简便的并行程序设计方法，用</a:t>
            </a:r>
            <a:r>
              <a:rPr lang="en-US" altLang="zh-CN" dirty="0"/>
              <a:t>Map</a:t>
            </a:r>
            <a:r>
              <a:rPr lang="zh-CN" altLang="en-US" dirty="0"/>
              <a:t>和</a:t>
            </a:r>
            <a:r>
              <a:rPr lang="en-US" altLang="zh-CN" dirty="0"/>
              <a:t>Reduce</a:t>
            </a:r>
            <a:r>
              <a:rPr lang="zh-CN" altLang="en-US" dirty="0"/>
              <a:t>两个函数编程实现基本的并行计算任务，提供了完整的并行编程接口，完成大规模数据处理。</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3.1.1 </a:t>
            </a:r>
            <a:r>
              <a:rPr lang="zh-CN" altLang="en-US" dirty="0" smtClean="0"/>
              <a:t>设计</a:t>
            </a:r>
            <a:r>
              <a:rPr lang="zh-CN" altLang="en-US" dirty="0"/>
              <a:t>思想</a:t>
            </a:r>
          </a:p>
        </p:txBody>
      </p:sp>
      <p:sp>
        <p:nvSpPr>
          <p:cNvPr id="3" name="内容占位符 2"/>
          <p:cNvSpPr>
            <a:spLocks noGrp="1"/>
          </p:cNvSpPr>
          <p:nvPr>
            <p:ph idx="1"/>
          </p:nvPr>
        </p:nvSpPr>
        <p:spPr/>
        <p:txBody>
          <a:bodyPr/>
          <a:lstStyle/>
          <a:p>
            <a:r>
              <a:rPr lang="zh-CN" altLang="en-US" dirty="0" smtClean="0"/>
              <a:t>为什么需要</a:t>
            </a:r>
            <a:r>
              <a:rPr lang="en-US" altLang="zh-CN" dirty="0" err="1" smtClean="0"/>
              <a:t>MapReduce</a:t>
            </a:r>
            <a:endParaRPr lang="en-US" altLang="zh-CN" dirty="0" smtClean="0"/>
          </a:p>
          <a:p>
            <a:pPr lvl="1"/>
            <a:r>
              <a:rPr lang="en-US" altLang="zh-CN" dirty="0" smtClean="0"/>
              <a:t>1994</a:t>
            </a:r>
            <a:r>
              <a:rPr lang="zh-CN" altLang="en-US" dirty="0" smtClean="0"/>
              <a:t>年</a:t>
            </a:r>
            <a:r>
              <a:rPr lang="en-US" altLang="zh-CN" dirty="0" smtClean="0"/>
              <a:t>5</a:t>
            </a:r>
            <a:r>
              <a:rPr lang="zh-CN" altLang="en-US" dirty="0" smtClean="0"/>
              <a:t>月，</a:t>
            </a:r>
            <a:r>
              <a:rPr lang="en-US" altLang="zh-CN" dirty="0" err="1" smtClean="0"/>
              <a:t>MPI（message</a:t>
            </a:r>
            <a:r>
              <a:rPr lang="en-US" altLang="zh-CN" dirty="0" smtClean="0"/>
              <a:t> passing interface）</a:t>
            </a:r>
            <a:r>
              <a:rPr lang="zh-CN" altLang="en-US" dirty="0" smtClean="0"/>
              <a:t>发布，提供了分布式环境下的一种并行编程范式</a:t>
            </a:r>
            <a:endParaRPr lang="en-US" altLang="zh-CN" dirty="0" smtClean="0"/>
          </a:p>
          <a:p>
            <a:pPr lvl="2"/>
            <a:r>
              <a:rPr lang="zh-CN" altLang="en-US" dirty="0" smtClean="0"/>
              <a:t>计算由一个或多个彼此通过调用库函数进行消息收、发通信的进程组成</a:t>
            </a:r>
            <a:endParaRPr lang="en-US" altLang="zh-CN" dirty="0" smtClean="0"/>
          </a:p>
          <a:p>
            <a:pPr lvl="2"/>
            <a:r>
              <a:rPr lang="zh-CN" altLang="en-US" dirty="0" smtClean="0"/>
              <a:t>程序员通过调用</a:t>
            </a:r>
            <a:r>
              <a:rPr lang="en-US" altLang="zh-CN" dirty="0" smtClean="0"/>
              <a:t>MPI</a:t>
            </a:r>
            <a:r>
              <a:rPr lang="zh-CN" altLang="en-US" dirty="0" smtClean="0"/>
              <a:t>提供的程序接口达到并行编程的目的</a:t>
            </a:r>
            <a:endParaRPr lang="zh-CN" altLang="en-US" dirty="0"/>
          </a:p>
          <a:p>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27784" y="4797152"/>
            <a:ext cx="4320000" cy="1834576"/>
          </a:xfrm>
          <a:prstGeom prst="rect">
            <a:avLst/>
          </a:prstGeom>
        </p:spPr>
      </p:pic>
    </p:spTree>
    <p:extLst>
      <p:ext uri="{BB962C8B-B14F-4D97-AF65-F5344CB8AC3E}">
        <p14:creationId xmlns:p14="http://schemas.microsoft.com/office/powerpoint/2010/main" val="30549123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smtClean="0"/>
              <a:t>MPI</a:t>
            </a:r>
            <a:r>
              <a:rPr lang="zh-CN" altLang="en-US" dirty="0" smtClean="0"/>
              <a:t>编程范式的缺点</a:t>
            </a:r>
            <a:endParaRPr lang="en-US" altLang="zh-CN" dirty="0" smtClean="0"/>
          </a:p>
          <a:p>
            <a:pPr lvl="1"/>
            <a:r>
              <a:rPr lang="zh-CN" altLang="en-US" dirty="0" smtClean="0"/>
              <a:t>从用户编程的角度看，程序员需要考虑进程之间的并行问题，并且进程之间的通信需要用户在程序中显式表达，无疑增加了程序员编程的</a:t>
            </a:r>
            <a:r>
              <a:rPr lang="zh-CN" altLang="en-US" dirty="0" smtClean="0">
                <a:solidFill>
                  <a:srgbClr val="FF0000"/>
                </a:solidFill>
              </a:rPr>
              <a:t>复杂</a:t>
            </a:r>
            <a:r>
              <a:rPr lang="zh-CN" altLang="en-US" dirty="0" smtClean="0"/>
              <a:t>性</a:t>
            </a:r>
            <a:endParaRPr lang="en-US" altLang="zh-CN" dirty="0" smtClean="0"/>
          </a:p>
          <a:p>
            <a:pPr lvl="1"/>
            <a:r>
              <a:rPr lang="zh-CN" altLang="en-US" dirty="0" smtClean="0"/>
              <a:t>从系统实现的角度看，</a:t>
            </a:r>
            <a:r>
              <a:rPr lang="en-US" altLang="zh-CN" dirty="0" smtClean="0"/>
              <a:t>MPI</a:t>
            </a:r>
            <a:r>
              <a:rPr lang="zh-CN" altLang="en-US" dirty="0" smtClean="0"/>
              <a:t>程序以多进程方式运行，但</a:t>
            </a:r>
            <a:r>
              <a:rPr lang="en-US" altLang="zh-CN" dirty="0"/>
              <a:t>MPI</a:t>
            </a:r>
            <a:r>
              <a:rPr lang="zh-CN" altLang="en-US" dirty="0"/>
              <a:t>编程框架本身</a:t>
            </a:r>
            <a:r>
              <a:rPr lang="zh-CN" altLang="en-US" dirty="0">
                <a:solidFill>
                  <a:srgbClr val="FF0000"/>
                </a:solidFill>
              </a:rPr>
              <a:t>并不提供容错</a:t>
            </a:r>
            <a:r>
              <a:rPr lang="zh-CN" altLang="en-US" dirty="0" smtClean="0">
                <a:solidFill>
                  <a:srgbClr val="FF0000"/>
                </a:solidFill>
              </a:rPr>
              <a:t>功能</a:t>
            </a:r>
            <a:r>
              <a:rPr lang="zh-CN" altLang="en-US" dirty="0" smtClean="0"/>
              <a:t>。如果</a:t>
            </a:r>
            <a:r>
              <a:rPr lang="zh-CN" altLang="en-US" dirty="0"/>
              <a:t>在运行过程中某一进程因故障而崩溃，</a:t>
            </a:r>
            <a:r>
              <a:rPr lang="zh-CN" altLang="en-US" dirty="0" smtClean="0"/>
              <a:t>那么程序就会运行失败，需要重新运行。除非</a:t>
            </a:r>
            <a:r>
              <a:rPr lang="zh-CN" altLang="en-US" dirty="0"/>
              <a:t>用户在编写程序的时候添加了故障</a:t>
            </a:r>
            <a:r>
              <a:rPr lang="zh-CN" altLang="en-US" dirty="0" smtClean="0"/>
              <a:t>恢复功能。</a:t>
            </a:r>
            <a:endParaRPr lang="zh-CN" altLang="en-US" dirty="0"/>
          </a:p>
        </p:txBody>
      </p:sp>
      <p:sp>
        <p:nvSpPr>
          <p:cNvPr id="4" name="标题 3"/>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918925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3.1.1 </a:t>
            </a:r>
            <a:r>
              <a:rPr lang="zh-CN" altLang="en-US" dirty="0" smtClean="0"/>
              <a:t>设计思想</a:t>
            </a:r>
            <a:endParaRPr lang="zh-CN" altLang="en-US" dirty="0"/>
          </a:p>
        </p:txBody>
      </p:sp>
      <p:sp>
        <p:nvSpPr>
          <p:cNvPr id="3" name="内容占位符 2"/>
          <p:cNvSpPr>
            <a:spLocks noGrp="1"/>
          </p:cNvSpPr>
          <p:nvPr>
            <p:ph idx="1"/>
          </p:nvPr>
        </p:nvSpPr>
        <p:spPr/>
        <p:txBody>
          <a:bodyPr>
            <a:normAutofit fontScale="92500"/>
          </a:bodyPr>
          <a:lstStyle/>
          <a:p>
            <a:r>
              <a:rPr lang="zh-CN" altLang="en-US" dirty="0"/>
              <a:t>为什么需要</a:t>
            </a:r>
            <a:r>
              <a:rPr lang="en-US" altLang="zh-CN" dirty="0"/>
              <a:t>MapReduce</a:t>
            </a:r>
          </a:p>
          <a:p>
            <a:pPr lvl="1"/>
            <a:r>
              <a:rPr lang="en-US" altLang="zh-CN" dirty="0"/>
              <a:t>MapReduce</a:t>
            </a:r>
            <a:r>
              <a:rPr lang="zh-CN" altLang="zh-CN" dirty="0"/>
              <a:t>采用了分布式的计算模型，可以避免传统多线程处理方案的缺陷。</a:t>
            </a:r>
          </a:p>
          <a:p>
            <a:pPr lvl="2"/>
            <a:r>
              <a:rPr lang="zh-CN" altLang="zh-CN" dirty="0"/>
              <a:t>不需要人为地进行任务划分</a:t>
            </a:r>
            <a:r>
              <a:rPr lang="zh-CN" altLang="en-US" dirty="0"/>
              <a:t>。</a:t>
            </a:r>
            <a:r>
              <a:rPr lang="en-US" altLang="zh-CN" dirty="0"/>
              <a:t>MapReduce</a:t>
            </a:r>
            <a:r>
              <a:rPr lang="zh-CN" altLang="zh-CN" dirty="0"/>
              <a:t>框架可以根据数据存储的位置进行任务的分配，提高计算速度。</a:t>
            </a:r>
          </a:p>
          <a:p>
            <a:pPr lvl="2"/>
            <a:r>
              <a:rPr lang="zh-CN" altLang="zh-CN" dirty="0"/>
              <a:t>无论是拆分、排序，还是合并、输出，</a:t>
            </a:r>
            <a:r>
              <a:rPr lang="en-US" altLang="zh-CN" dirty="0"/>
              <a:t>MapReduce</a:t>
            </a:r>
            <a:r>
              <a:rPr lang="zh-CN" altLang="zh-CN" dirty="0"/>
              <a:t>都提供了默认的方法，在不需要重写这些方法时可以直接调用默认方法，节约编程时间，提高效率。</a:t>
            </a:r>
          </a:p>
          <a:p>
            <a:pPr lvl="2"/>
            <a:r>
              <a:rPr lang="zh-CN" altLang="zh-CN" dirty="0"/>
              <a:t>计算速度将不再受计算机硬件的限制。</a:t>
            </a:r>
            <a:r>
              <a:rPr lang="en-US" altLang="zh-CN" dirty="0"/>
              <a:t> MapReduce</a:t>
            </a:r>
            <a:r>
              <a:rPr lang="zh-CN" altLang="zh-CN" dirty="0"/>
              <a:t>是一个分布式的框架，程序分布式执行，仅依赖于集群的数量，能大大提高数据的处理速度。</a:t>
            </a:r>
          </a:p>
          <a:p>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ym typeface="+mn-ea"/>
              </a:rPr>
              <a:t>3.1.1 </a:t>
            </a:r>
            <a:r>
              <a:rPr lang="zh-CN" altLang="en-US" dirty="0" smtClean="0">
                <a:sym typeface="+mn-ea"/>
              </a:rPr>
              <a:t>设计思想</a:t>
            </a:r>
            <a:endParaRPr lang="zh-CN" altLang="en-US" dirty="0"/>
          </a:p>
        </p:txBody>
      </p:sp>
      <p:sp>
        <p:nvSpPr>
          <p:cNvPr id="3" name="内容占位符 2"/>
          <p:cNvSpPr>
            <a:spLocks noGrp="1"/>
          </p:cNvSpPr>
          <p:nvPr>
            <p:ph idx="1"/>
          </p:nvPr>
        </p:nvSpPr>
        <p:spPr/>
        <p:txBody>
          <a:bodyPr/>
          <a:lstStyle/>
          <a:p>
            <a:r>
              <a:rPr lang="zh-CN" altLang="en-US" dirty="0"/>
              <a:t>发展历史</a:t>
            </a:r>
            <a:endParaRPr lang="en-US" altLang="zh-CN" dirty="0"/>
          </a:p>
          <a:p>
            <a:pPr lvl="1"/>
            <a:r>
              <a:rPr lang="en-US" altLang="zh-CN" dirty="0"/>
              <a:t>Google MapReduce</a:t>
            </a:r>
          </a:p>
          <a:p>
            <a:pPr lvl="2"/>
            <a:r>
              <a:rPr lang="en-US" altLang="zh-CN" sz="2000" dirty="0"/>
              <a:t>2004</a:t>
            </a:r>
            <a:r>
              <a:rPr lang="zh-CN" altLang="en-US" sz="2000" dirty="0"/>
              <a:t>年，</a:t>
            </a:r>
            <a:r>
              <a:rPr lang="en-US" altLang="zh-CN" sz="2000" dirty="0"/>
              <a:t>Google</a:t>
            </a:r>
            <a:r>
              <a:rPr lang="zh-CN" altLang="en-US" sz="2000" dirty="0"/>
              <a:t>发表论文</a:t>
            </a:r>
            <a:r>
              <a:rPr lang="en-US" altLang="zh-CN" sz="2000" dirty="0"/>
              <a:t>“MapReduce: Simplified Data Processing on Large Clusters”</a:t>
            </a:r>
            <a:r>
              <a:rPr lang="zh-CN" altLang="en-US" sz="2000" dirty="0"/>
              <a:t>，公布了</a:t>
            </a:r>
            <a:r>
              <a:rPr lang="en-US" altLang="zh-CN" sz="2000" dirty="0"/>
              <a:t>MapReduce</a:t>
            </a:r>
            <a:r>
              <a:rPr lang="zh-CN" altLang="en-US" sz="2000" dirty="0"/>
              <a:t>的基本原理和主要设计思想。</a:t>
            </a:r>
            <a:endParaRPr lang="en-US" altLang="zh-CN" sz="2000" dirty="0"/>
          </a:p>
          <a:p>
            <a:pPr lvl="1"/>
            <a:r>
              <a:rPr lang="en-US" altLang="zh-CN" dirty="0"/>
              <a:t>Hadoop MapReduce</a:t>
            </a:r>
          </a:p>
          <a:p>
            <a:pPr lvl="2"/>
            <a:r>
              <a:rPr lang="en-US" altLang="zh-CN" sz="2000" dirty="0"/>
              <a:t>2004</a:t>
            </a:r>
            <a:r>
              <a:rPr lang="zh-CN" altLang="en-US" sz="2000" dirty="0"/>
              <a:t>年，</a:t>
            </a:r>
            <a:r>
              <a:rPr lang="en-US" altLang="zh-CN" sz="2000" dirty="0"/>
              <a:t>Doug Cutting</a:t>
            </a:r>
            <a:r>
              <a:rPr lang="zh-CN" altLang="en-US" sz="2000" dirty="0"/>
              <a:t>（开源项目</a:t>
            </a:r>
            <a:r>
              <a:rPr lang="en-US" altLang="zh-CN" sz="2000" dirty="0"/>
              <a:t>Lucene( </a:t>
            </a:r>
            <a:r>
              <a:rPr lang="zh-CN" altLang="en-US" sz="2000" dirty="0"/>
              <a:t>搜索索引程序库</a:t>
            </a:r>
            <a:r>
              <a:rPr lang="en-US" altLang="zh-CN" sz="2000" dirty="0"/>
              <a:t>)</a:t>
            </a:r>
            <a:r>
              <a:rPr lang="zh-CN" altLang="en-US" sz="2000" dirty="0"/>
              <a:t>和</a:t>
            </a:r>
            <a:r>
              <a:rPr lang="en-US" altLang="zh-CN" sz="2000" dirty="0" err="1"/>
              <a:t>Nutch</a:t>
            </a:r>
            <a:r>
              <a:rPr lang="en-US" altLang="zh-CN" sz="2000" dirty="0"/>
              <a:t>(</a:t>
            </a:r>
            <a:r>
              <a:rPr lang="zh-CN" altLang="en-US" sz="2000" dirty="0"/>
              <a:t>搜索引擎</a:t>
            </a:r>
            <a:r>
              <a:rPr lang="en-US" altLang="zh-CN" sz="2000" dirty="0"/>
              <a:t>)</a:t>
            </a:r>
            <a:r>
              <a:rPr lang="zh-CN" altLang="en-US" sz="2000" dirty="0"/>
              <a:t>的创始人）发现</a:t>
            </a:r>
            <a:r>
              <a:rPr lang="en-US" altLang="zh-CN" sz="2000" dirty="0"/>
              <a:t>MapReduce</a:t>
            </a:r>
            <a:r>
              <a:rPr lang="zh-CN" altLang="en-US" sz="2000" dirty="0"/>
              <a:t>正是其所需要的解决大规模分布数据处理的重要技术，因而模仿</a:t>
            </a:r>
            <a:r>
              <a:rPr lang="en-US" altLang="zh-CN" sz="2000" dirty="0"/>
              <a:t>Google MapReduce</a:t>
            </a:r>
            <a:r>
              <a:rPr lang="zh-CN" altLang="en-US" sz="2000" dirty="0"/>
              <a:t>，基于</a:t>
            </a:r>
            <a:r>
              <a:rPr lang="en-US" altLang="zh-CN" sz="2000" dirty="0"/>
              <a:t>Java</a:t>
            </a:r>
            <a:r>
              <a:rPr lang="zh-CN" altLang="en-US" sz="2000" dirty="0"/>
              <a:t>设计出了称为</a:t>
            </a:r>
            <a:r>
              <a:rPr lang="en-US" altLang="zh-CN" sz="2000" dirty="0"/>
              <a:t>Hadoop</a:t>
            </a:r>
            <a:r>
              <a:rPr lang="zh-CN" altLang="en-US" sz="2000" dirty="0"/>
              <a:t>的开源</a:t>
            </a:r>
            <a:r>
              <a:rPr lang="en-US" altLang="zh-CN" sz="2000" dirty="0"/>
              <a:t>MapReduce</a:t>
            </a:r>
            <a:r>
              <a:rPr lang="zh-CN" altLang="en-US" sz="2000" dirty="0"/>
              <a:t>。</a:t>
            </a:r>
          </a:p>
          <a:p>
            <a:pPr lvl="2"/>
            <a:endParaRPr lang="en-US" altLang="zh-CN" dirty="0"/>
          </a:p>
          <a:p>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ym typeface="+mn-ea"/>
              </a:rPr>
              <a:t>3.1.1 </a:t>
            </a:r>
            <a:r>
              <a:rPr lang="zh-CN" altLang="en-US" dirty="0" smtClean="0">
                <a:sym typeface="+mn-ea"/>
              </a:rPr>
              <a:t>设计思想</a:t>
            </a:r>
            <a:endParaRPr lang="zh-CN" altLang="en-US" dirty="0"/>
          </a:p>
        </p:txBody>
      </p:sp>
      <p:sp>
        <p:nvSpPr>
          <p:cNvPr id="3" name="内容占位符 2"/>
          <p:cNvSpPr>
            <a:spLocks noGrp="1"/>
          </p:cNvSpPr>
          <p:nvPr>
            <p:ph idx="1"/>
          </p:nvPr>
        </p:nvSpPr>
        <p:spPr/>
        <p:txBody>
          <a:bodyPr/>
          <a:lstStyle/>
          <a:p>
            <a:r>
              <a:rPr lang="zh-CN" altLang="en-US" dirty="0"/>
              <a:t>发展历史</a:t>
            </a:r>
            <a:endParaRPr lang="en-US" altLang="zh-CN" dirty="0"/>
          </a:p>
          <a:p>
            <a:pPr lvl="1"/>
            <a:r>
              <a:rPr lang="zh-CN" altLang="en-US" dirty="0" smtClean="0"/>
              <a:t>从</a:t>
            </a:r>
            <a:r>
              <a:rPr lang="en-US" altLang="zh-CN" dirty="0" smtClean="0"/>
              <a:t>Hadoop 2.X</a:t>
            </a:r>
            <a:r>
              <a:rPr lang="zh-CN" altLang="en-US" dirty="0" smtClean="0"/>
              <a:t>开始</a:t>
            </a:r>
            <a:r>
              <a:rPr lang="zh-CN" altLang="zh-CN" dirty="0" smtClean="0"/>
              <a:t>，</a:t>
            </a:r>
            <a:r>
              <a:rPr lang="zh-CN" altLang="zh-CN" dirty="0"/>
              <a:t>将资源管理功能剥离为一种通用的分布式应用管理框架</a:t>
            </a:r>
            <a:r>
              <a:rPr lang="en-US" altLang="zh-CN" dirty="0"/>
              <a:t>YARN</a:t>
            </a:r>
            <a:r>
              <a:rPr lang="zh-CN" altLang="zh-CN" dirty="0"/>
              <a:t>，</a:t>
            </a:r>
            <a:r>
              <a:rPr lang="en-US" altLang="zh-CN" dirty="0"/>
              <a:t>MapReduce</a:t>
            </a:r>
            <a:r>
              <a:rPr lang="zh-CN" altLang="zh-CN" dirty="0"/>
              <a:t>仍然是一个纯分布式计算框架</a:t>
            </a:r>
            <a:endParaRPr lang="en-US" altLang="zh-CN" dirty="0"/>
          </a:p>
          <a:p>
            <a:pPr lvl="1"/>
            <a:endParaRPr lang="en-US" altLang="zh-CN" dirty="0"/>
          </a:p>
          <a:p>
            <a:endParaRPr lang="zh-CN" altLang="en-US" dirty="0"/>
          </a:p>
        </p:txBody>
      </p:sp>
      <p:pic>
        <p:nvPicPr>
          <p:cNvPr id="4" name="图片 3" descr="1011838-20181214213729657-95804605"/>
          <p:cNvPicPr>
            <a:picLocks noChangeAspect="1"/>
          </p:cNvPicPr>
          <p:nvPr/>
        </p:nvPicPr>
        <p:blipFill>
          <a:blip r:embed="rId2"/>
          <a:stretch>
            <a:fillRect/>
          </a:stretch>
        </p:blipFill>
        <p:spPr>
          <a:xfrm>
            <a:off x="1835696" y="3501008"/>
            <a:ext cx="5184576" cy="25833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ym typeface="+mn-ea"/>
              </a:rPr>
              <a:t>3.1.1 </a:t>
            </a:r>
            <a:r>
              <a:rPr lang="zh-CN" altLang="en-US" dirty="0" smtClean="0">
                <a:sym typeface="+mn-ea"/>
              </a:rPr>
              <a:t>设计思想</a:t>
            </a:r>
            <a:endParaRPr lang="zh-CN" altLang="en-US" dirty="0"/>
          </a:p>
        </p:txBody>
      </p:sp>
      <p:sp>
        <p:nvSpPr>
          <p:cNvPr id="3" name="内容占位符 2"/>
          <p:cNvSpPr>
            <a:spLocks noGrp="1"/>
          </p:cNvSpPr>
          <p:nvPr>
            <p:ph idx="1"/>
          </p:nvPr>
        </p:nvSpPr>
        <p:spPr/>
        <p:txBody>
          <a:bodyPr>
            <a:normAutofit fontScale="92500"/>
          </a:bodyPr>
          <a:lstStyle/>
          <a:p>
            <a:r>
              <a:rPr lang="en-US" altLang="zh-CN" dirty="0"/>
              <a:t>MapReduce</a:t>
            </a:r>
            <a:r>
              <a:rPr lang="zh-CN" altLang="en-US" dirty="0"/>
              <a:t>三个基本思想</a:t>
            </a:r>
            <a:endParaRPr lang="en-US" altLang="zh-CN" dirty="0"/>
          </a:p>
          <a:p>
            <a:pPr lvl="1"/>
            <a:r>
              <a:rPr lang="zh-CN" altLang="en-US" dirty="0"/>
              <a:t>如何对付大数据：</a:t>
            </a:r>
            <a:r>
              <a:rPr lang="zh-CN" altLang="en-US" dirty="0">
                <a:solidFill>
                  <a:srgbClr val="FF0000"/>
                </a:solidFill>
              </a:rPr>
              <a:t>分而治之</a:t>
            </a:r>
          </a:p>
          <a:p>
            <a:pPr lvl="2"/>
            <a:r>
              <a:rPr lang="zh-CN" altLang="en-US" dirty="0"/>
              <a:t>对相互间不具有计算依赖关系的大数据，实行并行最自然的方式就是分而治之（</a:t>
            </a:r>
            <a:r>
              <a:rPr lang="en-US" altLang="zh-CN" dirty="0"/>
              <a:t>divide-and-conquer</a:t>
            </a:r>
            <a:r>
              <a:rPr lang="zh-CN" altLang="en-US" dirty="0"/>
              <a:t>）。</a:t>
            </a:r>
          </a:p>
          <a:p>
            <a:pPr lvl="1"/>
            <a:r>
              <a:rPr lang="zh-CN" altLang="en-US" dirty="0"/>
              <a:t>上升到抽象模型：</a:t>
            </a:r>
            <a:r>
              <a:rPr lang="en-US" altLang="zh-CN" dirty="0">
                <a:solidFill>
                  <a:srgbClr val="FF0000"/>
                </a:solidFill>
              </a:rPr>
              <a:t>Mapper</a:t>
            </a:r>
            <a:r>
              <a:rPr lang="zh-CN" altLang="en-US" dirty="0">
                <a:solidFill>
                  <a:srgbClr val="FF0000"/>
                </a:solidFill>
              </a:rPr>
              <a:t>和</a:t>
            </a:r>
            <a:r>
              <a:rPr lang="en-US" altLang="zh-CN" dirty="0">
                <a:solidFill>
                  <a:srgbClr val="FF0000"/>
                </a:solidFill>
              </a:rPr>
              <a:t>Reducer</a:t>
            </a:r>
          </a:p>
          <a:p>
            <a:pPr lvl="2"/>
            <a:r>
              <a:rPr lang="en-US" altLang="zh-CN" dirty="0"/>
              <a:t>MapReduce</a:t>
            </a:r>
            <a:r>
              <a:rPr lang="zh-CN" altLang="en-US" dirty="0"/>
              <a:t>借鉴了</a:t>
            </a:r>
            <a:r>
              <a:rPr lang="en-US" altLang="zh-CN" dirty="0"/>
              <a:t>Lisp</a:t>
            </a:r>
            <a:r>
              <a:rPr lang="zh-CN" altLang="en-US" dirty="0"/>
              <a:t>函数式语言中的思想，用</a:t>
            </a:r>
            <a:r>
              <a:rPr lang="en-US" altLang="zh-CN" dirty="0"/>
              <a:t>Map</a:t>
            </a:r>
            <a:r>
              <a:rPr lang="zh-CN" altLang="en-US" dirty="0"/>
              <a:t>和</a:t>
            </a:r>
            <a:r>
              <a:rPr lang="en-US" altLang="zh-CN" dirty="0"/>
              <a:t>Reduce</a:t>
            </a:r>
            <a:r>
              <a:rPr lang="zh-CN" altLang="en-US" dirty="0"/>
              <a:t>两个函数提供了高层的并行编程抽象模型。</a:t>
            </a:r>
          </a:p>
          <a:p>
            <a:pPr lvl="1"/>
            <a:r>
              <a:rPr lang="zh-CN" altLang="en-US" dirty="0"/>
              <a:t>上升到构架：</a:t>
            </a:r>
            <a:r>
              <a:rPr lang="zh-CN" altLang="en-US" dirty="0">
                <a:solidFill>
                  <a:srgbClr val="FF0000"/>
                </a:solidFill>
              </a:rPr>
              <a:t>统一构架，为程序员隐藏系统细节</a:t>
            </a:r>
          </a:p>
          <a:p>
            <a:pPr lvl="2"/>
            <a:r>
              <a:rPr lang="en-US" altLang="zh-CN" dirty="0"/>
              <a:t>MapReduce</a:t>
            </a:r>
            <a:r>
              <a:rPr lang="zh-CN" altLang="en-US" dirty="0"/>
              <a:t>设计并提供了统一的计算框架，为程序员隐藏了绝大多数系统层面的处理细节。</a:t>
            </a:r>
          </a:p>
          <a:p>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3.1.1 </a:t>
            </a:r>
            <a:r>
              <a:rPr lang="zh-CN" altLang="en-US" dirty="0" smtClean="0"/>
              <a:t>设计思想</a:t>
            </a:r>
            <a:endParaRPr lang="zh-CN" altLang="en-US" dirty="0"/>
          </a:p>
        </p:txBody>
      </p:sp>
      <p:sp>
        <p:nvSpPr>
          <p:cNvPr id="6" name="内容占位符 5"/>
          <p:cNvSpPr>
            <a:spLocks noGrp="1"/>
          </p:cNvSpPr>
          <p:nvPr>
            <p:ph idx="1"/>
          </p:nvPr>
        </p:nvSpPr>
        <p:spPr/>
        <p:txBody>
          <a:bodyPr/>
          <a:lstStyle/>
          <a:p>
            <a:r>
              <a:rPr lang="en-US" altLang="zh-CN" dirty="0"/>
              <a:t>MapReduce</a:t>
            </a:r>
            <a:r>
              <a:rPr lang="zh-CN" altLang="en-US" dirty="0"/>
              <a:t>设计思想</a:t>
            </a:r>
            <a:endParaRPr lang="en-US" altLang="zh-CN" dirty="0"/>
          </a:p>
          <a:p>
            <a:pPr lvl="1"/>
            <a:r>
              <a:rPr lang="zh-CN" altLang="en-US" dirty="0"/>
              <a:t>从</a:t>
            </a:r>
            <a:r>
              <a:rPr lang="en-US" altLang="zh-CN" dirty="0"/>
              <a:t>HDFS</a:t>
            </a:r>
            <a:r>
              <a:rPr lang="zh-CN" altLang="en-US" dirty="0"/>
              <a:t>中获得输入数据，将大数据集分割成小数据集，然后并行计算小数据集，最后将小数据集的结果汇总，得到最终计算结果</a:t>
            </a:r>
          </a:p>
        </p:txBody>
      </p:sp>
      <p:pic>
        <p:nvPicPr>
          <p:cNvPr id="7"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627784" y="3205162"/>
            <a:ext cx="3362325"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lstStyle/>
          <a:p>
            <a:r>
              <a:rPr lang="en-US" altLang="zh-CN" dirty="0" err="1" smtClean="0"/>
              <a:t>MapReduce</a:t>
            </a:r>
            <a:r>
              <a:rPr lang="zh-CN" altLang="en-US" dirty="0" smtClean="0"/>
              <a:t>系统采用</a:t>
            </a:r>
            <a:r>
              <a:rPr lang="en-US" altLang="zh-CN" dirty="0" smtClean="0"/>
              <a:t>“Master/Slave”</a:t>
            </a:r>
            <a:r>
              <a:rPr lang="zh-CN" altLang="en-US" dirty="0" smtClean="0"/>
              <a:t>架构</a:t>
            </a:r>
            <a:endParaRPr lang="en-US" altLang="zh-CN" dirty="0" smtClean="0"/>
          </a:p>
          <a:p>
            <a:pPr lvl="1"/>
            <a:r>
              <a:rPr lang="en-US" altLang="zh-CN" dirty="0" err="1" smtClean="0"/>
              <a:t>JobTracer</a:t>
            </a:r>
            <a:endParaRPr lang="en-US" altLang="zh-CN" dirty="0" smtClean="0"/>
          </a:p>
          <a:p>
            <a:pPr lvl="1"/>
            <a:r>
              <a:rPr lang="en-US" altLang="zh-CN" dirty="0" err="1" smtClean="0"/>
              <a:t>TaskTracer</a:t>
            </a:r>
            <a:endParaRPr lang="en-US" altLang="zh-CN" dirty="0" smtClean="0"/>
          </a:p>
          <a:p>
            <a:pPr lvl="1"/>
            <a:r>
              <a:rPr lang="en-US" altLang="zh-CN" dirty="0" smtClean="0"/>
              <a:t>Task</a:t>
            </a:r>
          </a:p>
          <a:p>
            <a:pPr lvl="1"/>
            <a:r>
              <a:rPr lang="zh-CN" altLang="en-US" dirty="0" smtClean="0"/>
              <a:t>客户端</a:t>
            </a:r>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8000" y="2060848"/>
            <a:ext cx="5040000" cy="3722310"/>
          </a:xfrm>
          <a:prstGeom prst="rect">
            <a:avLst/>
          </a:prstGeom>
        </p:spPr>
      </p:pic>
    </p:spTree>
    <p:extLst>
      <p:ext uri="{BB962C8B-B14F-4D97-AF65-F5344CB8AC3E}">
        <p14:creationId xmlns:p14="http://schemas.microsoft.com/office/powerpoint/2010/main" val="19002885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lstStyle/>
          <a:p>
            <a:r>
              <a:rPr lang="en-US" altLang="zh-CN" dirty="0" err="1"/>
              <a:t>MapReduce</a:t>
            </a:r>
            <a:r>
              <a:rPr lang="zh-CN" altLang="en-US" dirty="0"/>
              <a:t>系统采用</a:t>
            </a:r>
            <a:r>
              <a:rPr lang="en-US" altLang="zh-CN" dirty="0"/>
              <a:t>“Master/Slave”</a:t>
            </a:r>
            <a:r>
              <a:rPr lang="zh-CN" altLang="en-US" dirty="0"/>
              <a:t>架构</a:t>
            </a:r>
            <a:endParaRPr lang="en-US" altLang="zh-CN" dirty="0"/>
          </a:p>
          <a:p>
            <a:pPr lvl="1"/>
            <a:r>
              <a:rPr lang="en-US" altLang="zh-CN" dirty="0" err="1" smtClean="0"/>
              <a:t>JobTracer</a:t>
            </a:r>
            <a:r>
              <a:rPr lang="en-US" altLang="zh-CN" dirty="0" smtClean="0"/>
              <a:t>:</a:t>
            </a:r>
            <a:r>
              <a:rPr lang="zh-CN" altLang="en-US" dirty="0" smtClean="0"/>
              <a:t>主节点运行的后台进程，负责整个集群的资源管理和作业管理</a:t>
            </a:r>
            <a:endParaRPr lang="en-US" altLang="zh-CN" dirty="0" smtClean="0"/>
          </a:p>
          <a:p>
            <a:pPr lvl="2"/>
            <a:r>
              <a:rPr lang="zh-CN" altLang="en-US" dirty="0" smtClean="0"/>
              <a:t>资源管理：通过监控</a:t>
            </a:r>
            <a:r>
              <a:rPr lang="en-US" altLang="zh-CN" dirty="0" err="1" smtClean="0"/>
              <a:t>TaskTracer</a:t>
            </a:r>
            <a:r>
              <a:rPr lang="zh-CN" altLang="en-US" dirty="0" smtClean="0"/>
              <a:t>管理</a:t>
            </a:r>
            <a:r>
              <a:rPr lang="zh-CN" altLang="en-US" dirty="0"/>
              <a:t>集群</a:t>
            </a:r>
            <a:r>
              <a:rPr lang="zh-CN" altLang="en-US" dirty="0" smtClean="0"/>
              <a:t>拥有的计算资源</a:t>
            </a:r>
            <a:endParaRPr lang="en-US" altLang="zh-CN" dirty="0" smtClean="0"/>
          </a:p>
          <a:p>
            <a:pPr lvl="2"/>
            <a:r>
              <a:rPr lang="zh-CN" altLang="en-US" dirty="0" smtClean="0"/>
              <a:t>作业管理：将作业（</a:t>
            </a:r>
            <a:r>
              <a:rPr lang="en-US" altLang="zh-CN" dirty="0" smtClean="0"/>
              <a:t>Job</a:t>
            </a:r>
            <a:r>
              <a:rPr lang="zh-CN" altLang="en-US" dirty="0" smtClean="0"/>
              <a:t>）拆分成任务（</a:t>
            </a:r>
            <a:r>
              <a:rPr lang="en-US" altLang="zh-CN" dirty="0" smtClean="0"/>
              <a:t>Task</a:t>
            </a:r>
            <a:r>
              <a:rPr lang="zh-CN" altLang="en-US" dirty="0" smtClean="0"/>
              <a:t>），并进行任务调度以及跟踪任务的运行进度、资源使用等信息</a:t>
            </a:r>
            <a:endParaRPr lang="zh-CN" altLang="en-US" dirty="0"/>
          </a:p>
        </p:txBody>
      </p:sp>
    </p:spTree>
    <p:extLst>
      <p:ext uri="{BB962C8B-B14F-4D97-AF65-F5344CB8AC3E}">
        <p14:creationId xmlns:p14="http://schemas.microsoft.com/office/powerpoint/2010/main" val="23308728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lstStyle/>
          <a:p>
            <a:r>
              <a:rPr lang="en-US" altLang="zh-CN" dirty="0" err="1"/>
              <a:t>MapReduce</a:t>
            </a:r>
            <a:r>
              <a:rPr lang="zh-CN" altLang="en-US" dirty="0"/>
              <a:t>系统采用</a:t>
            </a:r>
            <a:r>
              <a:rPr lang="en-US" altLang="zh-CN" dirty="0"/>
              <a:t>“Master/Slave”</a:t>
            </a:r>
            <a:r>
              <a:rPr lang="zh-CN" altLang="en-US" dirty="0"/>
              <a:t>架构</a:t>
            </a:r>
            <a:endParaRPr lang="en-US" altLang="zh-CN" dirty="0"/>
          </a:p>
          <a:p>
            <a:pPr lvl="1"/>
            <a:r>
              <a:rPr lang="en-US" altLang="zh-CN" dirty="0" err="1" smtClean="0"/>
              <a:t>TaskTracer</a:t>
            </a:r>
            <a:r>
              <a:rPr lang="en-US" altLang="zh-CN" dirty="0" smtClean="0"/>
              <a:t>:</a:t>
            </a:r>
            <a:r>
              <a:rPr lang="zh-CN" altLang="en-US" dirty="0" smtClean="0"/>
              <a:t>从节点运行的后台进程，负责管理本节点的资源、执行</a:t>
            </a:r>
            <a:r>
              <a:rPr lang="en-US" altLang="zh-CN" dirty="0" err="1" smtClean="0"/>
              <a:t>JobTracer</a:t>
            </a:r>
            <a:r>
              <a:rPr lang="zh-CN" altLang="en-US" dirty="0" smtClean="0"/>
              <a:t>的命令并汇报情况</a:t>
            </a:r>
            <a:endParaRPr lang="en-US" altLang="zh-CN" dirty="0" smtClean="0"/>
          </a:p>
          <a:p>
            <a:pPr lvl="2"/>
            <a:r>
              <a:rPr lang="zh-CN" altLang="en-US" dirty="0" smtClean="0"/>
              <a:t>使用</a:t>
            </a:r>
            <a:r>
              <a:rPr lang="en-US" altLang="zh-CN" dirty="0" smtClean="0"/>
              <a:t>slot</a:t>
            </a:r>
            <a:r>
              <a:rPr lang="zh-CN" altLang="en-US" dirty="0" smtClean="0"/>
              <a:t>等量划分本节点的资源量（</a:t>
            </a:r>
            <a:r>
              <a:rPr lang="en-US" altLang="zh-CN" dirty="0" smtClean="0"/>
              <a:t>CPU</a:t>
            </a:r>
            <a:r>
              <a:rPr lang="zh-CN" altLang="en-US" dirty="0" smtClean="0"/>
              <a:t>、内存等）</a:t>
            </a:r>
            <a:endParaRPr lang="en-US" altLang="zh-CN" dirty="0" smtClean="0"/>
          </a:p>
          <a:p>
            <a:pPr lvl="2"/>
            <a:r>
              <a:rPr lang="zh-CN" altLang="en-US" dirty="0" smtClean="0"/>
              <a:t>接收</a:t>
            </a:r>
            <a:r>
              <a:rPr lang="en-US" altLang="zh-CN" dirty="0" err="1" smtClean="0"/>
              <a:t>JobTracer</a:t>
            </a:r>
            <a:r>
              <a:rPr lang="zh-CN" altLang="en-US" dirty="0" smtClean="0"/>
              <a:t>发送的命令并执行</a:t>
            </a:r>
            <a:endParaRPr lang="en-US" altLang="zh-CN" dirty="0" smtClean="0"/>
          </a:p>
          <a:p>
            <a:pPr lvl="2"/>
            <a:r>
              <a:rPr lang="zh-CN" altLang="en-US" dirty="0" smtClean="0"/>
              <a:t>通过心跳将本节点的资源使用情况和任务运行进度汇报给</a:t>
            </a:r>
            <a:r>
              <a:rPr lang="en-US" altLang="zh-CN" dirty="0" err="1"/>
              <a:t>JobTracer</a:t>
            </a:r>
            <a:endParaRPr lang="zh-CN" altLang="en-US" dirty="0"/>
          </a:p>
        </p:txBody>
      </p:sp>
    </p:spTree>
    <p:extLst>
      <p:ext uri="{BB962C8B-B14F-4D97-AF65-F5344CB8AC3E}">
        <p14:creationId xmlns:p14="http://schemas.microsoft.com/office/powerpoint/2010/main" val="42290807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lstStyle/>
          <a:p>
            <a:r>
              <a:rPr lang="en-US" altLang="zh-CN" dirty="0" err="1"/>
              <a:t>MapReduce</a:t>
            </a:r>
            <a:r>
              <a:rPr lang="zh-CN" altLang="en-US" dirty="0"/>
              <a:t>系统采用</a:t>
            </a:r>
            <a:r>
              <a:rPr lang="en-US" altLang="zh-CN" dirty="0"/>
              <a:t>“Master/Slave”</a:t>
            </a:r>
            <a:r>
              <a:rPr lang="zh-CN" altLang="en-US" dirty="0"/>
              <a:t>架构</a:t>
            </a:r>
            <a:endParaRPr lang="en-US" altLang="zh-CN" dirty="0"/>
          </a:p>
          <a:p>
            <a:pPr lvl="1"/>
            <a:r>
              <a:rPr lang="en-US" altLang="zh-CN" dirty="0" smtClean="0"/>
              <a:t>Task:</a:t>
            </a:r>
            <a:r>
              <a:rPr lang="zh-CN" altLang="en-US" dirty="0" smtClean="0"/>
              <a:t>从节点在应用程序执行过程中启动的进程，负责执行任务</a:t>
            </a:r>
            <a:endParaRPr lang="en-US" altLang="zh-CN" dirty="0" smtClean="0"/>
          </a:p>
          <a:p>
            <a:pPr lvl="2"/>
            <a:r>
              <a:rPr lang="en-US" altLang="zh-CN" dirty="0" err="1" smtClean="0"/>
              <a:t>JobTracer</a:t>
            </a:r>
            <a:r>
              <a:rPr lang="zh-CN" altLang="en-US" dirty="0" smtClean="0"/>
              <a:t>根据</a:t>
            </a:r>
            <a:r>
              <a:rPr lang="en-US" altLang="zh-CN" dirty="0" err="1" smtClean="0"/>
              <a:t>TaskTracer</a:t>
            </a:r>
            <a:r>
              <a:rPr lang="zh-CN" altLang="en-US" dirty="0" smtClean="0"/>
              <a:t>汇报的信息进行调度，命令存在空闲的</a:t>
            </a:r>
            <a:r>
              <a:rPr lang="en-US" altLang="zh-CN" dirty="0" smtClean="0"/>
              <a:t>slot</a:t>
            </a:r>
            <a:r>
              <a:rPr lang="zh-CN" altLang="en-US" dirty="0" smtClean="0"/>
              <a:t>的</a:t>
            </a:r>
            <a:r>
              <a:rPr lang="en-US" altLang="zh-CN" dirty="0" err="1" smtClean="0"/>
              <a:t>TaskTracer</a:t>
            </a:r>
            <a:r>
              <a:rPr lang="zh-CN" altLang="en-US" dirty="0" smtClean="0"/>
              <a:t>启动</a:t>
            </a:r>
            <a:r>
              <a:rPr lang="en-US" altLang="zh-CN" dirty="0" smtClean="0"/>
              <a:t>Task</a:t>
            </a:r>
            <a:r>
              <a:rPr lang="zh-CN" altLang="en-US" dirty="0" smtClean="0"/>
              <a:t>执行</a:t>
            </a:r>
            <a:r>
              <a:rPr lang="en-US" altLang="zh-CN" dirty="0" smtClean="0"/>
              <a:t>Map</a:t>
            </a:r>
            <a:r>
              <a:rPr lang="zh-CN" altLang="en-US" dirty="0" smtClean="0"/>
              <a:t>或</a:t>
            </a:r>
            <a:r>
              <a:rPr lang="en-US" altLang="zh-CN" dirty="0" smtClean="0"/>
              <a:t>Reduce</a:t>
            </a:r>
            <a:r>
              <a:rPr lang="zh-CN" altLang="en-US" dirty="0" smtClean="0"/>
              <a:t>任务</a:t>
            </a:r>
            <a:endParaRPr lang="en-US" altLang="zh-CN" dirty="0" smtClean="0"/>
          </a:p>
          <a:p>
            <a:pPr lvl="1"/>
            <a:r>
              <a:rPr lang="zh-CN" altLang="en-US" dirty="0" smtClean="0"/>
              <a:t>客户端：负责将用户编写的</a:t>
            </a:r>
            <a:r>
              <a:rPr lang="en-US" altLang="zh-CN" dirty="0" err="1" smtClean="0"/>
              <a:t>MapReduce</a:t>
            </a:r>
            <a:r>
              <a:rPr lang="zh-CN" altLang="en-US" dirty="0" smtClean="0"/>
              <a:t>程序提交给</a:t>
            </a:r>
            <a:r>
              <a:rPr lang="en-US" altLang="zh-CN" dirty="0" err="1" smtClean="0"/>
              <a:t>JobTracer</a:t>
            </a:r>
            <a:endParaRPr lang="zh-CN" altLang="en-US" dirty="0"/>
          </a:p>
        </p:txBody>
      </p:sp>
    </p:spTree>
    <p:extLst>
      <p:ext uri="{BB962C8B-B14F-4D97-AF65-F5344CB8AC3E}">
        <p14:creationId xmlns:p14="http://schemas.microsoft.com/office/powerpoint/2010/main" val="16157023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lstStyle/>
          <a:p>
            <a:r>
              <a:rPr lang="zh-CN" altLang="en-US" dirty="0" smtClean="0"/>
              <a:t>在实际使用中，通常将</a:t>
            </a:r>
            <a:r>
              <a:rPr lang="en-US" altLang="zh-CN" dirty="0" err="1" smtClean="0"/>
              <a:t>MapReduce</a:t>
            </a:r>
            <a:r>
              <a:rPr lang="zh-CN" altLang="en-US" dirty="0" smtClean="0"/>
              <a:t>的输入和输出数据均存在</a:t>
            </a:r>
            <a:r>
              <a:rPr lang="en-US" altLang="zh-CN" dirty="0" smtClean="0"/>
              <a:t>HDFS</a:t>
            </a:r>
            <a:r>
              <a:rPr lang="zh-CN" altLang="en-US" dirty="0" smtClean="0"/>
              <a:t>中</a:t>
            </a:r>
            <a:endParaRPr lang="en-US" altLang="zh-CN" dirty="0" smtClean="0"/>
          </a:p>
          <a:p>
            <a:r>
              <a:rPr lang="zh-CN" altLang="en-US" dirty="0" smtClean="0"/>
              <a:t>为避免通过网络读写输入输出数据的高额代价，</a:t>
            </a:r>
            <a:r>
              <a:rPr lang="en-US" altLang="zh-CN" dirty="0" err="1" smtClean="0"/>
              <a:t>MapReduce</a:t>
            </a:r>
            <a:r>
              <a:rPr lang="zh-CN" altLang="en-US" dirty="0" smtClean="0"/>
              <a:t>和</a:t>
            </a:r>
            <a:r>
              <a:rPr lang="en-US" altLang="zh-CN" dirty="0" smtClean="0"/>
              <a:t>HDFS</a:t>
            </a:r>
            <a:r>
              <a:rPr lang="zh-CN" altLang="en-US" dirty="0" smtClean="0"/>
              <a:t>通常部署在同一组物理节点构成的集群中</a:t>
            </a:r>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46900" y="3645024"/>
            <a:ext cx="4320000" cy="3101921"/>
          </a:xfrm>
          <a:prstGeom prst="rect">
            <a:avLst/>
          </a:prstGeom>
        </p:spPr>
      </p:pic>
    </p:spTree>
    <p:extLst>
      <p:ext uri="{BB962C8B-B14F-4D97-AF65-F5344CB8AC3E}">
        <p14:creationId xmlns:p14="http://schemas.microsoft.com/office/powerpoint/2010/main" val="1448855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5" name="内容占位符 4"/>
          <p:cNvSpPr>
            <a:spLocks noGrp="1"/>
          </p:cNvSpPr>
          <p:nvPr>
            <p:ph idx="1"/>
          </p:nvPr>
        </p:nvSpPr>
        <p:spPr/>
        <p:txBody>
          <a:bodyPr/>
          <a:lstStyle/>
          <a:p>
            <a:r>
              <a:rPr lang="en-US" altLang="zh-CN" dirty="0" err="1" smtClean="0"/>
              <a:t>MapReduce</a:t>
            </a:r>
            <a:r>
              <a:rPr lang="zh-CN" altLang="en-US" dirty="0" smtClean="0"/>
              <a:t>应用程序执行流程</a:t>
            </a:r>
            <a:endParaRPr lang="zh-CN" altLang="en-US" dirty="0"/>
          </a:p>
        </p:txBody>
      </p:sp>
      <p:pic>
        <p:nvPicPr>
          <p:cNvPr id="6"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043608" y="2060848"/>
            <a:ext cx="5688632" cy="36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79415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5" name="内容占位符 4"/>
          <p:cNvSpPr>
            <a:spLocks noGrp="1"/>
          </p:cNvSpPr>
          <p:nvPr>
            <p:ph idx="1"/>
          </p:nvPr>
        </p:nvSpPr>
        <p:spPr/>
        <p:txBody>
          <a:bodyPr>
            <a:normAutofit fontScale="62500" lnSpcReduction="20000"/>
          </a:bodyPr>
          <a:lstStyle/>
          <a:p>
            <a:r>
              <a:rPr lang="en-US" altLang="zh-CN" dirty="0" err="1" smtClean="0"/>
              <a:t>MapReduce</a:t>
            </a:r>
            <a:r>
              <a:rPr lang="zh-CN" altLang="en-US" dirty="0" smtClean="0"/>
              <a:t>应用程序执行流程</a:t>
            </a:r>
            <a:endParaRPr lang="en-US" altLang="zh-CN" dirty="0" smtClean="0"/>
          </a:p>
          <a:p>
            <a:pPr lvl="1"/>
            <a:r>
              <a:rPr lang="zh-CN" altLang="en-US" dirty="0" smtClean="0"/>
              <a:t>（</a:t>
            </a:r>
            <a:r>
              <a:rPr lang="en-US" altLang="zh-CN" dirty="0" smtClean="0"/>
              <a:t>1</a:t>
            </a:r>
            <a:r>
              <a:rPr lang="zh-CN" altLang="en-US" dirty="0" smtClean="0"/>
              <a:t>）客户端将编写</a:t>
            </a:r>
            <a:r>
              <a:rPr lang="en-US" altLang="zh-CN" dirty="0" err="1" smtClean="0"/>
              <a:t>MapReduce</a:t>
            </a:r>
            <a:r>
              <a:rPr lang="zh-CN" altLang="en-US" dirty="0" smtClean="0"/>
              <a:t>应用程序（作业）上传至共享文件系统</a:t>
            </a:r>
            <a:endParaRPr lang="en-US" altLang="zh-CN" dirty="0" smtClean="0"/>
          </a:p>
          <a:p>
            <a:pPr lvl="1"/>
            <a:r>
              <a:rPr lang="zh-CN" altLang="en-US" dirty="0" smtClean="0"/>
              <a:t>（</a:t>
            </a:r>
            <a:r>
              <a:rPr lang="en-US" altLang="zh-CN" dirty="0" smtClean="0"/>
              <a:t>2</a:t>
            </a:r>
            <a:r>
              <a:rPr lang="zh-CN" altLang="en-US" dirty="0" smtClean="0"/>
              <a:t>）客户端提交作业给</a:t>
            </a:r>
            <a:r>
              <a:rPr lang="en-US" altLang="zh-CN" dirty="0" err="1" smtClean="0"/>
              <a:t>JobTracer</a:t>
            </a:r>
            <a:r>
              <a:rPr lang="zh-CN" altLang="en-US" dirty="0" smtClean="0"/>
              <a:t>，并告知</a:t>
            </a:r>
            <a:r>
              <a:rPr lang="en-US" altLang="zh-CN" dirty="0" err="1" smtClean="0"/>
              <a:t>JobTracer</a:t>
            </a:r>
            <a:r>
              <a:rPr lang="zh-CN" altLang="en-US" dirty="0" smtClean="0"/>
              <a:t>作业的作业信息的位置</a:t>
            </a:r>
            <a:endParaRPr lang="en-US" altLang="zh-CN" dirty="0" smtClean="0"/>
          </a:p>
          <a:p>
            <a:pPr lvl="1"/>
            <a:r>
              <a:rPr lang="zh-CN" altLang="en-US" dirty="0" smtClean="0"/>
              <a:t>（</a:t>
            </a:r>
            <a:r>
              <a:rPr lang="en-US" altLang="zh-CN" dirty="0" smtClean="0"/>
              <a:t>3</a:t>
            </a:r>
            <a:r>
              <a:rPr lang="zh-CN" altLang="en-US" dirty="0" smtClean="0"/>
              <a:t>）</a:t>
            </a:r>
            <a:r>
              <a:rPr lang="en-US" altLang="zh-CN" dirty="0"/>
              <a:t> </a:t>
            </a:r>
            <a:r>
              <a:rPr lang="en-US" altLang="zh-CN" dirty="0" err="1" smtClean="0"/>
              <a:t>JobTracer</a:t>
            </a:r>
            <a:r>
              <a:rPr lang="zh-CN" altLang="en-US" dirty="0" smtClean="0"/>
              <a:t>读取作业的信息，生成一系列</a:t>
            </a:r>
            <a:r>
              <a:rPr lang="en-US" altLang="zh-CN" dirty="0" smtClean="0"/>
              <a:t>Map</a:t>
            </a:r>
            <a:r>
              <a:rPr lang="zh-CN" altLang="en-US" dirty="0" smtClean="0"/>
              <a:t>和</a:t>
            </a:r>
            <a:r>
              <a:rPr lang="en-US" altLang="zh-CN" dirty="0" smtClean="0"/>
              <a:t>Reduce</a:t>
            </a:r>
            <a:r>
              <a:rPr lang="zh-CN" altLang="en-US" dirty="0" smtClean="0"/>
              <a:t>任务，并调度给有空闲</a:t>
            </a:r>
            <a:r>
              <a:rPr lang="en-US" altLang="zh-CN" dirty="0" smtClean="0"/>
              <a:t>slot</a:t>
            </a:r>
            <a:r>
              <a:rPr lang="zh-CN" altLang="en-US" dirty="0" smtClean="0"/>
              <a:t>的</a:t>
            </a:r>
            <a:r>
              <a:rPr lang="en-US" altLang="zh-CN" dirty="0" err="1" smtClean="0"/>
              <a:t>TaskTracer</a:t>
            </a:r>
            <a:endParaRPr lang="en-US" altLang="zh-CN" dirty="0" smtClean="0"/>
          </a:p>
          <a:p>
            <a:pPr lvl="1"/>
            <a:r>
              <a:rPr lang="zh-CN" altLang="en-US" dirty="0" smtClean="0"/>
              <a:t>（</a:t>
            </a:r>
            <a:r>
              <a:rPr lang="en-US" altLang="zh-CN" dirty="0" smtClean="0"/>
              <a:t>4</a:t>
            </a:r>
            <a:r>
              <a:rPr lang="zh-CN" altLang="en-US" dirty="0" smtClean="0"/>
              <a:t>）</a:t>
            </a:r>
            <a:r>
              <a:rPr lang="en-US" altLang="zh-CN" dirty="0" err="1" smtClean="0"/>
              <a:t>TaskTracer</a:t>
            </a:r>
            <a:r>
              <a:rPr lang="zh-CN" altLang="en-US" dirty="0" smtClean="0"/>
              <a:t>根据</a:t>
            </a:r>
            <a:r>
              <a:rPr lang="en-US" altLang="zh-CN" dirty="0" err="1" smtClean="0"/>
              <a:t>JobTracer</a:t>
            </a:r>
            <a:r>
              <a:rPr lang="zh-CN" altLang="en-US" dirty="0" smtClean="0"/>
              <a:t>的指令启动进程执行</a:t>
            </a:r>
            <a:r>
              <a:rPr lang="en-US" altLang="zh-CN" dirty="0"/>
              <a:t>Map</a:t>
            </a:r>
            <a:r>
              <a:rPr lang="zh-CN" altLang="en-US" dirty="0"/>
              <a:t>任务</a:t>
            </a:r>
            <a:r>
              <a:rPr lang="zh-CN" altLang="en-US" dirty="0" smtClean="0"/>
              <a:t>，</a:t>
            </a:r>
            <a:r>
              <a:rPr lang="en-US" altLang="zh-CN" dirty="0"/>
              <a:t> Map</a:t>
            </a:r>
            <a:r>
              <a:rPr lang="zh-CN" altLang="en-US" dirty="0" smtClean="0"/>
              <a:t>任务从共享文件系统读取输入数据</a:t>
            </a:r>
            <a:endParaRPr lang="en-US" altLang="zh-CN" dirty="0" smtClean="0"/>
          </a:p>
          <a:p>
            <a:pPr lvl="1"/>
            <a:r>
              <a:rPr lang="zh-CN" altLang="en-US" dirty="0" smtClean="0"/>
              <a:t>（</a:t>
            </a:r>
            <a:r>
              <a:rPr lang="en-US" altLang="zh-CN" dirty="0" smtClean="0"/>
              <a:t>5</a:t>
            </a:r>
            <a:r>
              <a:rPr lang="zh-CN" altLang="en-US" dirty="0" smtClean="0"/>
              <a:t>）</a:t>
            </a:r>
            <a:r>
              <a:rPr lang="en-US" altLang="zh-CN" dirty="0"/>
              <a:t> </a:t>
            </a:r>
            <a:r>
              <a:rPr lang="en-US" altLang="zh-CN" dirty="0" err="1" smtClean="0"/>
              <a:t>JobTracer</a:t>
            </a:r>
            <a:r>
              <a:rPr lang="zh-CN" altLang="en-US" dirty="0" smtClean="0"/>
              <a:t>从</a:t>
            </a:r>
            <a:r>
              <a:rPr lang="en-US" altLang="zh-CN" dirty="0" err="1" smtClean="0"/>
              <a:t>TaskTracer</a:t>
            </a:r>
            <a:r>
              <a:rPr lang="zh-CN" altLang="en-US" dirty="0" smtClean="0"/>
              <a:t>处获取</a:t>
            </a:r>
            <a:r>
              <a:rPr lang="en-US" altLang="zh-CN" dirty="0" smtClean="0"/>
              <a:t>Map</a:t>
            </a:r>
            <a:r>
              <a:rPr lang="zh-CN" altLang="en-US" dirty="0" smtClean="0"/>
              <a:t>任务的进度信息</a:t>
            </a:r>
            <a:endParaRPr lang="en-US" altLang="zh-CN" dirty="0" smtClean="0"/>
          </a:p>
          <a:p>
            <a:pPr lvl="1"/>
            <a:r>
              <a:rPr lang="zh-CN" altLang="en-US" dirty="0" smtClean="0"/>
              <a:t>（</a:t>
            </a:r>
            <a:r>
              <a:rPr lang="en-US" altLang="zh-CN" dirty="0" smtClean="0"/>
              <a:t>6</a:t>
            </a:r>
            <a:r>
              <a:rPr lang="zh-CN" altLang="en-US" dirty="0" smtClean="0"/>
              <a:t>）</a:t>
            </a:r>
            <a:r>
              <a:rPr lang="en-US" altLang="zh-CN" dirty="0" smtClean="0"/>
              <a:t>Map</a:t>
            </a:r>
            <a:r>
              <a:rPr lang="zh-CN" altLang="en-US" dirty="0" smtClean="0"/>
              <a:t>任务完成后，</a:t>
            </a:r>
            <a:r>
              <a:rPr lang="en-US" altLang="zh-CN" dirty="0"/>
              <a:t> </a:t>
            </a:r>
            <a:r>
              <a:rPr lang="en-US" altLang="zh-CN" dirty="0" err="1" smtClean="0"/>
              <a:t>JobTracer</a:t>
            </a:r>
            <a:r>
              <a:rPr lang="zh-CN" altLang="en-US" dirty="0" smtClean="0"/>
              <a:t>将</a:t>
            </a:r>
            <a:r>
              <a:rPr lang="en-US" altLang="zh-CN" dirty="0" smtClean="0"/>
              <a:t>Reduce</a:t>
            </a:r>
            <a:r>
              <a:rPr lang="zh-CN" altLang="en-US" dirty="0" smtClean="0"/>
              <a:t>任务分发给</a:t>
            </a:r>
            <a:r>
              <a:rPr lang="en-US" altLang="zh-CN" dirty="0" err="1" smtClean="0"/>
              <a:t>TaskTracer</a:t>
            </a:r>
            <a:endParaRPr lang="en-US" altLang="zh-CN" dirty="0" smtClean="0"/>
          </a:p>
          <a:p>
            <a:pPr lvl="1"/>
            <a:r>
              <a:rPr lang="zh-CN" altLang="en-US" dirty="0" smtClean="0"/>
              <a:t>（</a:t>
            </a:r>
            <a:r>
              <a:rPr lang="en-US" altLang="zh-CN" dirty="0" smtClean="0"/>
              <a:t>7</a:t>
            </a:r>
            <a:r>
              <a:rPr lang="zh-CN" altLang="en-US" dirty="0" smtClean="0"/>
              <a:t>）</a:t>
            </a:r>
            <a:r>
              <a:rPr lang="en-US" altLang="zh-CN" dirty="0"/>
              <a:t> </a:t>
            </a:r>
            <a:r>
              <a:rPr lang="en-US" altLang="zh-CN" dirty="0" err="1"/>
              <a:t>TaskTracer</a:t>
            </a:r>
            <a:r>
              <a:rPr lang="zh-CN" altLang="en-US" dirty="0"/>
              <a:t>根据</a:t>
            </a:r>
            <a:r>
              <a:rPr lang="en-US" altLang="zh-CN" dirty="0" err="1"/>
              <a:t>JobTracer</a:t>
            </a:r>
            <a:r>
              <a:rPr lang="zh-CN" altLang="en-US" dirty="0"/>
              <a:t>的指令启动进程</a:t>
            </a:r>
            <a:r>
              <a:rPr lang="zh-CN" altLang="en-US" dirty="0" smtClean="0"/>
              <a:t>执行</a:t>
            </a:r>
            <a:r>
              <a:rPr lang="en-US" altLang="zh-CN" dirty="0" smtClean="0"/>
              <a:t>Reduce</a:t>
            </a:r>
            <a:r>
              <a:rPr lang="zh-CN" altLang="en-US" dirty="0" smtClean="0"/>
              <a:t>任务，</a:t>
            </a:r>
            <a:r>
              <a:rPr lang="en-US" altLang="zh-CN" dirty="0" smtClean="0"/>
              <a:t>Reduce</a:t>
            </a:r>
            <a:r>
              <a:rPr lang="zh-CN" altLang="en-US" dirty="0" smtClean="0"/>
              <a:t>任务从</a:t>
            </a:r>
            <a:r>
              <a:rPr lang="en-US" altLang="zh-CN" dirty="0" smtClean="0"/>
              <a:t>Map</a:t>
            </a:r>
            <a:r>
              <a:rPr lang="zh-CN" altLang="en-US" dirty="0" smtClean="0"/>
              <a:t>任务所在节点拉取</a:t>
            </a:r>
            <a:r>
              <a:rPr lang="en-US" altLang="zh-CN" dirty="0" smtClean="0"/>
              <a:t>Map</a:t>
            </a:r>
            <a:r>
              <a:rPr lang="zh-CN" altLang="en-US" dirty="0" smtClean="0"/>
              <a:t>任务的输出结果。</a:t>
            </a:r>
            <a:endParaRPr lang="en-US" altLang="zh-CN" dirty="0" smtClean="0"/>
          </a:p>
          <a:p>
            <a:pPr lvl="1"/>
            <a:r>
              <a:rPr lang="zh-CN" altLang="en-US" dirty="0" smtClean="0"/>
              <a:t>（</a:t>
            </a:r>
            <a:r>
              <a:rPr lang="en-US" altLang="zh-CN" dirty="0" smtClean="0"/>
              <a:t>8</a:t>
            </a:r>
            <a:r>
              <a:rPr lang="zh-CN" altLang="en-US" dirty="0" smtClean="0"/>
              <a:t>）</a:t>
            </a:r>
            <a:r>
              <a:rPr lang="en-US" altLang="zh-CN" dirty="0" err="1"/>
              <a:t>JobTracer</a:t>
            </a:r>
            <a:r>
              <a:rPr lang="zh-CN" altLang="en-US" dirty="0"/>
              <a:t>从</a:t>
            </a:r>
            <a:r>
              <a:rPr lang="en-US" altLang="zh-CN" dirty="0" err="1"/>
              <a:t>TaskTracer</a:t>
            </a:r>
            <a:r>
              <a:rPr lang="zh-CN" altLang="en-US" dirty="0"/>
              <a:t>处</a:t>
            </a:r>
            <a:r>
              <a:rPr lang="zh-CN" altLang="en-US" dirty="0" smtClean="0"/>
              <a:t>获取</a:t>
            </a:r>
            <a:r>
              <a:rPr lang="en-US" altLang="zh-CN" dirty="0" smtClean="0"/>
              <a:t>Reduce</a:t>
            </a:r>
            <a:r>
              <a:rPr lang="zh-CN" altLang="en-US" dirty="0" smtClean="0"/>
              <a:t>任务</a:t>
            </a:r>
            <a:r>
              <a:rPr lang="zh-CN" altLang="en-US" dirty="0"/>
              <a:t>的进度</a:t>
            </a:r>
            <a:r>
              <a:rPr lang="zh-CN" altLang="en-US" dirty="0" smtClean="0"/>
              <a:t>信息</a:t>
            </a:r>
            <a:endParaRPr lang="en-US" altLang="zh-CN" dirty="0" smtClean="0"/>
          </a:p>
          <a:p>
            <a:pPr lvl="1"/>
            <a:r>
              <a:rPr lang="zh-CN" altLang="en-US" dirty="0" smtClean="0"/>
              <a:t>（</a:t>
            </a:r>
            <a:r>
              <a:rPr lang="en-US" altLang="zh-CN" dirty="0" smtClean="0"/>
              <a:t>9</a:t>
            </a:r>
            <a:r>
              <a:rPr lang="zh-CN" altLang="en-US" dirty="0" smtClean="0"/>
              <a:t>）当</a:t>
            </a:r>
            <a:r>
              <a:rPr lang="en-US" altLang="zh-CN" dirty="0" err="1" smtClean="0"/>
              <a:t>Reuce</a:t>
            </a:r>
            <a:r>
              <a:rPr lang="zh-CN" altLang="en-US" dirty="0" smtClean="0"/>
              <a:t>任务运行结束并将结果写入共享文件系统，整个作业执行完毕</a:t>
            </a:r>
            <a:endParaRPr lang="en-US" altLang="zh-CN" dirty="0"/>
          </a:p>
          <a:p>
            <a:pPr lvl="1"/>
            <a:endParaRPr lang="zh-CN" altLang="en-US" dirty="0"/>
          </a:p>
        </p:txBody>
      </p:sp>
    </p:spTree>
    <p:extLst>
      <p:ext uri="{BB962C8B-B14F-4D97-AF65-F5344CB8AC3E}">
        <p14:creationId xmlns:p14="http://schemas.microsoft.com/office/powerpoint/2010/main" val="21881122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lstStyle/>
          <a:p>
            <a:r>
              <a:rPr lang="zh-CN" altLang="en-US" dirty="0" smtClean="0"/>
              <a:t>容错机制</a:t>
            </a:r>
            <a:endParaRPr lang="en-US" altLang="zh-CN" dirty="0" smtClean="0"/>
          </a:p>
          <a:p>
            <a:pPr lvl="1"/>
            <a:r>
              <a:rPr lang="zh-CN" altLang="en-US" dirty="0" smtClean="0"/>
              <a:t>系统发生故障的类型可分为主节点故障和从节点故障</a:t>
            </a:r>
            <a:endParaRPr lang="en-US" altLang="zh-CN" dirty="0" smtClean="0"/>
          </a:p>
          <a:p>
            <a:pPr lvl="2"/>
            <a:r>
              <a:rPr lang="zh-CN" altLang="en-US" dirty="0" smtClean="0"/>
              <a:t>主节点故障：</a:t>
            </a:r>
            <a:r>
              <a:rPr lang="en-US" altLang="zh-CN" dirty="0" err="1" smtClean="0"/>
              <a:t>JobTracer</a:t>
            </a:r>
            <a:r>
              <a:rPr lang="zh-CN" altLang="en-US" dirty="0" smtClean="0"/>
              <a:t>进程故障</a:t>
            </a:r>
            <a:endParaRPr lang="en-US" altLang="zh-CN" dirty="0" smtClean="0"/>
          </a:p>
          <a:p>
            <a:pPr lvl="2"/>
            <a:r>
              <a:rPr lang="zh-CN" altLang="en-US" dirty="0" smtClean="0"/>
              <a:t>从节点故障：</a:t>
            </a:r>
            <a:r>
              <a:rPr lang="en-US" altLang="zh-CN" dirty="0" err="1" smtClean="0"/>
              <a:t>TaskTracer</a:t>
            </a:r>
            <a:r>
              <a:rPr lang="zh-CN" altLang="en-US" dirty="0" smtClean="0"/>
              <a:t>进程故障、</a:t>
            </a:r>
            <a:r>
              <a:rPr lang="en-US" altLang="zh-CN" dirty="0" smtClean="0"/>
              <a:t>Task</a:t>
            </a:r>
            <a:r>
              <a:rPr lang="zh-CN" altLang="en-US" dirty="0" smtClean="0"/>
              <a:t>进程故障</a:t>
            </a:r>
            <a:endParaRPr lang="en-US" altLang="zh-CN" dirty="0" smtClean="0"/>
          </a:p>
          <a:p>
            <a:pPr lvl="1"/>
            <a:endParaRPr lang="zh-CN" altLang="en-US" dirty="0"/>
          </a:p>
        </p:txBody>
      </p:sp>
    </p:spTree>
    <p:extLst>
      <p:ext uri="{BB962C8B-B14F-4D97-AF65-F5344CB8AC3E}">
        <p14:creationId xmlns:p14="http://schemas.microsoft.com/office/powerpoint/2010/main" val="25971279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lstStyle/>
          <a:p>
            <a:r>
              <a:rPr lang="zh-CN" altLang="en-US" dirty="0" smtClean="0"/>
              <a:t>容错机制</a:t>
            </a:r>
            <a:endParaRPr lang="en-US" altLang="zh-CN" dirty="0" smtClean="0"/>
          </a:p>
          <a:p>
            <a:pPr lvl="1"/>
            <a:r>
              <a:rPr lang="en-US" altLang="zh-CN" dirty="0" err="1" smtClean="0"/>
              <a:t>JobTracer</a:t>
            </a:r>
            <a:r>
              <a:rPr lang="zh-CN" altLang="en-US" dirty="0" smtClean="0"/>
              <a:t>进程故障</a:t>
            </a:r>
            <a:endParaRPr lang="en-US" altLang="zh-CN" dirty="0" smtClean="0"/>
          </a:p>
          <a:p>
            <a:pPr lvl="2"/>
            <a:r>
              <a:rPr lang="zh-CN" altLang="en-US" dirty="0" smtClean="0"/>
              <a:t>一旦</a:t>
            </a:r>
            <a:r>
              <a:rPr lang="en-US" altLang="zh-CN" dirty="0" err="1" smtClean="0"/>
              <a:t>JobTracer</a:t>
            </a:r>
            <a:r>
              <a:rPr lang="zh-CN" altLang="en-US" dirty="0" smtClean="0"/>
              <a:t>发生故障，则正在运行的所有作业的内部状态信息将丢失</a:t>
            </a:r>
            <a:endParaRPr lang="en-US" altLang="zh-CN" dirty="0" smtClean="0"/>
          </a:p>
          <a:p>
            <a:pPr lvl="2"/>
            <a:r>
              <a:rPr lang="en-US" altLang="zh-CN" dirty="0" err="1" smtClean="0"/>
              <a:t>JobTracer</a:t>
            </a:r>
            <a:r>
              <a:rPr lang="zh-CN" altLang="en-US" dirty="0" smtClean="0"/>
              <a:t>发生故障后，需要重新启动</a:t>
            </a:r>
            <a:r>
              <a:rPr lang="en-US" altLang="zh-CN" dirty="0" err="1" smtClean="0"/>
              <a:t>JobTracer</a:t>
            </a:r>
            <a:r>
              <a:rPr lang="zh-CN" altLang="en-US" dirty="0" smtClean="0"/>
              <a:t>，所有作业均需重新执行</a:t>
            </a:r>
            <a:endParaRPr lang="en-US" altLang="zh-CN" dirty="0" smtClean="0"/>
          </a:p>
          <a:p>
            <a:pPr lvl="2"/>
            <a:r>
              <a:rPr lang="zh-CN" altLang="en-US" dirty="0" smtClean="0"/>
              <a:t>单点故障：属于</a:t>
            </a:r>
            <a:r>
              <a:rPr lang="en-US" altLang="zh-CN" dirty="0" err="1" smtClean="0"/>
              <a:t>MapReduce</a:t>
            </a:r>
            <a:r>
              <a:rPr lang="zh-CN" altLang="en-US" dirty="0" smtClean="0"/>
              <a:t>架构设计的缺陷</a:t>
            </a:r>
            <a:endParaRPr lang="en-US" altLang="zh-CN" dirty="0" smtClean="0"/>
          </a:p>
          <a:p>
            <a:pPr lvl="2"/>
            <a:endParaRPr lang="en-US" altLang="zh-CN" dirty="0"/>
          </a:p>
          <a:p>
            <a:pPr lvl="2"/>
            <a:endParaRPr lang="zh-CN" altLang="en-US" dirty="0"/>
          </a:p>
        </p:txBody>
      </p:sp>
    </p:spTree>
    <p:extLst>
      <p:ext uri="{BB962C8B-B14F-4D97-AF65-F5344CB8AC3E}">
        <p14:creationId xmlns:p14="http://schemas.microsoft.com/office/powerpoint/2010/main" val="2768990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lstStyle/>
          <a:p>
            <a:r>
              <a:rPr lang="zh-CN" altLang="en-US" dirty="0" smtClean="0"/>
              <a:t>容错机制</a:t>
            </a:r>
            <a:endParaRPr lang="en-US" altLang="zh-CN" dirty="0" smtClean="0"/>
          </a:p>
          <a:p>
            <a:pPr lvl="1"/>
            <a:r>
              <a:rPr lang="en-US" altLang="zh-CN" dirty="0" err="1" smtClean="0"/>
              <a:t>TaskTracer</a:t>
            </a:r>
            <a:r>
              <a:rPr lang="zh-CN" altLang="en-US" dirty="0"/>
              <a:t>进程</a:t>
            </a:r>
            <a:r>
              <a:rPr lang="zh-CN" altLang="en-US" dirty="0" smtClean="0"/>
              <a:t>故障</a:t>
            </a:r>
            <a:endParaRPr lang="en-US" altLang="zh-CN" dirty="0" smtClean="0"/>
          </a:p>
          <a:p>
            <a:pPr lvl="2"/>
            <a:r>
              <a:rPr lang="zh-CN" altLang="en-US" dirty="0" smtClean="0"/>
              <a:t>当</a:t>
            </a:r>
            <a:r>
              <a:rPr lang="en-US" altLang="zh-CN" dirty="0" err="1" smtClean="0"/>
              <a:t>JobTracer</a:t>
            </a:r>
            <a:r>
              <a:rPr lang="zh-CN" altLang="en-US" dirty="0" smtClean="0"/>
              <a:t>无法接收</a:t>
            </a:r>
            <a:r>
              <a:rPr lang="en-US" altLang="zh-CN" dirty="0" err="1" smtClean="0"/>
              <a:t>TaskTracer</a:t>
            </a:r>
            <a:r>
              <a:rPr lang="zh-CN" altLang="en-US" dirty="0" smtClean="0"/>
              <a:t>发送的心跳，则</a:t>
            </a:r>
            <a:r>
              <a:rPr lang="en-US" altLang="zh-CN" dirty="0" err="1" smtClean="0"/>
              <a:t>JobTracer</a:t>
            </a:r>
            <a:r>
              <a:rPr lang="zh-CN" altLang="en-US" dirty="0" smtClean="0"/>
              <a:t>会认为该</a:t>
            </a:r>
            <a:r>
              <a:rPr lang="en-US" altLang="zh-CN" dirty="0" err="1" smtClean="0"/>
              <a:t>TaskTracer</a:t>
            </a:r>
            <a:r>
              <a:rPr lang="zh-CN" altLang="en-US" dirty="0" smtClean="0"/>
              <a:t>失效</a:t>
            </a:r>
            <a:endParaRPr lang="en-US" altLang="zh-CN" dirty="0" smtClean="0"/>
          </a:p>
          <a:p>
            <a:pPr lvl="2"/>
            <a:r>
              <a:rPr lang="en-US" altLang="zh-CN" dirty="0" err="1" smtClean="0"/>
              <a:t>JobTracer</a:t>
            </a:r>
            <a:r>
              <a:rPr lang="zh-CN" altLang="en-US" dirty="0" smtClean="0"/>
              <a:t>将该</a:t>
            </a:r>
            <a:r>
              <a:rPr lang="en-US" altLang="zh-CN" dirty="0" err="1" smtClean="0"/>
              <a:t>TaskTracer</a:t>
            </a:r>
            <a:r>
              <a:rPr lang="zh-CN" altLang="en-US" dirty="0"/>
              <a:t>所在</a:t>
            </a:r>
            <a:r>
              <a:rPr lang="zh-CN" altLang="en-US" dirty="0" smtClean="0"/>
              <a:t>节点运行的所有任务调度到别的</a:t>
            </a:r>
            <a:r>
              <a:rPr lang="en-US" altLang="zh-CN" dirty="0" err="1" smtClean="0"/>
              <a:t>TaskTracer</a:t>
            </a:r>
            <a:r>
              <a:rPr lang="zh-CN" altLang="en-US" dirty="0" smtClean="0"/>
              <a:t>所在节点重新执行</a:t>
            </a:r>
            <a:endParaRPr lang="en-US" altLang="zh-CN" dirty="0" smtClean="0"/>
          </a:p>
          <a:p>
            <a:pPr lvl="2"/>
            <a:r>
              <a:rPr lang="zh-CN" altLang="en-US" dirty="0" smtClean="0"/>
              <a:t>该过程对用户透明，仅表现为该作业某段时间内的执行速度降低</a:t>
            </a:r>
            <a:endParaRPr lang="en-US" altLang="zh-CN" dirty="0" smtClean="0"/>
          </a:p>
          <a:p>
            <a:pPr lvl="2"/>
            <a:endParaRPr lang="en-US" altLang="zh-CN" dirty="0"/>
          </a:p>
          <a:p>
            <a:pPr lvl="2"/>
            <a:endParaRPr lang="zh-CN" altLang="en-US" dirty="0"/>
          </a:p>
        </p:txBody>
      </p:sp>
    </p:spTree>
    <p:extLst>
      <p:ext uri="{BB962C8B-B14F-4D97-AF65-F5344CB8AC3E}">
        <p14:creationId xmlns:p14="http://schemas.microsoft.com/office/powerpoint/2010/main" val="40494461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lstStyle/>
          <a:p>
            <a:r>
              <a:rPr lang="zh-CN" altLang="en-US" dirty="0" smtClean="0"/>
              <a:t>容错机制</a:t>
            </a:r>
            <a:endParaRPr lang="en-US" altLang="zh-CN" dirty="0" smtClean="0"/>
          </a:p>
          <a:p>
            <a:pPr lvl="1"/>
            <a:r>
              <a:rPr lang="en-US" altLang="zh-CN" dirty="0" smtClean="0"/>
              <a:t>Task</a:t>
            </a:r>
            <a:r>
              <a:rPr lang="zh-CN" altLang="en-US" dirty="0" smtClean="0"/>
              <a:t>进程故障</a:t>
            </a:r>
            <a:endParaRPr lang="en-US" altLang="zh-CN" dirty="0" smtClean="0"/>
          </a:p>
          <a:p>
            <a:pPr lvl="2"/>
            <a:r>
              <a:rPr lang="zh-CN" altLang="en-US" dirty="0" smtClean="0"/>
              <a:t>常见情况</a:t>
            </a:r>
            <a:endParaRPr lang="en-US" altLang="zh-CN" dirty="0" smtClean="0"/>
          </a:p>
          <a:p>
            <a:pPr lvl="2"/>
            <a:r>
              <a:rPr lang="zh-CN" altLang="en-US" dirty="0" smtClean="0"/>
              <a:t>当</a:t>
            </a:r>
            <a:r>
              <a:rPr lang="en-US" altLang="zh-CN" dirty="0" err="1" smtClean="0"/>
              <a:t>TaskTracer</a:t>
            </a:r>
            <a:r>
              <a:rPr lang="zh-CN" altLang="en-US" dirty="0" smtClean="0"/>
              <a:t>检测到一个任务故障时，</a:t>
            </a:r>
            <a:r>
              <a:rPr lang="en-US" altLang="zh-CN" dirty="0"/>
              <a:t> </a:t>
            </a:r>
            <a:r>
              <a:rPr lang="en-US" altLang="zh-CN" dirty="0" err="1" smtClean="0"/>
              <a:t>TaskTracer</a:t>
            </a:r>
            <a:r>
              <a:rPr lang="zh-CN" altLang="en-US" dirty="0" smtClean="0"/>
              <a:t>将在下一次心跳中向</a:t>
            </a:r>
            <a:r>
              <a:rPr lang="en-US" altLang="zh-CN" dirty="0" err="1" smtClean="0"/>
              <a:t>JobTracer</a:t>
            </a:r>
            <a:r>
              <a:rPr lang="zh-CN" altLang="en-US" dirty="0" smtClean="0"/>
              <a:t>报告该故障</a:t>
            </a:r>
            <a:endParaRPr lang="en-US" altLang="zh-CN" dirty="0" smtClean="0"/>
          </a:p>
          <a:p>
            <a:pPr lvl="2"/>
            <a:r>
              <a:rPr lang="en-US" altLang="zh-CN" dirty="0" err="1" smtClean="0"/>
              <a:t>JobTracer</a:t>
            </a:r>
            <a:r>
              <a:rPr lang="zh-CN" altLang="en-US" dirty="0" smtClean="0"/>
              <a:t>收到消息后重新调度执行该任务，可能在集群的任意一个节点重试</a:t>
            </a:r>
            <a:endParaRPr lang="en-US" altLang="zh-CN" dirty="0" smtClean="0"/>
          </a:p>
          <a:p>
            <a:pPr lvl="3"/>
            <a:r>
              <a:rPr lang="zh-CN" altLang="en-US" dirty="0" smtClean="0"/>
              <a:t>重试</a:t>
            </a:r>
            <a:r>
              <a:rPr lang="en-US" altLang="zh-CN" dirty="0" smtClean="0"/>
              <a:t>Map</a:t>
            </a:r>
            <a:r>
              <a:rPr lang="zh-CN" altLang="en-US" dirty="0" smtClean="0"/>
              <a:t>任务：从输入路径重新读取数据</a:t>
            </a:r>
            <a:endParaRPr lang="en-US" altLang="zh-CN" dirty="0" smtClean="0"/>
          </a:p>
          <a:p>
            <a:pPr lvl="3"/>
            <a:r>
              <a:rPr lang="zh-CN" altLang="en-US" dirty="0" smtClean="0"/>
              <a:t>重试</a:t>
            </a:r>
            <a:r>
              <a:rPr lang="en-US" altLang="zh-CN" dirty="0" smtClean="0"/>
              <a:t>Reduce</a:t>
            </a:r>
            <a:r>
              <a:rPr lang="zh-CN" altLang="en-US" dirty="0" smtClean="0"/>
              <a:t>任务：重新拉取</a:t>
            </a:r>
            <a:r>
              <a:rPr lang="en-US" altLang="zh-CN" dirty="0" smtClean="0"/>
              <a:t>Map</a:t>
            </a:r>
            <a:r>
              <a:rPr lang="zh-CN" altLang="en-US" dirty="0" smtClean="0"/>
              <a:t>端的输出，如果无法读取，则相应的</a:t>
            </a:r>
            <a:r>
              <a:rPr lang="en-US" altLang="zh-CN" dirty="0" smtClean="0"/>
              <a:t>Map</a:t>
            </a:r>
            <a:r>
              <a:rPr lang="zh-CN" altLang="en-US" dirty="0" smtClean="0"/>
              <a:t>任务也需要重新执行</a:t>
            </a:r>
            <a:endParaRPr lang="en-US" altLang="zh-CN" dirty="0" smtClean="0"/>
          </a:p>
          <a:p>
            <a:pPr lvl="2"/>
            <a:endParaRPr lang="en-US" altLang="zh-CN" dirty="0"/>
          </a:p>
          <a:p>
            <a:pPr lvl="1"/>
            <a:endParaRPr lang="en-US" altLang="zh-CN" dirty="0" smtClean="0"/>
          </a:p>
          <a:p>
            <a:pPr lvl="2"/>
            <a:endParaRPr lang="en-US" altLang="zh-CN" dirty="0" smtClean="0"/>
          </a:p>
          <a:p>
            <a:pPr lvl="2"/>
            <a:endParaRPr lang="en-US" altLang="zh-CN" dirty="0" smtClean="0"/>
          </a:p>
          <a:p>
            <a:pPr lvl="2"/>
            <a:endParaRPr lang="en-US" altLang="zh-CN" dirty="0"/>
          </a:p>
          <a:p>
            <a:pPr lvl="2"/>
            <a:endParaRPr lang="zh-CN" altLang="en-US" dirty="0"/>
          </a:p>
        </p:txBody>
      </p:sp>
    </p:spTree>
    <p:extLst>
      <p:ext uri="{BB962C8B-B14F-4D97-AF65-F5344CB8AC3E}">
        <p14:creationId xmlns:p14="http://schemas.microsoft.com/office/powerpoint/2010/main" val="17751209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3.1.2 </a:t>
            </a:r>
            <a:r>
              <a:rPr lang="en-US" altLang="zh-CN" dirty="0" err="1" smtClean="0"/>
              <a:t>MapReduce</a:t>
            </a:r>
            <a:r>
              <a:rPr lang="zh-CN" altLang="en-US" dirty="0" smtClean="0"/>
              <a:t>的体系结构</a:t>
            </a:r>
            <a:endParaRPr lang="zh-CN" altLang="en-US" dirty="0"/>
          </a:p>
        </p:txBody>
      </p:sp>
      <p:sp>
        <p:nvSpPr>
          <p:cNvPr id="3" name="内容占位符 2"/>
          <p:cNvSpPr>
            <a:spLocks noGrp="1"/>
          </p:cNvSpPr>
          <p:nvPr>
            <p:ph idx="1"/>
          </p:nvPr>
        </p:nvSpPr>
        <p:spPr/>
        <p:txBody>
          <a:bodyPr>
            <a:normAutofit fontScale="85000" lnSpcReduction="20000"/>
          </a:bodyPr>
          <a:lstStyle/>
          <a:p>
            <a:r>
              <a:rPr lang="en-US" altLang="zh-CN" dirty="0" err="1" smtClean="0"/>
              <a:t>MapReduce</a:t>
            </a:r>
            <a:r>
              <a:rPr lang="zh-CN" altLang="en-US" dirty="0" smtClean="0"/>
              <a:t>体系结构的缺点</a:t>
            </a:r>
            <a:endParaRPr lang="en-US" altLang="zh-CN" dirty="0" smtClean="0"/>
          </a:p>
          <a:p>
            <a:pPr lvl="1"/>
            <a:r>
              <a:rPr lang="zh-CN" altLang="en-US" dirty="0" smtClean="0"/>
              <a:t>资源管理与作业紧密耦合</a:t>
            </a:r>
            <a:endParaRPr lang="en-US" altLang="zh-CN" dirty="0" smtClean="0"/>
          </a:p>
          <a:p>
            <a:pPr lvl="2"/>
            <a:r>
              <a:rPr lang="en-US" altLang="zh-CN" dirty="0" err="1" smtClean="0"/>
              <a:t>JobTracer</a:t>
            </a:r>
            <a:r>
              <a:rPr lang="zh-CN" altLang="en-US" dirty="0" smtClean="0"/>
              <a:t>既负责作业管理和任务调度，又负责管理集群的资源。</a:t>
            </a:r>
            <a:endParaRPr lang="en-US" altLang="zh-CN" dirty="0" smtClean="0"/>
          </a:p>
          <a:p>
            <a:pPr lvl="2"/>
            <a:r>
              <a:rPr lang="zh-CN" altLang="en-US" dirty="0" smtClean="0"/>
              <a:t>实际上，资源管理与作业无关</a:t>
            </a:r>
            <a:endParaRPr lang="en-US" altLang="zh-CN" dirty="0" smtClean="0"/>
          </a:p>
          <a:p>
            <a:pPr lvl="3"/>
            <a:r>
              <a:rPr lang="zh-CN" altLang="en-US" dirty="0" smtClean="0"/>
              <a:t>并非只有</a:t>
            </a:r>
            <a:r>
              <a:rPr lang="en-US" altLang="zh-CN" dirty="0" err="1" smtClean="0"/>
              <a:t>MapReduce</a:t>
            </a:r>
            <a:r>
              <a:rPr lang="zh-CN" altLang="en-US" dirty="0" smtClean="0"/>
              <a:t>作业需要资源管理，</a:t>
            </a:r>
            <a:r>
              <a:rPr lang="en-US" altLang="zh-CN" dirty="0" smtClean="0"/>
              <a:t>Spark</a:t>
            </a:r>
            <a:r>
              <a:rPr lang="zh-CN" altLang="en-US" dirty="0" smtClean="0"/>
              <a:t>、</a:t>
            </a:r>
            <a:r>
              <a:rPr lang="en-US" altLang="zh-CN" dirty="0" err="1" smtClean="0"/>
              <a:t>Flink</a:t>
            </a:r>
            <a:r>
              <a:rPr lang="zh-CN" altLang="en-US" dirty="0" smtClean="0"/>
              <a:t>等作业也需要资源管理</a:t>
            </a:r>
            <a:endParaRPr lang="en-US" altLang="zh-CN" dirty="0" smtClean="0"/>
          </a:p>
          <a:p>
            <a:pPr lvl="1"/>
            <a:r>
              <a:rPr lang="zh-CN" altLang="en-US" dirty="0" smtClean="0"/>
              <a:t>作业的控制高度集中</a:t>
            </a:r>
            <a:endParaRPr lang="en-US" altLang="zh-CN" dirty="0" smtClean="0"/>
          </a:p>
          <a:p>
            <a:pPr lvl="2"/>
            <a:r>
              <a:rPr lang="en-US" altLang="zh-CN" dirty="0" err="1" smtClean="0"/>
              <a:t>JobTracer</a:t>
            </a:r>
            <a:r>
              <a:rPr lang="zh-CN" altLang="en-US" dirty="0" smtClean="0"/>
              <a:t>负责系统中所有作业的控制，</a:t>
            </a:r>
            <a:r>
              <a:rPr lang="en-US" altLang="zh-CN" dirty="0"/>
              <a:t> </a:t>
            </a:r>
            <a:r>
              <a:rPr lang="en-US" altLang="zh-CN" dirty="0" err="1" smtClean="0"/>
              <a:t>JobTracer</a:t>
            </a:r>
            <a:r>
              <a:rPr lang="zh-CN" altLang="en-US" dirty="0" smtClean="0"/>
              <a:t>需要维护所有作业的元数据信息，内存开销大</a:t>
            </a:r>
            <a:endParaRPr lang="en-US" altLang="zh-CN" dirty="0" smtClean="0"/>
          </a:p>
          <a:p>
            <a:pPr lvl="3"/>
            <a:r>
              <a:rPr lang="zh-CN" altLang="en-US" dirty="0" smtClean="0"/>
              <a:t>当同一时刻执行的作业数据增加时，</a:t>
            </a:r>
            <a:r>
              <a:rPr lang="en-US" altLang="zh-CN" dirty="0"/>
              <a:t> </a:t>
            </a:r>
            <a:r>
              <a:rPr lang="en-US" altLang="zh-CN" dirty="0" err="1" smtClean="0"/>
              <a:t>JobTracer</a:t>
            </a:r>
            <a:r>
              <a:rPr lang="zh-CN" altLang="en-US" dirty="0" smtClean="0"/>
              <a:t>与执行这些作业的任务以及</a:t>
            </a:r>
            <a:r>
              <a:rPr lang="en-US" altLang="zh-CN" dirty="0" err="1" smtClean="0"/>
              <a:t>TaskTracer</a:t>
            </a:r>
            <a:r>
              <a:rPr lang="zh-CN" altLang="en-US" dirty="0" smtClean="0"/>
              <a:t>之间的通信频率增大，造成</a:t>
            </a:r>
            <a:r>
              <a:rPr lang="en-US" altLang="zh-CN" dirty="0" err="1" smtClean="0"/>
              <a:t>JobTracer</a:t>
            </a:r>
            <a:r>
              <a:rPr lang="zh-CN" altLang="en-US" dirty="0" smtClean="0"/>
              <a:t>进程的不稳定</a:t>
            </a:r>
            <a:endParaRPr lang="en-US" altLang="zh-CN" dirty="0" smtClean="0"/>
          </a:p>
          <a:p>
            <a:r>
              <a:rPr lang="en-US" altLang="zh-CN" dirty="0" smtClean="0">
                <a:solidFill>
                  <a:srgbClr val="FF0000"/>
                </a:solidFill>
              </a:rPr>
              <a:t>Yarn</a:t>
            </a:r>
            <a:r>
              <a:rPr lang="zh-CN" altLang="en-US" dirty="0" smtClean="0"/>
              <a:t>将资源管理功能从</a:t>
            </a:r>
            <a:r>
              <a:rPr lang="en-US" altLang="zh-CN" dirty="0" err="1" smtClean="0"/>
              <a:t>MapReduce</a:t>
            </a:r>
            <a:r>
              <a:rPr lang="zh-CN" altLang="en-US" dirty="0" smtClean="0"/>
              <a:t>中独立，通过将资源管理和作业分离形成通用的资源管理系统，并使作业之间相互独立地控制执行</a:t>
            </a:r>
            <a:endParaRPr lang="en-US" altLang="zh-CN" dirty="0" smtClean="0"/>
          </a:p>
          <a:p>
            <a:pPr lvl="2"/>
            <a:endParaRPr lang="en-US" altLang="zh-CN" dirty="0"/>
          </a:p>
          <a:p>
            <a:pPr lvl="1"/>
            <a:endParaRPr lang="en-US" altLang="zh-CN" dirty="0" smtClean="0"/>
          </a:p>
          <a:p>
            <a:pPr lvl="2"/>
            <a:endParaRPr lang="en-US" altLang="zh-CN" dirty="0" smtClean="0"/>
          </a:p>
          <a:p>
            <a:pPr lvl="2"/>
            <a:endParaRPr lang="en-US" altLang="zh-CN" dirty="0" smtClean="0"/>
          </a:p>
          <a:p>
            <a:pPr lvl="2"/>
            <a:endParaRPr lang="en-US" altLang="zh-CN" dirty="0"/>
          </a:p>
          <a:p>
            <a:pPr lvl="2"/>
            <a:endParaRPr lang="zh-CN" altLang="en-US" dirty="0"/>
          </a:p>
        </p:txBody>
      </p:sp>
    </p:spTree>
    <p:extLst>
      <p:ext uri="{BB962C8B-B14F-4D97-AF65-F5344CB8AC3E}">
        <p14:creationId xmlns:p14="http://schemas.microsoft.com/office/powerpoint/2010/main" val="41222627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3.1.3 </a:t>
            </a:r>
            <a:r>
              <a:rPr lang="zh-CN" altLang="en-US" dirty="0" smtClean="0"/>
              <a:t>资源管理器</a:t>
            </a:r>
            <a:r>
              <a:rPr lang="en-US" altLang="zh-CN" dirty="0" smtClean="0"/>
              <a:t>YARN</a:t>
            </a:r>
            <a:endParaRPr lang="zh-CN" altLang="en-US" dirty="0"/>
          </a:p>
        </p:txBody>
      </p:sp>
      <p:sp>
        <p:nvSpPr>
          <p:cNvPr id="3" name="内容占位符 2"/>
          <p:cNvSpPr>
            <a:spLocks noGrp="1"/>
          </p:cNvSpPr>
          <p:nvPr>
            <p:ph idx="1"/>
          </p:nvPr>
        </p:nvSpPr>
        <p:spPr/>
        <p:txBody>
          <a:bodyPr/>
          <a:lstStyle/>
          <a:p>
            <a:r>
              <a:rPr lang="en-US" altLang="zh-CN" dirty="0" smtClean="0"/>
              <a:t>1 YARN</a:t>
            </a:r>
            <a:r>
              <a:rPr lang="zh-CN" altLang="en-US" dirty="0" smtClean="0"/>
              <a:t>概述</a:t>
            </a:r>
            <a:endParaRPr lang="en-US" altLang="zh-CN" dirty="0" smtClean="0"/>
          </a:p>
          <a:p>
            <a:r>
              <a:rPr lang="en-US" altLang="zh-CN" dirty="0" smtClean="0"/>
              <a:t>2 </a:t>
            </a:r>
            <a:r>
              <a:rPr lang="zh-CN" altLang="en-US" dirty="0" smtClean="0"/>
              <a:t>体系结构</a:t>
            </a:r>
            <a:endParaRPr lang="en-US" altLang="zh-CN" dirty="0" smtClean="0"/>
          </a:p>
          <a:p>
            <a:r>
              <a:rPr lang="en-US" altLang="zh-CN" dirty="0" smtClean="0"/>
              <a:t>3 </a:t>
            </a:r>
            <a:r>
              <a:rPr lang="zh-CN" altLang="en-US" dirty="0" smtClean="0"/>
              <a:t>工作原理</a:t>
            </a:r>
            <a:endParaRPr lang="zh-CN" altLang="en-US" dirty="0"/>
          </a:p>
        </p:txBody>
      </p:sp>
    </p:spTree>
    <p:extLst>
      <p:ext uri="{BB962C8B-B14F-4D97-AF65-F5344CB8AC3E}">
        <p14:creationId xmlns:p14="http://schemas.microsoft.com/office/powerpoint/2010/main" val="37899155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 YARN</a:t>
            </a:r>
            <a:r>
              <a:rPr lang="zh-CN" altLang="en-US" dirty="0" smtClean="0"/>
              <a:t>概述</a:t>
            </a:r>
            <a:endParaRPr lang="zh-CN" altLang="en-US" dirty="0"/>
          </a:p>
        </p:txBody>
      </p:sp>
      <p:sp>
        <p:nvSpPr>
          <p:cNvPr id="3" name="内容占位符 2"/>
          <p:cNvSpPr>
            <a:spLocks noGrp="1"/>
          </p:cNvSpPr>
          <p:nvPr>
            <p:ph idx="1"/>
          </p:nvPr>
        </p:nvSpPr>
        <p:spPr/>
        <p:txBody>
          <a:bodyPr/>
          <a:lstStyle/>
          <a:p>
            <a:r>
              <a:rPr lang="en-US" altLang="zh-CN" dirty="0" smtClean="0"/>
              <a:t>YARN(yet another resource negotiator)</a:t>
            </a:r>
            <a:r>
              <a:rPr lang="zh-CN" altLang="en-US" dirty="0" smtClean="0"/>
              <a:t>最初是为</a:t>
            </a:r>
            <a:r>
              <a:rPr lang="en-US" altLang="zh-CN" dirty="0" err="1" smtClean="0"/>
              <a:t>MapReduce</a:t>
            </a:r>
            <a:r>
              <a:rPr lang="zh-CN" altLang="en-US" dirty="0" smtClean="0"/>
              <a:t>设计的一种资源管理器，后逐步成为通用的资源管理系统，可为上层应用提供统一的资源管理和调度</a:t>
            </a:r>
            <a:endParaRPr lang="en-US" altLang="zh-CN" dirty="0" smtClean="0"/>
          </a:p>
          <a:p>
            <a:pPr lvl="1"/>
            <a:r>
              <a:rPr lang="en-US" altLang="zh-CN" dirty="0" smtClean="0"/>
              <a:t>2012</a:t>
            </a:r>
            <a:r>
              <a:rPr lang="zh-CN" altLang="en-US" dirty="0" smtClean="0"/>
              <a:t>年</a:t>
            </a:r>
            <a:r>
              <a:rPr lang="en-US" altLang="zh-CN" dirty="0" smtClean="0"/>
              <a:t>8</a:t>
            </a:r>
            <a:r>
              <a:rPr lang="zh-CN" altLang="en-US" dirty="0" smtClean="0"/>
              <a:t>月，</a:t>
            </a:r>
            <a:r>
              <a:rPr lang="en-US" altLang="zh-CN" dirty="0" smtClean="0"/>
              <a:t>YARN</a:t>
            </a:r>
            <a:r>
              <a:rPr lang="zh-CN" altLang="en-US" dirty="0" smtClean="0"/>
              <a:t>成为</a:t>
            </a:r>
            <a:r>
              <a:rPr lang="en-US" altLang="zh-CN" dirty="0" smtClean="0"/>
              <a:t>Hadoop</a:t>
            </a:r>
            <a:r>
              <a:rPr lang="zh-CN" altLang="en-US" dirty="0" smtClean="0"/>
              <a:t>的一个子项目</a:t>
            </a:r>
            <a:endParaRPr lang="en-US" altLang="zh-CN" dirty="0" smtClean="0"/>
          </a:p>
          <a:p>
            <a:pPr marL="457200" lvl="1" indent="0">
              <a:buNone/>
            </a:pPr>
            <a:endParaRPr lang="en-US" altLang="zh-CN" dirty="0" smtClean="0"/>
          </a:p>
          <a:p>
            <a:pPr lvl="1"/>
            <a:endParaRPr lang="zh-CN" altLang="en-US" dirty="0"/>
          </a:p>
        </p:txBody>
      </p:sp>
      <p:pic>
        <p:nvPicPr>
          <p:cNvPr id="4" name="图片 3" descr="1011838-20181214213729657-95804605"/>
          <p:cNvPicPr>
            <a:picLocks noChangeAspect="1"/>
          </p:cNvPicPr>
          <p:nvPr/>
        </p:nvPicPr>
        <p:blipFill>
          <a:blip r:embed="rId2"/>
          <a:stretch>
            <a:fillRect/>
          </a:stretch>
        </p:blipFill>
        <p:spPr>
          <a:xfrm>
            <a:off x="2026518" y="4149080"/>
            <a:ext cx="4760763" cy="2372201"/>
          </a:xfrm>
          <a:prstGeom prst="rect">
            <a:avLst/>
          </a:prstGeom>
        </p:spPr>
      </p:pic>
    </p:spTree>
    <p:extLst>
      <p:ext uri="{BB962C8B-B14F-4D97-AF65-F5344CB8AC3E}">
        <p14:creationId xmlns:p14="http://schemas.microsoft.com/office/powerpoint/2010/main" val="35103766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lstStyle/>
          <a:p>
            <a:r>
              <a:rPr lang="en-US" altLang="zh-CN" dirty="0" smtClean="0"/>
              <a:t>YARN</a:t>
            </a:r>
            <a:r>
              <a:rPr lang="zh-CN" altLang="en-US" dirty="0" smtClean="0"/>
              <a:t>采用</a:t>
            </a:r>
            <a:r>
              <a:rPr lang="en-US" altLang="zh-CN" dirty="0" smtClean="0"/>
              <a:t>“Master/Slave”</a:t>
            </a:r>
            <a:r>
              <a:rPr lang="zh-CN" altLang="en-US" dirty="0" smtClean="0"/>
              <a:t>架构</a:t>
            </a:r>
            <a:endParaRPr lang="en-US" altLang="zh-CN" dirty="0" smtClean="0"/>
          </a:p>
          <a:p>
            <a:pPr lvl="1"/>
            <a:r>
              <a:rPr lang="en-US" altLang="zh-CN" dirty="0" err="1" smtClean="0"/>
              <a:t>ResourceManager</a:t>
            </a:r>
            <a:endParaRPr lang="en-US" altLang="zh-CN" dirty="0" smtClean="0"/>
          </a:p>
          <a:p>
            <a:pPr lvl="1"/>
            <a:r>
              <a:rPr lang="en-US" altLang="zh-CN" dirty="0" err="1" smtClean="0"/>
              <a:t>NodeManager</a:t>
            </a:r>
            <a:endParaRPr lang="en-US" altLang="zh-CN" dirty="0" smtClean="0"/>
          </a:p>
          <a:p>
            <a:pPr lvl="1"/>
            <a:r>
              <a:rPr lang="en-US" altLang="zh-CN" dirty="0" err="1" smtClean="0"/>
              <a:t>ApplicationMaster</a:t>
            </a:r>
            <a:endParaRPr lang="en-US" altLang="zh-CN" dirty="0" smtClean="0"/>
          </a:p>
          <a:p>
            <a:pPr lvl="1"/>
            <a:r>
              <a:rPr lang="en-US" altLang="zh-CN" dirty="0" smtClean="0"/>
              <a:t>Container</a:t>
            </a:r>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14620" y="3284984"/>
            <a:ext cx="4320000" cy="3193610"/>
          </a:xfrm>
          <a:prstGeom prst="rect">
            <a:avLst/>
          </a:prstGeom>
        </p:spPr>
      </p:pic>
    </p:spTree>
    <p:extLst>
      <p:ext uri="{BB962C8B-B14F-4D97-AF65-F5344CB8AC3E}">
        <p14:creationId xmlns:p14="http://schemas.microsoft.com/office/powerpoint/2010/main" val="41963257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lstStyle/>
          <a:p>
            <a:r>
              <a:rPr lang="en-US" altLang="zh-CN" dirty="0" err="1" smtClean="0"/>
              <a:t>ResourceManager</a:t>
            </a:r>
            <a:r>
              <a:rPr lang="zh-CN" altLang="en-US" dirty="0" smtClean="0"/>
              <a:t>：在主节点运行，负责整个集群的资源管理和分配，主要由调度器和应用管理器两个组件构成</a:t>
            </a:r>
            <a:endParaRPr lang="en-US" altLang="zh-CN" dirty="0" smtClean="0"/>
          </a:p>
          <a:p>
            <a:pPr lvl="1"/>
            <a:r>
              <a:rPr lang="zh-CN" altLang="en-US" dirty="0" smtClean="0"/>
              <a:t>调度器：负责分配</a:t>
            </a:r>
            <a:r>
              <a:rPr lang="en-US" altLang="zh-CN" dirty="0" smtClean="0"/>
              <a:t>Container</a:t>
            </a:r>
            <a:r>
              <a:rPr lang="zh-CN" altLang="en-US" dirty="0" smtClean="0"/>
              <a:t>并进行资源调度</a:t>
            </a:r>
            <a:endParaRPr lang="en-US" altLang="zh-CN" dirty="0" smtClean="0"/>
          </a:p>
          <a:p>
            <a:pPr lvl="1"/>
            <a:r>
              <a:rPr lang="zh-CN" altLang="en-US" dirty="0" smtClean="0"/>
              <a:t>应用管理器：负责管理整个集群中运行的所有应用，包括应用程序的提交、与调度器协商资源以启动</a:t>
            </a:r>
            <a:r>
              <a:rPr lang="en-US" altLang="zh-CN" dirty="0" err="1" smtClean="0"/>
              <a:t>ApplicationMaster</a:t>
            </a:r>
            <a:r>
              <a:rPr lang="zh-CN" altLang="en-US" dirty="0" smtClean="0"/>
              <a:t>、监控</a:t>
            </a:r>
            <a:r>
              <a:rPr lang="en-US" altLang="zh-CN" dirty="0" err="1" smtClean="0"/>
              <a:t>ApplicationMaster</a:t>
            </a:r>
            <a:r>
              <a:rPr lang="zh-CN" altLang="en-US" dirty="0" smtClean="0"/>
              <a:t>的运行状态等</a:t>
            </a:r>
            <a:endParaRPr lang="en-US" altLang="zh-CN" dirty="0"/>
          </a:p>
          <a:p>
            <a:pPr lvl="2"/>
            <a:endParaRPr lang="en-US" altLang="zh-CN" dirty="0" smtClean="0"/>
          </a:p>
          <a:p>
            <a:pPr lvl="2"/>
            <a:endParaRPr lang="zh-CN" altLang="en-US" dirty="0"/>
          </a:p>
        </p:txBody>
      </p:sp>
    </p:spTree>
    <p:extLst>
      <p:ext uri="{BB962C8B-B14F-4D97-AF65-F5344CB8AC3E}">
        <p14:creationId xmlns:p14="http://schemas.microsoft.com/office/powerpoint/2010/main" val="12668774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lstStyle/>
          <a:p>
            <a:r>
              <a:rPr lang="en-US" altLang="zh-CN" dirty="0" err="1" smtClean="0"/>
              <a:t>NodeManager</a:t>
            </a:r>
            <a:r>
              <a:rPr lang="zh-CN" altLang="en-US" dirty="0" smtClean="0"/>
              <a:t>：在从节点运行，负责节点的资源管理和任务管理</a:t>
            </a:r>
            <a:endParaRPr lang="en-US" altLang="zh-CN" dirty="0" smtClean="0"/>
          </a:p>
          <a:p>
            <a:pPr lvl="1"/>
            <a:r>
              <a:rPr lang="zh-CN" altLang="en-US" dirty="0" smtClean="0"/>
              <a:t>定时向</a:t>
            </a:r>
            <a:r>
              <a:rPr lang="en-US" altLang="zh-CN" dirty="0" err="1" smtClean="0"/>
              <a:t>ResourceManager</a:t>
            </a:r>
            <a:r>
              <a:rPr lang="zh-CN" altLang="en-US" dirty="0" smtClean="0"/>
              <a:t>汇报本节点的资源使用情况和</a:t>
            </a:r>
            <a:r>
              <a:rPr lang="en-US" altLang="zh-CN" dirty="0" smtClean="0"/>
              <a:t>Container</a:t>
            </a:r>
            <a:r>
              <a:rPr lang="zh-CN" altLang="en-US" dirty="0" smtClean="0"/>
              <a:t>运行情况</a:t>
            </a:r>
            <a:endParaRPr lang="en-US" altLang="zh-CN" dirty="0" smtClean="0"/>
          </a:p>
          <a:p>
            <a:pPr lvl="1"/>
            <a:r>
              <a:rPr lang="zh-CN" altLang="en-US" dirty="0" smtClean="0"/>
              <a:t>接受并处理来自</a:t>
            </a:r>
            <a:r>
              <a:rPr lang="en-US" altLang="zh-CN" dirty="0" err="1" smtClean="0"/>
              <a:t>ApplicationMaster</a:t>
            </a:r>
            <a:r>
              <a:rPr lang="zh-CN" altLang="en-US" dirty="0" smtClean="0"/>
              <a:t>的</a:t>
            </a:r>
            <a:r>
              <a:rPr lang="en-US" altLang="zh-CN" dirty="0" smtClean="0"/>
              <a:t>Container</a:t>
            </a:r>
            <a:r>
              <a:rPr lang="zh-CN" altLang="en-US" dirty="0" smtClean="0"/>
              <a:t>的启动</a:t>
            </a:r>
            <a:r>
              <a:rPr lang="en-US" altLang="zh-CN" dirty="0" smtClean="0"/>
              <a:t>/</a:t>
            </a:r>
            <a:r>
              <a:rPr lang="zh-CN" altLang="en-US" dirty="0" smtClean="0"/>
              <a:t>停止等各种请求</a:t>
            </a:r>
            <a:endParaRPr lang="en-US" altLang="zh-CN" dirty="0" smtClean="0"/>
          </a:p>
          <a:p>
            <a:pPr lvl="2"/>
            <a:endParaRPr lang="zh-CN" altLang="en-US" dirty="0"/>
          </a:p>
        </p:txBody>
      </p:sp>
    </p:spTree>
    <p:extLst>
      <p:ext uri="{BB962C8B-B14F-4D97-AF65-F5344CB8AC3E}">
        <p14:creationId xmlns:p14="http://schemas.microsoft.com/office/powerpoint/2010/main" val="1674934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lstStyle/>
          <a:p>
            <a:r>
              <a:rPr lang="en-US" altLang="zh-CN" dirty="0" err="1" smtClean="0"/>
              <a:t>ApplicationMaster</a:t>
            </a:r>
            <a:r>
              <a:rPr lang="zh-CN" altLang="en-US" dirty="0" smtClean="0"/>
              <a:t>：当用户基于</a:t>
            </a:r>
            <a:r>
              <a:rPr lang="en-US" altLang="zh-CN" dirty="0" smtClean="0"/>
              <a:t>YARN</a:t>
            </a:r>
            <a:r>
              <a:rPr lang="zh-CN" altLang="en-US" dirty="0" smtClean="0"/>
              <a:t>提交一个应用时，</a:t>
            </a:r>
            <a:r>
              <a:rPr lang="en-US" altLang="zh-CN" dirty="0" smtClean="0"/>
              <a:t>YARN</a:t>
            </a:r>
            <a:r>
              <a:rPr lang="zh-CN" altLang="en-US" dirty="0" smtClean="0"/>
              <a:t>均启动一个</a:t>
            </a:r>
            <a:r>
              <a:rPr lang="en-US" altLang="zh-CN" dirty="0" err="1" smtClean="0"/>
              <a:t>ApplicationMaster</a:t>
            </a:r>
            <a:r>
              <a:rPr lang="zh-CN" altLang="en-US" dirty="0" smtClean="0"/>
              <a:t>以管理该应用</a:t>
            </a:r>
            <a:endParaRPr lang="en-US" altLang="zh-CN" dirty="0" smtClean="0"/>
          </a:p>
          <a:p>
            <a:pPr lvl="1"/>
            <a:r>
              <a:rPr lang="en-US" altLang="zh-CN" dirty="0" err="1" smtClean="0"/>
              <a:t>ApplicationMaster</a:t>
            </a:r>
            <a:r>
              <a:rPr lang="zh-CN" altLang="en-US" dirty="0" smtClean="0"/>
              <a:t>通过与</a:t>
            </a:r>
            <a:r>
              <a:rPr lang="en-US" altLang="zh-CN" dirty="0" err="1" smtClean="0"/>
              <a:t>ResourceManager</a:t>
            </a:r>
            <a:r>
              <a:rPr lang="zh-CN" altLang="en-US" dirty="0" smtClean="0"/>
              <a:t>调度器协商获取资源（以</a:t>
            </a:r>
            <a:r>
              <a:rPr lang="en-US" altLang="zh-CN" dirty="0" smtClean="0"/>
              <a:t>Container</a:t>
            </a:r>
            <a:r>
              <a:rPr lang="zh-CN" altLang="en-US" dirty="0" smtClean="0"/>
              <a:t>表示），将获取的资源进一步分配给作业内部的任务</a:t>
            </a:r>
            <a:endParaRPr lang="en-US" altLang="zh-CN" dirty="0" smtClean="0"/>
          </a:p>
          <a:p>
            <a:pPr lvl="1"/>
            <a:r>
              <a:rPr lang="en-US" altLang="zh-CN" dirty="0" err="1" smtClean="0"/>
              <a:t>ResourceManager</a:t>
            </a:r>
            <a:r>
              <a:rPr lang="zh-CN" altLang="en-US" dirty="0" smtClean="0"/>
              <a:t>与</a:t>
            </a:r>
            <a:r>
              <a:rPr lang="en-US" altLang="zh-CN" dirty="0" err="1" smtClean="0"/>
              <a:t>NodeManager</a:t>
            </a:r>
            <a:r>
              <a:rPr lang="zh-CN" altLang="en-US" dirty="0" smtClean="0"/>
              <a:t>通过通信启动</a:t>
            </a:r>
            <a:r>
              <a:rPr lang="en-US" altLang="zh-CN" dirty="0" smtClean="0"/>
              <a:t>/</a:t>
            </a:r>
            <a:r>
              <a:rPr lang="zh-CN" altLang="en-US" dirty="0" smtClean="0"/>
              <a:t>停止任务，监控所有任务运行状态，并在任务发生故障时重新申请资源以重新启动任务</a:t>
            </a:r>
            <a:endParaRPr lang="zh-CN" altLang="en-US" dirty="0"/>
          </a:p>
        </p:txBody>
      </p:sp>
    </p:spTree>
    <p:extLst>
      <p:ext uri="{BB962C8B-B14F-4D97-AF65-F5344CB8AC3E}">
        <p14:creationId xmlns:p14="http://schemas.microsoft.com/office/powerpoint/2010/main" val="4916069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lstStyle/>
          <a:p>
            <a:r>
              <a:rPr lang="en-US" altLang="zh-CN" dirty="0" smtClean="0"/>
              <a:t>Container</a:t>
            </a:r>
            <a:r>
              <a:rPr lang="zh-CN" altLang="en-US" dirty="0" smtClean="0"/>
              <a:t>：资源的抽象表示，包括</a:t>
            </a:r>
            <a:r>
              <a:rPr lang="en-US" altLang="zh-CN" dirty="0" smtClean="0"/>
              <a:t>CPU</a:t>
            </a:r>
            <a:r>
              <a:rPr lang="zh-CN" altLang="en-US" dirty="0" smtClean="0"/>
              <a:t>、内存等，是一个动态资源划分单位</a:t>
            </a:r>
            <a:endParaRPr lang="en-US" altLang="zh-CN" dirty="0" smtClean="0"/>
          </a:p>
          <a:p>
            <a:pPr lvl="1"/>
            <a:r>
              <a:rPr lang="zh-CN" altLang="en-US" dirty="0" smtClean="0"/>
              <a:t>当</a:t>
            </a:r>
            <a:r>
              <a:rPr lang="en-US" altLang="zh-CN" dirty="0" err="1" smtClean="0"/>
              <a:t>ApplicationMaster</a:t>
            </a:r>
            <a:r>
              <a:rPr lang="zh-CN" altLang="en-US" dirty="0" smtClean="0"/>
              <a:t>向</a:t>
            </a:r>
            <a:r>
              <a:rPr lang="en-US" altLang="zh-CN" dirty="0" err="1" smtClean="0"/>
              <a:t>ResourceManager</a:t>
            </a:r>
            <a:r>
              <a:rPr lang="zh-CN" altLang="en-US" dirty="0" smtClean="0"/>
              <a:t>申请资源时，</a:t>
            </a:r>
            <a:r>
              <a:rPr lang="en-US" altLang="zh-CN" dirty="0"/>
              <a:t> </a:t>
            </a:r>
            <a:r>
              <a:rPr lang="en-US" altLang="zh-CN" dirty="0" err="1" smtClean="0"/>
              <a:t>ResourceManager</a:t>
            </a:r>
            <a:r>
              <a:rPr lang="zh-CN" altLang="en-US" dirty="0" smtClean="0"/>
              <a:t>向</a:t>
            </a:r>
            <a:r>
              <a:rPr lang="en-US" altLang="zh-CN" dirty="0" err="1" smtClean="0"/>
              <a:t>ApplicationMaster</a:t>
            </a:r>
            <a:r>
              <a:rPr lang="zh-CN" altLang="en-US" dirty="0" smtClean="0"/>
              <a:t>返回以</a:t>
            </a:r>
            <a:r>
              <a:rPr lang="en-US" altLang="zh-CN" dirty="0" smtClean="0"/>
              <a:t>Container</a:t>
            </a:r>
            <a:r>
              <a:rPr lang="zh-CN" altLang="en-US" dirty="0" smtClean="0"/>
              <a:t>表示的资源</a:t>
            </a:r>
            <a:endParaRPr lang="en-US" altLang="zh-CN" dirty="0" smtClean="0"/>
          </a:p>
        </p:txBody>
      </p:sp>
    </p:spTree>
    <p:extLst>
      <p:ext uri="{BB962C8B-B14F-4D97-AF65-F5344CB8AC3E}">
        <p14:creationId xmlns:p14="http://schemas.microsoft.com/office/powerpoint/2010/main" val="3562711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lstStyle/>
          <a:p>
            <a:r>
              <a:rPr lang="zh-CN" altLang="en-US" dirty="0" smtClean="0"/>
              <a:t>应用程序执行流程</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844824"/>
            <a:ext cx="5760000" cy="4558740"/>
          </a:xfrm>
          <a:prstGeom prst="rect">
            <a:avLst/>
          </a:prstGeom>
        </p:spPr>
      </p:pic>
    </p:spTree>
    <p:extLst>
      <p:ext uri="{BB962C8B-B14F-4D97-AF65-F5344CB8AC3E}">
        <p14:creationId xmlns:p14="http://schemas.microsoft.com/office/powerpoint/2010/main" val="7898619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normAutofit fontScale="62500" lnSpcReduction="20000"/>
          </a:bodyPr>
          <a:lstStyle/>
          <a:p>
            <a:r>
              <a:rPr lang="zh-CN" altLang="en-US" dirty="0"/>
              <a:t>应用程序执行流程</a:t>
            </a:r>
          </a:p>
          <a:p>
            <a:pPr lvl="1"/>
            <a:r>
              <a:rPr lang="en-US" altLang="zh-CN" dirty="0" smtClean="0"/>
              <a:t>（1）</a:t>
            </a:r>
            <a:r>
              <a:rPr lang="zh-CN" altLang="en-US" dirty="0" smtClean="0"/>
              <a:t>用户编写客户端应用程序，向</a:t>
            </a:r>
            <a:r>
              <a:rPr lang="en-US" altLang="zh-CN" dirty="0" smtClean="0"/>
              <a:t>YARN</a:t>
            </a:r>
            <a:r>
              <a:rPr lang="zh-CN" altLang="en-US" dirty="0" smtClean="0"/>
              <a:t>提交应用程序</a:t>
            </a:r>
            <a:endParaRPr lang="en-US" altLang="zh-CN" dirty="0" smtClean="0"/>
          </a:p>
          <a:p>
            <a:pPr lvl="1"/>
            <a:r>
              <a:rPr lang="zh-CN" altLang="en-US" dirty="0" smtClean="0"/>
              <a:t>（</a:t>
            </a:r>
            <a:r>
              <a:rPr lang="en-US" altLang="zh-CN" dirty="0" smtClean="0"/>
              <a:t>2</a:t>
            </a:r>
            <a:r>
              <a:rPr lang="zh-CN" altLang="en-US" dirty="0" smtClean="0"/>
              <a:t>）</a:t>
            </a:r>
            <a:r>
              <a:rPr lang="en-US" altLang="zh-CN" dirty="0" err="1" smtClean="0"/>
              <a:t>ResourManager</a:t>
            </a:r>
            <a:r>
              <a:rPr lang="zh-CN" altLang="en-US" dirty="0" smtClean="0"/>
              <a:t>负责接收和处理来自客户端的请求，尝试为该应用程序分配第一个</a:t>
            </a:r>
            <a:r>
              <a:rPr lang="en-US" altLang="zh-CN" dirty="0" smtClean="0"/>
              <a:t>Container</a:t>
            </a:r>
            <a:r>
              <a:rPr lang="zh-CN" altLang="en-US" dirty="0" smtClean="0"/>
              <a:t>，如果分配成功则在</a:t>
            </a:r>
            <a:r>
              <a:rPr lang="en-US" altLang="zh-CN" dirty="0" smtClean="0"/>
              <a:t>Container</a:t>
            </a:r>
            <a:r>
              <a:rPr lang="zh-CN" altLang="en-US" dirty="0" smtClean="0"/>
              <a:t>启动应用程序的</a:t>
            </a:r>
            <a:r>
              <a:rPr lang="en-US" altLang="zh-CN" dirty="0" err="1" smtClean="0"/>
              <a:t>ApplicationMaster</a:t>
            </a:r>
            <a:r>
              <a:rPr lang="zh-CN" altLang="en-US" dirty="0" smtClean="0"/>
              <a:t>。</a:t>
            </a:r>
            <a:endParaRPr lang="en-US" altLang="zh-CN" dirty="0" smtClean="0"/>
          </a:p>
          <a:p>
            <a:pPr lvl="1"/>
            <a:r>
              <a:rPr lang="zh-CN" altLang="en-US" dirty="0" smtClean="0"/>
              <a:t>（</a:t>
            </a:r>
            <a:r>
              <a:rPr lang="en-US" altLang="zh-CN" dirty="0" smtClean="0"/>
              <a:t>3</a:t>
            </a:r>
            <a:r>
              <a:rPr lang="zh-CN" altLang="en-US" dirty="0" smtClean="0"/>
              <a:t>）</a:t>
            </a:r>
            <a:r>
              <a:rPr lang="en-US" altLang="zh-CN" dirty="0"/>
              <a:t> </a:t>
            </a:r>
            <a:r>
              <a:rPr lang="en-US" altLang="zh-CN" dirty="0" err="1" smtClean="0"/>
              <a:t>ApplicationMaster</a:t>
            </a:r>
            <a:r>
              <a:rPr lang="zh-CN" altLang="en-US" dirty="0" smtClean="0"/>
              <a:t>向</a:t>
            </a:r>
            <a:r>
              <a:rPr lang="en-US" altLang="zh-CN" dirty="0" err="1" smtClean="0"/>
              <a:t>ResourceManager</a:t>
            </a:r>
            <a:r>
              <a:rPr lang="zh-CN" altLang="en-US" dirty="0" smtClean="0"/>
              <a:t>注册，以便客户端通过</a:t>
            </a:r>
            <a:r>
              <a:rPr lang="en-US" altLang="zh-CN" dirty="0" err="1" smtClean="0"/>
              <a:t>ResourceManager</a:t>
            </a:r>
            <a:r>
              <a:rPr lang="zh-CN" altLang="en-US" dirty="0" smtClean="0"/>
              <a:t>查看应用程序的资源使用情况。</a:t>
            </a:r>
            <a:r>
              <a:rPr lang="en-US" altLang="zh-CN" dirty="0"/>
              <a:t> </a:t>
            </a:r>
            <a:r>
              <a:rPr lang="en-US" altLang="zh-CN" dirty="0" err="1" smtClean="0"/>
              <a:t>ApplicationMaster</a:t>
            </a:r>
            <a:r>
              <a:rPr lang="zh-CN" altLang="en-US" dirty="0" smtClean="0"/>
              <a:t>将应用解析为作业并进一步分解为若干任务，并向</a:t>
            </a:r>
            <a:r>
              <a:rPr lang="en-US" altLang="zh-CN" dirty="0" err="1" smtClean="0"/>
              <a:t>ResourceManager</a:t>
            </a:r>
            <a:r>
              <a:rPr lang="zh-CN" altLang="en-US" dirty="0" smtClean="0"/>
              <a:t>申请启动这些任务的资源。</a:t>
            </a:r>
            <a:endParaRPr lang="en-US" altLang="zh-CN" dirty="0" smtClean="0"/>
          </a:p>
          <a:p>
            <a:pPr lvl="1"/>
            <a:r>
              <a:rPr lang="zh-CN" altLang="en-US" dirty="0" smtClean="0"/>
              <a:t>（</a:t>
            </a:r>
            <a:r>
              <a:rPr lang="en-US" altLang="zh-CN" dirty="0" smtClean="0"/>
              <a:t>4</a:t>
            </a:r>
            <a:r>
              <a:rPr lang="zh-CN" altLang="en-US" dirty="0" smtClean="0"/>
              <a:t>）</a:t>
            </a:r>
            <a:r>
              <a:rPr lang="en-US" altLang="zh-CN" dirty="0"/>
              <a:t> </a:t>
            </a:r>
            <a:r>
              <a:rPr lang="en-US" altLang="zh-CN" dirty="0" err="1" smtClean="0"/>
              <a:t>ResourceManager</a:t>
            </a:r>
            <a:r>
              <a:rPr lang="zh-CN" altLang="en-US" dirty="0" smtClean="0"/>
              <a:t>向提出申请的</a:t>
            </a:r>
            <a:r>
              <a:rPr lang="en-US" altLang="zh-CN" dirty="0" err="1" smtClean="0"/>
              <a:t>ApplicationMaster</a:t>
            </a:r>
            <a:r>
              <a:rPr lang="zh-CN" altLang="en-US" dirty="0" smtClean="0"/>
              <a:t>分配以</a:t>
            </a:r>
            <a:r>
              <a:rPr lang="en-US" altLang="zh-CN" dirty="0" smtClean="0"/>
              <a:t>Container</a:t>
            </a:r>
            <a:r>
              <a:rPr lang="zh-CN" altLang="en-US" dirty="0" smtClean="0"/>
              <a:t>形式表示的资源。一旦</a:t>
            </a:r>
            <a:r>
              <a:rPr lang="en-US" altLang="zh-CN" dirty="0" err="1" smtClean="0"/>
              <a:t>ApplicationMaster</a:t>
            </a:r>
            <a:r>
              <a:rPr lang="zh-CN" altLang="en-US" dirty="0" smtClean="0"/>
              <a:t>申请到资源，即可在多个任务间进行资源分配</a:t>
            </a:r>
            <a:endParaRPr lang="en-US" altLang="zh-CN" dirty="0" smtClean="0"/>
          </a:p>
          <a:p>
            <a:pPr lvl="1"/>
            <a:r>
              <a:rPr lang="zh-CN" altLang="en-US" dirty="0" smtClean="0"/>
              <a:t>（</a:t>
            </a:r>
            <a:r>
              <a:rPr lang="en-US" altLang="zh-CN" dirty="0" smtClean="0"/>
              <a:t>5</a:t>
            </a:r>
            <a:r>
              <a:rPr lang="zh-CN" altLang="en-US" dirty="0" smtClean="0"/>
              <a:t>）</a:t>
            </a:r>
            <a:r>
              <a:rPr lang="en-US" altLang="zh-CN" dirty="0"/>
              <a:t> </a:t>
            </a:r>
            <a:r>
              <a:rPr lang="en-US" altLang="zh-CN" dirty="0" err="1" smtClean="0"/>
              <a:t>ApplicationMaster</a:t>
            </a:r>
            <a:r>
              <a:rPr lang="zh-CN" altLang="en-US" dirty="0" smtClean="0"/>
              <a:t>确定资源分配方案后，与对应的</a:t>
            </a:r>
            <a:r>
              <a:rPr lang="en-US" altLang="zh-CN" dirty="0" err="1" smtClean="0"/>
              <a:t>NodeManager</a:t>
            </a:r>
            <a:r>
              <a:rPr lang="zh-CN" altLang="en-US" dirty="0" smtClean="0"/>
              <a:t>通信，在相应</a:t>
            </a:r>
            <a:r>
              <a:rPr lang="en-US" altLang="zh-CN" dirty="0" smtClean="0"/>
              <a:t>Container</a:t>
            </a:r>
            <a:r>
              <a:rPr lang="zh-CN" altLang="en-US" dirty="0" smtClean="0"/>
              <a:t>中启动相应的工作进程以执行任务</a:t>
            </a:r>
            <a:endParaRPr lang="en-US" altLang="zh-CN" dirty="0" smtClean="0"/>
          </a:p>
          <a:p>
            <a:pPr lvl="1"/>
            <a:r>
              <a:rPr lang="zh-CN" altLang="en-US" dirty="0" smtClean="0"/>
              <a:t>（</a:t>
            </a:r>
            <a:r>
              <a:rPr lang="en-US" altLang="zh-CN" dirty="0" smtClean="0"/>
              <a:t>6</a:t>
            </a:r>
            <a:r>
              <a:rPr lang="zh-CN" altLang="en-US" dirty="0" smtClean="0"/>
              <a:t>）各个工作进程向</a:t>
            </a:r>
            <a:r>
              <a:rPr lang="en-US" altLang="zh-CN" dirty="0" err="1" smtClean="0"/>
              <a:t>ApplicationMaster</a:t>
            </a:r>
            <a:r>
              <a:rPr lang="zh-CN" altLang="en-US" dirty="0" smtClean="0"/>
              <a:t>汇报自身的状态和进度，以便</a:t>
            </a:r>
            <a:r>
              <a:rPr lang="en-US" altLang="zh-CN" dirty="0" err="1" smtClean="0"/>
              <a:t>ApplicationMaster</a:t>
            </a:r>
            <a:r>
              <a:rPr lang="zh-CN" altLang="en-US" dirty="0" smtClean="0"/>
              <a:t>随时掌握各个工作进程的任务运行状态</a:t>
            </a:r>
            <a:endParaRPr lang="en-US" altLang="zh-CN" dirty="0" smtClean="0"/>
          </a:p>
          <a:p>
            <a:pPr lvl="1"/>
            <a:r>
              <a:rPr lang="zh-CN" altLang="en-US" dirty="0" smtClean="0"/>
              <a:t>（</a:t>
            </a:r>
            <a:r>
              <a:rPr lang="en-US" altLang="zh-CN" dirty="0" smtClean="0"/>
              <a:t>7</a:t>
            </a:r>
            <a:r>
              <a:rPr lang="zh-CN" altLang="en-US" dirty="0" smtClean="0"/>
              <a:t>）随着任务执行结束，</a:t>
            </a:r>
            <a:r>
              <a:rPr lang="en-US" altLang="zh-CN" dirty="0"/>
              <a:t> </a:t>
            </a:r>
            <a:r>
              <a:rPr lang="en-US" altLang="zh-CN" dirty="0" err="1" smtClean="0"/>
              <a:t>ApplicationMaster</a:t>
            </a:r>
            <a:r>
              <a:rPr lang="zh-CN" altLang="en-US" dirty="0" smtClean="0"/>
              <a:t>逐步释放占用的资源，最终向</a:t>
            </a:r>
            <a:r>
              <a:rPr lang="en-US" altLang="zh-CN" dirty="0" err="1" smtClean="0"/>
              <a:t>ResourManager</a:t>
            </a:r>
            <a:r>
              <a:rPr lang="zh-CN" altLang="en-US" dirty="0" smtClean="0"/>
              <a:t>注销并自行关闭</a:t>
            </a:r>
            <a:endParaRPr lang="zh-CN" altLang="en-US" dirty="0"/>
          </a:p>
        </p:txBody>
      </p:sp>
    </p:spTree>
    <p:extLst>
      <p:ext uri="{BB962C8B-B14F-4D97-AF65-F5344CB8AC3E}">
        <p14:creationId xmlns:p14="http://schemas.microsoft.com/office/powerpoint/2010/main" val="41561397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lstStyle/>
          <a:p>
            <a:r>
              <a:rPr lang="zh-CN" altLang="en-US" dirty="0" smtClean="0"/>
              <a:t>容错机制</a:t>
            </a:r>
            <a:endParaRPr lang="en-US" altLang="zh-CN" dirty="0" smtClean="0"/>
          </a:p>
          <a:p>
            <a:pPr lvl="1"/>
            <a:r>
              <a:rPr lang="zh-CN" altLang="en-US" dirty="0" smtClean="0"/>
              <a:t>系统发生的故障类型分为主节点故障和从节点故障</a:t>
            </a:r>
            <a:endParaRPr lang="en-US" altLang="zh-CN" dirty="0" smtClean="0"/>
          </a:p>
          <a:p>
            <a:pPr lvl="1"/>
            <a:r>
              <a:rPr lang="zh-CN" altLang="en-US" dirty="0" smtClean="0"/>
              <a:t>主节点故障</a:t>
            </a:r>
            <a:endParaRPr lang="en-US" altLang="zh-CN" dirty="0" smtClean="0"/>
          </a:p>
          <a:p>
            <a:pPr lvl="2"/>
            <a:r>
              <a:rPr lang="en-US" altLang="zh-CN" dirty="0" err="1" smtClean="0"/>
              <a:t>ResourceManager</a:t>
            </a:r>
            <a:r>
              <a:rPr lang="zh-CN" altLang="en-US" dirty="0" smtClean="0"/>
              <a:t>进程故障</a:t>
            </a:r>
            <a:endParaRPr lang="en-US" altLang="zh-CN" dirty="0" smtClean="0"/>
          </a:p>
          <a:p>
            <a:pPr lvl="1"/>
            <a:r>
              <a:rPr lang="zh-CN" altLang="en-US" dirty="0" smtClean="0"/>
              <a:t>从节点故障</a:t>
            </a:r>
            <a:endParaRPr lang="en-US" altLang="zh-CN" dirty="0" smtClean="0"/>
          </a:p>
          <a:p>
            <a:pPr lvl="2"/>
            <a:r>
              <a:rPr lang="en-US" altLang="zh-CN" dirty="0" err="1" smtClean="0"/>
              <a:t>NodeManager</a:t>
            </a:r>
            <a:r>
              <a:rPr lang="zh-CN" altLang="en-US" dirty="0"/>
              <a:t>进程</a:t>
            </a:r>
            <a:r>
              <a:rPr lang="zh-CN" altLang="en-US" dirty="0" smtClean="0"/>
              <a:t>故障，可能导致</a:t>
            </a:r>
            <a:r>
              <a:rPr lang="en-US" altLang="zh-CN" dirty="0" err="1" smtClean="0"/>
              <a:t>ApplicationMaster</a:t>
            </a:r>
            <a:r>
              <a:rPr lang="zh-CN" altLang="en-US" dirty="0" smtClean="0"/>
              <a:t>以及</a:t>
            </a:r>
            <a:r>
              <a:rPr lang="en-US" altLang="zh-CN" dirty="0" smtClean="0"/>
              <a:t>Container</a:t>
            </a:r>
            <a:r>
              <a:rPr lang="zh-CN" altLang="en-US" dirty="0" smtClean="0"/>
              <a:t>中运行的任务发生故障</a:t>
            </a:r>
            <a:endParaRPr lang="en-US" altLang="zh-CN" dirty="0"/>
          </a:p>
          <a:p>
            <a:pPr lvl="2"/>
            <a:endParaRPr lang="zh-CN" altLang="en-US" dirty="0"/>
          </a:p>
        </p:txBody>
      </p:sp>
    </p:spTree>
    <p:extLst>
      <p:ext uri="{BB962C8B-B14F-4D97-AF65-F5344CB8AC3E}">
        <p14:creationId xmlns:p14="http://schemas.microsoft.com/office/powerpoint/2010/main" val="42155780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lstStyle/>
          <a:p>
            <a:r>
              <a:rPr lang="zh-CN" altLang="en-US" dirty="0" smtClean="0"/>
              <a:t>容错机制</a:t>
            </a:r>
            <a:endParaRPr lang="en-US" altLang="zh-CN" dirty="0" smtClean="0"/>
          </a:p>
          <a:p>
            <a:pPr lvl="1"/>
            <a:r>
              <a:rPr lang="en-US" altLang="zh-CN" dirty="0" err="1" smtClean="0"/>
              <a:t>ResourceManager</a:t>
            </a:r>
            <a:r>
              <a:rPr lang="zh-CN" altLang="en-US" dirty="0" smtClean="0"/>
              <a:t>进程故障</a:t>
            </a:r>
            <a:endParaRPr lang="en-US" altLang="zh-CN" dirty="0" smtClean="0"/>
          </a:p>
          <a:p>
            <a:pPr lvl="2"/>
            <a:r>
              <a:rPr lang="zh-CN" altLang="en-US" dirty="0" smtClean="0"/>
              <a:t>进行故障恢复时，需要从某一持久化存储系统中恢复信息，如果没有备份信息则无法恢复</a:t>
            </a:r>
            <a:endParaRPr lang="en-US" altLang="zh-CN" dirty="0" smtClean="0"/>
          </a:p>
          <a:p>
            <a:pPr lvl="2"/>
            <a:r>
              <a:rPr lang="zh-CN" altLang="en-US" dirty="0" smtClean="0"/>
              <a:t>恢复完毕后，</a:t>
            </a:r>
            <a:r>
              <a:rPr lang="en-US" altLang="zh-CN" dirty="0"/>
              <a:t> </a:t>
            </a:r>
            <a:r>
              <a:rPr lang="en-US" altLang="zh-CN" dirty="0" err="1" smtClean="0"/>
              <a:t>ResourceManager</a:t>
            </a:r>
            <a:r>
              <a:rPr lang="zh-CN" altLang="en-US" dirty="0" smtClean="0"/>
              <a:t>会清楚当前集群中的所有</a:t>
            </a:r>
            <a:r>
              <a:rPr lang="en-US" altLang="zh-CN" dirty="0" smtClean="0"/>
              <a:t>Container</a:t>
            </a:r>
            <a:r>
              <a:rPr lang="zh-CN" altLang="en-US" dirty="0" smtClean="0"/>
              <a:t>，包括运行</a:t>
            </a:r>
            <a:r>
              <a:rPr lang="en-US" altLang="zh-CN" dirty="0" err="1" smtClean="0"/>
              <a:t>ApplicationMaster</a:t>
            </a:r>
            <a:r>
              <a:rPr lang="zh-CN" altLang="en-US" dirty="0" smtClean="0"/>
              <a:t>的</a:t>
            </a:r>
            <a:r>
              <a:rPr lang="en-US" altLang="zh-CN" dirty="0" smtClean="0"/>
              <a:t>Container</a:t>
            </a:r>
            <a:r>
              <a:rPr lang="zh-CN" altLang="en-US" dirty="0" smtClean="0"/>
              <a:t>。然后</a:t>
            </a:r>
            <a:r>
              <a:rPr lang="zh-CN" altLang="en-US" dirty="0"/>
              <a:t>，</a:t>
            </a:r>
            <a:r>
              <a:rPr lang="en-US" altLang="zh-CN" dirty="0"/>
              <a:t> </a:t>
            </a:r>
            <a:r>
              <a:rPr lang="en-US" altLang="zh-CN" dirty="0" err="1" smtClean="0"/>
              <a:t>ResourceManager</a:t>
            </a:r>
            <a:r>
              <a:rPr lang="zh-CN" altLang="en-US" dirty="0" smtClean="0"/>
              <a:t>会重新启动</a:t>
            </a:r>
            <a:r>
              <a:rPr lang="en-US" altLang="zh-CN" dirty="0" err="1" smtClean="0"/>
              <a:t>ApplicationMaster</a:t>
            </a:r>
            <a:r>
              <a:rPr lang="zh-CN" altLang="en-US" dirty="0" smtClean="0"/>
              <a:t>，也即表示所有应用将重新执行</a:t>
            </a:r>
            <a:endParaRPr lang="en-US" altLang="zh-CN" dirty="0" smtClean="0"/>
          </a:p>
          <a:p>
            <a:pPr lvl="2"/>
            <a:endParaRPr lang="zh-CN" altLang="en-US" dirty="0" smtClean="0"/>
          </a:p>
        </p:txBody>
      </p:sp>
    </p:spTree>
    <p:extLst>
      <p:ext uri="{BB962C8B-B14F-4D97-AF65-F5344CB8AC3E}">
        <p14:creationId xmlns:p14="http://schemas.microsoft.com/office/powerpoint/2010/main" val="23869218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normAutofit fontScale="92500"/>
          </a:bodyPr>
          <a:lstStyle/>
          <a:p>
            <a:r>
              <a:rPr lang="zh-CN" altLang="en-US" dirty="0" smtClean="0"/>
              <a:t>容错机制</a:t>
            </a:r>
            <a:endParaRPr lang="en-US" altLang="zh-CN" dirty="0" smtClean="0"/>
          </a:p>
          <a:p>
            <a:pPr lvl="1"/>
            <a:r>
              <a:rPr lang="en-US" altLang="zh-CN" dirty="0" err="1" smtClean="0"/>
              <a:t>NodeManager</a:t>
            </a:r>
            <a:r>
              <a:rPr lang="zh-CN" altLang="en-US" dirty="0" smtClean="0"/>
              <a:t>进程故障</a:t>
            </a:r>
            <a:endParaRPr lang="en-US" altLang="zh-CN" dirty="0" smtClean="0"/>
          </a:p>
          <a:p>
            <a:pPr lvl="2"/>
            <a:r>
              <a:rPr lang="zh-CN" altLang="en-US" dirty="0" smtClean="0"/>
              <a:t>由于</a:t>
            </a:r>
            <a:r>
              <a:rPr lang="en-US" altLang="zh-CN" dirty="0" err="1" smtClean="0"/>
              <a:t>NodeManager</a:t>
            </a:r>
            <a:r>
              <a:rPr lang="zh-CN" altLang="en-US" dirty="0" smtClean="0"/>
              <a:t>和</a:t>
            </a:r>
            <a:r>
              <a:rPr lang="en-US" altLang="zh-CN" dirty="0" err="1" smtClean="0"/>
              <a:t>ResourceManager</a:t>
            </a:r>
            <a:r>
              <a:rPr lang="zh-CN" altLang="en-US" dirty="0" smtClean="0"/>
              <a:t>一直保持心跳通信，因为</a:t>
            </a:r>
            <a:r>
              <a:rPr lang="en-US" altLang="zh-CN" dirty="0" err="1" smtClean="0"/>
              <a:t>ResourceManager</a:t>
            </a:r>
            <a:r>
              <a:rPr lang="zh-CN" altLang="en-US" dirty="0" smtClean="0"/>
              <a:t>通过超时机制可以判断</a:t>
            </a:r>
            <a:r>
              <a:rPr lang="en-US" altLang="zh-CN" dirty="0" err="1" smtClean="0"/>
              <a:t>NodeManager</a:t>
            </a:r>
            <a:r>
              <a:rPr lang="zh-CN" altLang="en-US" dirty="0" smtClean="0"/>
              <a:t>是否发生故障</a:t>
            </a:r>
            <a:endParaRPr lang="en-US" altLang="zh-CN" dirty="0" smtClean="0"/>
          </a:p>
          <a:p>
            <a:pPr lvl="2"/>
            <a:r>
              <a:rPr lang="zh-CN" altLang="en-US" dirty="0" smtClean="0"/>
              <a:t>如果</a:t>
            </a:r>
            <a:r>
              <a:rPr lang="en-US" altLang="zh-CN" dirty="0" err="1" smtClean="0"/>
              <a:t>NodeManager</a:t>
            </a:r>
            <a:r>
              <a:rPr lang="zh-CN" altLang="en-US" dirty="0" smtClean="0"/>
              <a:t>发生故障，</a:t>
            </a:r>
            <a:r>
              <a:rPr lang="en-US" altLang="zh-CN" dirty="0"/>
              <a:t> </a:t>
            </a:r>
            <a:r>
              <a:rPr lang="en-US" altLang="zh-CN" dirty="0" err="1" smtClean="0"/>
              <a:t>ResourceManager</a:t>
            </a:r>
            <a:r>
              <a:rPr lang="zh-CN" altLang="en-US" dirty="0" smtClean="0"/>
              <a:t>则认为</a:t>
            </a:r>
            <a:r>
              <a:rPr lang="en-US" altLang="zh-CN" dirty="0" err="1" smtClean="0"/>
              <a:t>NodeManager</a:t>
            </a:r>
            <a:r>
              <a:rPr lang="zh-CN" altLang="en-US" dirty="0" smtClean="0"/>
              <a:t>所在节点的所有容器运行的任务均执行失败并将执行失败的信息告知</a:t>
            </a:r>
            <a:r>
              <a:rPr lang="en-US" altLang="zh-CN" dirty="0" err="1" smtClean="0"/>
              <a:t>ApplicationMaster</a:t>
            </a:r>
            <a:endParaRPr lang="en-US" altLang="zh-CN" dirty="0" smtClean="0"/>
          </a:p>
          <a:p>
            <a:pPr lvl="2"/>
            <a:r>
              <a:rPr lang="en-US" altLang="zh-CN" dirty="0" err="1" smtClean="0"/>
              <a:t>ApplicationMaster</a:t>
            </a:r>
            <a:r>
              <a:rPr lang="zh-CN" altLang="en-US" dirty="0" smtClean="0"/>
              <a:t>将向</a:t>
            </a:r>
            <a:r>
              <a:rPr lang="en-US" altLang="zh-CN" dirty="0" err="1" smtClean="0"/>
              <a:t>ResourceManager</a:t>
            </a:r>
            <a:r>
              <a:rPr lang="zh-CN" altLang="en-US" dirty="0" smtClean="0"/>
              <a:t>重新申请资源运行这些任务</a:t>
            </a:r>
            <a:endParaRPr lang="en-US" altLang="zh-CN" dirty="0" smtClean="0"/>
          </a:p>
          <a:p>
            <a:pPr lvl="2"/>
            <a:r>
              <a:rPr lang="zh-CN" altLang="en-US" dirty="0" smtClean="0"/>
              <a:t>如果发生</a:t>
            </a:r>
            <a:r>
              <a:rPr lang="en-US" altLang="zh-CN" dirty="0" err="1" smtClean="0"/>
              <a:t>NodeManager</a:t>
            </a:r>
            <a:r>
              <a:rPr lang="zh-CN" altLang="en-US" dirty="0" smtClean="0"/>
              <a:t>恢复，则向</a:t>
            </a:r>
            <a:r>
              <a:rPr lang="en-US" altLang="zh-CN" dirty="0" err="1" smtClean="0"/>
              <a:t>ResourceManager</a:t>
            </a:r>
            <a:r>
              <a:rPr lang="zh-CN" altLang="en-US" dirty="0" smtClean="0"/>
              <a:t>重新注册，重置本地的状态信息</a:t>
            </a:r>
          </a:p>
        </p:txBody>
      </p:sp>
    </p:spTree>
    <p:extLst>
      <p:ext uri="{BB962C8B-B14F-4D97-AF65-F5344CB8AC3E}">
        <p14:creationId xmlns:p14="http://schemas.microsoft.com/office/powerpoint/2010/main" val="20281860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体系结构</a:t>
            </a:r>
            <a:endParaRPr lang="zh-CN" altLang="en-US" dirty="0"/>
          </a:p>
        </p:txBody>
      </p:sp>
      <p:sp>
        <p:nvSpPr>
          <p:cNvPr id="3" name="内容占位符 2"/>
          <p:cNvSpPr>
            <a:spLocks noGrp="1"/>
          </p:cNvSpPr>
          <p:nvPr>
            <p:ph idx="1"/>
          </p:nvPr>
        </p:nvSpPr>
        <p:spPr/>
        <p:txBody>
          <a:bodyPr/>
          <a:lstStyle/>
          <a:p>
            <a:r>
              <a:rPr lang="zh-CN" altLang="en-US" dirty="0" smtClean="0"/>
              <a:t>容错机制</a:t>
            </a:r>
            <a:endParaRPr lang="en-US" altLang="zh-CN" dirty="0" smtClean="0"/>
          </a:p>
          <a:p>
            <a:pPr lvl="1"/>
            <a:r>
              <a:rPr lang="en-US" altLang="zh-CN" dirty="0" err="1" smtClean="0"/>
              <a:t>ApplicationMaster</a:t>
            </a:r>
            <a:r>
              <a:rPr lang="zh-CN" altLang="en-US" dirty="0"/>
              <a:t>以及</a:t>
            </a:r>
            <a:r>
              <a:rPr lang="en-US" altLang="zh-CN" dirty="0" smtClean="0"/>
              <a:t>Container</a:t>
            </a:r>
            <a:r>
              <a:rPr lang="zh-CN" altLang="en-US" dirty="0" smtClean="0"/>
              <a:t>故障</a:t>
            </a:r>
            <a:endParaRPr lang="en-US" altLang="zh-CN" dirty="0" smtClean="0"/>
          </a:p>
          <a:p>
            <a:pPr lvl="2"/>
            <a:r>
              <a:rPr lang="zh-CN" altLang="en-US" dirty="0" smtClean="0"/>
              <a:t>由于任务与具体框架相关，</a:t>
            </a:r>
            <a:r>
              <a:rPr lang="en-US" altLang="zh-CN" dirty="0" smtClean="0"/>
              <a:t>Yarn</a:t>
            </a:r>
            <a:r>
              <a:rPr lang="zh-CN" altLang="en-US" dirty="0" smtClean="0"/>
              <a:t>只会帮助其重新启动，运行过程需要由框架完成恢复</a:t>
            </a:r>
            <a:endParaRPr lang="en-US" altLang="zh-CN" dirty="0" smtClean="0"/>
          </a:p>
        </p:txBody>
      </p:sp>
    </p:spTree>
    <p:extLst>
      <p:ext uri="{BB962C8B-B14F-4D97-AF65-F5344CB8AC3E}">
        <p14:creationId xmlns:p14="http://schemas.microsoft.com/office/powerpoint/2010/main" val="126836472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工作原理</a:t>
            </a:r>
            <a:endParaRPr lang="zh-CN" altLang="en-US" dirty="0"/>
          </a:p>
        </p:txBody>
      </p:sp>
      <p:sp>
        <p:nvSpPr>
          <p:cNvPr id="3" name="内容占位符 2"/>
          <p:cNvSpPr>
            <a:spLocks noGrp="1"/>
          </p:cNvSpPr>
          <p:nvPr>
            <p:ph idx="1"/>
          </p:nvPr>
        </p:nvSpPr>
        <p:spPr/>
        <p:txBody>
          <a:bodyPr/>
          <a:lstStyle/>
          <a:p>
            <a:r>
              <a:rPr lang="zh-CN" altLang="en-US" dirty="0" smtClean="0"/>
              <a:t>单平台多框架</a:t>
            </a:r>
            <a:endParaRPr lang="en-US" altLang="zh-CN" dirty="0" smtClean="0"/>
          </a:p>
          <a:p>
            <a:pPr lvl="1"/>
            <a:r>
              <a:rPr lang="zh-CN" altLang="en-US" dirty="0" smtClean="0"/>
              <a:t>在不使用资源管理器的情况下，如果将</a:t>
            </a:r>
            <a:r>
              <a:rPr lang="en-US" altLang="zh-CN" dirty="0" err="1" smtClean="0"/>
              <a:t>MapReduce</a:t>
            </a:r>
            <a:r>
              <a:rPr lang="zh-CN" altLang="en-US" dirty="0" smtClean="0"/>
              <a:t>、</a:t>
            </a:r>
            <a:r>
              <a:rPr lang="en-US" altLang="zh-CN" dirty="0" smtClean="0"/>
              <a:t>Spark</a:t>
            </a:r>
            <a:r>
              <a:rPr lang="zh-CN" altLang="en-US" dirty="0" smtClean="0"/>
              <a:t>等部署在同一物理集群中，则其将静态地划分所占用的物理资源，无法实现动态共享</a:t>
            </a:r>
            <a:endParaRPr lang="en-US" altLang="zh-CN" dirty="0" smtClean="0"/>
          </a:p>
          <a:p>
            <a:pPr lvl="1"/>
            <a:r>
              <a:rPr lang="en-US" altLang="zh-CN" dirty="0"/>
              <a:t>YARN</a:t>
            </a:r>
            <a:r>
              <a:rPr lang="zh-CN" altLang="en-US" dirty="0"/>
              <a:t>只负责向框架提供</a:t>
            </a:r>
            <a:r>
              <a:rPr lang="en-US" altLang="zh-CN" dirty="0"/>
              <a:t>Container</a:t>
            </a:r>
            <a:r>
              <a:rPr lang="zh-CN" altLang="en-US" dirty="0"/>
              <a:t>，并不关心</a:t>
            </a:r>
            <a:r>
              <a:rPr lang="en-US" altLang="zh-CN" dirty="0"/>
              <a:t>Container</a:t>
            </a:r>
            <a:r>
              <a:rPr lang="zh-CN" altLang="en-US" dirty="0"/>
              <a:t>中运行何种</a:t>
            </a:r>
            <a:r>
              <a:rPr lang="zh-CN" altLang="en-US" dirty="0" smtClean="0"/>
              <a:t>任务</a:t>
            </a:r>
            <a:endParaRPr lang="en-US" altLang="zh-CN" dirty="0" smtClean="0"/>
          </a:p>
          <a:p>
            <a:pPr lvl="1"/>
            <a:r>
              <a:rPr lang="zh-CN" altLang="en-US" dirty="0" smtClean="0"/>
              <a:t>通过</a:t>
            </a:r>
            <a:r>
              <a:rPr lang="en-US" altLang="zh-CN" dirty="0" smtClean="0"/>
              <a:t>YARN</a:t>
            </a:r>
            <a:r>
              <a:rPr lang="zh-CN" altLang="en-US" dirty="0" smtClean="0"/>
              <a:t>资源管理器，多个框架可以部署到同一物理集群中并动态地共享资源</a:t>
            </a:r>
            <a:endParaRPr lang="en-US" altLang="zh-CN" dirty="0" smtClean="0"/>
          </a:p>
        </p:txBody>
      </p:sp>
    </p:spTree>
    <p:extLst>
      <p:ext uri="{BB962C8B-B14F-4D97-AF65-F5344CB8AC3E}">
        <p14:creationId xmlns:p14="http://schemas.microsoft.com/office/powerpoint/2010/main" val="3874987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工作原理</a:t>
            </a:r>
            <a:endParaRPr lang="zh-CN" altLang="en-US" dirty="0"/>
          </a:p>
        </p:txBody>
      </p:sp>
      <p:sp>
        <p:nvSpPr>
          <p:cNvPr id="3" name="内容占位符 2"/>
          <p:cNvSpPr>
            <a:spLocks noGrp="1"/>
          </p:cNvSpPr>
          <p:nvPr>
            <p:ph idx="1"/>
          </p:nvPr>
        </p:nvSpPr>
        <p:spPr/>
        <p:txBody>
          <a:bodyPr/>
          <a:lstStyle/>
          <a:p>
            <a:r>
              <a:rPr lang="zh-CN" altLang="en-US" dirty="0" smtClean="0"/>
              <a:t>单平台多框架</a:t>
            </a:r>
            <a:endParaRPr lang="en-US" altLang="zh-CN" dirty="0" smtClean="0"/>
          </a:p>
          <a:p>
            <a:pPr lvl="1"/>
            <a:r>
              <a:rPr lang="zh-CN" altLang="en-US" dirty="0" smtClean="0"/>
              <a:t>每当提交一个应用，</a:t>
            </a:r>
            <a:r>
              <a:rPr lang="en-US" altLang="zh-CN" dirty="0" smtClean="0"/>
              <a:t>YARN</a:t>
            </a:r>
            <a:r>
              <a:rPr lang="zh-CN" altLang="en-US" dirty="0" smtClean="0"/>
              <a:t>均会启动一个对应的</a:t>
            </a:r>
            <a:r>
              <a:rPr lang="en-US" altLang="zh-CN" dirty="0" err="1" smtClean="0"/>
              <a:t>ApplicationMaster</a:t>
            </a:r>
            <a:endParaRPr lang="en-US" altLang="zh-CN" dirty="0" smtClean="0"/>
          </a:p>
          <a:p>
            <a:pPr lvl="2"/>
            <a:r>
              <a:rPr lang="zh-CN" altLang="en-US" sz="1800" dirty="0" smtClean="0"/>
              <a:t>即使是同一类型的应用，也会启动不同的</a:t>
            </a:r>
            <a:r>
              <a:rPr lang="en-US" altLang="zh-CN" sz="1800" dirty="0" err="1" smtClean="0"/>
              <a:t>ApplicationMaster</a:t>
            </a:r>
            <a:r>
              <a:rPr lang="zh-CN" altLang="en-US" sz="1800" dirty="0" smtClean="0"/>
              <a:t>，从而达到应用之间相互独立控制执行的目的</a:t>
            </a:r>
            <a:endParaRPr lang="en-US" altLang="zh-CN" sz="1800" dirty="0"/>
          </a:p>
          <a:p>
            <a:pPr lvl="2"/>
            <a:endParaRPr lang="en-US" altLang="zh-CN" dirty="0" smtClean="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7704" y="3445895"/>
            <a:ext cx="5544616" cy="3097530"/>
          </a:xfrm>
          <a:prstGeom prst="rect">
            <a:avLst/>
          </a:prstGeom>
        </p:spPr>
      </p:pic>
    </p:spTree>
    <p:extLst>
      <p:ext uri="{BB962C8B-B14F-4D97-AF65-F5344CB8AC3E}">
        <p14:creationId xmlns:p14="http://schemas.microsoft.com/office/powerpoint/2010/main" val="114188133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工作原理</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smtClean="0"/>
              <a:t>平台资源分配</a:t>
            </a:r>
            <a:endParaRPr lang="en-US" altLang="zh-CN" dirty="0" smtClean="0"/>
          </a:p>
          <a:p>
            <a:pPr lvl="1"/>
            <a:r>
              <a:rPr lang="zh-CN" altLang="en-US" dirty="0" smtClean="0"/>
              <a:t>如何对应用进行资源分配是</a:t>
            </a:r>
            <a:r>
              <a:rPr lang="en-US" altLang="zh-CN" dirty="0" smtClean="0"/>
              <a:t>YARN</a:t>
            </a:r>
            <a:r>
              <a:rPr lang="zh-CN" altLang="en-US" dirty="0" smtClean="0"/>
              <a:t>作为资源管理器要解决的核心问题</a:t>
            </a:r>
            <a:endParaRPr lang="en-US" altLang="zh-CN" dirty="0" smtClean="0"/>
          </a:p>
          <a:p>
            <a:pPr lvl="2"/>
            <a:r>
              <a:rPr lang="en-US" altLang="zh-CN" dirty="0" err="1" smtClean="0"/>
              <a:t>ResourceManager</a:t>
            </a:r>
            <a:r>
              <a:rPr lang="zh-CN" altLang="en-US" dirty="0" smtClean="0"/>
              <a:t>的调度器维护了一个或多个队列，每个队列拥有一定数量的资源，位于同一队列的应用共享该队列拥有的资源</a:t>
            </a:r>
            <a:endParaRPr lang="en-US" altLang="zh-CN" dirty="0" smtClean="0"/>
          </a:p>
          <a:p>
            <a:pPr lvl="2"/>
            <a:r>
              <a:rPr lang="en-US" altLang="zh-CN" dirty="0" smtClean="0"/>
              <a:t>YARN</a:t>
            </a:r>
            <a:r>
              <a:rPr lang="zh-CN" altLang="en-US" dirty="0" smtClean="0"/>
              <a:t>进行资源分配的对象是应用，用户提交的每个应用会分配到其中一个队列中，队列决定了该应用能够使用的资源的上限</a:t>
            </a:r>
            <a:endParaRPr lang="en-US" altLang="zh-CN" dirty="0" smtClean="0"/>
          </a:p>
          <a:p>
            <a:pPr lvl="2"/>
            <a:r>
              <a:rPr lang="zh-CN" altLang="en-US" dirty="0" smtClean="0"/>
              <a:t>资源调度实际上就是如何决定将资源分配给队列，以及分配队列中应用的过程</a:t>
            </a:r>
            <a:endParaRPr lang="en-US" altLang="zh-CN" dirty="0" smtClean="0"/>
          </a:p>
          <a:p>
            <a:pPr lvl="2"/>
            <a:r>
              <a:rPr lang="en-US" altLang="zh-CN" dirty="0" smtClean="0"/>
              <a:t>YARN</a:t>
            </a:r>
            <a:r>
              <a:rPr lang="zh-CN" altLang="en-US" dirty="0" smtClean="0"/>
              <a:t>仅为应用分配一定的资源，而框架决定如何使用这些资源执行任务</a:t>
            </a:r>
            <a:endParaRPr lang="en-US" altLang="zh-CN" dirty="0" smtClean="0"/>
          </a:p>
          <a:p>
            <a:pPr lvl="2"/>
            <a:r>
              <a:rPr lang="en-US" altLang="zh-CN" dirty="0" smtClean="0"/>
              <a:t>YARN</a:t>
            </a:r>
            <a:r>
              <a:rPr lang="zh-CN" altLang="en-US" dirty="0" smtClean="0"/>
              <a:t>中的调度器是一个可插拔的组件，可以通过配置文件选择不同的调度器</a:t>
            </a:r>
            <a:endParaRPr lang="en-US" altLang="zh-CN" dirty="0" smtClean="0"/>
          </a:p>
        </p:txBody>
      </p:sp>
    </p:spTree>
    <p:extLst>
      <p:ext uri="{BB962C8B-B14F-4D97-AF65-F5344CB8AC3E}">
        <p14:creationId xmlns:p14="http://schemas.microsoft.com/office/powerpoint/2010/main" val="242319678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工作原理</a:t>
            </a:r>
            <a:endParaRPr lang="zh-CN" altLang="en-US" dirty="0"/>
          </a:p>
        </p:txBody>
      </p:sp>
      <p:sp>
        <p:nvSpPr>
          <p:cNvPr id="3" name="内容占位符 2"/>
          <p:cNvSpPr>
            <a:spLocks noGrp="1"/>
          </p:cNvSpPr>
          <p:nvPr>
            <p:ph idx="1"/>
          </p:nvPr>
        </p:nvSpPr>
        <p:spPr/>
        <p:txBody>
          <a:bodyPr>
            <a:normAutofit/>
          </a:bodyPr>
          <a:lstStyle/>
          <a:p>
            <a:r>
              <a:rPr lang="zh-CN" altLang="en-US" dirty="0" smtClean="0"/>
              <a:t>常用调度器</a:t>
            </a:r>
            <a:endParaRPr lang="en-US" altLang="zh-CN" dirty="0" smtClean="0"/>
          </a:p>
          <a:p>
            <a:pPr lvl="1"/>
            <a:r>
              <a:rPr lang="en-US" altLang="zh-CN" dirty="0" smtClean="0"/>
              <a:t>FIFO</a:t>
            </a:r>
            <a:r>
              <a:rPr lang="zh-CN" altLang="en-US" dirty="0" smtClean="0"/>
              <a:t>调度器</a:t>
            </a:r>
            <a:endParaRPr lang="en-US" altLang="zh-CN" dirty="0" smtClean="0"/>
          </a:p>
          <a:p>
            <a:pPr lvl="1"/>
            <a:r>
              <a:rPr lang="en-US" altLang="zh-CN" dirty="0" smtClean="0"/>
              <a:t>Capacity</a:t>
            </a:r>
            <a:r>
              <a:rPr lang="zh-CN" altLang="en-US" dirty="0" smtClean="0"/>
              <a:t>调度器</a:t>
            </a:r>
            <a:endParaRPr lang="en-US" altLang="zh-CN" dirty="0" smtClean="0"/>
          </a:p>
          <a:p>
            <a:pPr lvl="1"/>
            <a:r>
              <a:rPr lang="en-US" altLang="zh-CN" dirty="0" smtClean="0"/>
              <a:t>Fair</a:t>
            </a:r>
            <a:r>
              <a:rPr lang="zh-CN" altLang="en-US" dirty="0" smtClean="0"/>
              <a:t>调度器</a:t>
            </a:r>
            <a:endParaRPr lang="en-US" altLang="zh-CN" dirty="0" smtClean="0"/>
          </a:p>
        </p:txBody>
      </p:sp>
    </p:spTree>
    <p:extLst>
      <p:ext uri="{BB962C8B-B14F-4D97-AF65-F5344CB8AC3E}">
        <p14:creationId xmlns:p14="http://schemas.microsoft.com/office/powerpoint/2010/main" val="11902855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工作原理</a:t>
            </a:r>
            <a:endParaRPr lang="zh-CN" altLang="en-US" dirty="0"/>
          </a:p>
        </p:txBody>
      </p:sp>
      <p:sp>
        <p:nvSpPr>
          <p:cNvPr id="3" name="内容占位符 2"/>
          <p:cNvSpPr>
            <a:spLocks noGrp="1"/>
          </p:cNvSpPr>
          <p:nvPr>
            <p:ph idx="1"/>
          </p:nvPr>
        </p:nvSpPr>
        <p:spPr/>
        <p:txBody>
          <a:bodyPr>
            <a:normAutofit/>
          </a:bodyPr>
          <a:lstStyle/>
          <a:p>
            <a:r>
              <a:rPr lang="en-US" altLang="zh-CN" dirty="0"/>
              <a:t>FIFO</a:t>
            </a:r>
            <a:r>
              <a:rPr lang="zh-CN" altLang="en-US" dirty="0"/>
              <a:t>调度</a:t>
            </a:r>
            <a:r>
              <a:rPr lang="zh-CN" altLang="en-US" dirty="0" smtClean="0"/>
              <a:t>器</a:t>
            </a:r>
            <a:endParaRPr lang="en-US" altLang="zh-CN" dirty="0" smtClean="0"/>
          </a:p>
          <a:p>
            <a:pPr lvl="1"/>
            <a:r>
              <a:rPr lang="zh-CN" altLang="en-US" sz="2000" dirty="0" smtClean="0"/>
              <a:t>仅维护一个队列，该队列拥有集群中的所有资源</a:t>
            </a:r>
            <a:endParaRPr lang="en-US" altLang="zh-CN" sz="2000" dirty="0" smtClean="0"/>
          </a:p>
          <a:p>
            <a:pPr lvl="1"/>
            <a:r>
              <a:rPr lang="zh-CN" altLang="en-US" sz="2000" dirty="0" smtClean="0"/>
              <a:t>资源分配方式：先提交的应用先得到资源</a:t>
            </a:r>
            <a:endParaRPr lang="en-US" altLang="zh-CN" sz="2000" dirty="0" smtClean="0"/>
          </a:p>
          <a:p>
            <a:pPr lvl="1"/>
            <a:endParaRPr lang="en-US" altLang="zh-CN" sz="2000" dirty="0"/>
          </a:p>
          <a:p>
            <a:pPr lvl="1"/>
            <a:r>
              <a:rPr lang="zh-CN" altLang="en-US" sz="2000" dirty="0" smtClean="0"/>
              <a:t>优点：实现简单</a:t>
            </a:r>
            <a:endParaRPr lang="en-US" altLang="zh-CN" sz="2000" dirty="0" smtClean="0"/>
          </a:p>
          <a:p>
            <a:pPr lvl="1"/>
            <a:r>
              <a:rPr lang="zh-CN" altLang="en-US" sz="2000" dirty="0" smtClean="0"/>
              <a:t>不足：很可能导致一个应用独占资源而其他应用需要不断等待</a:t>
            </a:r>
            <a:endParaRPr lang="en-US" altLang="zh-CN" sz="2000" dirty="0" smtClean="0"/>
          </a:p>
          <a:p>
            <a:pPr lvl="1"/>
            <a:r>
              <a:rPr lang="zh-CN" altLang="en-US" sz="2000" dirty="0" smtClean="0"/>
              <a:t>改进：维护多个队列，每个队列拥有一定的资源</a:t>
            </a:r>
            <a:endParaRPr lang="en-US" altLang="zh-CN" sz="2000" dirty="0" smtClean="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3928" y="4077072"/>
            <a:ext cx="2880320" cy="2443514"/>
          </a:xfrm>
          <a:prstGeom prst="rect">
            <a:avLst/>
          </a:prstGeom>
        </p:spPr>
      </p:pic>
    </p:spTree>
    <p:extLst>
      <p:ext uri="{BB962C8B-B14F-4D97-AF65-F5344CB8AC3E}">
        <p14:creationId xmlns:p14="http://schemas.microsoft.com/office/powerpoint/2010/main" val="338323339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工作原理</a:t>
            </a:r>
            <a:endParaRPr lang="zh-CN" altLang="en-US" dirty="0"/>
          </a:p>
        </p:txBody>
      </p:sp>
      <p:sp>
        <p:nvSpPr>
          <p:cNvPr id="3" name="内容占位符 2"/>
          <p:cNvSpPr>
            <a:spLocks noGrp="1"/>
          </p:cNvSpPr>
          <p:nvPr>
            <p:ph idx="1"/>
          </p:nvPr>
        </p:nvSpPr>
        <p:spPr/>
        <p:txBody>
          <a:bodyPr>
            <a:normAutofit/>
          </a:bodyPr>
          <a:lstStyle/>
          <a:p>
            <a:r>
              <a:rPr lang="en-US" altLang="zh-CN" dirty="0"/>
              <a:t>Capacity</a:t>
            </a:r>
            <a:r>
              <a:rPr lang="zh-CN" altLang="en-US" dirty="0"/>
              <a:t>调度器</a:t>
            </a:r>
            <a:endParaRPr lang="en-US" altLang="zh-CN" dirty="0"/>
          </a:p>
          <a:p>
            <a:pPr lvl="1"/>
            <a:r>
              <a:rPr lang="zh-CN" altLang="en-US" sz="2000" dirty="0" smtClean="0"/>
              <a:t>维护层级式的队列，每个队列拥有一定数量的资源</a:t>
            </a:r>
            <a:endParaRPr lang="en-US" altLang="zh-CN" sz="2000" dirty="0" smtClean="0"/>
          </a:p>
          <a:p>
            <a:pPr lvl="1"/>
            <a:r>
              <a:rPr lang="zh-CN" altLang="en-US" sz="2000" dirty="0" smtClean="0"/>
              <a:t>资源分配方式：队列内部的资源分配方式为</a:t>
            </a:r>
            <a:r>
              <a:rPr lang="en-US" altLang="zh-CN" sz="2000" dirty="0" smtClean="0"/>
              <a:t>FIFO</a:t>
            </a:r>
            <a:r>
              <a:rPr lang="zh-CN" altLang="en-US" sz="2000" dirty="0" smtClean="0"/>
              <a:t>，用户提交应用程序时可以指定将该应用放入某一队列</a:t>
            </a:r>
            <a:endParaRPr lang="en-US" altLang="zh-CN" sz="2000" dirty="0"/>
          </a:p>
          <a:p>
            <a:pPr lvl="1"/>
            <a:r>
              <a:rPr lang="zh-CN" altLang="en-US" sz="2000" dirty="0" smtClean="0"/>
              <a:t>优点：可以避免某个长时间运行的应用独占集群资源而其他应用不能运行的情况</a:t>
            </a:r>
            <a:endParaRPr lang="en-US" altLang="zh-CN" sz="2000" dirty="0" smtClean="0"/>
          </a:p>
          <a:p>
            <a:pPr lvl="1"/>
            <a:r>
              <a:rPr lang="zh-CN" altLang="en-US" sz="2000" dirty="0" smtClean="0"/>
              <a:t>不足：可能因某个队列空闲造成集群资源浪费</a:t>
            </a:r>
            <a:endParaRPr lang="en-US" altLang="zh-CN" sz="2000" dirty="0" smtClean="0"/>
          </a:p>
          <a:p>
            <a:pPr lvl="1"/>
            <a:r>
              <a:rPr lang="zh-CN" altLang="en-US" sz="2000" dirty="0" smtClean="0"/>
              <a:t>改进：允许队列间共享资源</a:t>
            </a:r>
            <a:endParaRPr lang="en-US" altLang="zh-CN" sz="2000" dirty="0" smtClean="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064" y="3933056"/>
            <a:ext cx="2880000" cy="2799721"/>
          </a:xfrm>
          <a:prstGeom prst="rect">
            <a:avLst/>
          </a:prstGeom>
        </p:spPr>
      </p:pic>
    </p:spTree>
    <p:extLst>
      <p:ext uri="{BB962C8B-B14F-4D97-AF65-F5344CB8AC3E}">
        <p14:creationId xmlns:p14="http://schemas.microsoft.com/office/powerpoint/2010/main" val="56976442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工作原理</a:t>
            </a:r>
            <a:endParaRPr lang="zh-CN" altLang="en-US" dirty="0"/>
          </a:p>
        </p:txBody>
      </p:sp>
      <p:sp>
        <p:nvSpPr>
          <p:cNvPr id="3" name="内容占位符 2"/>
          <p:cNvSpPr>
            <a:spLocks noGrp="1"/>
          </p:cNvSpPr>
          <p:nvPr>
            <p:ph idx="1"/>
          </p:nvPr>
        </p:nvSpPr>
        <p:spPr/>
        <p:txBody>
          <a:bodyPr>
            <a:normAutofit/>
          </a:bodyPr>
          <a:lstStyle/>
          <a:p>
            <a:r>
              <a:rPr lang="en-US" altLang="zh-CN" dirty="0"/>
              <a:t>Capacity</a:t>
            </a:r>
            <a:r>
              <a:rPr lang="zh-CN" altLang="en-US" dirty="0"/>
              <a:t>调度器</a:t>
            </a:r>
            <a:endParaRPr lang="en-US" altLang="zh-CN" dirty="0"/>
          </a:p>
          <a:p>
            <a:pPr lvl="1"/>
            <a:r>
              <a:rPr lang="zh-CN" altLang="en-US" sz="2000" dirty="0" smtClean="0"/>
              <a:t>维护层级式的队列，每个队列拥有一定数量的资源</a:t>
            </a:r>
            <a:endParaRPr lang="en-US" altLang="zh-CN" sz="2000" dirty="0" smtClean="0"/>
          </a:p>
          <a:p>
            <a:pPr lvl="1"/>
            <a:r>
              <a:rPr lang="zh-CN" altLang="en-US" sz="2000" dirty="0" smtClean="0"/>
              <a:t>资源分配方式：队列内部的资源分配方式为</a:t>
            </a:r>
            <a:r>
              <a:rPr lang="en-US" altLang="zh-CN" sz="2000" dirty="0" smtClean="0"/>
              <a:t>FIFO</a:t>
            </a:r>
            <a:r>
              <a:rPr lang="zh-CN" altLang="en-US" sz="2000" dirty="0" smtClean="0"/>
              <a:t>，用户提交应用程序时可以指定将该应用放入某一队列</a:t>
            </a:r>
            <a:endParaRPr lang="en-US" altLang="zh-CN" sz="2000" dirty="0"/>
          </a:p>
          <a:p>
            <a:pPr lvl="1"/>
            <a:r>
              <a:rPr lang="zh-CN" altLang="en-US" sz="2000" dirty="0" smtClean="0"/>
              <a:t>优点：可以避免某个长时间运行的应用独占集群资源而其他应用不能运行的情况</a:t>
            </a:r>
            <a:endParaRPr lang="en-US" altLang="zh-CN" sz="2000" dirty="0" smtClean="0"/>
          </a:p>
          <a:p>
            <a:pPr lvl="1"/>
            <a:r>
              <a:rPr lang="zh-CN" altLang="en-US" sz="2000" dirty="0" smtClean="0"/>
              <a:t>不足：可能因某个队列空闲造成集群资源浪费</a:t>
            </a:r>
            <a:endParaRPr lang="en-US" altLang="zh-CN" sz="2000" dirty="0" smtClean="0"/>
          </a:p>
          <a:p>
            <a:pPr lvl="1"/>
            <a:r>
              <a:rPr lang="zh-CN" altLang="en-US" sz="2000" dirty="0" smtClean="0"/>
              <a:t>改进：允许队列间共享资源</a:t>
            </a:r>
            <a:endParaRPr lang="en-US" altLang="zh-CN" sz="2000" dirty="0" smtClean="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064" y="3933056"/>
            <a:ext cx="2880000" cy="2799721"/>
          </a:xfrm>
          <a:prstGeom prst="rect">
            <a:avLst/>
          </a:prstGeom>
        </p:spPr>
      </p:pic>
    </p:spTree>
    <p:extLst>
      <p:ext uri="{BB962C8B-B14F-4D97-AF65-F5344CB8AC3E}">
        <p14:creationId xmlns:p14="http://schemas.microsoft.com/office/powerpoint/2010/main" val="6868773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工作原理</a:t>
            </a:r>
            <a:endParaRPr lang="zh-CN" altLang="en-US" dirty="0"/>
          </a:p>
        </p:txBody>
      </p:sp>
      <p:sp>
        <p:nvSpPr>
          <p:cNvPr id="3" name="内容占位符 2"/>
          <p:cNvSpPr>
            <a:spLocks noGrp="1"/>
          </p:cNvSpPr>
          <p:nvPr>
            <p:ph idx="1"/>
          </p:nvPr>
        </p:nvSpPr>
        <p:spPr/>
        <p:txBody>
          <a:bodyPr/>
          <a:lstStyle/>
          <a:p>
            <a:pPr marL="342900" lvl="1" indent="-342900">
              <a:buClr>
                <a:schemeClr val="hlink"/>
              </a:buClr>
              <a:buFont typeface="Wingdings" panose="05000000000000000000" pitchFamily="2" charset="2"/>
              <a:buChar char="v"/>
            </a:pPr>
            <a:r>
              <a:rPr lang="en-US" altLang="zh-CN" sz="2800" b="1" dirty="0">
                <a:solidFill>
                  <a:schemeClr val="accent1"/>
                </a:solidFill>
              </a:rPr>
              <a:t>Fair</a:t>
            </a:r>
            <a:r>
              <a:rPr lang="zh-CN" altLang="en-US" sz="2800" b="1" dirty="0">
                <a:solidFill>
                  <a:schemeClr val="accent1"/>
                </a:solidFill>
              </a:rPr>
              <a:t>调度器</a:t>
            </a:r>
            <a:endParaRPr lang="en-US" altLang="zh-CN" sz="2800" b="1" dirty="0">
              <a:solidFill>
                <a:schemeClr val="accent1"/>
              </a:solidFill>
            </a:endParaRPr>
          </a:p>
          <a:p>
            <a:pPr lvl="1"/>
            <a:r>
              <a:rPr lang="zh-CN" altLang="en-US" sz="2000" dirty="0" smtClean="0"/>
              <a:t>维护层级式队列（逻辑上可以看做一个共享队列），集群中的资源划分给这些队列，但是队列之间可以共享资源</a:t>
            </a:r>
            <a:endParaRPr lang="en-US" altLang="zh-CN" sz="2000" dirty="0" smtClean="0"/>
          </a:p>
          <a:p>
            <a:pPr lvl="1"/>
            <a:r>
              <a:rPr lang="zh-CN" altLang="en-US" sz="2000" dirty="0" smtClean="0"/>
              <a:t>资源分配方式：当只有一个应用运行时，该应用可以独占整个集群的资源；但当其他应用提交时，将空出部分资源给新的应用，最终所有的应用都会分配到资源。</a:t>
            </a:r>
            <a:endParaRPr lang="zh-CN" altLang="en-US" sz="2000"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799" y="3573016"/>
            <a:ext cx="3412939" cy="2592288"/>
          </a:xfrm>
          <a:prstGeom prst="rect">
            <a:avLst/>
          </a:prstGeom>
        </p:spPr>
      </p:pic>
    </p:spTree>
    <p:extLst>
      <p:ext uri="{BB962C8B-B14F-4D97-AF65-F5344CB8AC3E}">
        <p14:creationId xmlns:p14="http://schemas.microsoft.com/office/powerpoint/2010/main" val="346279780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工作原理</a:t>
            </a:r>
            <a:endParaRPr lang="zh-CN" altLang="en-US" dirty="0"/>
          </a:p>
        </p:txBody>
      </p:sp>
      <p:sp>
        <p:nvSpPr>
          <p:cNvPr id="3" name="内容占位符 2"/>
          <p:cNvSpPr>
            <a:spLocks noGrp="1"/>
          </p:cNvSpPr>
          <p:nvPr>
            <p:ph idx="1"/>
          </p:nvPr>
        </p:nvSpPr>
        <p:spPr/>
        <p:txBody>
          <a:bodyPr>
            <a:normAutofit/>
          </a:bodyPr>
          <a:lstStyle/>
          <a:p>
            <a:r>
              <a:rPr lang="zh-CN" altLang="en-US" dirty="0"/>
              <a:t>平台资源分配</a:t>
            </a:r>
            <a:endParaRPr lang="en-US" altLang="zh-CN" dirty="0"/>
          </a:p>
          <a:p>
            <a:pPr marL="742950" lvl="2" indent="-342900">
              <a:buClr>
                <a:schemeClr val="hlink"/>
              </a:buClr>
              <a:buFont typeface="Wingdings" panose="05000000000000000000" pitchFamily="2" charset="2"/>
              <a:buChar char="n"/>
            </a:pPr>
            <a:r>
              <a:rPr lang="zh-CN" altLang="en-US" sz="2400" b="1" dirty="0" smtClean="0">
                <a:solidFill>
                  <a:schemeClr val="accent1"/>
                </a:solidFill>
              </a:rPr>
              <a:t>利用</a:t>
            </a:r>
            <a:r>
              <a:rPr lang="en-US" altLang="zh-CN" sz="2400" b="1" dirty="0" smtClean="0">
                <a:solidFill>
                  <a:schemeClr val="accent1"/>
                </a:solidFill>
              </a:rPr>
              <a:t>YARN</a:t>
            </a:r>
            <a:r>
              <a:rPr lang="zh-CN" altLang="en-US" sz="2400" b="1" dirty="0" smtClean="0">
                <a:solidFill>
                  <a:schemeClr val="accent1"/>
                </a:solidFill>
              </a:rPr>
              <a:t>容易实现多用户共享物理集群</a:t>
            </a:r>
            <a:endParaRPr lang="en-US" altLang="zh-CN" sz="2400" b="1" dirty="0" smtClean="0">
              <a:solidFill>
                <a:schemeClr val="accent1"/>
              </a:solidFill>
            </a:endParaRPr>
          </a:p>
          <a:p>
            <a:pPr marL="742950" lvl="2" indent="-342900">
              <a:buClr>
                <a:schemeClr val="hlink"/>
              </a:buClr>
              <a:buFont typeface="Wingdings" panose="05000000000000000000" pitchFamily="2" charset="2"/>
              <a:buChar char="n"/>
            </a:pPr>
            <a:r>
              <a:rPr lang="zh-CN" altLang="en-US" sz="2400" b="1" dirty="0" smtClean="0">
                <a:solidFill>
                  <a:schemeClr val="accent1"/>
                </a:solidFill>
              </a:rPr>
              <a:t>还可以实现多租户（一组特定用户的集合）的资源共享</a:t>
            </a:r>
            <a:endParaRPr lang="en-US" altLang="zh-CN" sz="2400" b="1" dirty="0" smtClean="0">
              <a:solidFill>
                <a:schemeClr val="accent1"/>
              </a:solidFill>
            </a:endParaRPr>
          </a:p>
          <a:p>
            <a:pPr marL="1200150" lvl="3" indent="-342900">
              <a:buClr>
                <a:schemeClr val="hlink"/>
              </a:buClr>
              <a:buFont typeface="Wingdings" panose="05000000000000000000" pitchFamily="2" charset="2"/>
              <a:buChar char="n"/>
            </a:pPr>
            <a:r>
              <a:rPr lang="zh-CN" altLang="en-US" sz="2200" b="1" dirty="0" smtClean="0">
                <a:solidFill>
                  <a:schemeClr val="accent1"/>
                </a:solidFill>
              </a:rPr>
              <a:t>将用户分组，组内用户提交的应用放置于同一队列，调度器进行资源分配</a:t>
            </a:r>
            <a:endParaRPr lang="en-US" altLang="zh-CN" sz="2200" b="1" dirty="0" smtClean="0">
              <a:solidFill>
                <a:schemeClr val="accent1"/>
              </a:solidFill>
            </a:endParaRPr>
          </a:p>
          <a:p>
            <a:pPr marL="1200150" lvl="3" indent="-342900">
              <a:buClr>
                <a:schemeClr val="hlink"/>
              </a:buClr>
              <a:buFont typeface="Wingdings" panose="05000000000000000000" pitchFamily="2" charset="2"/>
              <a:buChar char="n"/>
            </a:pPr>
            <a:r>
              <a:rPr lang="zh-CN" altLang="en-US" sz="2200" b="1" dirty="0" smtClean="0">
                <a:solidFill>
                  <a:schemeClr val="accent1"/>
                </a:solidFill>
              </a:rPr>
              <a:t>由于队列是层级式的，队列还可以继续设置子队列用户资源分配</a:t>
            </a:r>
            <a:endParaRPr lang="en-US" altLang="zh-CN" sz="2200" b="1" dirty="0">
              <a:solidFill>
                <a:schemeClr val="accent1"/>
              </a:solidFill>
            </a:endParaRPr>
          </a:p>
        </p:txBody>
      </p:sp>
    </p:spTree>
    <p:extLst>
      <p:ext uri="{BB962C8B-B14F-4D97-AF65-F5344CB8AC3E}">
        <p14:creationId xmlns:p14="http://schemas.microsoft.com/office/powerpoint/2010/main" val="322428399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s-ES" altLang="zh-CN" dirty="0" smtClean="0"/>
              <a:t>3.1.4 MapReduce</a:t>
            </a:r>
            <a:r>
              <a:rPr lang="zh-CN" altLang="en-US" dirty="0" smtClean="0"/>
              <a:t>工作原理</a:t>
            </a:r>
          </a:p>
        </p:txBody>
      </p:sp>
      <p:sp>
        <p:nvSpPr>
          <p:cNvPr id="14339" name="Rectangle 3"/>
          <p:cNvSpPr>
            <a:spLocks noGrp="1" noChangeArrowheads="1"/>
          </p:cNvSpPr>
          <p:nvPr>
            <p:ph idx="1"/>
          </p:nvPr>
        </p:nvSpPr>
        <p:spPr/>
        <p:txBody>
          <a:bodyPr/>
          <a:lstStyle/>
          <a:p>
            <a:r>
              <a:rPr lang="en-US" altLang="zh-CN" sz="2400" dirty="0" smtClean="0"/>
              <a:t>1 </a:t>
            </a:r>
            <a:r>
              <a:rPr lang="zh-CN" altLang="en-US" sz="2400" dirty="0" smtClean="0"/>
              <a:t>数据输入</a:t>
            </a:r>
          </a:p>
          <a:p>
            <a:r>
              <a:rPr lang="en-US" altLang="zh-CN" sz="2400" dirty="0" smtClean="0"/>
              <a:t>2 Map</a:t>
            </a:r>
            <a:r>
              <a:rPr lang="zh-CN" altLang="en-US" sz="2400" dirty="0" smtClean="0"/>
              <a:t>阶段</a:t>
            </a:r>
            <a:endParaRPr lang="en-US" altLang="zh-CN" sz="2400" dirty="0"/>
          </a:p>
          <a:p>
            <a:r>
              <a:rPr lang="en-US" altLang="zh-CN" sz="2400" dirty="0" smtClean="0"/>
              <a:t>3 Shuffle</a:t>
            </a:r>
            <a:r>
              <a:rPr lang="zh-CN" altLang="en-US" sz="2400" dirty="0" smtClean="0"/>
              <a:t>阶段</a:t>
            </a:r>
          </a:p>
          <a:p>
            <a:r>
              <a:rPr lang="en-US" altLang="zh-CN" sz="2400" dirty="0" smtClean="0"/>
              <a:t>4 Reduce</a:t>
            </a:r>
            <a:r>
              <a:rPr lang="zh-CN" altLang="en-US" sz="2400" dirty="0" smtClean="0"/>
              <a:t>阶段</a:t>
            </a:r>
            <a:endParaRPr lang="en-US" altLang="zh-CN" sz="2400" dirty="0" smtClean="0"/>
          </a:p>
          <a:p>
            <a:r>
              <a:rPr lang="en-US" altLang="zh-CN" sz="2400" dirty="0" smtClean="0"/>
              <a:t>5 </a:t>
            </a:r>
            <a:r>
              <a:rPr lang="zh-CN" altLang="en-US" sz="2400" dirty="0" smtClean="0"/>
              <a:t>数据输出</a:t>
            </a:r>
          </a:p>
        </p:txBody>
      </p:sp>
    </p:spTree>
    <p:extLst>
      <p:ext uri="{BB962C8B-B14F-4D97-AF65-F5344CB8AC3E}">
        <p14:creationId xmlns:p14="http://schemas.microsoft.com/office/powerpoint/2010/main" val="102684868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3.1.4 MapReduce</a:t>
            </a:r>
            <a:r>
              <a:rPr lang="zh-CN" altLang="en-US" dirty="0" smtClean="0"/>
              <a:t>工作原理</a:t>
            </a:r>
            <a:endParaRPr lang="zh-CN" altLang="en-US" dirty="0"/>
          </a:p>
        </p:txBody>
      </p:sp>
      <p:sp>
        <p:nvSpPr>
          <p:cNvPr id="3" name="内容占位符 2"/>
          <p:cNvSpPr>
            <a:spLocks noGrp="1"/>
          </p:cNvSpPr>
          <p:nvPr>
            <p:ph idx="1"/>
          </p:nvPr>
        </p:nvSpPr>
        <p:spPr/>
        <p:txBody>
          <a:bodyPr/>
          <a:lstStyle/>
          <a:p>
            <a:r>
              <a:rPr lang="en-US" altLang="zh-CN" dirty="0" err="1" smtClean="0"/>
              <a:t>MapReduce</a:t>
            </a:r>
            <a:r>
              <a:rPr lang="zh-CN" altLang="en-US" dirty="0" smtClean="0"/>
              <a:t>工作过程可划分</a:t>
            </a:r>
            <a:r>
              <a:rPr lang="en-US" altLang="zh-CN" dirty="0" smtClean="0"/>
              <a:t>3</a:t>
            </a:r>
            <a:r>
              <a:rPr lang="zh-CN" altLang="en-US" dirty="0" smtClean="0"/>
              <a:t>个阶段</a:t>
            </a:r>
            <a:endParaRPr lang="en-US" altLang="zh-CN" dirty="0" smtClean="0"/>
          </a:p>
          <a:p>
            <a:pPr lvl="1"/>
            <a:r>
              <a:rPr lang="en-US" altLang="zh-CN" dirty="0" smtClean="0"/>
              <a:t>Map</a:t>
            </a:r>
            <a:r>
              <a:rPr lang="zh-CN" altLang="en-US" dirty="0" smtClean="0"/>
              <a:t>阶段</a:t>
            </a:r>
            <a:endParaRPr lang="en-US" altLang="zh-CN" dirty="0" smtClean="0"/>
          </a:p>
          <a:p>
            <a:pPr lvl="1"/>
            <a:r>
              <a:rPr lang="en-US" altLang="zh-CN" dirty="0" smtClean="0"/>
              <a:t>Shuffle</a:t>
            </a:r>
            <a:r>
              <a:rPr lang="zh-CN" altLang="en-US" dirty="0" smtClean="0"/>
              <a:t>阶段</a:t>
            </a:r>
            <a:endParaRPr lang="en-US" altLang="zh-CN" dirty="0"/>
          </a:p>
          <a:p>
            <a:pPr lvl="2"/>
            <a:r>
              <a:rPr lang="en-US" altLang="zh-CN" dirty="0"/>
              <a:t>Map</a:t>
            </a:r>
            <a:r>
              <a:rPr lang="zh-CN" altLang="en-US" dirty="0"/>
              <a:t>任务和</a:t>
            </a:r>
            <a:r>
              <a:rPr lang="en-US" altLang="zh-CN" dirty="0"/>
              <a:t>Reduce</a:t>
            </a:r>
            <a:r>
              <a:rPr lang="zh-CN" altLang="en-US" dirty="0"/>
              <a:t>任务之间数据交换的过程，并没有专门的</a:t>
            </a:r>
            <a:r>
              <a:rPr lang="en-US" altLang="zh-CN" dirty="0"/>
              <a:t>Task</a:t>
            </a:r>
            <a:r>
              <a:rPr lang="zh-CN" altLang="en-US" dirty="0"/>
              <a:t>进程用于</a:t>
            </a:r>
            <a:r>
              <a:rPr lang="en-US" altLang="zh-CN" dirty="0" smtClean="0"/>
              <a:t>Shuffle</a:t>
            </a:r>
          </a:p>
          <a:p>
            <a:pPr lvl="1"/>
            <a:r>
              <a:rPr lang="en-US" altLang="zh-CN" dirty="0" smtClean="0"/>
              <a:t>Reduce</a:t>
            </a:r>
            <a:r>
              <a:rPr lang="zh-CN" altLang="en-US" dirty="0" smtClean="0"/>
              <a:t>阶段</a:t>
            </a:r>
            <a:endParaRPr lang="en-US" altLang="zh-CN" dirty="0" smtClean="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67944" y="3789040"/>
            <a:ext cx="4149368" cy="2689042"/>
          </a:xfrm>
          <a:prstGeom prst="rect">
            <a:avLst/>
          </a:prstGeom>
        </p:spPr>
      </p:pic>
    </p:spTree>
    <p:extLst>
      <p:ext uri="{BB962C8B-B14F-4D97-AF65-F5344CB8AC3E}">
        <p14:creationId xmlns:p14="http://schemas.microsoft.com/office/powerpoint/2010/main" val="249638216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 </a:t>
            </a:r>
            <a:r>
              <a:rPr lang="zh-CN" altLang="en-US" dirty="0" smtClean="0"/>
              <a:t>数据输入</a:t>
            </a:r>
            <a:endParaRPr lang="zh-CN" altLang="en-US" dirty="0"/>
          </a:p>
        </p:txBody>
      </p:sp>
      <p:sp>
        <p:nvSpPr>
          <p:cNvPr id="3" name="内容占位符 2"/>
          <p:cNvSpPr>
            <a:spLocks noGrp="1"/>
          </p:cNvSpPr>
          <p:nvPr>
            <p:ph idx="1"/>
          </p:nvPr>
        </p:nvSpPr>
        <p:spPr/>
        <p:txBody>
          <a:bodyPr/>
          <a:lstStyle/>
          <a:p>
            <a:r>
              <a:rPr lang="en-US" altLang="zh-CN" dirty="0" err="1" smtClean="0"/>
              <a:t>MapReduce</a:t>
            </a:r>
            <a:r>
              <a:rPr lang="zh-CN" altLang="en-US" dirty="0" smtClean="0"/>
              <a:t>框架定义了输入格式（</a:t>
            </a:r>
            <a:r>
              <a:rPr lang="en-US" altLang="zh-CN" dirty="0" err="1" smtClean="0"/>
              <a:t>InputFormat</a:t>
            </a:r>
            <a:r>
              <a:rPr lang="zh-CN" altLang="en-US" dirty="0" smtClean="0"/>
              <a:t>），用于描述输入数据的格式，提供数据逻辑划分和键值对解析功能</a:t>
            </a:r>
            <a:endParaRPr lang="en-US" altLang="zh-CN" dirty="0" smtClean="0"/>
          </a:p>
          <a:p>
            <a:pPr lvl="1"/>
            <a:r>
              <a:rPr lang="zh-CN" altLang="en-US" dirty="0" smtClean="0"/>
              <a:t>输入格式将数据在逻辑上划分若干分片（</a:t>
            </a:r>
            <a:r>
              <a:rPr lang="en-US" altLang="zh-CN" dirty="0" smtClean="0"/>
              <a:t>split</a:t>
            </a:r>
            <a:r>
              <a:rPr lang="zh-CN" altLang="en-US" dirty="0" smtClean="0"/>
              <a:t>）</a:t>
            </a:r>
            <a:endParaRPr lang="en-US" altLang="zh-CN" dirty="0" smtClean="0"/>
          </a:p>
          <a:p>
            <a:pPr lvl="1"/>
            <a:r>
              <a:rPr lang="zh-CN" altLang="en-US" dirty="0" smtClean="0"/>
              <a:t>分片的数量决定往往决定了</a:t>
            </a:r>
            <a:r>
              <a:rPr lang="en-US" altLang="zh-CN" dirty="0" smtClean="0"/>
              <a:t>Map</a:t>
            </a:r>
            <a:r>
              <a:rPr lang="zh-CN" altLang="en-US" dirty="0" smtClean="0"/>
              <a:t>任务的数量</a:t>
            </a:r>
            <a:endParaRPr lang="en-US" altLang="zh-CN" dirty="0" smtClean="0"/>
          </a:p>
          <a:p>
            <a:pPr lvl="2"/>
            <a:r>
              <a:rPr lang="zh-CN" altLang="en-US" dirty="0" smtClean="0"/>
              <a:t>一个分片的数据通常需要一个</a:t>
            </a:r>
            <a:r>
              <a:rPr lang="en-US" altLang="zh-CN" dirty="0" smtClean="0"/>
              <a:t>Map</a:t>
            </a:r>
            <a:r>
              <a:rPr lang="zh-CN" altLang="en-US" dirty="0" smtClean="0"/>
              <a:t>任务处理</a:t>
            </a:r>
            <a:endParaRPr lang="en-US" altLang="zh-CN" dirty="0" smtClean="0"/>
          </a:p>
          <a:p>
            <a:pPr lvl="1"/>
            <a:r>
              <a:rPr lang="zh-CN" altLang="en-US" dirty="0" smtClean="0"/>
              <a:t>输入格式还提供键值对解释的方法</a:t>
            </a:r>
            <a:endParaRPr lang="zh-CN" altLang="en-US" dirty="0"/>
          </a:p>
        </p:txBody>
      </p:sp>
    </p:spTree>
    <p:extLst>
      <p:ext uri="{BB962C8B-B14F-4D97-AF65-F5344CB8AC3E}">
        <p14:creationId xmlns:p14="http://schemas.microsoft.com/office/powerpoint/2010/main" val="358127952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en-US" dirty="0"/>
              <a:t>数据输入</a:t>
            </a:r>
          </a:p>
        </p:txBody>
      </p:sp>
      <p:sp>
        <p:nvSpPr>
          <p:cNvPr id="3" name="内容占位符 2"/>
          <p:cNvSpPr>
            <a:spLocks noGrp="1"/>
          </p:cNvSpPr>
          <p:nvPr>
            <p:ph idx="1"/>
          </p:nvPr>
        </p:nvSpPr>
        <p:spPr/>
        <p:txBody>
          <a:bodyPr/>
          <a:lstStyle/>
          <a:p>
            <a:r>
              <a:rPr lang="en-US" altLang="zh-CN" sz="2400" dirty="0" err="1"/>
              <a:t>InputFormat</a:t>
            </a:r>
            <a:r>
              <a:rPr lang="zh-CN" altLang="en-US" sz="2400" dirty="0"/>
              <a:t>的工作过程</a:t>
            </a:r>
            <a:endParaRPr lang="en-US" altLang="zh-CN" sz="2400" dirty="0"/>
          </a:p>
        </p:txBody>
      </p:sp>
      <p:pic>
        <p:nvPicPr>
          <p:cNvPr id="6"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331640" y="1916832"/>
            <a:ext cx="5256584" cy="3007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168751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 </a:t>
            </a:r>
            <a:r>
              <a:rPr lang="zh-CN" altLang="en-US" dirty="0" smtClean="0"/>
              <a:t>数据输入</a:t>
            </a:r>
            <a:endParaRPr lang="zh-CN" altLang="en-US" dirty="0"/>
          </a:p>
        </p:txBody>
      </p:sp>
      <p:sp>
        <p:nvSpPr>
          <p:cNvPr id="3" name="内容占位符 2"/>
          <p:cNvSpPr>
            <a:spLocks noGrp="1"/>
          </p:cNvSpPr>
          <p:nvPr>
            <p:ph idx="1"/>
          </p:nvPr>
        </p:nvSpPr>
        <p:spPr/>
        <p:txBody>
          <a:bodyPr/>
          <a:lstStyle/>
          <a:p>
            <a:r>
              <a:rPr lang="zh-CN" altLang="en-US" dirty="0" smtClean="0"/>
              <a:t>常见</a:t>
            </a:r>
            <a:r>
              <a:rPr lang="en-US" altLang="zh-CN" dirty="0" err="1" smtClean="0"/>
              <a:t>InputFormat</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1916832"/>
            <a:ext cx="7096177" cy="4219606"/>
          </a:xfrm>
          <a:prstGeom prst="rect">
            <a:avLst/>
          </a:prstGeom>
        </p:spPr>
      </p:pic>
    </p:spTree>
    <p:extLst>
      <p:ext uri="{BB962C8B-B14F-4D97-AF65-F5344CB8AC3E}">
        <p14:creationId xmlns:p14="http://schemas.microsoft.com/office/powerpoint/2010/main" val="19640239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en-US" dirty="0"/>
              <a:t>数据输入</a:t>
            </a:r>
          </a:p>
        </p:txBody>
      </p:sp>
      <p:sp>
        <p:nvSpPr>
          <p:cNvPr id="3" name="内容占位符 2"/>
          <p:cNvSpPr>
            <a:spLocks noGrp="1"/>
          </p:cNvSpPr>
          <p:nvPr>
            <p:ph idx="1"/>
          </p:nvPr>
        </p:nvSpPr>
        <p:spPr/>
        <p:txBody>
          <a:bodyPr/>
          <a:lstStyle/>
          <a:p>
            <a:r>
              <a:rPr lang="en-US" altLang="zh-CN" dirty="0" err="1" smtClean="0"/>
              <a:t>TextInputFormat</a:t>
            </a:r>
            <a:endParaRPr lang="en-US" altLang="zh-CN" dirty="0" smtClean="0"/>
          </a:p>
          <a:p>
            <a:pPr lvl="1"/>
            <a:r>
              <a:rPr lang="zh-CN" altLang="en-US" sz="2400" dirty="0" smtClean="0"/>
              <a:t>对于</a:t>
            </a:r>
            <a:r>
              <a:rPr lang="zh-CN" altLang="en-US" sz="2400" dirty="0"/>
              <a:t>文本输入，</a:t>
            </a:r>
            <a:r>
              <a:rPr lang="en-US" altLang="zh-CN" sz="2400" dirty="0"/>
              <a:t>MapReduce</a:t>
            </a:r>
            <a:r>
              <a:rPr lang="zh-CN" altLang="en-US" sz="2400" dirty="0"/>
              <a:t>提供了</a:t>
            </a:r>
            <a:r>
              <a:rPr lang="en-US" altLang="zh-CN" sz="2400" dirty="0" err="1"/>
              <a:t>TextInputFormat</a:t>
            </a:r>
            <a:r>
              <a:rPr lang="zh-CN" altLang="en-US" sz="2400" dirty="0" smtClean="0"/>
              <a:t>类，</a:t>
            </a:r>
            <a:r>
              <a:rPr lang="zh-CN" altLang="en-US" sz="2400" dirty="0"/>
              <a:t>是默认的</a:t>
            </a:r>
            <a:r>
              <a:rPr lang="en-US" altLang="zh-CN" sz="2400" dirty="0" err="1"/>
              <a:t>InputFormat</a:t>
            </a:r>
            <a:endParaRPr lang="en-US" altLang="zh-CN" sz="2400" dirty="0"/>
          </a:p>
          <a:p>
            <a:pPr lvl="1"/>
            <a:r>
              <a:rPr lang="en-US" altLang="zh-CN" sz="2400" dirty="0" err="1"/>
              <a:t>TextInputFormat</a:t>
            </a:r>
            <a:r>
              <a:rPr lang="zh-CN" altLang="en-US" sz="2400" dirty="0"/>
              <a:t>的</a:t>
            </a:r>
            <a:r>
              <a:rPr lang="en-US" altLang="zh-CN" sz="2400" dirty="0"/>
              <a:t>&lt;</a:t>
            </a:r>
            <a:r>
              <a:rPr lang="en-US" altLang="zh-CN" sz="2400" dirty="0" err="1"/>
              <a:t>key,value</a:t>
            </a:r>
            <a:r>
              <a:rPr lang="en-US" altLang="zh-CN" sz="2400" dirty="0"/>
              <a:t>&gt;</a:t>
            </a:r>
            <a:r>
              <a:rPr lang="zh-CN" altLang="en-US" sz="2400" dirty="0"/>
              <a:t>对</a:t>
            </a:r>
            <a:endParaRPr lang="en-US" altLang="zh-CN" sz="2400" dirty="0"/>
          </a:p>
          <a:p>
            <a:pPr lvl="2"/>
            <a:r>
              <a:rPr lang="en-US" altLang="zh-CN" sz="2000" dirty="0"/>
              <a:t>key</a:t>
            </a:r>
            <a:r>
              <a:rPr lang="zh-CN" altLang="en-US" sz="2000" dirty="0"/>
              <a:t>：为</a:t>
            </a:r>
            <a:r>
              <a:rPr lang="en-US" altLang="zh-CN" sz="2000" dirty="0" err="1"/>
              <a:t>LongWritable</a:t>
            </a:r>
            <a:r>
              <a:rPr lang="zh-CN" altLang="en-US" sz="2000" dirty="0"/>
              <a:t>类型，为该行在整个文件的字节偏移量</a:t>
            </a:r>
            <a:endParaRPr lang="en-US" altLang="zh-CN" sz="2000" dirty="0"/>
          </a:p>
          <a:p>
            <a:pPr lvl="2"/>
            <a:r>
              <a:rPr lang="en-US" altLang="zh-CN" sz="2000" dirty="0"/>
              <a:t>value</a:t>
            </a:r>
            <a:r>
              <a:rPr lang="zh-CN" altLang="en-US" sz="2000" dirty="0"/>
              <a:t>：为</a:t>
            </a:r>
            <a:r>
              <a:rPr lang="en-US" altLang="zh-CN" sz="2000" dirty="0"/>
              <a:t>Text</a:t>
            </a:r>
            <a:r>
              <a:rPr lang="zh-CN" altLang="en-US" sz="2000" dirty="0"/>
              <a:t>类型，为每行的数据内容</a:t>
            </a:r>
            <a:endParaRPr lang="en-US" altLang="zh-CN" sz="2000" dirty="0"/>
          </a:p>
          <a:p>
            <a:pPr lvl="2"/>
            <a:endParaRPr lang="en-US" altLang="zh-CN" sz="2000"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0900" y="4190371"/>
            <a:ext cx="4572000" cy="2138363"/>
          </a:xfrm>
          <a:prstGeom prst="rect">
            <a:avLst/>
          </a:prstGeom>
        </p:spPr>
      </p:pic>
    </p:spTree>
    <p:extLst>
      <p:ext uri="{BB962C8B-B14F-4D97-AF65-F5344CB8AC3E}">
        <p14:creationId xmlns:p14="http://schemas.microsoft.com/office/powerpoint/2010/main" val="416021575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Map</a:t>
            </a:r>
            <a:r>
              <a:rPr lang="zh-CN" altLang="en-US" dirty="0" smtClean="0"/>
              <a:t>阶段</a:t>
            </a:r>
            <a:endParaRPr lang="zh-CN" altLang="en-US" dirty="0"/>
          </a:p>
        </p:txBody>
      </p:sp>
      <p:sp>
        <p:nvSpPr>
          <p:cNvPr id="3" name="内容占位符 2"/>
          <p:cNvSpPr>
            <a:spLocks noGrp="1"/>
          </p:cNvSpPr>
          <p:nvPr>
            <p:ph idx="1"/>
          </p:nvPr>
        </p:nvSpPr>
        <p:spPr/>
        <p:txBody>
          <a:bodyPr/>
          <a:lstStyle/>
          <a:p>
            <a:r>
              <a:rPr lang="en-US" altLang="zh-CN" dirty="0">
                <a:sym typeface="+mn-ea"/>
              </a:rPr>
              <a:t>Map</a:t>
            </a:r>
            <a:r>
              <a:rPr lang="zh-CN" altLang="en-US" dirty="0">
                <a:sym typeface="+mn-ea"/>
              </a:rPr>
              <a:t>阶段</a:t>
            </a:r>
          </a:p>
          <a:p>
            <a:pPr lvl="1"/>
            <a:r>
              <a:rPr lang="zh-CN" altLang="en-US" sz="2400" dirty="0">
                <a:ea typeface="宋体" panose="02010600030101010101" pitchFamily="2" charset="-122"/>
                <a:sym typeface="+mn-ea"/>
              </a:rPr>
              <a:t>将输入的多个分片（</a:t>
            </a:r>
            <a:r>
              <a:rPr lang="en-US" altLang="zh-CN" sz="2400" dirty="0">
                <a:ea typeface="宋体" panose="02010600030101010101" pitchFamily="2" charset="-122"/>
                <a:sym typeface="+mn-ea"/>
              </a:rPr>
              <a:t>Split</a:t>
            </a:r>
            <a:r>
              <a:rPr lang="zh-CN" altLang="en-US" sz="2400" dirty="0">
                <a:ea typeface="宋体" panose="02010600030101010101" pitchFamily="2" charset="-122"/>
                <a:sym typeface="+mn-ea"/>
              </a:rPr>
              <a:t>）由</a:t>
            </a:r>
            <a:r>
              <a:rPr lang="en-US" altLang="zh-CN" sz="2400" dirty="0">
                <a:ea typeface="宋体" panose="02010600030101010101" pitchFamily="2" charset="-122"/>
                <a:sym typeface="+mn-ea"/>
              </a:rPr>
              <a:t>Map</a:t>
            </a:r>
            <a:r>
              <a:rPr lang="zh-CN" altLang="en-US" sz="2400" dirty="0">
                <a:ea typeface="宋体" panose="02010600030101010101" pitchFamily="2" charset="-122"/>
                <a:sym typeface="+mn-ea"/>
              </a:rPr>
              <a:t>任务以完全并行的方式处理</a:t>
            </a:r>
          </a:p>
          <a:p>
            <a:pPr lvl="2"/>
            <a:r>
              <a:rPr lang="zh-CN" altLang="en-US" sz="2000" dirty="0">
                <a:ea typeface="宋体" panose="02010600030101010101" pitchFamily="2" charset="-122"/>
                <a:sym typeface="+mn-ea"/>
              </a:rPr>
              <a:t>每个分片由一个</a:t>
            </a:r>
            <a:r>
              <a:rPr lang="en-US" altLang="zh-CN" sz="2000" dirty="0">
                <a:ea typeface="宋体" panose="02010600030101010101" pitchFamily="2" charset="-122"/>
                <a:sym typeface="+mn-ea"/>
              </a:rPr>
              <a:t>Map</a:t>
            </a:r>
            <a:r>
              <a:rPr lang="zh-CN" altLang="en-US" sz="2000" dirty="0">
                <a:ea typeface="宋体" panose="02010600030101010101" pitchFamily="2" charset="-122"/>
                <a:sym typeface="+mn-ea"/>
              </a:rPr>
              <a:t>任务来处理</a:t>
            </a:r>
          </a:p>
          <a:p>
            <a:pPr lvl="1"/>
            <a:r>
              <a:rPr lang="zh-CN" sz="2400" dirty="0" smtClean="0">
                <a:ea typeface="宋体" panose="02010600030101010101" pitchFamily="2" charset="-122"/>
                <a:sym typeface="+mn-ea"/>
              </a:rPr>
              <a:t>每个</a:t>
            </a:r>
            <a:r>
              <a:rPr lang="en-US" altLang="zh-CN" sz="2400" dirty="0">
                <a:ea typeface="宋体" panose="02010600030101010101" pitchFamily="2" charset="-122"/>
                <a:sym typeface="+mn-ea"/>
              </a:rPr>
              <a:t>Map</a:t>
            </a:r>
            <a:r>
              <a:rPr lang="zh-CN" altLang="en-US" sz="2400" dirty="0">
                <a:ea typeface="宋体" panose="02010600030101010101" pitchFamily="2" charset="-122"/>
                <a:sym typeface="+mn-ea"/>
              </a:rPr>
              <a:t>任务对输入分片的记录按照一定的规则解析成</a:t>
            </a:r>
            <a:r>
              <a:rPr lang="en-US" altLang="zh-CN" sz="2400" dirty="0">
                <a:ea typeface="宋体" panose="02010600030101010101" pitchFamily="2" charset="-122"/>
                <a:sym typeface="+mn-ea"/>
              </a:rPr>
              <a:t>&lt;key,value&gt;</a:t>
            </a:r>
            <a:r>
              <a:rPr lang="zh-CN" altLang="en-US" sz="2400" dirty="0" smtClean="0">
                <a:ea typeface="宋体" panose="02010600030101010101" pitchFamily="2" charset="-122"/>
                <a:sym typeface="+mn-ea"/>
              </a:rPr>
              <a:t>对</a:t>
            </a:r>
            <a:endParaRPr lang="zh-CN" altLang="en-US" sz="2400" dirty="0">
              <a:ea typeface="宋体" panose="02010600030101010101" pitchFamily="2" charset="-122"/>
              <a:sym typeface="+mn-ea"/>
            </a:endParaRPr>
          </a:p>
          <a:p>
            <a:pPr lvl="2"/>
            <a:r>
              <a:rPr lang="zh-CN" altLang="en-US" sz="2000" dirty="0" smtClean="0">
                <a:ea typeface="宋体" panose="02010600030101010101" pitchFamily="2" charset="-122"/>
                <a:sym typeface="+mn-ea"/>
              </a:rPr>
              <a:t>接收</a:t>
            </a:r>
            <a:r>
              <a:rPr lang="en-US" altLang="zh-CN" dirty="0" smtClean="0">
                <a:ea typeface="宋体" panose="02010600030101010101" pitchFamily="2" charset="-122"/>
                <a:sym typeface="+mn-ea"/>
              </a:rPr>
              <a:t>&lt;</a:t>
            </a:r>
            <a:r>
              <a:rPr lang="en-US" altLang="zh-CN" dirty="0" err="1">
                <a:ea typeface="宋体" panose="02010600030101010101" pitchFamily="2" charset="-122"/>
                <a:sym typeface="+mn-ea"/>
              </a:rPr>
              <a:t>key,value</a:t>
            </a:r>
            <a:r>
              <a:rPr lang="en-US" altLang="zh-CN" dirty="0" smtClean="0">
                <a:ea typeface="宋体" panose="02010600030101010101" pitchFamily="2" charset="-122"/>
                <a:sym typeface="+mn-ea"/>
              </a:rPr>
              <a:t>&gt;</a:t>
            </a:r>
            <a:r>
              <a:rPr lang="zh-CN" altLang="en-US" dirty="0" smtClean="0">
                <a:ea typeface="宋体" panose="02010600030101010101" pitchFamily="2" charset="-122"/>
                <a:sym typeface="+mn-ea"/>
              </a:rPr>
              <a:t>作为输入，按照一定的映射规则将其转换成多个</a:t>
            </a:r>
            <a:r>
              <a:rPr lang="en-US" altLang="zh-CN" dirty="0">
                <a:ea typeface="宋体" panose="02010600030101010101" pitchFamily="2" charset="-122"/>
                <a:sym typeface="+mn-ea"/>
              </a:rPr>
              <a:t>&lt;</a:t>
            </a:r>
            <a:r>
              <a:rPr lang="en-US" altLang="zh-CN" dirty="0" err="1">
                <a:ea typeface="宋体" panose="02010600030101010101" pitchFamily="2" charset="-122"/>
                <a:sym typeface="+mn-ea"/>
              </a:rPr>
              <a:t>key,value</a:t>
            </a:r>
            <a:r>
              <a:rPr lang="en-US" altLang="zh-CN" dirty="0">
                <a:ea typeface="宋体" panose="02010600030101010101" pitchFamily="2" charset="-122"/>
                <a:sym typeface="+mn-ea"/>
              </a:rPr>
              <a:t>&gt;</a:t>
            </a:r>
            <a:r>
              <a:rPr lang="zh-CN" altLang="en-US" dirty="0" smtClean="0">
                <a:ea typeface="宋体" panose="02010600030101010101" pitchFamily="2" charset="-122"/>
                <a:sym typeface="+mn-ea"/>
              </a:rPr>
              <a:t>对</a:t>
            </a:r>
            <a:endParaRPr lang="zh-CN" altLang="en-US" sz="2000" dirty="0">
              <a:ea typeface="宋体" panose="02010600030101010101" pitchFamily="2" charset="-122"/>
              <a:sym typeface="+mn-ea"/>
            </a:endParaRPr>
          </a:p>
        </p:txBody>
      </p:sp>
    </p:spTree>
    <p:extLst>
      <p:ext uri="{BB962C8B-B14F-4D97-AF65-F5344CB8AC3E}">
        <p14:creationId xmlns:p14="http://schemas.microsoft.com/office/powerpoint/2010/main" val="296363219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3.4.3 Shuffle</a:t>
            </a:r>
            <a:r>
              <a:rPr lang="zh-CN" altLang="en-US" dirty="0" smtClean="0"/>
              <a:t>阶段</a:t>
            </a:r>
            <a:endParaRPr lang="zh-CN" altLang="en-US" dirty="0"/>
          </a:p>
        </p:txBody>
      </p:sp>
      <p:sp>
        <p:nvSpPr>
          <p:cNvPr id="3" name="内容占位符 2"/>
          <p:cNvSpPr>
            <a:spLocks noGrp="1"/>
          </p:cNvSpPr>
          <p:nvPr>
            <p:ph idx="1"/>
          </p:nvPr>
        </p:nvSpPr>
        <p:spPr/>
        <p:txBody>
          <a:bodyPr/>
          <a:lstStyle/>
          <a:p>
            <a:r>
              <a:rPr lang="en-US" altLang="zh-CN" sz="2400" dirty="0" smtClean="0"/>
              <a:t>Shuffle</a:t>
            </a:r>
            <a:r>
              <a:rPr lang="zh-CN" altLang="en-US" sz="2400" dirty="0" smtClean="0"/>
              <a:t>是指</a:t>
            </a:r>
            <a:r>
              <a:rPr lang="en-US" altLang="zh-CN" sz="2400" dirty="0" smtClean="0"/>
              <a:t>Map</a:t>
            </a:r>
            <a:r>
              <a:rPr lang="zh-CN" altLang="en-US" sz="2400" dirty="0"/>
              <a:t>阶段数据输出到</a:t>
            </a:r>
            <a:r>
              <a:rPr lang="en-US" altLang="zh-CN" sz="2400" dirty="0"/>
              <a:t>Reduce</a:t>
            </a:r>
            <a:r>
              <a:rPr lang="zh-CN" altLang="en-US" sz="2400" dirty="0"/>
              <a:t>阶段数据输入这一整个中间</a:t>
            </a:r>
            <a:r>
              <a:rPr lang="zh-CN" altLang="en-US" sz="2400" dirty="0" smtClean="0"/>
              <a:t>过程</a:t>
            </a:r>
            <a:endParaRPr lang="en-US" altLang="zh-CN" sz="2400" dirty="0" smtClean="0"/>
          </a:p>
          <a:p>
            <a:r>
              <a:rPr lang="en-US" altLang="zh-CN" sz="2400" dirty="0" smtClean="0"/>
              <a:t>Shuffle</a:t>
            </a:r>
            <a:r>
              <a:rPr lang="zh-CN" altLang="en-US" sz="2400" dirty="0" smtClean="0"/>
              <a:t>过程是</a:t>
            </a:r>
            <a:r>
              <a:rPr lang="en-US" altLang="zh-CN" sz="2400" dirty="0" err="1" smtClean="0"/>
              <a:t>MapReduce</a:t>
            </a:r>
            <a:r>
              <a:rPr lang="zh-CN" altLang="en-US" sz="2400" dirty="0" smtClean="0"/>
              <a:t>工作流程的核心环节</a:t>
            </a:r>
            <a:endParaRPr lang="en-US" altLang="zh-CN" sz="2400" dirty="0" smtClean="0"/>
          </a:p>
          <a:p>
            <a:r>
              <a:rPr lang="en-US" altLang="zh-CN" sz="2400" dirty="0"/>
              <a:t>Shuffle</a:t>
            </a:r>
            <a:r>
              <a:rPr lang="zh-CN" altLang="en-US" sz="2400" dirty="0" smtClean="0"/>
              <a:t>过程分为</a:t>
            </a:r>
            <a:endParaRPr lang="en-US" altLang="zh-CN" sz="2400" dirty="0" smtClean="0"/>
          </a:p>
          <a:p>
            <a:pPr lvl="1"/>
            <a:r>
              <a:rPr lang="en-US" altLang="zh-CN" sz="2000" dirty="0" smtClean="0"/>
              <a:t>Map</a:t>
            </a:r>
            <a:r>
              <a:rPr lang="zh-CN" altLang="en-US" sz="2000" dirty="0" smtClean="0"/>
              <a:t>端的</a:t>
            </a:r>
            <a:r>
              <a:rPr lang="en-US" altLang="zh-CN" sz="2000" dirty="0" smtClean="0"/>
              <a:t>Shuffle</a:t>
            </a:r>
          </a:p>
          <a:p>
            <a:pPr lvl="1"/>
            <a:r>
              <a:rPr lang="en-US" altLang="zh-CN" sz="2000" dirty="0" smtClean="0"/>
              <a:t>Reduce</a:t>
            </a:r>
            <a:r>
              <a:rPr lang="zh-CN" altLang="en-US" sz="2000" dirty="0" smtClean="0"/>
              <a:t>端的</a:t>
            </a:r>
            <a:r>
              <a:rPr lang="en-US" altLang="zh-CN" sz="2000" dirty="0" smtClean="0"/>
              <a:t>Shuffle</a:t>
            </a:r>
            <a:endParaRPr lang="zh-CN" altLang="en-US" sz="2000" dirty="0"/>
          </a:p>
        </p:txBody>
      </p:sp>
      <p:pic>
        <p:nvPicPr>
          <p:cNvPr id="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3871847"/>
            <a:ext cx="5749880" cy="260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154705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Map</a:t>
            </a:r>
            <a:r>
              <a:rPr lang="zh-CN" altLang="en-US" dirty="0" smtClean="0"/>
              <a:t>端的</a:t>
            </a:r>
            <a:r>
              <a:rPr lang="en-US" altLang="zh-CN" dirty="0" smtClean="0"/>
              <a:t>Shuffle</a:t>
            </a:r>
            <a:endParaRPr lang="zh-CN" altLang="en-US" dirty="0"/>
          </a:p>
        </p:txBody>
      </p:sp>
      <p:sp>
        <p:nvSpPr>
          <p:cNvPr id="3" name="内容占位符 2"/>
          <p:cNvSpPr>
            <a:spLocks noGrp="1"/>
          </p:cNvSpPr>
          <p:nvPr>
            <p:ph idx="1"/>
          </p:nvPr>
        </p:nvSpPr>
        <p:spPr/>
        <p:txBody>
          <a:bodyPr/>
          <a:lstStyle/>
          <a:p>
            <a:r>
              <a:rPr lang="en-US" altLang="zh-CN" dirty="0" smtClean="0"/>
              <a:t>Map</a:t>
            </a:r>
            <a:r>
              <a:rPr lang="zh-CN" altLang="en-US" dirty="0" smtClean="0"/>
              <a:t>端的</a:t>
            </a:r>
            <a:r>
              <a:rPr lang="en-US" altLang="zh-CN" dirty="0" smtClean="0"/>
              <a:t>Shuffle</a:t>
            </a:r>
            <a:r>
              <a:rPr lang="zh-CN" altLang="en-US" dirty="0" smtClean="0"/>
              <a:t>包含</a:t>
            </a:r>
            <a:r>
              <a:rPr lang="en-US" altLang="zh-CN" dirty="0" smtClean="0"/>
              <a:t>3</a:t>
            </a:r>
            <a:r>
              <a:rPr lang="zh-CN" altLang="en-US" dirty="0" smtClean="0"/>
              <a:t>个步骤</a:t>
            </a:r>
            <a:endParaRPr lang="en-US" altLang="zh-CN" dirty="0" smtClean="0"/>
          </a:p>
          <a:p>
            <a:pPr lvl="1"/>
            <a:r>
              <a:rPr lang="zh-CN" altLang="en-US" dirty="0" smtClean="0"/>
              <a:t>写入缓存</a:t>
            </a:r>
            <a:endParaRPr lang="en-US" altLang="zh-CN" dirty="0" smtClean="0"/>
          </a:p>
          <a:p>
            <a:pPr lvl="1"/>
            <a:r>
              <a:rPr lang="zh-CN" altLang="en-US" dirty="0" smtClean="0"/>
              <a:t>溢写（分区、排序、合并）</a:t>
            </a:r>
            <a:endParaRPr lang="en-US" altLang="zh-CN" dirty="0" smtClean="0"/>
          </a:p>
          <a:p>
            <a:pPr lvl="1"/>
            <a:r>
              <a:rPr lang="zh-CN" altLang="en-US" dirty="0" smtClean="0"/>
              <a:t>文件归并</a:t>
            </a:r>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76056" y="2984497"/>
            <a:ext cx="3240000" cy="3540847"/>
          </a:xfrm>
          <a:prstGeom prst="rect">
            <a:avLst/>
          </a:prstGeom>
        </p:spPr>
      </p:pic>
    </p:spTree>
    <p:extLst>
      <p:ext uri="{BB962C8B-B14F-4D97-AF65-F5344CB8AC3E}">
        <p14:creationId xmlns:p14="http://schemas.microsoft.com/office/powerpoint/2010/main" val="373332417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Map</a:t>
            </a:r>
            <a:r>
              <a:rPr lang="zh-CN" altLang="en-US" dirty="0" smtClean="0"/>
              <a:t>端的</a:t>
            </a:r>
            <a:r>
              <a:rPr lang="en-US" altLang="zh-CN" dirty="0" smtClean="0"/>
              <a:t>Shuffle</a:t>
            </a:r>
            <a:endParaRPr lang="zh-CN" altLang="en-US" dirty="0"/>
          </a:p>
        </p:txBody>
      </p:sp>
      <p:sp>
        <p:nvSpPr>
          <p:cNvPr id="3" name="内容占位符 2"/>
          <p:cNvSpPr>
            <a:spLocks noGrp="1"/>
          </p:cNvSpPr>
          <p:nvPr>
            <p:ph idx="1"/>
          </p:nvPr>
        </p:nvSpPr>
        <p:spPr/>
        <p:txBody>
          <a:bodyPr/>
          <a:lstStyle/>
          <a:p>
            <a:r>
              <a:rPr lang="zh-CN" altLang="en-US" dirty="0" smtClean="0"/>
              <a:t>写入缓存</a:t>
            </a:r>
            <a:endParaRPr lang="en-US" altLang="zh-CN" dirty="0" smtClean="0"/>
          </a:p>
          <a:p>
            <a:pPr lvl="1"/>
            <a:r>
              <a:rPr lang="zh-CN" altLang="en-US" dirty="0" smtClean="0"/>
              <a:t>每个</a:t>
            </a:r>
            <a:r>
              <a:rPr lang="en-US" altLang="zh-CN" dirty="0" smtClean="0"/>
              <a:t>Map</a:t>
            </a:r>
            <a:r>
              <a:rPr lang="zh-CN" altLang="en-US" dirty="0" smtClean="0"/>
              <a:t>任务都会被分配一个缓存</a:t>
            </a:r>
            <a:endParaRPr lang="en-US" altLang="zh-CN" dirty="0" smtClean="0"/>
          </a:p>
          <a:p>
            <a:pPr lvl="2"/>
            <a:r>
              <a:rPr lang="zh-CN" altLang="en-US" dirty="0" smtClean="0"/>
              <a:t>容量有限，默认</a:t>
            </a:r>
            <a:r>
              <a:rPr lang="en-US" altLang="zh-CN" dirty="0" smtClean="0"/>
              <a:t>100MB</a:t>
            </a:r>
          </a:p>
          <a:p>
            <a:pPr lvl="1"/>
            <a:r>
              <a:rPr lang="en-US" altLang="zh-CN" dirty="0" smtClean="0"/>
              <a:t>Map</a:t>
            </a:r>
            <a:r>
              <a:rPr lang="zh-CN" altLang="en-US" dirty="0" smtClean="0"/>
              <a:t>任务的输出结果首先写入缓存</a:t>
            </a:r>
            <a:endParaRPr lang="en-US" altLang="zh-CN" dirty="0" smtClean="0"/>
          </a:p>
          <a:p>
            <a:pPr lvl="2"/>
            <a:r>
              <a:rPr lang="zh-CN" altLang="en-US" dirty="0" smtClean="0"/>
              <a:t>积累到一定数量，再一次性批量写入磁盘，减少磁盘</a:t>
            </a:r>
            <a:r>
              <a:rPr lang="en-US" altLang="zh-CN" dirty="0" smtClean="0"/>
              <a:t>I/O</a:t>
            </a:r>
            <a:r>
              <a:rPr lang="zh-CN" altLang="en-US" dirty="0" smtClean="0"/>
              <a:t>的影响</a:t>
            </a:r>
            <a:endParaRPr lang="en-US" altLang="zh-CN" dirty="0" smtClean="0"/>
          </a:p>
          <a:p>
            <a:pPr lvl="1"/>
            <a:r>
              <a:rPr lang="zh-CN" altLang="en-US" dirty="0" smtClean="0"/>
              <a:t>在写入缓存前，</a:t>
            </a:r>
            <a:r>
              <a:rPr lang="en-US" altLang="zh-CN" dirty="0" smtClean="0"/>
              <a:t>key</a:t>
            </a:r>
            <a:r>
              <a:rPr lang="zh-CN" altLang="en-US" dirty="0" smtClean="0"/>
              <a:t>与</a:t>
            </a:r>
            <a:r>
              <a:rPr lang="en-US" altLang="zh-CN" dirty="0" smtClean="0"/>
              <a:t>value</a:t>
            </a:r>
            <a:r>
              <a:rPr lang="zh-CN" altLang="en-US" dirty="0" smtClean="0"/>
              <a:t>都会被序列化成字节数组</a:t>
            </a:r>
            <a:endParaRPr lang="zh-CN" altLang="en-US" dirty="0"/>
          </a:p>
        </p:txBody>
      </p:sp>
    </p:spTree>
    <p:extLst>
      <p:ext uri="{BB962C8B-B14F-4D97-AF65-F5344CB8AC3E}">
        <p14:creationId xmlns:p14="http://schemas.microsoft.com/office/powerpoint/2010/main" val="160434529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Map</a:t>
            </a:r>
            <a:r>
              <a:rPr lang="zh-CN" altLang="en-US" dirty="0" smtClean="0"/>
              <a:t>端的</a:t>
            </a:r>
            <a:r>
              <a:rPr lang="en-US" altLang="zh-CN" dirty="0" smtClean="0"/>
              <a:t>Shuffle</a:t>
            </a:r>
            <a:endParaRPr lang="zh-CN" altLang="en-US" dirty="0"/>
          </a:p>
        </p:txBody>
      </p:sp>
      <p:sp>
        <p:nvSpPr>
          <p:cNvPr id="3" name="内容占位符 2"/>
          <p:cNvSpPr>
            <a:spLocks noGrp="1"/>
          </p:cNvSpPr>
          <p:nvPr>
            <p:ph idx="1"/>
          </p:nvPr>
        </p:nvSpPr>
        <p:spPr/>
        <p:txBody>
          <a:bodyPr/>
          <a:lstStyle/>
          <a:p>
            <a:r>
              <a:rPr lang="zh-CN" altLang="en-US" dirty="0"/>
              <a:t>溢写（分区、排序、合并</a:t>
            </a:r>
            <a:r>
              <a:rPr lang="zh-CN" altLang="en-US" dirty="0" smtClean="0"/>
              <a:t>）</a:t>
            </a:r>
            <a:endParaRPr lang="en-US" altLang="zh-CN" dirty="0" smtClean="0"/>
          </a:p>
          <a:p>
            <a:pPr lvl="1"/>
            <a:r>
              <a:rPr lang="zh-CN" altLang="en-US" dirty="0" smtClean="0"/>
              <a:t>当缓存空间达到溢写比例（譬如</a:t>
            </a:r>
            <a:r>
              <a:rPr lang="en-US" altLang="zh-CN" dirty="0" smtClean="0"/>
              <a:t>0.8</a:t>
            </a:r>
            <a:r>
              <a:rPr lang="zh-CN" altLang="en-US" dirty="0" smtClean="0"/>
              <a:t>）时，就会启动溢写（</a:t>
            </a:r>
            <a:r>
              <a:rPr lang="en-US" altLang="zh-CN" dirty="0" smtClean="0"/>
              <a:t>spill</a:t>
            </a:r>
            <a:r>
              <a:rPr lang="zh-CN" altLang="en-US" dirty="0" smtClean="0"/>
              <a:t>）操作</a:t>
            </a:r>
            <a:endParaRPr lang="en-US" altLang="zh-CN" dirty="0" smtClean="0"/>
          </a:p>
          <a:p>
            <a:pPr lvl="2"/>
            <a:r>
              <a:rPr lang="zh-CN" altLang="en-US" dirty="0" smtClean="0"/>
              <a:t>不能等缓</a:t>
            </a:r>
            <a:r>
              <a:rPr lang="zh-CN" altLang="en-US" dirty="0"/>
              <a:t>存</a:t>
            </a:r>
            <a:r>
              <a:rPr lang="zh-CN" altLang="en-US" dirty="0" smtClean="0"/>
              <a:t>全满，保证有剩余空间继续写入</a:t>
            </a:r>
            <a:endParaRPr lang="en-US" altLang="zh-CN" dirty="0" smtClean="0"/>
          </a:p>
          <a:p>
            <a:pPr lvl="1"/>
            <a:r>
              <a:rPr lang="zh-CN" altLang="en-US" dirty="0" smtClean="0"/>
              <a:t>在溢写到磁盘之前，会先经历分区、排序、合并</a:t>
            </a:r>
            <a:endParaRPr lang="en-US" altLang="zh-CN" dirty="0" smtClean="0"/>
          </a:p>
          <a:p>
            <a:pPr lvl="1"/>
            <a:r>
              <a:rPr lang="zh-CN" altLang="en-US" dirty="0" smtClean="0"/>
              <a:t>经分区</a:t>
            </a:r>
            <a:r>
              <a:rPr lang="zh-CN" altLang="en-US" dirty="0"/>
              <a:t>、排序、</a:t>
            </a:r>
            <a:r>
              <a:rPr lang="zh-CN" altLang="en-US" dirty="0" smtClean="0"/>
              <a:t>合并后，缓存中的键值对写入磁盘、生成一个新的溢写文件，并清空缓存</a:t>
            </a:r>
            <a:endParaRPr lang="en-US" altLang="zh-CN" dirty="0"/>
          </a:p>
          <a:p>
            <a:pPr lvl="1"/>
            <a:endParaRPr lang="en-US" altLang="zh-CN" dirty="0"/>
          </a:p>
        </p:txBody>
      </p:sp>
    </p:spTree>
    <p:extLst>
      <p:ext uri="{BB962C8B-B14F-4D97-AF65-F5344CB8AC3E}">
        <p14:creationId xmlns:p14="http://schemas.microsoft.com/office/powerpoint/2010/main" val="6654775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Map</a:t>
            </a:r>
            <a:r>
              <a:rPr lang="zh-CN" altLang="en-US" dirty="0"/>
              <a:t>端的</a:t>
            </a:r>
            <a:r>
              <a:rPr lang="en-US" altLang="zh-CN" dirty="0"/>
              <a:t>Shuffle</a:t>
            </a:r>
            <a:endParaRPr lang="zh-CN" altLang="en-US" dirty="0"/>
          </a:p>
        </p:txBody>
      </p:sp>
      <p:sp>
        <p:nvSpPr>
          <p:cNvPr id="3" name="内容占位符 2"/>
          <p:cNvSpPr>
            <a:spLocks noGrp="1"/>
          </p:cNvSpPr>
          <p:nvPr>
            <p:ph idx="1"/>
          </p:nvPr>
        </p:nvSpPr>
        <p:spPr/>
        <p:txBody>
          <a:bodyPr/>
          <a:lstStyle/>
          <a:p>
            <a:r>
              <a:rPr lang="zh-CN" altLang="en-US" dirty="0">
                <a:sym typeface="+mn-ea"/>
              </a:rPr>
              <a:t>分区</a:t>
            </a:r>
            <a:r>
              <a:rPr lang="zh-CN" altLang="en-US" dirty="0" smtClean="0">
                <a:sym typeface="+mn-ea"/>
              </a:rPr>
              <a:t>（</a:t>
            </a:r>
            <a:r>
              <a:rPr lang="en-US" altLang="zh-CN" dirty="0" smtClean="0"/>
              <a:t>Partition</a:t>
            </a:r>
            <a:r>
              <a:rPr lang="zh-CN" altLang="en-US" dirty="0" smtClean="0">
                <a:sym typeface="+mn-ea"/>
              </a:rPr>
              <a:t>）</a:t>
            </a:r>
            <a:endParaRPr lang="en-US" altLang="zh-CN" dirty="0" smtClean="0">
              <a:sym typeface="+mn-ea"/>
            </a:endParaRPr>
          </a:p>
          <a:p>
            <a:pPr lvl="1"/>
            <a:r>
              <a:rPr lang="zh-CN" altLang="en-US" sz="2400" dirty="0" smtClean="0"/>
              <a:t>总的分区数量等于</a:t>
            </a:r>
            <a:r>
              <a:rPr lang="en-US" altLang="zh-CN" sz="2400" dirty="0" smtClean="0"/>
              <a:t>Reduce</a:t>
            </a:r>
            <a:r>
              <a:rPr lang="zh-CN" altLang="en-US" sz="2400" dirty="0" smtClean="0"/>
              <a:t>任务的数量</a:t>
            </a:r>
            <a:endParaRPr lang="en-US" altLang="zh-CN" sz="2400" dirty="0" smtClean="0"/>
          </a:p>
          <a:p>
            <a:pPr lvl="1"/>
            <a:r>
              <a:rPr lang="zh-CN" altLang="en-US" sz="2400" dirty="0" smtClean="0"/>
              <a:t>分区</a:t>
            </a:r>
            <a:r>
              <a:rPr lang="zh-CN" altLang="en-US" sz="2400" dirty="0"/>
              <a:t>规则：取</a:t>
            </a:r>
            <a:r>
              <a:rPr lang="en-US" altLang="zh-CN" sz="2400" dirty="0"/>
              <a:t>&lt;</a:t>
            </a:r>
            <a:r>
              <a:rPr lang="en-US" altLang="zh-CN" sz="2400" dirty="0" err="1"/>
              <a:t>key,value</a:t>
            </a:r>
            <a:r>
              <a:rPr lang="en-US" altLang="zh-CN" sz="2400" dirty="0"/>
              <a:t>&gt;</a:t>
            </a:r>
            <a:r>
              <a:rPr lang="zh-CN" altLang="en-US" sz="2400" dirty="0"/>
              <a:t>中对</a:t>
            </a:r>
            <a:r>
              <a:rPr lang="en-US" altLang="zh-CN" sz="2400" dirty="0"/>
              <a:t>key</a:t>
            </a:r>
            <a:r>
              <a:rPr lang="zh-CN" altLang="en-US" sz="2400" dirty="0"/>
              <a:t>的</a:t>
            </a:r>
            <a:r>
              <a:rPr lang="en-US" altLang="zh-CN" sz="2400" dirty="0" err="1"/>
              <a:t>hashCode</a:t>
            </a:r>
            <a:r>
              <a:rPr lang="zh-CN" altLang="en-US" sz="2400" dirty="0"/>
              <a:t>值，然后对</a:t>
            </a:r>
            <a:r>
              <a:rPr lang="en-US" altLang="zh-CN" sz="2400" dirty="0"/>
              <a:t>Reduce</a:t>
            </a:r>
            <a:r>
              <a:rPr lang="zh-CN" altLang="en-US" sz="2400" dirty="0"/>
              <a:t>任务数量求余数，余数为分区编号，分区编号相一致的</a:t>
            </a:r>
            <a:r>
              <a:rPr lang="en-US" altLang="zh-CN" sz="2400" dirty="0"/>
              <a:t>&lt;</a:t>
            </a:r>
            <a:r>
              <a:rPr lang="en-US" altLang="zh-CN" sz="2400" dirty="0" err="1"/>
              <a:t>key,value</a:t>
            </a:r>
            <a:r>
              <a:rPr lang="en-US" altLang="zh-CN" sz="2400" dirty="0"/>
              <a:t>&gt;</a:t>
            </a:r>
            <a:r>
              <a:rPr lang="zh-CN" altLang="en-US" sz="2400" dirty="0"/>
              <a:t>则属于同一个分区</a:t>
            </a:r>
          </a:p>
          <a:p>
            <a:pPr lvl="1"/>
            <a:r>
              <a:rPr lang="en-US" altLang="zh-CN" sz="2400" dirty="0" err="1"/>
              <a:t>MapReduce</a:t>
            </a:r>
            <a:r>
              <a:rPr lang="zh-CN" altLang="en-US" sz="2400" dirty="0"/>
              <a:t>提供</a:t>
            </a:r>
            <a:r>
              <a:rPr lang="zh-CN" altLang="en-US" sz="2400" dirty="0" smtClean="0"/>
              <a:t>默认分区</a:t>
            </a:r>
            <a:r>
              <a:rPr lang="zh-CN" altLang="en-US" sz="2400" dirty="0"/>
              <a:t>类</a:t>
            </a:r>
            <a:r>
              <a:rPr lang="en-US" altLang="zh-CN" sz="2400" dirty="0"/>
              <a:t>:</a:t>
            </a:r>
            <a:r>
              <a:rPr lang="en-US" altLang="zh-CN" sz="2400" dirty="0" err="1" smtClean="0"/>
              <a:t>HashPartitioner</a:t>
            </a:r>
            <a:endParaRPr lang="en-US" altLang="zh-CN" sz="2400" dirty="0" smtClean="0"/>
          </a:p>
          <a:p>
            <a:pPr lvl="2"/>
            <a:r>
              <a:rPr lang="en-US" altLang="zh-CN" sz="2000" dirty="0" err="1"/>
              <a:t>HashPartitioner</a:t>
            </a:r>
            <a:r>
              <a:rPr lang="zh-CN" altLang="en-US" sz="2000" dirty="0" smtClean="0"/>
              <a:t>类</a:t>
            </a:r>
            <a:endParaRPr lang="zh-CN" altLang="en-US" sz="2000" dirty="0"/>
          </a:p>
          <a:p>
            <a:pPr lvl="3"/>
            <a:r>
              <a:rPr lang="zh-CN" altLang="en-US" dirty="0"/>
              <a:t>前两个参数分别为</a:t>
            </a:r>
            <a:r>
              <a:rPr lang="en-US" altLang="zh-CN" dirty="0"/>
              <a:t>&lt;</a:t>
            </a:r>
            <a:r>
              <a:rPr lang="en-US" altLang="zh-CN" dirty="0" err="1"/>
              <a:t>key,value</a:t>
            </a:r>
            <a:r>
              <a:rPr lang="en-US" altLang="zh-CN" dirty="0"/>
              <a:t>&gt;</a:t>
            </a:r>
            <a:r>
              <a:rPr lang="zh-CN" altLang="en-US" dirty="0"/>
              <a:t>对中</a:t>
            </a:r>
            <a:r>
              <a:rPr lang="en-US" altLang="zh-CN" dirty="0"/>
              <a:t>key</a:t>
            </a:r>
            <a:r>
              <a:rPr lang="zh-CN" altLang="en-US" dirty="0"/>
              <a:t>和</a:t>
            </a:r>
            <a:r>
              <a:rPr lang="en-US" altLang="zh-CN" dirty="0"/>
              <a:t>value</a:t>
            </a:r>
          </a:p>
          <a:p>
            <a:pPr lvl="3"/>
            <a:r>
              <a:rPr lang="zh-CN" altLang="en-US" dirty="0"/>
              <a:t>第</a:t>
            </a:r>
            <a:r>
              <a:rPr lang="en-US" altLang="zh-CN" dirty="0"/>
              <a:t>3</a:t>
            </a:r>
            <a:r>
              <a:rPr lang="zh-CN" altLang="en-US" dirty="0"/>
              <a:t>个参数</a:t>
            </a:r>
            <a:r>
              <a:rPr lang="en-US" altLang="zh-CN" dirty="0" err="1"/>
              <a:t>numReduceTasks:Reduce</a:t>
            </a:r>
            <a:r>
              <a:rPr lang="zh-CN" altLang="en-US" dirty="0"/>
              <a:t>任务的数量</a:t>
            </a:r>
          </a:p>
          <a:p>
            <a:pPr lvl="1"/>
            <a:endParaRPr lang="en-US" altLang="zh-CN" dirty="0"/>
          </a:p>
          <a:p>
            <a:pPr lvl="1"/>
            <a:endParaRPr lang="zh-CN" altLang="en-US" dirty="0"/>
          </a:p>
        </p:txBody>
      </p:sp>
      <p:pic>
        <p:nvPicPr>
          <p:cNvPr id="4" name="图片 3" descr="微信图片_20200314134322"/>
          <p:cNvPicPr>
            <a:picLocks noChangeAspect="1"/>
          </p:cNvPicPr>
          <p:nvPr/>
        </p:nvPicPr>
        <p:blipFill>
          <a:blip r:embed="rId2"/>
          <a:stretch>
            <a:fillRect/>
          </a:stretch>
        </p:blipFill>
        <p:spPr>
          <a:xfrm>
            <a:off x="1475656" y="5013176"/>
            <a:ext cx="6336659" cy="1457325"/>
          </a:xfrm>
          <a:prstGeom prst="rect">
            <a:avLst/>
          </a:prstGeom>
        </p:spPr>
      </p:pic>
    </p:spTree>
    <p:extLst>
      <p:ext uri="{BB962C8B-B14F-4D97-AF65-F5344CB8AC3E}">
        <p14:creationId xmlns:p14="http://schemas.microsoft.com/office/powerpoint/2010/main" val="116479595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Map</a:t>
            </a:r>
            <a:r>
              <a:rPr lang="zh-CN" altLang="en-US" dirty="0"/>
              <a:t>端的</a:t>
            </a:r>
            <a:r>
              <a:rPr lang="en-US" altLang="zh-CN" dirty="0"/>
              <a:t>Shuffle</a:t>
            </a:r>
            <a:endParaRPr lang="zh-CN" altLang="en-US" dirty="0"/>
          </a:p>
        </p:txBody>
      </p:sp>
      <p:sp>
        <p:nvSpPr>
          <p:cNvPr id="3" name="内容占位符 2"/>
          <p:cNvSpPr>
            <a:spLocks noGrp="1"/>
          </p:cNvSpPr>
          <p:nvPr>
            <p:ph idx="1"/>
          </p:nvPr>
        </p:nvSpPr>
        <p:spPr/>
        <p:txBody>
          <a:bodyPr/>
          <a:lstStyle/>
          <a:p>
            <a:r>
              <a:rPr lang="zh-CN" altLang="en-US" sz="3200" dirty="0" smtClean="0">
                <a:sym typeface="+mn-ea"/>
              </a:rPr>
              <a:t>排序</a:t>
            </a:r>
            <a:endParaRPr lang="en-US" altLang="zh-CN" sz="3200" dirty="0" smtClean="0">
              <a:sym typeface="+mn-ea"/>
            </a:endParaRPr>
          </a:p>
          <a:p>
            <a:pPr lvl="1"/>
            <a:r>
              <a:rPr lang="zh-CN" altLang="en-US" sz="2800" dirty="0" smtClean="0"/>
              <a:t>对于每个分区内的键值对，根据</a:t>
            </a:r>
            <a:r>
              <a:rPr lang="en-US" altLang="zh-CN" sz="2800" dirty="0" smtClean="0"/>
              <a:t>key</a:t>
            </a:r>
            <a:r>
              <a:rPr lang="zh-CN" altLang="en-US" sz="2800" dirty="0" smtClean="0"/>
              <a:t>对他们进行内存排序</a:t>
            </a:r>
            <a:endParaRPr lang="en-US" altLang="zh-CN" sz="2800" dirty="0" smtClean="0"/>
          </a:p>
          <a:p>
            <a:pPr lvl="1"/>
            <a:r>
              <a:rPr lang="zh-CN" altLang="en-US" sz="2800" dirty="0" smtClean="0"/>
              <a:t>排序</a:t>
            </a:r>
            <a:r>
              <a:rPr lang="zh-CN" altLang="en-US" sz="2800" dirty="0"/>
              <a:t>是默认的</a:t>
            </a:r>
            <a:r>
              <a:rPr lang="zh-CN" altLang="en-US" sz="2800" dirty="0" smtClean="0"/>
              <a:t>操作，默认是升序排列</a:t>
            </a:r>
            <a:endParaRPr lang="en-US" altLang="zh-CN" sz="2800" dirty="0"/>
          </a:p>
          <a:p>
            <a:pPr lvl="1"/>
            <a:endParaRPr lang="en-US" altLang="zh-CN" sz="2800" dirty="0" smtClean="0">
              <a:sym typeface="+mn-ea"/>
            </a:endParaRPr>
          </a:p>
          <a:p>
            <a:pPr lvl="1"/>
            <a:endParaRPr lang="en-US" altLang="zh-CN" dirty="0"/>
          </a:p>
          <a:p>
            <a:pPr lvl="1"/>
            <a:endParaRPr lang="zh-CN" altLang="en-US" dirty="0"/>
          </a:p>
        </p:txBody>
      </p:sp>
    </p:spTree>
    <p:extLst>
      <p:ext uri="{BB962C8B-B14F-4D97-AF65-F5344CB8AC3E}">
        <p14:creationId xmlns:p14="http://schemas.microsoft.com/office/powerpoint/2010/main" val="275170990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Map</a:t>
            </a:r>
            <a:r>
              <a:rPr lang="zh-CN" altLang="en-US" dirty="0"/>
              <a:t>端的</a:t>
            </a:r>
            <a:r>
              <a:rPr lang="en-US" altLang="zh-CN" dirty="0"/>
              <a:t>Shuffle</a:t>
            </a:r>
            <a:endParaRPr lang="zh-CN" altLang="en-US" dirty="0"/>
          </a:p>
        </p:txBody>
      </p:sp>
      <p:sp>
        <p:nvSpPr>
          <p:cNvPr id="3" name="内容占位符 2"/>
          <p:cNvSpPr>
            <a:spLocks noGrp="1"/>
          </p:cNvSpPr>
          <p:nvPr>
            <p:ph idx="1"/>
          </p:nvPr>
        </p:nvSpPr>
        <p:spPr/>
        <p:txBody>
          <a:bodyPr/>
          <a:lstStyle/>
          <a:p>
            <a:r>
              <a:rPr lang="zh-CN" altLang="en-US" sz="3200" dirty="0" smtClean="0">
                <a:sym typeface="+mn-ea"/>
              </a:rPr>
              <a:t>合并（</a:t>
            </a:r>
            <a:r>
              <a:rPr lang="en-US" altLang="zh-CN" sz="3200" dirty="0" smtClean="0">
                <a:sym typeface="+mn-ea"/>
              </a:rPr>
              <a:t>Combine</a:t>
            </a:r>
            <a:r>
              <a:rPr lang="zh-CN" altLang="en-US" sz="3200" dirty="0" smtClean="0">
                <a:sym typeface="+mn-ea"/>
              </a:rPr>
              <a:t>）</a:t>
            </a:r>
            <a:endParaRPr lang="en-US" altLang="zh-CN" sz="3200" dirty="0" smtClean="0">
              <a:sym typeface="+mn-ea"/>
            </a:endParaRPr>
          </a:p>
          <a:p>
            <a:pPr lvl="1"/>
            <a:r>
              <a:rPr lang="zh-CN" altLang="en-US" dirty="0"/>
              <a:t>合并是一个可选操作</a:t>
            </a:r>
            <a:endParaRPr lang="en-US" altLang="zh-CN" dirty="0"/>
          </a:p>
          <a:p>
            <a:pPr lvl="2"/>
            <a:r>
              <a:rPr lang="zh-CN" altLang="en-US" dirty="0"/>
              <a:t>如果用户定义了</a:t>
            </a:r>
            <a:r>
              <a:rPr lang="en-US" altLang="zh-CN" dirty="0"/>
              <a:t>Combiner</a:t>
            </a:r>
            <a:r>
              <a:rPr lang="zh-CN" altLang="en-US" dirty="0"/>
              <a:t>函数，排序之后会执行合并操作</a:t>
            </a:r>
            <a:endParaRPr lang="en-US" altLang="zh-CN" dirty="0"/>
          </a:p>
          <a:p>
            <a:pPr lvl="1"/>
            <a:r>
              <a:rPr lang="zh-CN" altLang="en-US" dirty="0" smtClean="0"/>
              <a:t>合并是指将那些相同</a:t>
            </a:r>
            <a:r>
              <a:rPr lang="en-US" altLang="zh-CN" dirty="0" smtClean="0"/>
              <a:t>key</a:t>
            </a:r>
            <a:r>
              <a:rPr lang="zh-CN" altLang="en-US" dirty="0" smtClean="0"/>
              <a:t>的</a:t>
            </a:r>
            <a:r>
              <a:rPr lang="en-US" altLang="zh-CN" dirty="0" smtClean="0"/>
              <a:t>&lt;</a:t>
            </a:r>
            <a:r>
              <a:rPr lang="en-US" altLang="zh-CN" dirty="0" err="1" smtClean="0"/>
              <a:t>key,value</a:t>
            </a:r>
            <a:r>
              <a:rPr lang="en-US" altLang="zh-CN" dirty="0" smtClean="0"/>
              <a:t>&gt;</a:t>
            </a:r>
            <a:r>
              <a:rPr lang="zh-CN" altLang="en-US" dirty="0" smtClean="0"/>
              <a:t>的</a:t>
            </a:r>
            <a:r>
              <a:rPr lang="en-US" altLang="zh-CN" dirty="0" smtClean="0"/>
              <a:t>value</a:t>
            </a:r>
            <a:r>
              <a:rPr lang="zh-CN" altLang="en-US" dirty="0" smtClean="0"/>
              <a:t>累加起来，从而减少需要溢写到磁盘的数据量</a:t>
            </a:r>
            <a:endParaRPr lang="en-US" altLang="zh-CN" dirty="0" smtClean="0"/>
          </a:p>
          <a:p>
            <a:pPr lvl="2"/>
            <a:r>
              <a:rPr lang="zh-CN" altLang="en-US" dirty="0" smtClean="0"/>
              <a:t>如</a:t>
            </a:r>
            <a:r>
              <a:rPr lang="en-US" altLang="zh-CN" dirty="0" smtClean="0"/>
              <a:t>&lt;a,1&gt;,&lt;a,1&gt;</a:t>
            </a:r>
            <a:r>
              <a:rPr lang="zh-CN" altLang="en-US" dirty="0" smtClean="0"/>
              <a:t>合并为变成</a:t>
            </a:r>
            <a:r>
              <a:rPr lang="en-US" altLang="zh-CN" dirty="0" smtClean="0"/>
              <a:t>&lt;a,2&gt;</a:t>
            </a:r>
          </a:p>
          <a:p>
            <a:pPr lvl="1"/>
            <a:r>
              <a:rPr lang="zh-CN" altLang="en-US" dirty="0">
                <a:sym typeface="+mn-ea"/>
              </a:rPr>
              <a:t>并不是所有</a:t>
            </a:r>
            <a:r>
              <a:rPr lang="zh-CN" altLang="en-US" dirty="0" smtClean="0">
                <a:sym typeface="+mn-ea"/>
              </a:rPr>
              <a:t>场景都</a:t>
            </a:r>
            <a:r>
              <a:rPr lang="zh-CN" altLang="en-US" dirty="0">
                <a:sym typeface="+mn-ea"/>
              </a:rPr>
              <a:t>可以使用</a:t>
            </a:r>
            <a:r>
              <a:rPr lang="en-US" altLang="zh-CN" dirty="0" smtClean="0">
                <a:sym typeface="+mn-ea"/>
              </a:rPr>
              <a:t>Combiner</a:t>
            </a:r>
          </a:p>
          <a:p>
            <a:pPr lvl="2"/>
            <a:r>
              <a:rPr lang="zh-CN" altLang="en-US" dirty="0" smtClean="0">
                <a:sym typeface="+mn-ea"/>
              </a:rPr>
              <a:t>不能改变</a:t>
            </a:r>
            <a:r>
              <a:rPr lang="en-US" altLang="zh-CN" dirty="0" smtClean="0">
                <a:sym typeface="+mn-ea"/>
              </a:rPr>
              <a:t>Reduce</a:t>
            </a:r>
            <a:r>
              <a:rPr lang="zh-CN" altLang="en-US" dirty="0" smtClean="0">
                <a:sym typeface="+mn-ea"/>
              </a:rPr>
              <a:t>的最终计算结果</a:t>
            </a:r>
            <a:endParaRPr lang="en-US" altLang="zh-CN" dirty="0" smtClean="0">
              <a:sym typeface="+mn-ea"/>
            </a:endParaRPr>
          </a:p>
          <a:p>
            <a:pPr lvl="2"/>
            <a:r>
              <a:rPr lang="zh-CN" altLang="en-US" dirty="0" smtClean="0">
                <a:sym typeface="+mn-ea"/>
              </a:rPr>
              <a:t>一般适合求和、最大值等场景</a:t>
            </a:r>
            <a:endParaRPr lang="en-US" altLang="zh-CN" dirty="0">
              <a:sym typeface="+mn-ea"/>
            </a:endParaRPr>
          </a:p>
          <a:p>
            <a:pPr lvl="1"/>
            <a:endParaRPr lang="en-US" altLang="zh-CN" dirty="0"/>
          </a:p>
          <a:p>
            <a:pPr lvl="1"/>
            <a:endParaRPr lang="zh-CN" altLang="en-US" dirty="0"/>
          </a:p>
        </p:txBody>
      </p:sp>
    </p:spTree>
    <p:extLst>
      <p:ext uri="{BB962C8B-B14F-4D97-AF65-F5344CB8AC3E}">
        <p14:creationId xmlns:p14="http://schemas.microsoft.com/office/powerpoint/2010/main" val="187602130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Map</a:t>
            </a:r>
            <a:r>
              <a:rPr lang="zh-CN" altLang="en-US" dirty="0"/>
              <a:t>端的</a:t>
            </a:r>
            <a:r>
              <a:rPr lang="en-US" altLang="zh-CN" dirty="0"/>
              <a:t>Shuffle</a:t>
            </a:r>
            <a:endParaRPr lang="zh-CN" altLang="en-US" dirty="0"/>
          </a:p>
        </p:txBody>
      </p:sp>
      <p:sp>
        <p:nvSpPr>
          <p:cNvPr id="3" name="内容占位符 2"/>
          <p:cNvSpPr>
            <a:spLocks noGrp="1"/>
          </p:cNvSpPr>
          <p:nvPr>
            <p:ph idx="1"/>
          </p:nvPr>
        </p:nvSpPr>
        <p:spPr/>
        <p:txBody>
          <a:bodyPr/>
          <a:lstStyle/>
          <a:p>
            <a:r>
              <a:rPr lang="zh-CN" altLang="en-US" dirty="0"/>
              <a:t>文件</a:t>
            </a:r>
            <a:r>
              <a:rPr lang="zh-CN" altLang="en-US" dirty="0" smtClean="0"/>
              <a:t>归并（</a:t>
            </a:r>
            <a:r>
              <a:rPr lang="en-US" altLang="zh-CN" dirty="0" smtClean="0"/>
              <a:t>Merge</a:t>
            </a:r>
            <a:r>
              <a:rPr lang="zh-CN" altLang="en-US" dirty="0" smtClean="0"/>
              <a:t>）</a:t>
            </a:r>
            <a:endParaRPr lang="en-US" altLang="zh-CN" dirty="0" smtClean="0"/>
          </a:p>
          <a:p>
            <a:pPr lvl="1"/>
            <a:r>
              <a:rPr lang="zh-CN" altLang="en-US" dirty="0"/>
              <a:t>同一</a:t>
            </a:r>
            <a:r>
              <a:rPr lang="en-US" altLang="zh-CN" dirty="0"/>
              <a:t>Map</a:t>
            </a:r>
            <a:r>
              <a:rPr lang="zh-CN" altLang="en-US" dirty="0"/>
              <a:t>任务通常会</a:t>
            </a:r>
            <a:r>
              <a:rPr lang="zh-CN" altLang="en-US" dirty="0" smtClean="0"/>
              <a:t>产生多个磁盘文件</a:t>
            </a:r>
            <a:r>
              <a:rPr lang="zh-CN" altLang="en-US" dirty="0"/>
              <a:t>；当</a:t>
            </a:r>
            <a:r>
              <a:rPr lang="zh-CN" altLang="en-US" dirty="0" smtClean="0"/>
              <a:t>磁盘文件数量达到</a:t>
            </a:r>
            <a:r>
              <a:rPr lang="zh-CN" altLang="en-US" dirty="0"/>
              <a:t>一定</a:t>
            </a:r>
            <a:r>
              <a:rPr lang="zh-CN" altLang="en-US" dirty="0" smtClean="0"/>
              <a:t>阈值（默认是</a:t>
            </a:r>
            <a:r>
              <a:rPr lang="en-US" altLang="zh-CN" dirty="0" smtClean="0"/>
              <a:t>3</a:t>
            </a:r>
            <a:r>
              <a:rPr lang="zh-CN" altLang="en-US" dirty="0" smtClean="0"/>
              <a:t>），</a:t>
            </a:r>
            <a:r>
              <a:rPr lang="en-US" altLang="zh-CN" dirty="0"/>
              <a:t>Map</a:t>
            </a:r>
            <a:r>
              <a:rPr lang="zh-CN" altLang="en-US" dirty="0"/>
              <a:t>任务会将这些文件归并形成一个</a:t>
            </a:r>
            <a:r>
              <a:rPr lang="zh-CN" altLang="en-US" dirty="0" smtClean="0"/>
              <a:t>文件</a:t>
            </a:r>
            <a:endParaRPr lang="en-US" altLang="zh-CN" dirty="0" smtClean="0"/>
          </a:p>
          <a:p>
            <a:pPr lvl="1"/>
            <a:r>
              <a:rPr lang="zh-CN" altLang="en-US" dirty="0" smtClean="0"/>
              <a:t>归并是指将相同</a:t>
            </a:r>
            <a:r>
              <a:rPr lang="en-US" altLang="zh-CN" dirty="0" smtClean="0"/>
              <a:t>key</a:t>
            </a:r>
            <a:r>
              <a:rPr lang="zh-CN" altLang="en-US" dirty="0" smtClean="0"/>
              <a:t>的键值对合并成一个新的键值对</a:t>
            </a:r>
            <a:endParaRPr lang="en-US" altLang="zh-CN" dirty="0" smtClean="0"/>
          </a:p>
          <a:p>
            <a:pPr lvl="2"/>
            <a:r>
              <a:rPr lang="zh-CN" altLang="en-US" dirty="0" smtClean="0"/>
              <a:t>若干</a:t>
            </a:r>
            <a:r>
              <a:rPr lang="en-US" altLang="zh-CN" dirty="0" smtClean="0"/>
              <a:t>key</a:t>
            </a:r>
            <a:r>
              <a:rPr lang="zh-CN" altLang="en-US" dirty="0" smtClean="0"/>
              <a:t>相同的键值对</a:t>
            </a:r>
            <a:r>
              <a:rPr lang="en-US" altLang="zh-CN" dirty="0" smtClean="0"/>
              <a:t>&lt;k,v1&gt;,</a:t>
            </a:r>
            <a:r>
              <a:rPr lang="en-US" altLang="zh-CN" dirty="0"/>
              <a:t> &lt;</a:t>
            </a:r>
            <a:r>
              <a:rPr lang="en-US" altLang="zh-CN" dirty="0" smtClean="0"/>
              <a:t>k,v2&gt;,…, </a:t>
            </a:r>
            <a:r>
              <a:rPr lang="en-US" altLang="zh-CN" dirty="0"/>
              <a:t>&lt;</a:t>
            </a:r>
            <a:r>
              <a:rPr lang="en-US" altLang="zh-CN" dirty="0" err="1" smtClean="0"/>
              <a:t>k,vn</a:t>
            </a:r>
            <a:r>
              <a:rPr lang="en-US" altLang="zh-CN" dirty="0" smtClean="0"/>
              <a:t>&gt;</a:t>
            </a:r>
            <a:r>
              <a:rPr lang="zh-CN" altLang="en-US" dirty="0" smtClean="0"/>
              <a:t>归并为</a:t>
            </a:r>
            <a:r>
              <a:rPr lang="zh-CN" altLang="en-US" dirty="0"/>
              <a:t>若干</a:t>
            </a:r>
            <a:r>
              <a:rPr lang="en-US" altLang="zh-CN" dirty="0"/>
              <a:t>key</a:t>
            </a:r>
            <a:r>
              <a:rPr lang="zh-CN" altLang="en-US" dirty="0"/>
              <a:t>相同的键值对</a:t>
            </a:r>
            <a:r>
              <a:rPr lang="en-US" altLang="zh-CN" dirty="0"/>
              <a:t>&lt;</a:t>
            </a:r>
            <a:r>
              <a:rPr lang="en-US" altLang="zh-CN" dirty="0" smtClean="0"/>
              <a:t>k,&lt;v1, v2,…, </a:t>
            </a:r>
            <a:r>
              <a:rPr lang="en-US" altLang="zh-CN" dirty="0" err="1" smtClean="0"/>
              <a:t>vn</a:t>
            </a:r>
            <a:r>
              <a:rPr lang="en-US" altLang="zh-CN" dirty="0"/>
              <a:t>&gt;</a:t>
            </a:r>
            <a:endParaRPr lang="zh-CN" altLang="en-US" dirty="0"/>
          </a:p>
          <a:p>
            <a:pPr lvl="1"/>
            <a:r>
              <a:rPr lang="en-US" altLang="zh-CN" dirty="0"/>
              <a:t>Map</a:t>
            </a:r>
            <a:r>
              <a:rPr lang="zh-CN" altLang="en-US" dirty="0"/>
              <a:t>任务的最终输出一个大文件存储在节点的本地磁盘</a:t>
            </a:r>
            <a:r>
              <a:rPr lang="zh-CN" altLang="en-US" dirty="0" smtClean="0"/>
              <a:t>中</a:t>
            </a:r>
            <a:endParaRPr lang="en-US" altLang="zh-CN" dirty="0" smtClean="0"/>
          </a:p>
          <a:p>
            <a:pPr lvl="2"/>
            <a:r>
              <a:rPr lang="zh-CN" altLang="en-US" dirty="0" smtClean="0"/>
              <a:t>大文件的数据是分区的</a:t>
            </a:r>
            <a:endParaRPr lang="zh-CN" altLang="en-US" dirty="0"/>
          </a:p>
          <a:p>
            <a:pPr lvl="1"/>
            <a:endParaRPr lang="en-US" altLang="zh-CN" dirty="0" smtClean="0"/>
          </a:p>
          <a:p>
            <a:pPr lvl="1"/>
            <a:endParaRPr lang="zh-CN" altLang="en-US" dirty="0"/>
          </a:p>
          <a:p>
            <a:endParaRPr lang="zh-CN" altLang="en-US" dirty="0"/>
          </a:p>
        </p:txBody>
      </p:sp>
    </p:spTree>
    <p:extLst>
      <p:ext uri="{BB962C8B-B14F-4D97-AF65-F5344CB8AC3E}">
        <p14:creationId xmlns:p14="http://schemas.microsoft.com/office/powerpoint/2010/main" val="401910531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Reduce</a:t>
            </a:r>
            <a:r>
              <a:rPr lang="zh-CN" altLang="en-US" dirty="0" smtClean="0"/>
              <a:t>端的</a:t>
            </a:r>
            <a:r>
              <a:rPr lang="en-US" altLang="zh-CN" dirty="0" smtClean="0"/>
              <a:t>Shuffle</a:t>
            </a:r>
            <a:endParaRPr lang="zh-CN" altLang="en-US" dirty="0"/>
          </a:p>
        </p:txBody>
      </p:sp>
      <p:sp>
        <p:nvSpPr>
          <p:cNvPr id="3" name="内容占位符 2"/>
          <p:cNvSpPr>
            <a:spLocks noGrp="1"/>
          </p:cNvSpPr>
          <p:nvPr>
            <p:ph idx="1"/>
          </p:nvPr>
        </p:nvSpPr>
        <p:spPr/>
        <p:txBody>
          <a:bodyPr/>
          <a:lstStyle/>
          <a:p>
            <a:r>
              <a:rPr lang="en-US" altLang="zh-CN" dirty="0"/>
              <a:t>Reduce</a:t>
            </a:r>
            <a:r>
              <a:rPr lang="zh-CN" altLang="en-US" dirty="0" smtClean="0"/>
              <a:t>端的</a:t>
            </a:r>
            <a:r>
              <a:rPr lang="en-US" altLang="zh-CN" dirty="0" smtClean="0"/>
              <a:t>Shuffle</a:t>
            </a:r>
            <a:r>
              <a:rPr lang="zh-CN" altLang="en-US" dirty="0" smtClean="0"/>
              <a:t>包含</a:t>
            </a:r>
            <a:r>
              <a:rPr lang="en-US" altLang="zh-CN" dirty="0" smtClean="0"/>
              <a:t>2</a:t>
            </a:r>
            <a:r>
              <a:rPr lang="zh-CN" altLang="en-US" dirty="0" smtClean="0"/>
              <a:t>个步骤</a:t>
            </a:r>
            <a:endParaRPr lang="en-US" altLang="zh-CN" dirty="0" smtClean="0"/>
          </a:p>
          <a:p>
            <a:pPr lvl="1"/>
            <a:r>
              <a:rPr lang="en-US" altLang="zh-CN" dirty="0" smtClean="0"/>
              <a:t>“</a:t>
            </a:r>
            <a:r>
              <a:rPr lang="zh-CN" altLang="en-US" dirty="0" smtClean="0"/>
              <a:t>领取</a:t>
            </a:r>
            <a:r>
              <a:rPr lang="en-US" altLang="zh-CN" dirty="0" smtClean="0"/>
              <a:t>”</a:t>
            </a:r>
            <a:r>
              <a:rPr lang="zh-CN" altLang="en-US" dirty="0" smtClean="0"/>
              <a:t>数据</a:t>
            </a:r>
            <a:endParaRPr lang="en-US" altLang="zh-CN" dirty="0" smtClean="0"/>
          </a:p>
          <a:p>
            <a:pPr lvl="1"/>
            <a:r>
              <a:rPr lang="zh-CN" altLang="en-US" dirty="0" smtClean="0"/>
              <a:t>归并数据</a:t>
            </a:r>
            <a:endParaRPr lang="zh-CN" altLang="en-US"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6900" y="2996952"/>
            <a:ext cx="5760000" cy="2538176"/>
          </a:xfrm>
          <a:prstGeom prst="rect">
            <a:avLst/>
          </a:prstGeom>
        </p:spPr>
      </p:pic>
    </p:spTree>
    <p:extLst>
      <p:ext uri="{BB962C8B-B14F-4D97-AF65-F5344CB8AC3E}">
        <p14:creationId xmlns:p14="http://schemas.microsoft.com/office/powerpoint/2010/main" val="309513736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Reduce</a:t>
            </a:r>
            <a:r>
              <a:rPr lang="zh-CN" altLang="en-US" dirty="0"/>
              <a:t>端的</a:t>
            </a:r>
            <a:r>
              <a:rPr lang="en-US" altLang="zh-CN" dirty="0"/>
              <a:t>Shuffle</a:t>
            </a:r>
            <a:endParaRPr lang="zh-CN" altLang="en-US" dirty="0"/>
          </a:p>
        </p:txBody>
      </p:sp>
      <p:sp>
        <p:nvSpPr>
          <p:cNvPr id="3" name="内容占位符 2"/>
          <p:cNvSpPr>
            <a:spLocks noGrp="1"/>
          </p:cNvSpPr>
          <p:nvPr>
            <p:ph idx="1"/>
          </p:nvPr>
        </p:nvSpPr>
        <p:spPr/>
        <p:txBody>
          <a:bodyPr/>
          <a:lstStyle/>
          <a:p>
            <a:r>
              <a:rPr lang="en-US" altLang="zh-CN" dirty="0" smtClean="0"/>
              <a:t>“</a:t>
            </a:r>
            <a:r>
              <a:rPr lang="zh-CN" altLang="en-US" dirty="0" smtClean="0"/>
              <a:t>领取</a:t>
            </a:r>
            <a:r>
              <a:rPr lang="en-US" altLang="zh-CN" dirty="0" smtClean="0"/>
              <a:t>”</a:t>
            </a:r>
            <a:r>
              <a:rPr lang="zh-CN" altLang="en-US" dirty="0"/>
              <a:t>数据</a:t>
            </a:r>
            <a:endParaRPr lang="en-US" altLang="zh-CN" dirty="0" smtClean="0"/>
          </a:p>
          <a:p>
            <a:pPr lvl="1"/>
            <a:r>
              <a:rPr lang="en-US" altLang="zh-CN" dirty="0" smtClean="0"/>
              <a:t>Map</a:t>
            </a:r>
            <a:r>
              <a:rPr lang="zh-CN" altLang="en-US" dirty="0" smtClean="0"/>
              <a:t>任务完成</a:t>
            </a:r>
            <a:r>
              <a:rPr lang="zh-CN" altLang="en-US" dirty="0"/>
              <a:t>后会通知</a:t>
            </a:r>
            <a:r>
              <a:rPr lang="en-US" altLang="zh-CN" dirty="0" err="1"/>
              <a:t>ApplicationMaster</a:t>
            </a:r>
            <a:r>
              <a:rPr lang="zh-CN" altLang="en-US" dirty="0"/>
              <a:t>，</a:t>
            </a:r>
            <a:r>
              <a:rPr lang="zh-CN" altLang="en-US" dirty="0" smtClean="0"/>
              <a:t>然后</a:t>
            </a:r>
            <a:r>
              <a:rPr lang="en-US" altLang="zh-CN" dirty="0" err="1" smtClean="0"/>
              <a:t>ApplicationMaster</a:t>
            </a:r>
            <a:r>
              <a:rPr lang="zh-CN" altLang="en-US" dirty="0" smtClean="0"/>
              <a:t>通知相关的</a:t>
            </a:r>
            <a:r>
              <a:rPr lang="en-US" altLang="zh-CN" dirty="0" smtClean="0"/>
              <a:t>Reduce</a:t>
            </a:r>
            <a:r>
              <a:rPr lang="zh-CN" altLang="en-US" dirty="0" smtClean="0"/>
              <a:t>任务进行</a:t>
            </a:r>
            <a:r>
              <a:rPr lang="zh-CN" altLang="en-US" dirty="0"/>
              <a:t>数据的拉</a:t>
            </a:r>
            <a:r>
              <a:rPr lang="zh-CN" altLang="en-US" dirty="0" smtClean="0"/>
              <a:t>取</a:t>
            </a:r>
            <a:endParaRPr lang="en-US" altLang="zh-CN" dirty="0" smtClean="0"/>
          </a:p>
          <a:p>
            <a:pPr lvl="1"/>
            <a:r>
              <a:rPr lang="en-US" altLang="zh-CN" dirty="0" smtClean="0"/>
              <a:t>Reduce</a:t>
            </a:r>
            <a:r>
              <a:rPr lang="zh-CN" altLang="en-US" dirty="0" smtClean="0"/>
              <a:t>任务收到通知后，会到该</a:t>
            </a:r>
            <a:r>
              <a:rPr lang="en-US" altLang="zh-CN" dirty="0" smtClean="0"/>
              <a:t>Map</a:t>
            </a:r>
            <a:r>
              <a:rPr lang="zh-CN" altLang="en-US" dirty="0" smtClean="0"/>
              <a:t>任务所在节点把属于自己分区的数据领取到本地</a:t>
            </a:r>
            <a:endParaRPr lang="en-US" altLang="zh-CN" dirty="0"/>
          </a:p>
        </p:txBody>
      </p:sp>
    </p:spTree>
    <p:extLst>
      <p:ext uri="{BB962C8B-B14F-4D97-AF65-F5344CB8AC3E}">
        <p14:creationId xmlns:p14="http://schemas.microsoft.com/office/powerpoint/2010/main" val="333907943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Reduce</a:t>
            </a:r>
            <a:r>
              <a:rPr lang="zh-CN" altLang="en-US" dirty="0"/>
              <a:t>端的</a:t>
            </a:r>
            <a:r>
              <a:rPr lang="en-US" altLang="zh-CN" dirty="0"/>
              <a:t>Shuffle</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归并数据</a:t>
            </a:r>
          </a:p>
          <a:p>
            <a:pPr lvl="1"/>
            <a:r>
              <a:rPr lang="en-US" altLang="zh-CN" dirty="0" smtClean="0"/>
              <a:t>Reduce</a:t>
            </a:r>
            <a:r>
              <a:rPr lang="zh-CN" altLang="en-US" dirty="0" smtClean="0"/>
              <a:t>任务领取的数据</a:t>
            </a:r>
            <a:r>
              <a:rPr lang="zh-CN" altLang="en-US" dirty="0"/>
              <a:t>先放入缓存</a:t>
            </a:r>
            <a:r>
              <a:rPr lang="zh-CN" altLang="en-US" dirty="0" smtClean="0"/>
              <a:t>，并对来自</a:t>
            </a:r>
            <a:r>
              <a:rPr lang="zh-CN" altLang="en-US" dirty="0"/>
              <a:t>不同</a:t>
            </a:r>
            <a:r>
              <a:rPr lang="en-US" altLang="zh-CN" dirty="0" smtClean="0"/>
              <a:t>Map</a:t>
            </a:r>
            <a:r>
              <a:rPr lang="zh-CN" altLang="en-US" dirty="0" smtClean="0"/>
              <a:t>任务的数据先归并、再合并（如果用户定义了</a:t>
            </a:r>
            <a:r>
              <a:rPr lang="en-US" altLang="zh-CN" dirty="0" smtClean="0"/>
              <a:t>Combiner</a:t>
            </a:r>
            <a:r>
              <a:rPr lang="zh-CN" altLang="en-US" dirty="0" smtClean="0"/>
              <a:t>），然后</a:t>
            </a:r>
            <a:r>
              <a:rPr lang="zh-CN" altLang="en-US" dirty="0"/>
              <a:t>溢</a:t>
            </a:r>
            <a:r>
              <a:rPr lang="zh-CN" altLang="en-US" dirty="0" smtClean="0"/>
              <a:t>写到磁盘，在磁盘生成一个溢写文件</a:t>
            </a:r>
            <a:endParaRPr lang="zh-CN" altLang="en-US" dirty="0"/>
          </a:p>
          <a:p>
            <a:pPr lvl="1"/>
            <a:r>
              <a:rPr lang="zh-CN" altLang="en-US" dirty="0" smtClean="0"/>
              <a:t>如果存在多个溢</a:t>
            </a:r>
            <a:r>
              <a:rPr lang="zh-CN" altLang="en-US" dirty="0"/>
              <a:t>写</a:t>
            </a:r>
            <a:r>
              <a:rPr lang="zh-CN" altLang="en-US" dirty="0" smtClean="0"/>
              <a:t>文件，还需要归并成若干个</a:t>
            </a:r>
            <a:r>
              <a:rPr lang="zh-CN" altLang="en-US" dirty="0"/>
              <a:t>大文件，文件中的键值对是排序</a:t>
            </a:r>
            <a:r>
              <a:rPr lang="zh-CN" altLang="en-US" dirty="0" smtClean="0"/>
              <a:t>的</a:t>
            </a:r>
            <a:endParaRPr lang="zh-CN" altLang="en-US" dirty="0"/>
          </a:p>
          <a:p>
            <a:pPr lvl="1"/>
            <a:r>
              <a:rPr lang="zh-CN" altLang="en-US" dirty="0"/>
              <a:t>当数据很少时，不需要溢写到磁盘</a:t>
            </a:r>
            <a:r>
              <a:rPr lang="zh-CN" altLang="en-US" dirty="0" smtClean="0"/>
              <a:t>，可以直接</a:t>
            </a:r>
            <a:r>
              <a:rPr lang="zh-CN" altLang="en-US" dirty="0"/>
              <a:t>在缓存中归并，然后输出给</a:t>
            </a:r>
            <a:r>
              <a:rPr lang="en-US" altLang="zh-CN" dirty="0" smtClean="0"/>
              <a:t>Reduce</a:t>
            </a:r>
            <a:r>
              <a:rPr lang="zh-CN" altLang="en-US" dirty="0" smtClean="0"/>
              <a:t>任务</a:t>
            </a:r>
            <a:endParaRPr lang="en-US" altLang="zh-CN" dirty="0" smtClean="0"/>
          </a:p>
          <a:p>
            <a:pPr lvl="1"/>
            <a:r>
              <a:rPr lang="zh-CN" altLang="en-US" dirty="0" smtClean="0"/>
              <a:t>由于</a:t>
            </a:r>
            <a:r>
              <a:rPr lang="en-US" altLang="zh-CN" dirty="0" smtClean="0"/>
              <a:t>Shuffle</a:t>
            </a:r>
            <a:r>
              <a:rPr lang="zh-CN" altLang="en-US" dirty="0" smtClean="0"/>
              <a:t>阶段</a:t>
            </a:r>
            <a:r>
              <a:rPr lang="en-US" altLang="zh-CN" dirty="0" smtClean="0"/>
              <a:t>Reduce</a:t>
            </a:r>
            <a:r>
              <a:rPr lang="zh-CN" altLang="en-US" dirty="0" smtClean="0"/>
              <a:t>任务还没有真正开始运行，可以把内存大部分空间分配为</a:t>
            </a:r>
            <a:r>
              <a:rPr lang="en-US" altLang="zh-CN" dirty="0" smtClean="0"/>
              <a:t>Shuffle</a:t>
            </a:r>
            <a:r>
              <a:rPr lang="zh-CN" altLang="en-US" dirty="0" smtClean="0"/>
              <a:t>过程作为缓存</a:t>
            </a:r>
            <a:endParaRPr lang="en-US" altLang="zh-CN" dirty="0"/>
          </a:p>
        </p:txBody>
      </p:sp>
    </p:spTree>
    <p:extLst>
      <p:ext uri="{BB962C8B-B14F-4D97-AF65-F5344CB8AC3E}">
        <p14:creationId xmlns:p14="http://schemas.microsoft.com/office/powerpoint/2010/main" val="194716208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 Reduce</a:t>
            </a:r>
            <a:r>
              <a:rPr lang="zh-CN" altLang="en-US" dirty="0" smtClean="0"/>
              <a:t>阶段</a:t>
            </a:r>
            <a:endParaRPr lang="zh-CN" altLang="en-US" dirty="0"/>
          </a:p>
        </p:txBody>
      </p:sp>
      <p:sp>
        <p:nvSpPr>
          <p:cNvPr id="5" name="内容占位符 4"/>
          <p:cNvSpPr>
            <a:spLocks noGrp="1"/>
          </p:cNvSpPr>
          <p:nvPr>
            <p:ph idx="1"/>
          </p:nvPr>
        </p:nvSpPr>
        <p:spPr/>
        <p:txBody>
          <a:bodyPr/>
          <a:lstStyle/>
          <a:p>
            <a:r>
              <a:rPr lang="zh-CN" altLang="en-US" dirty="0"/>
              <a:t>将归并后得到的若干个大文件直接输入</a:t>
            </a:r>
            <a:r>
              <a:rPr lang="en-US" altLang="zh-CN" dirty="0"/>
              <a:t>Reduce</a:t>
            </a:r>
            <a:r>
              <a:rPr lang="zh-CN" altLang="en-US" dirty="0" smtClean="0"/>
              <a:t>任务</a:t>
            </a:r>
            <a:endParaRPr lang="en-US" altLang="zh-CN" dirty="0" smtClean="0"/>
          </a:p>
          <a:p>
            <a:r>
              <a:rPr lang="en-US" altLang="zh-CN" dirty="0" smtClean="0"/>
              <a:t>Reduce</a:t>
            </a:r>
            <a:r>
              <a:rPr lang="zh-CN" altLang="en-US" dirty="0" smtClean="0"/>
              <a:t>任务执行</a:t>
            </a:r>
            <a:r>
              <a:rPr lang="en-US" altLang="zh-CN" dirty="0" smtClean="0"/>
              <a:t>Reduce</a:t>
            </a:r>
            <a:r>
              <a:rPr lang="zh-CN" altLang="en-US" dirty="0" smtClean="0"/>
              <a:t>函数中定义的各种映射，输出最终结果</a:t>
            </a:r>
            <a:endParaRPr lang="zh-CN" altLang="en-US" dirty="0"/>
          </a:p>
          <a:p>
            <a:endParaRPr lang="zh-CN" altLang="en-US" dirty="0"/>
          </a:p>
        </p:txBody>
      </p:sp>
    </p:spTree>
    <p:extLst>
      <p:ext uri="{BB962C8B-B14F-4D97-AF65-F5344CB8AC3E}">
        <p14:creationId xmlns:p14="http://schemas.microsoft.com/office/powerpoint/2010/main" val="196868648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 </a:t>
            </a:r>
            <a:r>
              <a:rPr lang="zh-CN" altLang="en-US" dirty="0" smtClean="0"/>
              <a:t>数据输出</a:t>
            </a:r>
            <a:endParaRPr lang="zh-CN" altLang="en-US" dirty="0"/>
          </a:p>
        </p:txBody>
      </p:sp>
      <p:sp>
        <p:nvSpPr>
          <p:cNvPr id="3" name="内容占位符 2"/>
          <p:cNvSpPr>
            <a:spLocks noGrp="1"/>
          </p:cNvSpPr>
          <p:nvPr>
            <p:ph idx="1"/>
          </p:nvPr>
        </p:nvSpPr>
        <p:spPr/>
        <p:txBody>
          <a:bodyPr/>
          <a:lstStyle/>
          <a:p>
            <a:r>
              <a:rPr lang="zh-CN" altLang="en-US" dirty="0" smtClean="0"/>
              <a:t>每个</a:t>
            </a:r>
            <a:r>
              <a:rPr lang="en-US" altLang="zh-CN" dirty="0" smtClean="0"/>
              <a:t>Reduce</a:t>
            </a:r>
            <a:r>
              <a:rPr lang="zh-CN" altLang="en-US" dirty="0" smtClean="0"/>
              <a:t>任务的输出结果将以一个文件的形式保存到指定的目录中</a:t>
            </a:r>
            <a:endParaRPr lang="en-US" altLang="zh-CN" dirty="0" smtClean="0"/>
          </a:p>
          <a:p>
            <a:r>
              <a:rPr lang="en-US" altLang="zh-CN" dirty="0" err="1" smtClean="0"/>
              <a:t>MapReduce</a:t>
            </a:r>
            <a:r>
              <a:rPr lang="zh-CN" altLang="en-US" dirty="0" smtClean="0"/>
              <a:t>需要定义输出格式（</a:t>
            </a:r>
            <a:r>
              <a:rPr lang="en-US" altLang="zh-CN" dirty="0" err="1" smtClean="0"/>
              <a:t>OutputFormat</a:t>
            </a:r>
            <a:r>
              <a:rPr lang="zh-CN" altLang="en-US" dirty="0" smtClean="0"/>
              <a:t>），用于完成</a:t>
            </a:r>
            <a:r>
              <a:rPr lang="en-US" altLang="zh-CN" dirty="0" err="1" smtClean="0"/>
              <a:t>MapReduce</a:t>
            </a:r>
            <a:r>
              <a:rPr lang="zh-CN" altLang="en-US" dirty="0" smtClean="0"/>
              <a:t>程序处理的逻辑键值对数据到物理存储之间的映射。</a:t>
            </a:r>
            <a:endParaRPr lang="zh-CN" altLang="en-US" dirty="0"/>
          </a:p>
        </p:txBody>
      </p:sp>
    </p:spTree>
    <p:extLst>
      <p:ext uri="{BB962C8B-B14F-4D97-AF65-F5344CB8AC3E}">
        <p14:creationId xmlns:p14="http://schemas.microsoft.com/office/powerpoint/2010/main" val="239026262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 </a:t>
            </a:r>
            <a:r>
              <a:rPr lang="zh-CN" altLang="en-US" dirty="0" smtClean="0"/>
              <a:t>数据输出</a:t>
            </a:r>
            <a:endParaRPr lang="zh-CN" altLang="en-US" dirty="0"/>
          </a:p>
        </p:txBody>
      </p:sp>
      <p:sp>
        <p:nvSpPr>
          <p:cNvPr id="3" name="内容占位符 2"/>
          <p:cNvSpPr>
            <a:spLocks noGrp="1"/>
          </p:cNvSpPr>
          <p:nvPr>
            <p:ph idx="1"/>
          </p:nvPr>
        </p:nvSpPr>
        <p:spPr/>
        <p:txBody>
          <a:bodyPr/>
          <a:lstStyle/>
          <a:p>
            <a:r>
              <a:rPr lang="zh-CN" altLang="en-US" dirty="0" smtClean="0"/>
              <a:t>常见的输出格式</a:t>
            </a:r>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560" y="1988840"/>
            <a:ext cx="6480000" cy="2086780"/>
          </a:xfrm>
          <a:prstGeom prst="rect">
            <a:avLst/>
          </a:prstGeom>
        </p:spPr>
      </p:pic>
    </p:spTree>
    <p:extLst>
      <p:ext uri="{BB962C8B-B14F-4D97-AF65-F5344CB8AC3E}">
        <p14:creationId xmlns:p14="http://schemas.microsoft.com/office/powerpoint/2010/main" val="355021509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indent="0">
              <a:buNone/>
            </a:pPr>
            <a:r>
              <a:rPr lang="en-US" altLang="zh-CN" dirty="0"/>
              <a:t>3.1 </a:t>
            </a:r>
            <a:r>
              <a:rPr lang="en-US" altLang="zh-CN" dirty="0" err="1">
                <a:sym typeface="+mn-ea"/>
              </a:rPr>
              <a:t>MapReduce</a:t>
            </a:r>
            <a:r>
              <a:rPr lang="zh-CN" altLang="en-US" dirty="0">
                <a:sym typeface="+mn-ea"/>
              </a:rPr>
              <a:t>原理</a:t>
            </a:r>
            <a:endParaRPr lang="en-US" altLang="zh-CN" dirty="0">
              <a:sym typeface="+mn-ea"/>
            </a:endParaRPr>
          </a:p>
          <a:p>
            <a:pPr marL="0" indent="0">
              <a:buNone/>
            </a:pPr>
            <a:r>
              <a:rPr lang="en-US" altLang="zh-CN" dirty="0">
                <a:solidFill>
                  <a:srgbClr val="FF0000"/>
                </a:solidFill>
                <a:ea typeface="宋体" panose="02010600030101010101" pitchFamily="2" charset="-122"/>
              </a:rPr>
              <a:t>3.2 </a:t>
            </a:r>
            <a:r>
              <a:rPr lang="en-US" altLang="zh-CN" dirty="0" err="1">
                <a:solidFill>
                  <a:srgbClr val="FF0000"/>
                </a:solidFill>
                <a:ea typeface="宋体" panose="02010600030101010101" pitchFamily="2" charset="-122"/>
              </a:rPr>
              <a:t>MapReduce</a:t>
            </a:r>
            <a:r>
              <a:rPr lang="zh-CN" altLang="en-US" dirty="0">
                <a:solidFill>
                  <a:srgbClr val="FF0000"/>
                </a:solidFill>
                <a:ea typeface="宋体" panose="02010600030101010101" pitchFamily="2" charset="-122"/>
              </a:rPr>
              <a:t>编程基础</a:t>
            </a:r>
            <a:endParaRPr lang="zh-CN" dirty="0">
              <a:solidFill>
                <a:srgbClr val="FF0000"/>
              </a:solidFill>
              <a:ea typeface="宋体" panose="02010600030101010101" pitchFamily="2" charset="-122"/>
            </a:endParaRPr>
          </a:p>
          <a:p>
            <a:pPr marL="0" indent="0">
              <a:buNone/>
              <a:defRPr/>
            </a:pPr>
            <a:r>
              <a:rPr lang="en-US" altLang="zh-CN" dirty="0" smtClean="0"/>
              <a:t>3.3 </a:t>
            </a:r>
            <a:r>
              <a:rPr lang="en-US" altLang="zh-CN" dirty="0"/>
              <a:t>MapReduce</a:t>
            </a:r>
            <a:r>
              <a:rPr lang="zh-CN" altLang="en-US" dirty="0"/>
              <a:t>程序编写步骤</a:t>
            </a:r>
          </a:p>
          <a:p>
            <a:pPr marL="0" indent="0">
              <a:buNone/>
            </a:pPr>
            <a:r>
              <a:rPr lang="en-US" altLang="zh-CN" dirty="0"/>
              <a:t>3.4 </a:t>
            </a:r>
            <a:r>
              <a:rPr lang="en-US" altLang="zh-CN" dirty="0" err="1" smtClean="0">
                <a:sym typeface="+mn-ea"/>
              </a:rPr>
              <a:t>MapReduce</a:t>
            </a:r>
            <a:r>
              <a:rPr lang="zh-CN" altLang="en-US" dirty="0" smtClean="0">
                <a:sym typeface="+mn-ea"/>
              </a:rPr>
              <a:t>综合案例</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en-US" altLang="zh-CN" dirty="0" err="1"/>
              <a:t>MapReduce</a:t>
            </a:r>
            <a:r>
              <a:rPr lang="zh-CN" altLang="en-US" dirty="0"/>
              <a:t>编程</a:t>
            </a:r>
            <a:r>
              <a:rPr lang="zh-CN" altLang="en-US" dirty="0" smtClean="0"/>
              <a:t>基础</a:t>
            </a:r>
            <a:endParaRPr lang="zh-CN" altLang="en-US" dirty="0"/>
          </a:p>
        </p:txBody>
      </p:sp>
      <p:sp>
        <p:nvSpPr>
          <p:cNvPr id="3" name="内容占位符 2"/>
          <p:cNvSpPr>
            <a:spLocks noGrp="1"/>
          </p:cNvSpPr>
          <p:nvPr>
            <p:ph idx="1"/>
          </p:nvPr>
        </p:nvSpPr>
        <p:spPr/>
        <p:txBody>
          <a:bodyPr/>
          <a:lstStyle/>
          <a:p>
            <a:r>
              <a:rPr lang="zh-CN" altLang="en-US" dirty="0" smtClean="0"/>
              <a:t>内置数据类型</a:t>
            </a:r>
            <a:endParaRPr lang="en-US" altLang="zh-CN" dirty="0" smtClean="0"/>
          </a:p>
          <a:p>
            <a:r>
              <a:rPr lang="en-US" altLang="zh-CN" dirty="0" smtClean="0"/>
              <a:t>Mapper</a:t>
            </a:r>
            <a:r>
              <a:rPr lang="zh-CN" altLang="en-US" dirty="0" smtClean="0"/>
              <a:t>类</a:t>
            </a:r>
            <a:endParaRPr lang="en-US" altLang="zh-CN" dirty="0" smtClean="0"/>
          </a:p>
          <a:p>
            <a:r>
              <a:rPr lang="en-US" altLang="zh-CN" dirty="0" smtClean="0"/>
              <a:t>Reducer</a:t>
            </a:r>
            <a:r>
              <a:rPr lang="zh-CN" altLang="en-US" dirty="0" smtClean="0"/>
              <a:t>类</a:t>
            </a:r>
            <a:endParaRPr lang="zh-CN" alt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en-US" altLang="zh-CN" dirty="0" err="1"/>
              <a:t>MapReduce</a:t>
            </a:r>
            <a:r>
              <a:rPr lang="zh-CN" altLang="en-US" dirty="0"/>
              <a:t>编程基础</a:t>
            </a:r>
          </a:p>
        </p:txBody>
      </p:sp>
      <p:sp>
        <p:nvSpPr>
          <p:cNvPr id="3" name="内容占位符 2"/>
          <p:cNvSpPr>
            <a:spLocks noGrp="1"/>
          </p:cNvSpPr>
          <p:nvPr>
            <p:ph idx="1"/>
          </p:nvPr>
        </p:nvSpPr>
        <p:spPr/>
        <p:txBody>
          <a:bodyPr/>
          <a:lstStyle/>
          <a:p>
            <a:r>
              <a:rPr lang="zh-CN" altLang="en-US" dirty="0" smtClean="0"/>
              <a:t>内置数据类型</a:t>
            </a:r>
            <a:endParaRPr lang="en-US" altLang="zh-CN" dirty="0" smtClean="0"/>
          </a:p>
          <a:p>
            <a:pPr lvl="1"/>
            <a:r>
              <a:rPr lang="en-US" altLang="zh-CN" dirty="0" smtClean="0"/>
              <a:t>Hadoop</a:t>
            </a:r>
            <a:r>
              <a:rPr lang="zh-CN" altLang="en-US" dirty="0" smtClean="0"/>
              <a:t>提供了一系列内置数据类型，这些数据类型均实现了</a:t>
            </a:r>
            <a:r>
              <a:rPr lang="en-US" altLang="zh-CN" dirty="0" err="1" smtClean="0"/>
              <a:t>WritableComparable</a:t>
            </a:r>
            <a:r>
              <a:rPr lang="zh-CN" altLang="en-US" smtClean="0"/>
              <a:t>接口，可以被序列化进行网络传输和文件存储以及比较大小。</a:t>
            </a:r>
            <a:endParaRPr lang="zh-CN" alt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en-US" altLang="zh-CN" dirty="0" err="1"/>
              <a:t>MapReduce</a:t>
            </a:r>
            <a:r>
              <a:rPr lang="zh-CN" altLang="en-US" dirty="0"/>
              <a:t>编程基础</a:t>
            </a:r>
          </a:p>
        </p:txBody>
      </p:sp>
      <p:sp>
        <p:nvSpPr>
          <p:cNvPr id="3" name="内容占位符 2"/>
          <p:cNvSpPr>
            <a:spLocks noGrp="1"/>
          </p:cNvSpPr>
          <p:nvPr>
            <p:ph idx="1"/>
          </p:nvPr>
        </p:nvSpPr>
        <p:spPr/>
        <p:txBody>
          <a:bodyPr/>
          <a:lstStyle/>
          <a:p>
            <a:r>
              <a:rPr lang="zh-CN" altLang="en-US" dirty="0" smtClean="0"/>
              <a:t>内置数据类型</a:t>
            </a:r>
            <a:endParaRPr lang="en-US" altLang="zh-CN" dirty="0" smtClean="0"/>
          </a:p>
          <a:p>
            <a:pPr lvl="1"/>
            <a:r>
              <a:rPr lang="zh-CN" altLang="en-US" dirty="0" smtClean="0"/>
              <a:t>常用类型</a:t>
            </a:r>
            <a:endParaRPr lang="en-US" altLang="zh-CN" dirty="0" smtClean="0"/>
          </a:p>
          <a:p>
            <a:pPr marL="457200" lvl="1" indent="0">
              <a:buNone/>
            </a:pP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420888"/>
            <a:ext cx="6300192" cy="3094003"/>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en-US" altLang="zh-CN" dirty="0" err="1"/>
              <a:t>MapReduce</a:t>
            </a:r>
            <a:r>
              <a:rPr lang="zh-CN" altLang="en-US" dirty="0"/>
              <a:t>编程基础</a:t>
            </a:r>
          </a:p>
        </p:txBody>
      </p:sp>
      <p:sp>
        <p:nvSpPr>
          <p:cNvPr id="3" name="内容占位符 2"/>
          <p:cNvSpPr>
            <a:spLocks noGrp="1"/>
          </p:cNvSpPr>
          <p:nvPr>
            <p:ph idx="1"/>
          </p:nvPr>
        </p:nvSpPr>
        <p:spPr/>
        <p:txBody>
          <a:bodyPr/>
          <a:lstStyle/>
          <a:p>
            <a:r>
              <a:rPr lang="en-US" altLang="zh-CN" dirty="0" smtClean="0"/>
              <a:t>Mapper</a:t>
            </a:r>
            <a:r>
              <a:rPr lang="zh-CN" altLang="en-US" dirty="0"/>
              <a:t>类</a:t>
            </a:r>
            <a:endParaRPr lang="en-US" altLang="zh-CN" dirty="0"/>
          </a:p>
          <a:p>
            <a:pPr lvl="1"/>
            <a:r>
              <a:rPr lang="zh-CN" altLang="en-US" dirty="0"/>
              <a:t>新建</a:t>
            </a:r>
            <a:r>
              <a:rPr lang="en-US" altLang="zh-CN" dirty="0"/>
              <a:t>Mapper</a:t>
            </a:r>
            <a:r>
              <a:rPr lang="zh-CN" altLang="en-US" dirty="0"/>
              <a:t>类必须继承</a:t>
            </a:r>
            <a:r>
              <a:rPr lang="en-US" altLang="zh-CN" dirty="0"/>
              <a:t>MapReduce API</a:t>
            </a:r>
            <a:r>
              <a:rPr lang="zh-CN" altLang="en-US" dirty="0"/>
              <a:t>提供的</a:t>
            </a:r>
            <a:r>
              <a:rPr lang="en-US" altLang="zh-CN" dirty="0"/>
              <a:t>Mapper</a:t>
            </a:r>
            <a:r>
              <a:rPr lang="zh-CN" altLang="en-US" dirty="0"/>
              <a:t>类，并重写</a:t>
            </a:r>
            <a:r>
              <a:rPr lang="en-US" altLang="zh-CN" dirty="0"/>
              <a:t>Mapper</a:t>
            </a:r>
            <a:r>
              <a:rPr lang="zh-CN" altLang="en-US" dirty="0"/>
              <a:t>类的</a:t>
            </a:r>
            <a:r>
              <a:rPr lang="en-US" altLang="zh-CN" dirty="0"/>
              <a:t>map()</a:t>
            </a:r>
            <a:r>
              <a:rPr lang="zh-CN" altLang="en-US" dirty="0"/>
              <a:t>方法</a:t>
            </a:r>
          </a:p>
          <a:p>
            <a:pPr lvl="2"/>
            <a:r>
              <a:rPr lang="en-US" altLang="zh-CN" dirty="0"/>
              <a:t>Mapper</a:t>
            </a:r>
            <a:r>
              <a:rPr lang="zh-CN" altLang="en-US" dirty="0">
                <a:ea typeface="宋体" panose="02010600030101010101" pitchFamily="2" charset="-122"/>
              </a:rPr>
              <a:t>类是</a:t>
            </a:r>
            <a:r>
              <a:rPr lang="en-US" altLang="zh-CN" dirty="0">
                <a:ea typeface="宋体" panose="02010600030101010101" pitchFamily="2" charset="-122"/>
              </a:rPr>
              <a:t>MapReduce</a:t>
            </a:r>
            <a:r>
              <a:rPr lang="zh-CN" altLang="en-US" dirty="0">
                <a:ea typeface="宋体" panose="02010600030101010101" pitchFamily="2" charset="-122"/>
              </a:rPr>
              <a:t>提供的泛型类，继承</a:t>
            </a:r>
            <a:r>
              <a:rPr lang="en-US" altLang="zh-CN" dirty="0">
                <a:ea typeface="宋体" panose="02010600030101010101" pitchFamily="2" charset="-122"/>
              </a:rPr>
              <a:t>Mapper</a:t>
            </a:r>
            <a:r>
              <a:rPr lang="zh-CN" altLang="en-US" dirty="0">
                <a:ea typeface="宋体" panose="02010600030101010101" pitchFamily="2" charset="-122"/>
              </a:rPr>
              <a:t>需要传入</a:t>
            </a:r>
            <a:r>
              <a:rPr lang="en-US" altLang="zh-CN" dirty="0">
                <a:ea typeface="宋体" panose="02010600030101010101" pitchFamily="2" charset="-122"/>
              </a:rPr>
              <a:t>4</a:t>
            </a:r>
            <a:r>
              <a:rPr lang="zh-CN" altLang="en-US" dirty="0">
                <a:ea typeface="宋体" panose="02010600030101010101" pitchFamily="2" charset="-122"/>
              </a:rPr>
              <a:t>个泛型参数</a:t>
            </a:r>
          </a:p>
          <a:p>
            <a:pPr lvl="3"/>
            <a:r>
              <a:rPr lang="en-US" altLang="zh-CN" dirty="0">
                <a:solidFill>
                  <a:srgbClr val="FF0000"/>
                </a:solidFill>
                <a:ea typeface="宋体" panose="02010600030101010101" pitchFamily="2" charset="-122"/>
              </a:rPr>
              <a:t>KEYIN</a:t>
            </a:r>
            <a:r>
              <a:rPr lang="zh-CN" altLang="en-US" dirty="0">
                <a:solidFill>
                  <a:srgbClr val="FF0000"/>
                </a:solidFill>
                <a:ea typeface="宋体" panose="02010600030101010101" pitchFamily="2" charset="-122"/>
              </a:rPr>
              <a:t>和</a:t>
            </a:r>
            <a:r>
              <a:rPr lang="en-US" altLang="zh-CN" dirty="0">
                <a:solidFill>
                  <a:srgbClr val="FF0000"/>
                </a:solidFill>
                <a:ea typeface="宋体" panose="02010600030101010101" pitchFamily="2" charset="-122"/>
              </a:rPr>
              <a:t>VALUEIN</a:t>
            </a:r>
            <a:r>
              <a:rPr lang="zh-CN" altLang="en-US" dirty="0">
                <a:ea typeface="宋体" panose="02010600030101010101" pitchFamily="2" charset="-122"/>
              </a:rPr>
              <a:t>：传入参数的数据类型</a:t>
            </a:r>
          </a:p>
          <a:p>
            <a:pPr lvl="3"/>
            <a:r>
              <a:rPr lang="en-US" altLang="zh-CN" dirty="0">
                <a:solidFill>
                  <a:srgbClr val="FF0000"/>
                </a:solidFill>
                <a:ea typeface="宋体" panose="02010600030101010101" pitchFamily="2" charset="-122"/>
              </a:rPr>
              <a:t>KEYOUT</a:t>
            </a:r>
            <a:r>
              <a:rPr lang="zh-CN" altLang="en-US" dirty="0">
                <a:solidFill>
                  <a:srgbClr val="FF0000"/>
                </a:solidFill>
                <a:ea typeface="宋体" panose="02010600030101010101" pitchFamily="2" charset="-122"/>
              </a:rPr>
              <a:t>和</a:t>
            </a:r>
            <a:r>
              <a:rPr lang="en-US" altLang="zh-CN" dirty="0">
                <a:solidFill>
                  <a:srgbClr val="FF0000"/>
                </a:solidFill>
                <a:ea typeface="宋体" panose="02010600030101010101" pitchFamily="2" charset="-122"/>
              </a:rPr>
              <a:t>VALUEOUT</a:t>
            </a:r>
            <a:r>
              <a:rPr lang="zh-CN" altLang="en-US" dirty="0">
                <a:ea typeface="宋体" panose="02010600030101010101" pitchFamily="2" charset="-122"/>
              </a:rPr>
              <a:t>：输出的数据类型</a:t>
            </a:r>
          </a:p>
          <a:p>
            <a:pPr lvl="2"/>
            <a:r>
              <a:rPr lang="en-US" altLang="zh-CN" dirty="0">
                <a:ea typeface="宋体" panose="02010600030101010101" pitchFamily="2" charset="-122"/>
              </a:rPr>
              <a:t>map()</a:t>
            </a:r>
            <a:r>
              <a:rPr lang="zh-CN" altLang="en-US" dirty="0">
                <a:ea typeface="宋体" panose="02010600030101010101" pitchFamily="2" charset="-122"/>
              </a:rPr>
              <a:t>方法有</a:t>
            </a:r>
            <a:r>
              <a:rPr lang="en-US" altLang="zh-CN" dirty="0">
                <a:ea typeface="宋体" panose="02010600030101010101" pitchFamily="2" charset="-122"/>
              </a:rPr>
              <a:t>3</a:t>
            </a:r>
            <a:r>
              <a:rPr lang="zh-CN" altLang="en-US" dirty="0">
                <a:ea typeface="宋体" panose="02010600030101010101" pitchFamily="2" charset="-122"/>
              </a:rPr>
              <a:t>个参数</a:t>
            </a:r>
          </a:p>
          <a:p>
            <a:pPr lvl="3"/>
            <a:r>
              <a:rPr lang="en-US" altLang="zh-CN" dirty="0">
                <a:ea typeface="宋体" panose="02010600030101010101" pitchFamily="2" charset="-122"/>
              </a:rPr>
              <a:t>key</a:t>
            </a:r>
            <a:r>
              <a:rPr lang="zh-CN" altLang="en-US" dirty="0">
                <a:ea typeface="宋体" panose="02010600030101010101" pitchFamily="2" charset="-122"/>
              </a:rPr>
              <a:t>：从输入解释出的</a:t>
            </a:r>
            <a:r>
              <a:rPr lang="en-US" altLang="zh-CN" dirty="0">
                <a:ea typeface="宋体" panose="02010600030101010101" pitchFamily="2" charset="-122"/>
              </a:rPr>
              <a:t>&lt;key,value&gt;</a:t>
            </a:r>
            <a:r>
              <a:rPr lang="zh-CN" altLang="en-US" dirty="0">
                <a:ea typeface="宋体" panose="02010600030101010101" pitchFamily="2" charset="-122"/>
              </a:rPr>
              <a:t>对中的</a:t>
            </a:r>
            <a:r>
              <a:rPr lang="en-US" altLang="zh-CN" dirty="0">
                <a:ea typeface="宋体" panose="02010600030101010101" pitchFamily="2" charset="-122"/>
              </a:rPr>
              <a:t>key</a:t>
            </a:r>
          </a:p>
          <a:p>
            <a:pPr lvl="3"/>
            <a:r>
              <a:rPr lang="en-US" altLang="zh-CN" dirty="0">
                <a:ea typeface="宋体" panose="02010600030101010101" pitchFamily="2" charset="-122"/>
              </a:rPr>
              <a:t>value</a:t>
            </a:r>
            <a:r>
              <a:rPr lang="zh-CN" altLang="en-US" dirty="0">
                <a:ea typeface="宋体" panose="02010600030101010101" pitchFamily="2" charset="-122"/>
              </a:rPr>
              <a:t>：</a:t>
            </a:r>
            <a:r>
              <a:rPr lang="zh-CN" altLang="en-US" dirty="0">
                <a:ea typeface="宋体" panose="02010600030101010101" pitchFamily="2" charset="-122"/>
                <a:sym typeface="+mn-ea"/>
              </a:rPr>
              <a:t>从输入解释出的</a:t>
            </a:r>
            <a:r>
              <a:rPr lang="en-US" altLang="zh-CN" dirty="0">
                <a:ea typeface="宋体" panose="02010600030101010101" pitchFamily="2" charset="-122"/>
                <a:sym typeface="+mn-ea"/>
              </a:rPr>
              <a:t>&lt;key,value&gt;</a:t>
            </a:r>
            <a:r>
              <a:rPr lang="zh-CN" altLang="en-US" dirty="0">
                <a:ea typeface="宋体" panose="02010600030101010101" pitchFamily="2" charset="-122"/>
                <a:sym typeface="+mn-ea"/>
              </a:rPr>
              <a:t>对中的</a:t>
            </a:r>
            <a:r>
              <a:rPr lang="en-US" altLang="zh-CN" dirty="0">
                <a:ea typeface="宋体" panose="02010600030101010101" pitchFamily="2" charset="-122"/>
                <a:sym typeface="+mn-ea"/>
              </a:rPr>
              <a:t>value</a:t>
            </a:r>
          </a:p>
          <a:p>
            <a:pPr lvl="3"/>
            <a:r>
              <a:rPr lang="en-US" altLang="zh-CN" dirty="0">
                <a:ea typeface="宋体" panose="02010600030101010101" pitchFamily="2" charset="-122"/>
                <a:sym typeface="+mn-ea"/>
              </a:rPr>
              <a:t>context</a:t>
            </a:r>
            <a:r>
              <a:rPr lang="zh-CN" altLang="en-US" dirty="0">
                <a:ea typeface="宋体" panose="02010600030101010101" pitchFamily="2" charset="-122"/>
                <a:sym typeface="+mn-ea"/>
              </a:rPr>
              <a:t>：上下文对象</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en-US" altLang="zh-CN" dirty="0" err="1"/>
              <a:t>MapReduce</a:t>
            </a:r>
            <a:r>
              <a:rPr lang="zh-CN" altLang="en-US" dirty="0"/>
              <a:t>编程基础</a:t>
            </a:r>
          </a:p>
        </p:txBody>
      </p:sp>
      <p:sp>
        <p:nvSpPr>
          <p:cNvPr id="5" name="内容占位符 4"/>
          <p:cNvSpPr>
            <a:spLocks noGrp="1"/>
          </p:cNvSpPr>
          <p:nvPr>
            <p:ph idx="1"/>
          </p:nvPr>
        </p:nvSpPr>
        <p:spPr/>
        <p:txBody>
          <a:bodyPr/>
          <a:lstStyle/>
          <a:p>
            <a:r>
              <a:rPr lang="en-US" altLang="zh-CN" dirty="0" smtClean="0">
                <a:ea typeface="宋体" panose="02010600030101010101" pitchFamily="2" charset="-122"/>
              </a:rPr>
              <a:t>Mapper</a:t>
            </a:r>
            <a:r>
              <a:rPr lang="zh-CN" altLang="en-US" dirty="0">
                <a:ea typeface="宋体" panose="02010600030101010101" pitchFamily="2" charset="-122"/>
              </a:rPr>
              <a:t>类</a:t>
            </a:r>
          </a:p>
          <a:p>
            <a:pPr lvl="1"/>
            <a:endParaRPr lang="zh-CN" altLang="en-US" dirty="0">
              <a:ea typeface="宋体" panose="02010600030101010101" pitchFamily="2" charset="-122"/>
            </a:endParaRPr>
          </a:p>
        </p:txBody>
      </p:sp>
      <p:pic>
        <p:nvPicPr>
          <p:cNvPr id="6" name="内容占位符 3" descr="微信图片_20200316095351"/>
          <p:cNvPicPr>
            <a:picLocks noChangeAspect="1"/>
          </p:cNvPicPr>
          <p:nvPr/>
        </p:nvPicPr>
        <p:blipFill>
          <a:blip r:embed="rId2"/>
          <a:stretch>
            <a:fillRect/>
          </a:stretch>
        </p:blipFill>
        <p:spPr>
          <a:xfrm>
            <a:off x="783590" y="1981835"/>
            <a:ext cx="6691047" cy="1928813"/>
          </a:xfrm>
          <a:prstGeom prst="rect">
            <a:avLst/>
          </a:prstGeom>
          <a:noFill/>
          <a:ln>
            <a:noFill/>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en-US" altLang="zh-CN" dirty="0" err="1"/>
              <a:t>MapReduce</a:t>
            </a:r>
            <a:r>
              <a:rPr lang="zh-CN" altLang="en-US" dirty="0"/>
              <a:t>编程基础</a:t>
            </a:r>
          </a:p>
        </p:txBody>
      </p:sp>
      <p:sp>
        <p:nvSpPr>
          <p:cNvPr id="3" name="内容占位符 2"/>
          <p:cNvSpPr>
            <a:spLocks noGrp="1"/>
          </p:cNvSpPr>
          <p:nvPr>
            <p:ph idx="1"/>
          </p:nvPr>
        </p:nvSpPr>
        <p:spPr>
          <a:xfrm>
            <a:off x="457200" y="1371600"/>
            <a:ext cx="7899400" cy="4953000"/>
          </a:xfrm>
        </p:spPr>
        <p:txBody>
          <a:bodyPr>
            <a:normAutofit fontScale="92500"/>
          </a:bodyPr>
          <a:lstStyle/>
          <a:p>
            <a:r>
              <a:rPr lang="en-US" altLang="zh-CN" dirty="0" smtClean="0"/>
              <a:t>Reducer</a:t>
            </a:r>
            <a:r>
              <a:rPr lang="zh-CN" altLang="en-US" dirty="0"/>
              <a:t>类</a:t>
            </a:r>
            <a:endParaRPr lang="en-US" altLang="zh-CN" dirty="0"/>
          </a:p>
          <a:p>
            <a:pPr lvl="1"/>
            <a:r>
              <a:rPr lang="zh-CN" altLang="en-US" dirty="0"/>
              <a:t>新建</a:t>
            </a:r>
            <a:r>
              <a:rPr lang="en-US" altLang="zh-CN" dirty="0">
                <a:sym typeface="+mn-ea"/>
              </a:rPr>
              <a:t>Reducer</a:t>
            </a:r>
            <a:r>
              <a:rPr lang="zh-CN" altLang="en-US" dirty="0"/>
              <a:t>类必须继承</a:t>
            </a:r>
            <a:r>
              <a:rPr lang="en-US" altLang="zh-CN" dirty="0"/>
              <a:t>MapReduce API</a:t>
            </a:r>
            <a:r>
              <a:rPr lang="zh-CN" altLang="en-US" dirty="0"/>
              <a:t>提供的</a:t>
            </a:r>
            <a:r>
              <a:rPr lang="en-US" altLang="zh-CN" dirty="0">
                <a:sym typeface="+mn-ea"/>
              </a:rPr>
              <a:t>Reducer</a:t>
            </a:r>
            <a:r>
              <a:rPr lang="zh-CN" altLang="en-US" dirty="0"/>
              <a:t>类，并重写</a:t>
            </a:r>
            <a:r>
              <a:rPr lang="en-US" altLang="zh-CN" dirty="0">
                <a:sym typeface="+mn-ea"/>
              </a:rPr>
              <a:t>Reducer</a:t>
            </a:r>
            <a:r>
              <a:rPr lang="zh-CN" altLang="en-US" dirty="0"/>
              <a:t>类的</a:t>
            </a:r>
            <a:r>
              <a:rPr lang="en-US" altLang="zh-CN" dirty="0"/>
              <a:t>reduce()</a:t>
            </a:r>
            <a:r>
              <a:rPr lang="zh-CN" altLang="en-US" dirty="0"/>
              <a:t>方法</a:t>
            </a:r>
          </a:p>
          <a:p>
            <a:pPr lvl="2"/>
            <a:r>
              <a:rPr lang="en-US" altLang="zh-CN" dirty="0"/>
              <a:t>Reduce</a:t>
            </a:r>
            <a:r>
              <a:rPr lang="zh-CN" altLang="en-US" dirty="0">
                <a:ea typeface="宋体" panose="02010600030101010101" pitchFamily="2" charset="-122"/>
              </a:rPr>
              <a:t>类是</a:t>
            </a:r>
            <a:r>
              <a:rPr lang="en-US" altLang="zh-CN" dirty="0">
                <a:ea typeface="宋体" panose="02010600030101010101" pitchFamily="2" charset="-122"/>
              </a:rPr>
              <a:t>MapReduce</a:t>
            </a:r>
            <a:r>
              <a:rPr lang="zh-CN" altLang="en-US" dirty="0">
                <a:ea typeface="宋体" panose="02010600030101010101" pitchFamily="2" charset="-122"/>
              </a:rPr>
              <a:t>提供的泛型类，继承</a:t>
            </a:r>
            <a:r>
              <a:rPr lang="en-US" altLang="zh-CN" dirty="0">
                <a:sym typeface="+mn-ea"/>
              </a:rPr>
              <a:t>Reducer</a:t>
            </a:r>
            <a:r>
              <a:rPr lang="zh-CN" altLang="en-US" dirty="0">
                <a:ea typeface="宋体" panose="02010600030101010101" pitchFamily="2" charset="-122"/>
              </a:rPr>
              <a:t>需要传入</a:t>
            </a:r>
            <a:r>
              <a:rPr lang="en-US" altLang="zh-CN" dirty="0">
                <a:ea typeface="宋体" panose="02010600030101010101" pitchFamily="2" charset="-122"/>
              </a:rPr>
              <a:t>4</a:t>
            </a:r>
            <a:r>
              <a:rPr lang="zh-CN" altLang="en-US" dirty="0">
                <a:ea typeface="宋体" panose="02010600030101010101" pitchFamily="2" charset="-122"/>
              </a:rPr>
              <a:t>个泛型参数</a:t>
            </a:r>
          </a:p>
          <a:p>
            <a:pPr lvl="3"/>
            <a:r>
              <a:rPr lang="en-US" altLang="zh-CN" dirty="0">
                <a:solidFill>
                  <a:srgbClr val="FF0000"/>
                </a:solidFill>
                <a:ea typeface="宋体" panose="02010600030101010101" pitchFamily="2" charset="-122"/>
              </a:rPr>
              <a:t>KEYIN</a:t>
            </a:r>
            <a:r>
              <a:rPr lang="zh-CN" altLang="en-US" dirty="0">
                <a:solidFill>
                  <a:srgbClr val="FF0000"/>
                </a:solidFill>
                <a:ea typeface="宋体" panose="02010600030101010101" pitchFamily="2" charset="-122"/>
              </a:rPr>
              <a:t>和</a:t>
            </a:r>
            <a:r>
              <a:rPr lang="en-US" altLang="zh-CN" dirty="0">
                <a:solidFill>
                  <a:srgbClr val="FF0000"/>
                </a:solidFill>
                <a:ea typeface="宋体" panose="02010600030101010101" pitchFamily="2" charset="-122"/>
              </a:rPr>
              <a:t>VALUEIN</a:t>
            </a:r>
            <a:r>
              <a:rPr lang="zh-CN" altLang="en-US" dirty="0">
                <a:ea typeface="宋体" panose="02010600030101010101" pitchFamily="2" charset="-122"/>
              </a:rPr>
              <a:t>：传入参数</a:t>
            </a:r>
            <a:r>
              <a:rPr lang="en-US" altLang="zh-CN" dirty="0">
                <a:ea typeface="宋体" panose="02010600030101010101" pitchFamily="2" charset="-122"/>
              </a:rPr>
              <a:t>(Map</a:t>
            </a:r>
            <a:r>
              <a:rPr lang="zh-CN" altLang="en-US" dirty="0">
                <a:ea typeface="宋体" panose="02010600030101010101" pitchFamily="2" charset="-122"/>
              </a:rPr>
              <a:t>任务输出</a:t>
            </a:r>
            <a:r>
              <a:rPr lang="en-US" altLang="zh-CN" dirty="0">
                <a:ea typeface="宋体" panose="02010600030101010101" pitchFamily="2" charset="-122"/>
              </a:rPr>
              <a:t>)</a:t>
            </a:r>
            <a:r>
              <a:rPr lang="zh-CN" altLang="en-US" dirty="0">
                <a:ea typeface="宋体" panose="02010600030101010101" pitchFamily="2" charset="-122"/>
              </a:rPr>
              <a:t>的数据类型</a:t>
            </a:r>
          </a:p>
          <a:p>
            <a:pPr lvl="3"/>
            <a:r>
              <a:rPr lang="en-US" altLang="zh-CN" dirty="0">
                <a:solidFill>
                  <a:srgbClr val="FF0000"/>
                </a:solidFill>
                <a:ea typeface="宋体" panose="02010600030101010101" pitchFamily="2" charset="-122"/>
              </a:rPr>
              <a:t>KEYOUT</a:t>
            </a:r>
            <a:r>
              <a:rPr lang="zh-CN" altLang="en-US" dirty="0">
                <a:solidFill>
                  <a:srgbClr val="FF0000"/>
                </a:solidFill>
                <a:ea typeface="宋体" panose="02010600030101010101" pitchFamily="2" charset="-122"/>
              </a:rPr>
              <a:t>和</a:t>
            </a:r>
            <a:r>
              <a:rPr lang="en-US" altLang="zh-CN" dirty="0">
                <a:solidFill>
                  <a:srgbClr val="FF0000"/>
                </a:solidFill>
                <a:ea typeface="宋体" panose="02010600030101010101" pitchFamily="2" charset="-122"/>
              </a:rPr>
              <a:t>VALUEOUT</a:t>
            </a:r>
            <a:r>
              <a:rPr lang="zh-CN" altLang="en-US" dirty="0">
                <a:ea typeface="宋体" panose="02010600030101010101" pitchFamily="2" charset="-122"/>
              </a:rPr>
              <a:t>：输出的数据类型</a:t>
            </a:r>
          </a:p>
          <a:p>
            <a:pPr lvl="2"/>
            <a:r>
              <a:rPr lang="en-US" altLang="zh-CN" dirty="0">
                <a:ea typeface="宋体" panose="02010600030101010101" pitchFamily="2" charset="-122"/>
              </a:rPr>
              <a:t>reduce()</a:t>
            </a:r>
            <a:r>
              <a:rPr lang="zh-CN" altLang="en-US" dirty="0">
                <a:ea typeface="宋体" panose="02010600030101010101" pitchFamily="2" charset="-122"/>
              </a:rPr>
              <a:t>方法有</a:t>
            </a:r>
            <a:r>
              <a:rPr lang="en-US" altLang="zh-CN" dirty="0">
                <a:ea typeface="宋体" panose="02010600030101010101" pitchFamily="2" charset="-122"/>
              </a:rPr>
              <a:t>3</a:t>
            </a:r>
            <a:r>
              <a:rPr lang="zh-CN" altLang="en-US" dirty="0">
                <a:ea typeface="宋体" panose="02010600030101010101" pitchFamily="2" charset="-122"/>
              </a:rPr>
              <a:t>个参数：</a:t>
            </a:r>
          </a:p>
          <a:p>
            <a:pPr lvl="3"/>
            <a:r>
              <a:rPr lang="en-US" altLang="zh-CN" sz="2400" dirty="0">
                <a:ea typeface="宋体" panose="02010600030101010101" pitchFamily="2" charset="-122"/>
                <a:sym typeface="+mn-ea"/>
              </a:rPr>
              <a:t>key</a:t>
            </a:r>
            <a:r>
              <a:rPr lang="zh-CN" altLang="en-US" sz="2400" dirty="0">
                <a:ea typeface="宋体" panose="02010600030101010101" pitchFamily="2" charset="-122"/>
                <a:sym typeface="+mn-ea"/>
              </a:rPr>
              <a:t>：从传入参数解释出的</a:t>
            </a:r>
            <a:r>
              <a:rPr lang="en-US" altLang="zh-CN" sz="2400" dirty="0">
                <a:ea typeface="宋体" panose="02010600030101010101" pitchFamily="2" charset="-122"/>
                <a:sym typeface="+mn-ea"/>
              </a:rPr>
              <a:t>&lt;key,value&gt;</a:t>
            </a:r>
            <a:r>
              <a:rPr lang="zh-CN" altLang="en-US" sz="2400" dirty="0">
                <a:ea typeface="宋体" panose="02010600030101010101" pitchFamily="2" charset="-122"/>
                <a:sym typeface="+mn-ea"/>
              </a:rPr>
              <a:t>对中的</a:t>
            </a:r>
            <a:r>
              <a:rPr lang="en-US" altLang="zh-CN" sz="2400" dirty="0">
                <a:ea typeface="宋体" panose="02010600030101010101" pitchFamily="2" charset="-122"/>
                <a:sym typeface="+mn-ea"/>
              </a:rPr>
              <a:t>key</a:t>
            </a:r>
            <a:endParaRPr lang="en-US" altLang="zh-CN" sz="2400" dirty="0">
              <a:ea typeface="宋体" panose="02010600030101010101" pitchFamily="2" charset="-122"/>
            </a:endParaRPr>
          </a:p>
          <a:p>
            <a:pPr lvl="3"/>
            <a:r>
              <a:rPr lang="en-US" altLang="zh-CN" sz="2400" dirty="0">
                <a:ea typeface="宋体" panose="02010600030101010101" pitchFamily="2" charset="-122"/>
                <a:sym typeface="+mn-ea"/>
              </a:rPr>
              <a:t>values</a:t>
            </a:r>
            <a:r>
              <a:rPr lang="zh-CN" altLang="en-US" sz="2400" dirty="0">
                <a:ea typeface="宋体" panose="02010600030101010101" pitchFamily="2" charset="-122"/>
                <a:sym typeface="+mn-ea"/>
              </a:rPr>
              <a:t>：从传入参数解释出的</a:t>
            </a:r>
            <a:r>
              <a:rPr lang="en-US" altLang="zh-CN" sz="2400" dirty="0">
                <a:ea typeface="宋体" panose="02010600030101010101" pitchFamily="2" charset="-122"/>
                <a:sym typeface="+mn-ea"/>
              </a:rPr>
              <a:t>&lt;key,value&gt;</a:t>
            </a:r>
            <a:r>
              <a:rPr lang="zh-CN" altLang="en-US" sz="2400" dirty="0">
                <a:ea typeface="宋体" panose="02010600030101010101" pitchFamily="2" charset="-122"/>
                <a:sym typeface="+mn-ea"/>
              </a:rPr>
              <a:t>对中的</a:t>
            </a:r>
            <a:r>
              <a:rPr lang="en-US" altLang="zh-CN" sz="2400" dirty="0">
                <a:ea typeface="宋体" panose="02010600030101010101" pitchFamily="2" charset="-122"/>
                <a:sym typeface="+mn-ea"/>
              </a:rPr>
              <a:t>value-list</a:t>
            </a:r>
          </a:p>
          <a:p>
            <a:pPr lvl="3"/>
            <a:r>
              <a:rPr lang="en-US" altLang="zh-CN" sz="2400" dirty="0">
                <a:ea typeface="宋体" panose="02010600030101010101" pitchFamily="2" charset="-122"/>
                <a:sym typeface="+mn-ea"/>
              </a:rPr>
              <a:t>context</a:t>
            </a:r>
            <a:r>
              <a:rPr lang="zh-CN" altLang="en-US" sz="2400" dirty="0">
                <a:ea typeface="宋体" panose="02010600030101010101" pitchFamily="2" charset="-122"/>
                <a:sym typeface="+mn-ea"/>
              </a:rPr>
              <a:t>：上下文对象</a:t>
            </a:r>
          </a:p>
          <a:p>
            <a:pPr lvl="2"/>
            <a:endParaRPr lang="zh-CN" altLang="en-US" dirty="0">
              <a:ea typeface="宋体" panose="02010600030101010101" pitchFamily="2" charset="-122"/>
            </a:endParaRPr>
          </a:p>
          <a:p>
            <a:pPr lvl="3"/>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en-US" altLang="zh-CN" dirty="0" err="1"/>
              <a:t>MapReduce</a:t>
            </a:r>
            <a:r>
              <a:rPr lang="zh-CN" altLang="en-US" dirty="0"/>
              <a:t>编程基础</a:t>
            </a:r>
          </a:p>
        </p:txBody>
      </p:sp>
      <p:sp>
        <p:nvSpPr>
          <p:cNvPr id="6" name="内容占位符 5"/>
          <p:cNvSpPr>
            <a:spLocks noGrp="1"/>
          </p:cNvSpPr>
          <p:nvPr>
            <p:ph idx="1"/>
          </p:nvPr>
        </p:nvSpPr>
        <p:spPr/>
        <p:txBody>
          <a:bodyPr/>
          <a:lstStyle/>
          <a:p>
            <a:r>
              <a:rPr lang="en-US" altLang="zh-CN" dirty="0" smtClean="0"/>
              <a:t>Reducer</a:t>
            </a:r>
            <a:r>
              <a:rPr lang="zh-CN" altLang="en-US" dirty="0"/>
              <a:t>类</a:t>
            </a:r>
          </a:p>
        </p:txBody>
      </p:sp>
      <p:pic>
        <p:nvPicPr>
          <p:cNvPr id="7"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187624" y="1916832"/>
            <a:ext cx="5806931"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indent="0">
              <a:buNone/>
            </a:pPr>
            <a:r>
              <a:rPr lang="en-US" altLang="zh-CN" dirty="0"/>
              <a:t>3.1 </a:t>
            </a:r>
            <a:r>
              <a:rPr lang="en-US" altLang="zh-CN" dirty="0" err="1">
                <a:sym typeface="+mn-ea"/>
              </a:rPr>
              <a:t>MapReduce</a:t>
            </a:r>
            <a:r>
              <a:rPr lang="zh-CN" altLang="en-US" dirty="0">
                <a:sym typeface="+mn-ea"/>
              </a:rPr>
              <a:t>原理</a:t>
            </a:r>
            <a:endParaRPr lang="en-US" altLang="zh-CN" dirty="0">
              <a:sym typeface="+mn-ea"/>
            </a:endParaRPr>
          </a:p>
          <a:p>
            <a:pPr marL="0" indent="0">
              <a:buNone/>
            </a:pPr>
            <a:r>
              <a:rPr lang="en-US" altLang="zh-CN" dirty="0"/>
              <a:t>3.2 </a:t>
            </a:r>
            <a:r>
              <a:rPr lang="en-US" altLang="zh-CN" dirty="0" err="1"/>
              <a:t>MapReduce</a:t>
            </a:r>
            <a:r>
              <a:rPr lang="zh-CN" altLang="en-US" dirty="0"/>
              <a:t>编程基础</a:t>
            </a:r>
            <a:endParaRPr lang="zh-CN" dirty="0"/>
          </a:p>
          <a:p>
            <a:pPr marL="0" indent="0">
              <a:buNone/>
              <a:defRPr/>
            </a:pPr>
            <a:r>
              <a:rPr lang="en-US" altLang="zh-CN" dirty="0">
                <a:solidFill>
                  <a:srgbClr val="FF0000"/>
                </a:solidFill>
                <a:ea typeface="宋体" panose="02010600030101010101" pitchFamily="2" charset="-122"/>
              </a:rPr>
              <a:t>3.3 MapReduce</a:t>
            </a:r>
            <a:r>
              <a:rPr lang="zh-CN" altLang="en-US" dirty="0">
                <a:solidFill>
                  <a:srgbClr val="FF0000"/>
                </a:solidFill>
                <a:ea typeface="宋体" panose="02010600030101010101" pitchFamily="2" charset="-122"/>
              </a:rPr>
              <a:t>程序编写步骤</a:t>
            </a:r>
          </a:p>
          <a:p>
            <a:pPr marL="0" indent="0">
              <a:buNone/>
            </a:pPr>
            <a:r>
              <a:rPr lang="en-US" altLang="zh-CN" dirty="0"/>
              <a:t>3.4 </a:t>
            </a:r>
            <a:r>
              <a:rPr lang="en-US" altLang="zh-CN" dirty="0" err="1" smtClean="0">
                <a:sym typeface="+mn-ea"/>
              </a:rPr>
              <a:t>MapReduce</a:t>
            </a:r>
            <a:r>
              <a:rPr lang="zh-CN" altLang="en-US" dirty="0" smtClean="0">
                <a:sym typeface="+mn-ea"/>
              </a:rPr>
              <a:t>综合案例</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MapReduce</a:t>
            </a:r>
            <a:r>
              <a:rPr lang="zh-CN" altLang="en-US" dirty="0"/>
              <a:t>程序编写步骤</a:t>
            </a:r>
          </a:p>
        </p:txBody>
      </p:sp>
      <p:sp>
        <p:nvSpPr>
          <p:cNvPr id="3" name="内容占位符 2"/>
          <p:cNvSpPr>
            <a:spLocks noGrp="1"/>
          </p:cNvSpPr>
          <p:nvPr>
            <p:ph idx="1"/>
          </p:nvPr>
        </p:nvSpPr>
        <p:spPr/>
        <p:txBody>
          <a:bodyPr/>
          <a:lstStyle/>
          <a:p>
            <a:r>
              <a:rPr lang="en-US" altLang="zh-CN" dirty="0"/>
              <a:t>Hadoop</a:t>
            </a:r>
            <a:r>
              <a:rPr lang="zh-CN" altLang="en-US" dirty="0"/>
              <a:t>支持多种语言开发</a:t>
            </a:r>
            <a:r>
              <a:rPr lang="en-US" altLang="zh-CN" dirty="0"/>
              <a:t>MapReduce</a:t>
            </a:r>
            <a:r>
              <a:rPr lang="zh-CN" altLang="en-US" dirty="0"/>
              <a:t>程序，但对</a:t>
            </a:r>
            <a:r>
              <a:rPr lang="en-US" altLang="zh-CN" dirty="0"/>
              <a:t>Java</a:t>
            </a:r>
            <a:r>
              <a:rPr lang="zh-CN" altLang="en-US" dirty="0"/>
              <a:t>语言支持最好，提供了很多方便的</a:t>
            </a:r>
            <a:r>
              <a:rPr lang="en-US" altLang="zh-CN" dirty="0"/>
              <a:t>Java API</a:t>
            </a:r>
            <a:r>
              <a:rPr lang="zh-CN" altLang="en-US" dirty="0"/>
              <a:t>接口</a:t>
            </a:r>
            <a:endParaRPr lang="en-US" altLang="zh-CN" dirty="0"/>
          </a:p>
          <a:p>
            <a:r>
              <a:rPr lang="en-US" altLang="zh-CN" dirty="0"/>
              <a:t>Java</a:t>
            </a:r>
            <a:r>
              <a:rPr lang="zh-CN" altLang="en-US" dirty="0"/>
              <a:t>编写一个</a:t>
            </a:r>
            <a:r>
              <a:rPr lang="en-US" altLang="zh-CN" dirty="0"/>
              <a:t>MapReduce</a:t>
            </a:r>
            <a:r>
              <a:rPr lang="zh-CN" altLang="en-US" dirty="0"/>
              <a:t>程序，需新建三个类</a:t>
            </a:r>
            <a:endParaRPr lang="en-US" altLang="zh-CN" dirty="0"/>
          </a:p>
          <a:p>
            <a:pPr lvl="1"/>
            <a:r>
              <a:rPr lang="en-US" altLang="zh-CN" dirty="0"/>
              <a:t>Mapper</a:t>
            </a:r>
            <a:r>
              <a:rPr lang="zh-CN" altLang="en-US" dirty="0"/>
              <a:t>类</a:t>
            </a:r>
            <a:endParaRPr lang="en-US" altLang="zh-CN" dirty="0"/>
          </a:p>
          <a:p>
            <a:pPr lvl="1"/>
            <a:r>
              <a:rPr lang="en-US" altLang="zh-CN" dirty="0"/>
              <a:t>Reduce</a:t>
            </a:r>
            <a:r>
              <a:rPr lang="zh-CN" altLang="en-US" dirty="0"/>
              <a:t>类</a:t>
            </a:r>
            <a:endParaRPr lang="en-US" altLang="zh-CN" dirty="0"/>
          </a:p>
          <a:p>
            <a:pPr lvl="1"/>
            <a:r>
              <a:rPr lang="zh-CN" altLang="en-US" dirty="0"/>
              <a:t>程序执行主类</a:t>
            </a:r>
            <a:endParaRPr lang="en-US" altLang="zh-CN"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MapReduce</a:t>
            </a:r>
            <a:r>
              <a:rPr lang="zh-CN" altLang="en-US" dirty="0"/>
              <a:t>程序编写步骤</a:t>
            </a:r>
          </a:p>
        </p:txBody>
      </p:sp>
      <p:sp>
        <p:nvSpPr>
          <p:cNvPr id="6" name="内容占位符 5"/>
          <p:cNvSpPr>
            <a:spLocks noGrp="1"/>
          </p:cNvSpPr>
          <p:nvPr>
            <p:ph idx="1"/>
          </p:nvPr>
        </p:nvSpPr>
        <p:spPr/>
        <p:txBody>
          <a:bodyPr/>
          <a:lstStyle/>
          <a:p>
            <a:r>
              <a:rPr lang="zh-CN" altLang="en-US" dirty="0"/>
              <a:t>以单词计数（</a:t>
            </a:r>
            <a:r>
              <a:rPr lang="en-US" altLang="zh-CN" dirty="0" err="1"/>
              <a:t>WordCount</a:t>
            </a:r>
            <a:r>
              <a:rPr lang="zh-CN" altLang="en-US" dirty="0"/>
              <a:t>）为例</a:t>
            </a:r>
          </a:p>
          <a:p>
            <a:pPr lvl="1"/>
            <a:r>
              <a:rPr lang="en-US" altLang="zh-CN" dirty="0" err="1"/>
              <a:t>WordCount</a:t>
            </a:r>
            <a:r>
              <a:rPr lang="zh-CN" altLang="en-US" dirty="0"/>
              <a:t>执行流程</a:t>
            </a:r>
          </a:p>
        </p:txBody>
      </p:sp>
      <p:pic>
        <p:nvPicPr>
          <p:cNvPr id="7"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971600" y="2420888"/>
            <a:ext cx="6210300" cy="236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3.3 MapReduce</a:t>
            </a:r>
            <a:r>
              <a:rPr lang="zh-CN" altLang="en-US" dirty="0">
                <a:sym typeface="+mn-ea"/>
              </a:rPr>
              <a:t>程序编写</a:t>
            </a:r>
            <a:r>
              <a:rPr lang="zh-CN" altLang="en-US" dirty="0" smtClean="0">
                <a:sym typeface="+mn-ea"/>
              </a:rPr>
              <a:t>步骤</a:t>
            </a:r>
            <a:endParaRPr lang="zh-CN" altLang="en-US" dirty="0"/>
          </a:p>
        </p:txBody>
      </p:sp>
      <p:sp>
        <p:nvSpPr>
          <p:cNvPr id="3" name="内容占位符 2"/>
          <p:cNvSpPr>
            <a:spLocks noGrp="1"/>
          </p:cNvSpPr>
          <p:nvPr>
            <p:ph idx="1"/>
          </p:nvPr>
        </p:nvSpPr>
        <p:spPr/>
        <p:txBody>
          <a:bodyPr/>
          <a:lstStyle/>
          <a:p>
            <a:r>
              <a:rPr lang="zh-CN" altLang="en-US" dirty="0">
                <a:sym typeface="+mn-ea"/>
              </a:rPr>
              <a:t>新建</a:t>
            </a:r>
            <a:r>
              <a:rPr lang="en-US" altLang="zh-CN" dirty="0">
                <a:sym typeface="+mn-ea"/>
              </a:rPr>
              <a:t>Mapper</a:t>
            </a:r>
            <a:r>
              <a:rPr lang="zh-CN" altLang="en-US" dirty="0">
                <a:sym typeface="+mn-ea"/>
              </a:rPr>
              <a:t>类</a:t>
            </a:r>
            <a:endParaRPr lang="en-US" altLang="zh-CN" dirty="0"/>
          </a:p>
          <a:p>
            <a:endParaRPr lang="zh-CN" altLang="en-US"/>
          </a:p>
        </p:txBody>
      </p:sp>
      <p:pic>
        <p:nvPicPr>
          <p:cNvPr id="4" name="图片 3" descr="屏幕截图(55)"/>
          <p:cNvPicPr>
            <a:picLocks noChangeAspect="1"/>
          </p:cNvPicPr>
          <p:nvPr>
            <p:custDataLst>
              <p:tags r:id="rId1"/>
            </p:custDataLst>
          </p:nvPr>
        </p:nvPicPr>
        <p:blipFill>
          <a:blip r:embed="rId3"/>
          <a:stretch>
            <a:fillRect/>
          </a:stretch>
        </p:blipFill>
        <p:spPr>
          <a:xfrm>
            <a:off x="470545" y="1931035"/>
            <a:ext cx="7091680" cy="2995930"/>
          </a:xfrm>
          <a:prstGeom prst="rect">
            <a:avLst/>
          </a:prstGeom>
        </p:spPr>
      </p:pic>
      <p:pic>
        <p:nvPicPr>
          <p:cNvPr id="5" name="内容占位符 3" descr="微信图片_20200316095351"/>
          <p:cNvPicPr>
            <a:picLocks noChangeAspect="1"/>
          </p:cNvPicPr>
          <p:nvPr/>
        </p:nvPicPr>
        <p:blipFill>
          <a:blip r:embed="rId4"/>
          <a:stretch>
            <a:fillRect/>
          </a:stretch>
        </p:blipFill>
        <p:spPr>
          <a:xfrm>
            <a:off x="1547664" y="4521993"/>
            <a:ext cx="6691047" cy="1928813"/>
          </a:xfrm>
          <a:prstGeom prst="rect">
            <a:avLst/>
          </a:prstGeom>
          <a:noFill/>
          <a:ln>
            <a:noFill/>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MapReduce</a:t>
            </a:r>
            <a:r>
              <a:rPr lang="zh-CN" altLang="en-US" dirty="0"/>
              <a:t>程序编写步骤</a:t>
            </a:r>
          </a:p>
        </p:txBody>
      </p:sp>
      <p:sp>
        <p:nvSpPr>
          <p:cNvPr id="3" name="内容占位符 2"/>
          <p:cNvSpPr>
            <a:spLocks noGrp="1"/>
          </p:cNvSpPr>
          <p:nvPr>
            <p:ph idx="1"/>
          </p:nvPr>
        </p:nvSpPr>
        <p:spPr/>
        <p:txBody>
          <a:bodyPr/>
          <a:lstStyle/>
          <a:p>
            <a:r>
              <a:rPr lang="zh-CN" altLang="en-US" dirty="0"/>
              <a:t>新建</a:t>
            </a:r>
            <a:r>
              <a:rPr lang="en-US" altLang="zh-CN" dirty="0"/>
              <a:t>Reducer</a:t>
            </a:r>
            <a:r>
              <a:rPr lang="zh-CN" altLang="en-US" dirty="0"/>
              <a:t>类</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916832"/>
            <a:ext cx="6640645" cy="2838710"/>
          </a:xfrm>
          <a:prstGeom prst="rect">
            <a:avLst/>
          </a:prstGeom>
        </p:spPr>
      </p:pic>
      <p:pic>
        <p:nvPicPr>
          <p:cNvPr id="6" name="内容占位符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987824" y="4621474"/>
            <a:ext cx="5086851" cy="1703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MapReduce</a:t>
            </a:r>
            <a:r>
              <a:rPr lang="zh-CN" altLang="en-US" dirty="0"/>
              <a:t>程序编写步骤</a:t>
            </a:r>
          </a:p>
        </p:txBody>
      </p:sp>
      <p:sp>
        <p:nvSpPr>
          <p:cNvPr id="3" name="内容占位符 2"/>
          <p:cNvSpPr>
            <a:spLocks noGrp="1"/>
          </p:cNvSpPr>
          <p:nvPr>
            <p:ph idx="1"/>
          </p:nvPr>
        </p:nvSpPr>
        <p:spPr/>
        <p:txBody>
          <a:bodyPr/>
          <a:lstStyle/>
          <a:p>
            <a:r>
              <a:rPr lang="zh-CN" altLang="en-US" dirty="0"/>
              <a:t>编写程序执行主类</a:t>
            </a:r>
            <a:endParaRPr lang="en-US" altLang="zh-CN" dirty="0"/>
          </a:p>
          <a:p>
            <a:pPr lvl="1"/>
            <a:r>
              <a:rPr lang="zh-CN" altLang="en-US" dirty="0"/>
              <a:t>需要指定自定义的</a:t>
            </a:r>
            <a:r>
              <a:rPr lang="en-US" altLang="zh-CN" dirty="0"/>
              <a:t>Mapper</a:t>
            </a:r>
            <a:r>
              <a:rPr lang="zh-CN" altLang="en-US" dirty="0"/>
              <a:t>类、</a:t>
            </a:r>
            <a:r>
              <a:rPr lang="en-US" altLang="zh-CN" dirty="0"/>
              <a:t>Reducer</a:t>
            </a:r>
            <a:r>
              <a:rPr lang="zh-CN" altLang="en-US" dirty="0"/>
              <a:t>类，及相应输入、输出等参数</a:t>
            </a:r>
          </a:p>
        </p:txBody>
      </p:sp>
      <p:pic>
        <p:nvPicPr>
          <p:cNvPr id="4" name="图片 3" descr="屏幕截图(68)"/>
          <p:cNvPicPr>
            <a:picLocks noChangeAspect="1"/>
          </p:cNvPicPr>
          <p:nvPr>
            <p:custDataLst>
              <p:tags r:id="rId1"/>
            </p:custDataLst>
          </p:nvPr>
        </p:nvPicPr>
        <p:blipFill>
          <a:blip r:embed="rId3"/>
          <a:stretch>
            <a:fillRect/>
          </a:stretch>
        </p:blipFill>
        <p:spPr>
          <a:xfrm>
            <a:off x="1726565" y="2731770"/>
            <a:ext cx="4560543" cy="412623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MapReduce</a:t>
            </a:r>
            <a:r>
              <a:rPr lang="zh-CN" altLang="en-US" dirty="0"/>
              <a:t>程序编写步骤</a:t>
            </a:r>
          </a:p>
        </p:txBody>
      </p:sp>
      <p:sp>
        <p:nvSpPr>
          <p:cNvPr id="3" name="内容占位符 2"/>
          <p:cNvSpPr>
            <a:spLocks noGrp="1"/>
          </p:cNvSpPr>
          <p:nvPr>
            <p:ph idx="1"/>
          </p:nvPr>
        </p:nvSpPr>
        <p:spPr/>
        <p:txBody>
          <a:bodyPr/>
          <a:lstStyle/>
          <a:p>
            <a:r>
              <a:rPr lang="en-US" altLang="zh-CN" dirty="0"/>
              <a:t>Combiner</a:t>
            </a:r>
            <a:r>
              <a:rPr lang="zh-CN" altLang="en-US" dirty="0"/>
              <a:t>函数</a:t>
            </a:r>
            <a:endParaRPr lang="en-US" altLang="zh-CN" dirty="0"/>
          </a:p>
          <a:p>
            <a:pPr lvl="1"/>
            <a:r>
              <a:rPr lang="zh-CN" altLang="en-US" sz="2400" dirty="0"/>
              <a:t>与</a:t>
            </a:r>
            <a:r>
              <a:rPr lang="en-US" altLang="zh-CN" sz="2400" dirty="0"/>
              <a:t>reduce</a:t>
            </a:r>
            <a:r>
              <a:rPr lang="zh-CN" altLang="en-US" sz="2400" dirty="0"/>
              <a:t>函数的形式相同（其实就是</a:t>
            </a:r>
            <a:r>
              <a:rPr lang="en-US" altLang="zh-CN" sz="2400" dirty="0"/>
              <a:t>Reducer</a:t>
            </a:r>
            <a:r>
              <a:rPr lang="zh-CN" altLang="en-US" sz="2400" dirty="0"/>
              <a:t>的一个实现），输出类型是中间的键值对类型，输入给</a:t>
            </a:r>
            <a:r>
              <a:rPr lang="en-US" altLang="zh-CN" sz="2400" dirty="0"/>
              <a:t>reduce</a:t>
            </a:r>
            <a:r>
              <a:rPr lang="zh-CN" altLang="en-US" sz="2400" dirty="0"/>
              <a:t>函数做最终的处理</a:t>
            </a:r>
            <a:endParaRPr lang="en-US" altLang="zh-CN" sz="2400" dirty="0"/>
          </a:p>
          <a:p>
            <a:pPr lvl="1"/>
            <a:r>
              <a:rPr lang="zh-CN" altLang="en-US" dirty="0"/>
              <a:t>功能</a:t>
            </a:r>
            <a:endParaRPr lang="en-US" altLang="zh-CN" dirty="0"/>
          </a:p>
          <a:p>
            <a:pPr lvl="2"/>
            <a:r>
              <a:rPr lang="zh-CN" altLang="en-US" dirty="0"/>
              <a:t>实现本地相同</a:t>
            </a:r>
            <a:r>
              <a:rPr lang="en-US" altLang="zh-CN" dirty="0"/>
              <a:t>key</a:t>
            </a:r>
            <a:r>
              <a:rPr lang="zh-CN" altLang="en-US" dirty="0"/>
              <a:t>的合并，对输出的</a:t>
            </a:r>
            <a:r>
              <a:rPr lang="en-US" altLang="zh-CN" dirty="0"/>
              <a:t>key</a:t>
            </a:r>
            <a:r>
              <a:rPr lang="zh-CN" altLang="en-US" dirty="0"/>
              <a:t>排序，对</a:t>
            </a:r>
            <a:r>
              <a:rPr lang="en-US" altLang="zh-CN" dirty="0"/>
              <a:t>value</a:t>
            </a:r>
            <a:r>
              <a:rPr lang="zh-CN" altLang="en-US" dirty="0"/>
              <a:t>进行本地聚合运算</a:t>
            </a:r>
            <a:endParaRPr lang="en-US" altLang="zh-CN" dirty="0"/>
          </a:p>
          <a:p>
            <a:pPr lvl="1"/>
            <a:r>
              <a:rPr lang="zh-CN" altLang="en-US" dirty="0"/>
              <a:t>作用</a:t>
            </a:r>
            <a:endParaRPr lang="en-US" altLang="zh-CN" dirty="0"/>
          </a:p>
          <a:p>
            <a:pPr lvl="2"/>
            <a:r>
              <a:rPr lang="zh-CN" altLang="en-US" dirty="0"/>
              <a:t>减少在</a:t>
            </a:r>
            <a:r>
              <a:rPr lang="en-US" altLang="zh-CN" dirty="0"/>
              <a:t>map</a:t>
            </a:r>
            <a:r>
              <a:rPr lang="zh-CN" altLang="en-US" dirty="0"/>
              <a:t>和</a:t>
            </a:r>
            <a:r>
              <a:rPr lang="en-US" altLang="zh-CN" dirty="0"/>
              <a:t>reduce</a:t>
            </a:r>
            <a:r>
              <a:rPr lang="zh-CN" altLang="en-US" dirty="0"/>
              <a:t>节点之间的数据传输量，以提高网络</a:t>
            </a:r>
            <a:r>
              <a:rPr lang="en-US" altLang="zh-CN" dirty="0"/>
              <a:t>I/O</a:t>
            </a:r>
            <a:r>
              <a:rPr lang="zh-CN" altLang="en-US" dirty="0"/>
              <a:t>性能</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MapReduce</a:t>
            </a:r>
            <a:r>
              <a:rPr lang="zh-CN" altLang="en-US" dirty="0"/>
              <a:t>程序编写步骤</a:t>
            </a:r>
          </a:p>
        </p:txBody>
      </p:sp>
      <p:sp>
        <p:nvSpPr>
          <p:cNvPr id="3" name="内容占位符 2"/>
          <p:cNvSpPr>
            <a:spLocks noGrp="1"/>
          </p:cNvSpPr>
          <p:nvPr>
            <p:ph idx="1"/>
          </p:nvPr>
        </p:nvSpPr>
        <p:spPr/>
        <p:txBody>
          <a:bodyPr/>
          <a:lstStyle/>
          <a:p>
            <a:r>
              <a:rPr lang="en-US" altLang="zh-CN" dirty="0"/>
              <a:t>Combiner</a:t>
            </a:r>
            <a:r>
              <a:rPr lang="zh-CN" altLang="en-US" dirty="0"/>
              <a:t>函数</a:t>
            </a:r>
            <a:endParaRPr lang="en-US" altLang="zh-CN"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916832"/>
            <a:ext cx="5910263" cy="76200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8611" y="2846412"/>
            <a:ext cx="5348288" cy="3390900"/>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MapReduce</a:t>
            </a:r>
            <a:r>
              <a:rPr lang="zh-CN" altLang="en-US" dirty="0"/>
              <a:t>程序编写步骤</a:t>
            </a:r>
          </a:p>
        </p:txBody>
      </p:sp>
      <p:sp>
        <p:nvSpPr>
          <p:cNvPr id="3" name="内容占位符 2"/>
          <p:cNvSpPr>
            <a:spLocks noGrp="1"/>
          </p:cNvSpPr>
          <p:nvPr>
            <p:ph idx="1"/>
          </p:nvPr>
        </p:nvSpPr>
        <p:spPr/>
        <p:txBody>
          <a:bodyPr/>
          <a:lstStyle/>
          <a:p>
            <a:r>
              <a:rPr lang="en-US" altLang="zh-CN" dirty="0"/>
              <a:t>Combiner</a:t>
            </a:r>
            <a:r>
              <a:rPr lang="zh-CN" altLang="en-US" dirty="0"/>
              <a:t>函数</a:t>
            </a:r>
            <a:endParaRPr lang="en-US" altLang="zh-CN" dirty="0"/>
          </a:p>
          <a:p>
            <a:pPr lvl="1"/>
            <a:r>
              <a:rPr lang="en-US" altLang="zh-CN" sz="2400" dirty="0"/>
              <a:t>Combiner</a:t>
            </a:r>
            <a:r>
              <a:rPr lang="zh-CN" altLang="en-US" sz="2400" dirty="0"/>
              <a:t>函数没有默认实现</a:t>
            </a:r>
            <a:endParaRPr lang="en-US" altLang="zh-CN" sz="2400" dirty="0"/>
          </a:p>
          <a:p>
            <a:pPr lvl="1"/>
            <a:r>
              <a:rPr lang="zh-CN" altLang="en-US" sz="2400" dirty="0"/>
              <a:t>只能用于</a:t>
            </a:r>
            <a:r>
              <a:rPr lang="en-US" altLang="zh-CN" sz="2400" dirty="0"/>
              <a:t>Reduce</a:t>
            </a:r>
            <a:r>
              <a:rPr lang="zh-CN" altLang="en-US" sz="2400" dirty="0"/>
              <a:t>的输入键值对与输出键值对完全一致，且不影响最终结果的场景，如累加、求最大值</a:t>
            </a:r>
            <a:endParaRPr lang="en-US" altLang="zh-CN" sz="2400" dirty="0"/>
          </a:p>
          <a:p>
            <a:pPr lvl="1"/>
            <a:r>
              <a:rPr lang="zh-CN" altLang="en-US" dirty="0"/>
              <a:t>可以在通过</a:t>
            </a:r>
            <a:r>
              <a:rPr lang="en-US" altLang="zh-CN" dirty="0" err="1"/>
              <a:t>setCombinerClass</a:t>
            </a:r>
            <a:r>
              <a:rPr lang="en-US" altLang="zh-CN" dirty="0"/>
              <a:t>()</a:t>
            </a:r>
            <a:r>
              <a:rPr lang="zh-CN" altLang="en-US" dirty="0"/>
              <a:t>设置</a:t>
            </a:r>
            <a:endParaRPr lang="en-US" altLang="zh-CN" dirty="0"/>
          </a:p>
          <a:p>
            <a:pPr lvl="2"/>
            <a:r>
              <a:rPr lang="zh-CN" altLang="en-US" dirty="0"/>
              <a:t>如： </a:t>
            </a:r>
            <a:r>
              <a:rPr lang="en-US" altLang="zh-CN" dirty="0"/>
              <a:t>job. </a:t>
            </a:r>
            <a:r>
              <a:rPr lang="en-US" altLang="zh-CN" dirty="0" err="1"/>
              <a:t>setCombinerClass</a:t>
            </a:r>
            <a:r>
              <a:rPr lang="en-US" altLang="zh-CN" dirty="0"/>
              <a:t>(</a:t>
            </a:r>
            <a:r>
              <a:rPr lang="en-US" altLang="zh-CN" dirty="0" err="1"/>
              <a:t>Reducer.class</a:t>
            </a:r>
            <a:r>
              <a:rPr lang="en-US" altLang="zh-CN" dirty="0"/>
              <a:t>)</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indent="0">
              <a:buNone/>
            </a:pPr>
            <a:r>
              <a:rPr lang="en-US" altLang="zh-CN" dirty="0"/>
              <a:t>3.1 </a:t>
            </a:r>
            <a:r>
              <a:rPr lang="en-US" altLang="zh-CN" dirty="0" err="1">
                <a:sym typeface="+mn-ea"/>
              </a:rPr>
              <a:t>MapReduce</a:t>
            </a:r>
            <a:r>
              <a:rPr lang="zh-CN" altLang="en-US" dirty="0">
                <a:sym typeface="+mn-ea"/>
              </a:rPr>
              <a:t>原理</a:t>
            </a:r>
            <a:endParaRPr lang="en-US" altLang="zh-CN" dirty="0">
              <a:sym typeface="+mn-ea"/>
            </a:endParaRPr>
          </a:p>
          <a:p>
            <a:pPr marL="0" indent="0">
              <a:buNone/>
            </a:pPr>
            <a:r>
              <a:rPr lang="en-US" altLang="zh-CN" dirty="0"/>
              <a:t>3.2 </a:t>
            </a:r>
            <a:r>
              <a:rPr lang="en-US" altLang="zh-CN" dirty="0" err="1"/>
              <a:t>MapReduce</a:t>
            </a:r>
            <a:r>
              <a:rPr lang="zh-CN" altLang="en-US" dirty="0"/>
              <a:t>编程基础</a:t>
            </a:r>
            <a:endParaRPr lang="zh-CN" dirty="0"/>
          </a:p>
          <a:p>
            <a:pPr marL="0" indent="0">
              <a:buNone/>
              <a:defRPr/>
            </a:pPr>
            <a:r>
              <a:rPr lang="en-US" altLang="zh-CN" dirty="0"/>
              <a:t>3.3 MapReduce</a:t>
            </a:r>
            <a:r>
              <a:rPr lang="zh-CN" altLang="en-US" dirty="0"/>
              <a:t>程序编写步骤</a:t>
            </a:r>
          </a:p>
          <a:p>
            <a:pPr marL="0" indent="0">
              <a:buNone/>
            </a:pPr>
            <a:r>
              <a:rPr lang="en-US" altLang="zh-CN" dirty="0">
                <a:solidFill>
                  <a:srgbClr val="FF0000"/>
                </a:solidFill>
                <a:ea typeface="宋体" panose="02010600030101010101" pitchFamily="2" charset="-122"/>
              </a:rPr>
              <a:t>3.4 </a:t>
            </a:r>
            <a:r>
              <a:rPr lang="en-US" altLang="zh-CN" dirty="0" err="1">
                <a:solidFill>
                  <a:srgbClr val="FF0000"/>
                </a:solidFill>
                <a:ea typeface="宋体" panose="02010600030101010101" pitchFamily="2" charset="-122"/>
                <a:sym typeface="+mn-ea"/>
              </a:rPr>
              <a:t>MapReduce</a:t>
            </a:r>
            <a:r>
              <a:rPr lang="zh-CN" altLang="en-US" dirty="0">
                <a:solidFill>
                  <a:srgbClr val="FF0000"/>
                </a:solidFill>
                <a:ea typeface="宋体" panose="02010600030101010101" pitchFamily="2" charset="-122"/>
                <a:sym typeface="+mn-ea"/>
              </a:rPr>
              <a:t>综合案例</a:t>
            </a:r>
            <a:endParaRPr lang="zh-CN" altLang="en-US" dirty="0">
              <a:solidFill>
                <a:srgbClr val="FF0000"/>
              </a:solidFill>
              <a:ea typeface="宋体" panose="02010600030101010101" pitchFamily="2" charset="-122"/>
            </a:endParaRPr>
          </a:p>
          <a:p>
            <a:endParaRPr lang="zh-CN" alt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数据去重</a:t>
            </a:r>
            <a:endParaRPr lang="en-US" altLang="zh-CN"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2583" y="2890468"/>
            <a:ext cx="1571625" cy="2085975"/>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9082" y="2492896"/>
            <a:ext cx="1733550" cy="1290638"/>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9178" y="3960318"/>
            <a:ext cx="1733550" cy="1390650"/>
          </a:xfrm>
          <a:prstGeom prst="rect">
            <a:avLst/>
          </a:prstGeom>
        </p:spPr>
      </p:pic>
      <p:sp>
        <p:nvSpPr>
          <p:cNvPr id="10" name="箭头: 右 9"/>
          <p:cNvSpPr/>
          <p:nvPr/>
        </p:nvSpPr>
        <p:spPr>
          <a:xfrm>
            <a:off x="3304976" y="3783534"/>
            <a:ext cx="1440160" cy="14992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数据去重</a:t>
            </a:r>
            <a:endParaRPr lang="en-US" altLang="zh-CN" dirty="0"/>
          </a:p>
          <a:p>
            <a:pPr lvl="1"/>
            <a:r>
              <a:rPr lang="zh-CN" altLang="en-US" dirty="0"/>
              <a:t>实现思路</a:t>
            </a:r>
            <a:endParaRPr lang="en-US" altLang="zh-CN" dirty="0"/>
          </a:p>
          <a:p>
            <a:pPr lvl="2"/>
            <a:r>
              <a:rPr lang="en-US" altLang="zh-CN" dirty="0"/>
              <a:t>Map</a:t>
            </a:r>
            <a:r>
              <a:rPr lang="zh-CN" altLang="en-US" dirty="0"/>
              <a:t>将接收的每一行数据作为</a:t>
            </a:r>
            <a:r>
              <a:rPr lang="en-US" altLang="zh-CN" dirty="0"/>
              <a:t>key</a:t>
            </a:r>
            <a:r>
              <a:rPr lang="zh-CN" altLang="en-US" dirty="0"/>
              <a:t> （</a:t>
            </a:r>
            <a:r>
              <a:rPr lang="en-US" altLang="zh-CN" dirty="0"/>
              <a:t>value</a:t>
            </a:r>
            <a:r>
              <a:rPr lang="zh-CN" altLang="en-US" dirty="0"/>
              <a:t>为空值）</a:t>
            </a:r>
            <a:endParaRPr lang="en-US" altLang="zh-CN" dirty="0"/>
          </a:p>
          <a:p>
            <a:pPr lvl="2"/>
            <a:r>
              <a:rPr lang="zh-CN" altLang="en-US" dirty="0"/>
              <a:t>当</a:t>
            </a:r>
            <a:r>
              <a:rPr lang="en-US" altLang="zh-CN" dirty="0"/>
              <a:t>Reduce</a:t>
            </a:r>
            <a:r>
              <a:rPr lang="zh-CN" altLang="en-US" dirty="0"/>
              <a:t>接收到一个</a:t>
            </a:r>
            <a:r>
              <a:rPr lang="en-US" altLang="zh-CN" dirty="0"/>
              <a:t>&lt;</a:t>
            </a:r>
            <a:r>
              <a:rPr lang="en-US" altLang="zh-CN" dirty="0" err="1"/>
              <a:t>key,value</a:t>
            </a:r>
            <a:r>
              <a:rPr lang="en-US" altLang="zh-CN" dirty="0"/>
              <a:t>-list&gt;</a:t>
            </a:r>
            <a:r>
              <a:rPr lang="zh-CN" altLang="en-US" dirty="0"/>
              <a:t>的时，直接将</a:t>
            </a:r>
            <a:r>
              <a:rPr lang="en-US" altLang="zh-CN" dirty="0"/>
              <a:t>key</a:t>
            </a:r>
            <a:r>
              <a:rPr lang="zh-CN" altLang="en-US" dirty="0"/>
              <a:t>复制到输出的</a:t>
            </a:r>
            <a:r>
              <a:rPr lang="en-US" altLang="zh-CN" dirty="0"/>
              <a:t>key</a:t>
            </a:r>
            <a:r>
              <a:rPr lang="zh-CN" altLang="en-US" dirty="0"/>
              <a:t>中（</a:t>
            </a:r>
            <a:r>
              <a:rPr lang="en-US" altLang="zh-CN" dirty="0"/>
              <a:t>value</a:t>
            </a:r>
            <a:r>
              <a:rPr lang="zh-CN" altLang="en-US" dirty="0"/>
              <a:t>为空值）。</a:t>
            </a:r>
            <a:endParaRPr lang="en-US" altLang="zh-CN"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求平均分</a:t>
            </a:r>
            <a:endParaRPr lang="en-US" altLang="zh-CN" dirty="0"/>
          </a:p>
          <a:p>
            <a:pPr marL="0" indent="0">
              <a:buNone/>
            </a:pPr>
            <a:endParaRPr lang="en-US" altLang="zh-CN" dirty="0"/>
          </a:p>
        </p:txBody>
      </p:sp>
      <p:grpSp>
        <p:nvGrpSpPr>
          <p:cNvPr id="11" name="组合 10"/>
          <p:cNvGrpSpPr/>
          <p:nvPr/>
        </p:nvGrpSpPr>
        <p:grpSpPr>
          <a:xfrm>
            <a:off x="1187624" y="2420888"/>
            <a:ext cx="5141739" cy="2767013"/>
            <a:chOff x="611560" y="2464593"/>
            <a:chExt cx="5141739" cy="2767013"/>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3140968"/>
              <a:ext cx="1757363" cy="890588"/>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2464593"/>
              <a:ext cx="2176463" cy="2767013"/>
            </a:xfrm>
            <a:prstGeom prst="rect">
              <a:avLst/>
            </a:prstGeom>
          </p:spPr>
        </p:pic>
        <p:sp>
          <p:nvSpPr>
            <p:cNvPr id="10" name="箭头: 右 9"/>
            <p:cNvSpPr/>
            <p:nvPr/>
          </p:nvSpPr>
          <p:spPr>
            <a:xfrm>
              <a:off x="2892971" y="3514254"/>
              <a:ext cx="936104" cy="14401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求平均分</a:t>
            </a:r>
            <a:endParaRPr lang="en-US" altLang="zh-CN" dirty="0"/>
          </a:p>
          <a:p>
            <a:pPr lvl="1"/>
            <a:r>
              <a:rPr lang="zh-CN" altLang="en-US" dirty="0"/>
              <a:t>实现思路</a:t>
            </a:r>
            <a:endParaRPr lang="en-US" altLang="zh-CN" dirty="0"/>
          </a:p>
          <a:p>
            <a:pPr lvl="2"/>
            <a:r>
              <a:rPr lang="en-US" altLang="zh-CN" dirty="0"/>
              <a:t>Map</a:t>
            </a:r>
            <a:r>
              <a:rPr lang="zh-CN" altLang="en-US" dirty="0"/>
              <a:t>将输入的姓名和分数分别作为</a:t>
            </a:r>
            <a:r>
              <a:rPr lang="en-US" altLang="zh-CN" dirty="0" err="1"/>
              <a:t>key,value</a:t>
            </a:r>
            <a:r>
              <a:rPr lang="zh-CN" altLang="en-US" dirty="0"/>
              <a:t>输出</a:t>
            </a:r>
            <a:endParaRPr lang="en-US" altLang="zh-CN" dirty="0"/>
          </a:p>
          <a:p>
            <a:pPr lvl="2"/>
            <a:r>
              <a:rPr lang="en-US" altLang="zh-CN" dirty="0" err="1"/>
              <a:t>Recude</a:t>
            </a:r>
            <a:r>
              <a:rPr lang="zh-CN" altLang="en-US" dirty="0"/>
              <a:t>将接收的</a:t>
            </a:r>
            <a:r>
              <a:rPr lang="en-US" altLang="zh-CN" dirty="0"/>
              <a:t>value-list</a:t>
            </a:r>
            <a:r>
              <a:rPr lang="zh-CN" altLang="en-US" dirty="0"/>
              <a:t>求平均值，并作为</a:t>
            </a:r>
            <a:r>
              <a:rPr lang="en-US" altLang="zh-CN" dirty="0"/>
              <a:t>value</a:t>
            </a:r>
            <a:r>
              <a:rPr lang="zh-CN" altLang="en-US" dirty="0"/>
              <a:t>进行输出</a:t>
            </a:r>
            <a:endParaRPr lang="en-US" altLang="zh-CN"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3658552"/>
            <a:ext cx="5777866" cy="2880360"/>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二次排序</a:t>
            </a:r>
            <a:endParaRPr lang="en-US" altLang="zh-CN" dirty="0"/>
          </a:p>
          <a:p>
            <a:pPr lvl="1"/>
            <a:r>
              <a:rPr lang="en-US" altLang="zh-CN" dirty="0"/>
              <a:t>MapReduce</a:t>
            </a:r>
            <a:r>
              <a:rPr lang="zh-CN" altLang="en-US" dirty="0"/>
              <a:t>在传递</a:t>
            </a:r>
            <a:r>
              <a:rPr lang="en-US" altLang="zh-CN" dirty="0"/>
              <a:t>&lt;</a:t>
            </a:r>
            <a:r>
              <a:rPr lang="en-US" altLang="zh-CN" dirty="0" err="1"/>
              <a:t>key,value</a:t>
            </a:r>
            <a:r>
              <a:rPr lang="en-US" altLang="zh-CN" dirty="0"/>
              <a:t>&gt;</a:t>
            </a:r>
            <a:r>
              <a:rPr lang="zh-CN" altLang="en-US" dirty="0"/>
              <a:t>对时，默认会按照</a:t>
            </a:r>
            <a:r>
              <a:rPr lang="en-US" altLang="zh-CN" dirty="0"/>
              <a:t>key</a:t>
            </a:r>
            <a:r>
              <a:rPr lang="zh-CN" altLang="en-US" dirty="0"/>
              <a:t>进行排序</a:t>
            </a:r>
            <a:endParaRPr lang="en-US" altLang="zh-CN" dirty="0"/>
          </a:p>
          <a:p>
            <a:pPr lvl="1"/>
            <a:r>
              <a:rPr lang="zh-CN" altLang="en-US" dirty="0"/>
              <a:t>而有时候除了</a:t>
            </a:r>
            <a:r>
              <a:rPr lang="en-US" altLang="zh-CN" dirty="0"/>
              <a:t>key</a:t>
            </a:r>
            <a:r>
              <a:rPr lang="zh-CN" altLang="en-US" dirty="0"/>
              <a:t>以外，还需要根据</a:t>
            </a:r>
            <a:r>
              <a:rPr lang="en-US" altLang="zh-CN" dirty="0"/>
              <a:t>value</a:t>
            </a:r>
            <a:r>
              <a:rPr lang="zh-CN" altLang="en-US" dirty="0"/>
              <a:t>或</a:t>
            </a:r>
            <a:r>
              <a:rPr lang="en-US" altLang="zh-CN" dirty="0"/>
              <a:t>value</a:t>
            </a:r>
            <a:r>
              <a:rPr lang="zh-CN" altLang="en-US" dirty="0"/>
              <a:t>的某一个字段进行排序，这种根据自定义需求进行的排序称为“二次排序”</a:t>
            </a:r>
            <a:endParaRPr lang="en-US" altLang="zh-CN" dirty="0"/>
          </a:p>
          <a:p>
            <a:pPr lvl="2"/>
            <a:r>
              <a:rPr lang="zh-CN" altLang="en-US" dirty="0"/>
              <a:t>例如：先按照第一字段升序排列，第一字段相同时，按照第二字段降序排列</a:t>
            </a:r>
          </a:p>
        </p:txBody>
      </p:sp>
      <p:grpSp>
        <p:nvGrpSpPr>
          <p:cNvPr id="9" name="组合 8"/>
          <p:cNvGrpSpPr/>
          <p:nvPr/>
        </p:nvGrpSpPr>
        <p:grpSpPr>
          <a:xfrm>
            <a:off x="2051720" y="5305425"/>
            <a:ext cx="3530450" cy="1019175"/>
            <a:chOff x="971600" y="2564904"/>
            <a:chExt cx="3530450" cy="1019175"/>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5856" y="2564905"/>
              <a:ext cx="1226194" cy="1019174"/>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2564904"/>
              <a:ext cx="1009650" cy="1019175"/>
            </a:xfrm>
            <a:prstGeom prst="rect">
              <a:avLst/>
            </a:prstGeom>
          </p:spPr>
        </p:pic>
        <p:sp>
          <p:nvSpPr>
            <p:cNvPr id="8" name="箭头: 右 7"/>
            <p:cNvSpPr/>
            <p:nvPr/>
          </p:nvSpPr>
          <p:spPr>
            <a:xfrm>
              <a:off x="2051720" y="3074491"/>
              <a:ext cx="1152128" cy="13848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二次排序</a:t>
            </a:r>
            <a:endParaRPr lang="en-US" altLang="zh-CN" dirty="0"/>
          </a:p>
          <a:p>
            <a:pPr lvl="1"/>
            <a:r>
              <a:rPr lang="zh-CN" altLang="en-US" dirty="0">
                <a:solidFill>
                  <a:srgbClr val="FF0000"/>
                </a:solidFill>
              </a:rPr>
              <a:t>自定义组合</a:t>
            </a:r>
            <a:r>
              <a:rPr lang="en-US" altLang="zh-CN" dirty="0">
                <a:solidFill>
                  <a:srgbClr val="FF0000"/>
                </a:solidFill>
              </a:rPr>
              <a:t>key</a:t>
            </a:r>
            <a:r>
              <a:rPr lang="zh-CN" altLang="en-US" dirty="0">
                <a:solidFill>
                  <a:srgbClr val="FF0000"/>
                </a:solidFill>
              </a:rPr>
              <a:t>类</a:t>
            </a:r>
            <a:endParaRPr lang="en-US" altLang="zh-CN" dirty="0">
              <a:solidFill>
                <a:srgbClr val="FF0000"/>
              </a:solidFill>
            </a:endParaRPr>
          </a:p>
          <a:p>
            <a:pPr lvl="1"/>
            <a:r>
              <a:rPr lang="zh-CN" altLang="en-US" dirty="0">
                <a:solidFill>
                  <a:srgbClr val="FF0000"/>
                </a:solidFill>
              </a:rPr>
              <a:t>自定义分区类</a:t>
            </a:r>
            <a:endParaRPr lang="en-US" altLang="zh-CN" dirty="0">
              <a:solidFill>
                <a:srgbClr val="FF0000"/>
              </a:solidFill>
            </a:endParaRPr>
          </a:p>
          <a:p>
            <a:pPr lvl="1"/>
            <a:r>
              <a:rPr lang="zh-CN" altLang="en-US" dirty="0">
                <a:solidFill>
                  <a:srgbClr val="FF0000"/>
                </a:solidFill>
              </a:rPr>
              <a:t>自定义分组类</a:t>
            </a:r>
            <a:endParaRPr lang="en-US" altLang="zh-CN" dirty="0">
              <a:solidFill>
                <a:srgbClr val="FF0000"/>
              </a:solidFill>
            </a:endParaRPr>
          </a:p>
          <a:p>
            <a:pPr lvl="1"/>
            <a:r>
              <a:rPr lang="zh-CN" altLang="en-US" dirty="0"/>
              <a:t>自定义</a:t>
            </a:r>
            <a:r>
              <a:rPr lang="en-US" altLang="zh-CN" dirty="0"/>
              <a:t>Mapper</a:t>
            </a:r>
            <a:r>
              <a:rPr lang="zh-CN" altLang="en-US" dirty="0"/>
              <a:t>类</a:t>
            </a:r>
            <a:endParaRPr lang="en-US" altLang="zh-CN" dirty="0"/>
          </a:p>
          <a:p>
            <a:pPr lvl="1"/>
            <a:r>
              <a:rPr lang="zh-CN" altLang="en-US" dirty="0"/>
              <a:t>自定义</a:t>
            </a:r>
            <a:r>
              <a:rPr lang="en-US" altLang="zh-CN" dirty="0"/>
              <a:t>Reducer</a:t>
            </a:r>
            <a:r>
              <a:rPr lang="zh-CN" altLang="en-US" dirty="0"/>
              <a:t>类</a:t>
            </a:r>
            <a:endParaRPr lang="en-US" altLang="zh-CN" dirty="0"/>
          </a:p>
          <a:p>
            <a:pPr lvl="1"/>
            <a:r>
              <a:rPr lang="zh-CN" altLang="en-US" dirty="0"/>
              <a:t>自定义执行程序主类</a:t>
            </a:r>
            <a:endParaRPr lang="en-US" altLang="zh-CN"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二次排序</a:t>
            </a:r>
            <a:endParaRPr lang="en-US" altLang="zh-CN" dirty="0"/>
          </a:p>
          <a:p>
            <a:pPr lvl="1"/>
            <a:r>
              <a:rPr lang="zh-CN" altLang="en-US" dirty="0"/>
              <a:t>自定义组合</a:t>
            </a:r>
            <a:r>
              <a:rPr lang="en-US" altLang="zh-CN" dirty="0"/>
              <a:t>key</a:t>
            </a:r>
            <a:r>
              <a:rPr lang="zh-CN" altLang="en-US" dirty="0"/>
              <a:t>类</a:t>
            </a:r>
            <a:endParaRPr lang="en-US" altLang="zh-CN" dirty="0"/>
          </a:p>
          <a:p>
            <a:pPr lvl="2"/>
            <a:r>
              <a:rPr lang="zh-CN" altLang="en-US" dirty="0"/>
              <a:t>需要实现接口</a:t>
            </a:r>
            <a:r>
              <a:rPr lang="en-US" altLang="zh-CN" dirty="0" err="1"/>
              <a:t>WritableComparable</a:t>
            </a:r>
            <a:r>
              <a:rPr lang="en-US" altLang="zh-CN" dirty="0"/>
              <a:t>&lt;T&gt;</a:t>
            </a:r>
          </a:p>
          <a:p>
            <a:pPr lvl="3"/>
            <a:r>
              <a:rPr lang="zh-CN" altLang="en-US" dirty="0"/>
              <a:t>序列化方法</a:t>
            </a:r>
            <a:r>
              <a:rPr lang="en-US" altLang="zh-CN" dirty="0"/>
              <a:t>write()</a:t>
            </a:r>
          </a:p>
          <a:p>
            <a:pPr lvl="3"/>
            <a:r>
              <a:rPr lang="zh-CN" altLang="en-US" dirty="0"/>
              <a:t>反序列化方法</a:t>
            </a:r>
            <a:r>
              <a:rPr lang="en-US" altLang="zh-CN" dirty="0" err="1"/>
              <a:t>readFields</a:t>
            </a:r>
            <a:r>
              <a:rPr lang="en-US" altLang="zh-CN" dirty="0"/>
              <a:t>()</a:t>
            </a:r>
          </a:p>
          <a:p>
            <a:pPr lvl="3"/>
            <a:r>
              <a:rPr lang="zh-CN" altLang="en-US" dirty="0"/>
              <a:t>比较方法</a:t>
            </a:r>
            <a:r>
              <a:rPr lang="en-US" altLang="zh-CN" dirty="0" err="1"/>
              <a:t>compareTo</a:t>
            </a:r>
            <a:r>
              <a:rPr lang="en-US" altLang="zh-CN" dirty="0"/>
              <a:t>()</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二次排序</a:t>
            </a:r>
            <a:endParaRPr lang="en-US" altLang="zh-CN" dirty="0"/>
          </a:p>
          <a:p>
            <a:pPr lvl="1"/>
            <a:r>
              <a:rPr lang="zh-CN" altLang="en-US" dirty="0"/>
              <a:t>自定义组合</a:t>
            </a:r>
            <a:r>
              <a:rPr lang="en-US" altLang="zh-CN" dirty="0"/>
              <a:t>key</a:t>
            </a:r>
            <a:r>
              <a:rPr lang="zh-CN" altLang="en-US" dirty="0"/>
              <a:t>类</a:t>
            </a:r>
            <a:endParaRPr lang="en-US" altLang="zh-CN"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3648" y="2492896"/>
            <a:ext cx="5433818" cy="3547605"/>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二次排序</a:t>
            </a:r>
            <a:endParaRPr lang="en-US" altLang="zh-CN" dirty="0"/>
          </a:p>
          <a:p>
            <a:pPr lvl="1"/>
            <a:r>
              <a:rPr lang="zh-CN" altLang="en-US" dirty="0"/>
              <a:t>自定义分区类</a:t>
            </a:r>
            <a:endParaRPr lang="en-US" altLang="zh-CN" dirty="0"/>
          </a:p>
          <a:p>
            <a:pPr lvl="2"/>
            <a:r>
              <a:rPr lang="zh-CN" altLang="en-US" dirty="0"/>
              <a:t>需要继承</a:t>
            </a:r>
            <a:r>
              <a:rPr lang="en-US" altLang="zh-CN" dirty="0"/>
              <a:t>Partition&lt;KEY,VALUE&gt;</a:t>
            </a:r>
            <a:r>
              <a:rPr lang="zh-CN" altLang="en-US" dirty="0"/>
              <a:t>类</a:t>
            </a:r>
            <a:r>
              <a:rPr lang="en-US" altLang="zh-CN" dirty="0"/>
              <a:t>,</a:t>
            </a:r>
            <a:r>
              <a:rPr lang="zh-CN" altLang="en-US" dirty="0"/>
              <a:t>并实现其中的抽象方法</a:t>
            </a:r>
            <a:r>
              <a:rPr lang="en-US" altLang="zh-CN" dirty="0" err="1"/>
              <a:t>getPartition</a:t>
            </a:r>
            <a:r>
              <a:rPr lang="en-US" altLang="zh-CN" dirty="0"/>
              <a:t>()</a:t>
            </a:r>
          </a:p>
          <a:p>
            <a:pPr lvl="2"/>
            <a:r>
              <a:rPr lang="en-US" altLang="zh-CN" dirty="0"/>
              <a:t>MapReduce</a:t>
            </a:r>
            <a:r>
              <a:rPr lang="zh-CN" altLang="en-US" dirty="0"/>
              <a:t>提供默认实现类：</a:t>
            </a:r>
            <a:r>
              <a:rPr lang="en-US" altLang="zh-CN" dirty="0" err="1"/>
              <a:t>HashPartition</a:t>
            </a:r>
            <a:endParaRPr lang="en-US" altLang="zh-CN" dirty="0"/>
          </a:p>
          <a:p>
            <a:pPr marL="914400" lvl="2" indent="0">
              <a:buNone/>
            </a:pPr>
            <a:endParaRPr lang="en-US" altLang="zh-CN"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526" y="4806875"/>
            <a:ext cx="6782747" cy="126700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3572867"/>
            <a:ext cx="4895850" cy="1219200"/>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二次排序</a:t>
            </a:r>
            <a:endParaRPr lang="en-US" altLang="zh-CN" dirty="0"/>
          </a:p>
          <a:p>
            <a:pPr lvl="1"/>
            <a:r>
              <a:rPr lang="zh-CN" altLang="en-US" dirty="0"/>
              <a:t>自定义分组类</a:t>
            </a:r>
            <a:endParaRPr lang="en-US" altLang="zh-CN" dirty="0"/>
          </a:p>
          <a:p>
            <a:pPr lvl="2"/>
            <a:r>
              <a:rPr lang="zh-CN" altLang="en-US" dirty="0"/>
              <a:t>继承</a:t>
            </a:r>
            <a:r>
              <a:rPr lang="en-US" altLang="zh-CN" dirty="0" err="1"/>
              <a:t>WritableComparator</a:t>
            </a:r>
            <a:r>
              <a:rPr lang="zh-CN" altLang="en-US" dirty="0"/>
              <a:t>类，重新</a:t>
            </a:r>
            <a:r>
              <a:rPr lang="en-US" altLang="zh-CN" dirty="0"/>
              <a:t>compare</a:t>
            </a:r>
            <a:r>
              <a:rPr lang="zh-CN" altLang="en-US" dirty="0"/>
              <a:t>方法</a:t>
            </a:r>
            <a:endParaRPr lang="en-US" altLang="zh-CN" dirty="0"/>
          </a:p>
          <a:p>
            <a:pPr lvl="2"/>
            <a:endParaRPr lang="en-US" altLang="zh-CN"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3068960"/>
            <a:ext cx="5625298" cy="1991003"/>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二次排序</a:t>
            </a:r>
            <a:endParaRPr lang="en-US" altLang="zh-CN" dirty="0"/>
          </a:p>
          <a:p>
            <a:pPr lvl="1"/>
            <a:r>
              <a:rPr lang="zh-CN" altLang="en-US" dirty="0"/>
              <a:t>自定义</a:t>
            </a:r>
            <a:r>
              <a:rPr lang="en-US" altLang="zh-CN" dirty="0"/>
              <a:t>Mapper</a:t>
            </a:r>
            <a:r>
              <a:rPr lang="zh-CN" altLang="en-US" dirty="0"/>
              <a:t>类</a:t>
            </a:r>
            <a:endParaRPr lang="en-US" altLang="zh-CN" dirty="0"/>
          </a:p>
          <a:p>
            <a:pPr lvl="2"/>
            <a:endParaRPr lang="en-US" altLang="zh-CN"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2492896"/>
            <a:ext cx="7935432" cy="3458058"/>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二次排序</a:t>
            </a:r>
            <a:endParaRPr lang="en-US" altLang="zh-CN" dirty="0"/>
          </a:p>
          <a:p>
            <a:pPr lvl="1"/>
            <a:r>
              <a:rPr lang="zh-CN" altLang="en-US" dirty="0"/>
              <a:t>自定义</a:t>
            </a:r>
            <a:r>
              <a:rPr lang="en-US" altLang="zh-CN" dirty="0"/>
              <a:t>Reducer</a:t>
            </a:r>
            <a:r>
              <a:rPr lang="zh-CN" altLang="en-US" dirty="0"/>
              <a:t>类</a:t>
            </a:r>
            <a:endParaRPr lang="en-US" altLang="zh-CN" dirty="0"/>
          </a:p>
          <a:p>
            <a:pPr lvl="2"/>
            <a:endParaRPr lang="en-US" altLang="zh-CN"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420888"/>
            <a:ext cx="7482932" cy="2491135"/>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idx="1"/>
          </p:nvPr>
        </p:nvSpPr>
        <p:spPr/>
        <p:txBody>
          <a:bodyPr/>
          <a:lstStyle/>
          <a:p>
            <a:r>
              <a:rPr lang="zh-CN" altLang="en-US" dirty="0"/>
              <a:t>二次排序</a:t>
            </a:r>
            <a:endParaRPr lang="en-US" altLang="zh-CN" dirty="0"/>
          </a:p>
          <a:p>
            <a:pPr lvl="1"/>
            <a:r>
              <a:rPr lang="zh-CN" altLang="en-US" dirty="0"/>
              <a:t>自定义执行程序主类</a:t>
            </a:r>
            <a:endParaRPr lang="en-US" altLang="zh-CN" dirty="0"/>
          </a:p>
          <a:p>
            <a:pPr lvl="2"/>
            <a:endParaRPr lang="en-US" altLang="zh-CN"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2564904"/>
            <a:ext cx="6020640" cy="3519979"/>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3" name="内容占位符 2"/>
          <p:cNvSpPr>
            <a:spLocks noGrp="1"/>
          </p:cNvSpPr>
          <p:nvPr>
            <p:ph sz="half" idx="1"/>
          </p:nvPr>
        </p:nvSpPr>
        <p:spPr/>
        <p:txBody>
          <a:bodyPr/>
          <a:lstStyle/>
          <a:p>
            <a:r>
              <a:rPr lang="zh-CN" altLang="en-US" dirty="0"/>
              <a:t>多表关联</a:t>
            </a:r>
            <a:endParaRPr lang="en-US" altLang="zh-CN" dirty="0"/>
          </a:p>
          <a:p>
            <a:pPr lvl="1"/>
            <a:r>
              <a:rPr lang="en-US" altLang="zh-CN" dirty="0"/>
              <a:t>AllCity.txt</a:t>
            </a:r>
          </a:p>
          <a:p>
            <a:pPr lvl="1"/>
            <a:endParaRPr lang="en-US" altLang="zh-CN" dirty="0"/>
          </a:p>
          <a:p>
            <a:pPr lvl="1"/>
            <a:endParaRPr lang="en-US" altLang="zh-CN" dirty="0"/>
          </a:p>
          <a:p>
            <a:pPr lvl="1"/>
            <a:endParaRPr lang="zh-CN" altLang="en-US" dirty="0"/>
          </a:p>
        </p:txBody>
      </p:sp>
      <p:sp>
        <p:nvSpPr>
          <p:cNvPr id="6" name="内容占位符 5"/>
          <p:cNvSpPr>
            <a:spLocks noGrp="1"/>
          </p:cNvSpPr>
          <p:nvPr>
            <p:ph sz="half" idx="2"/>
          </p:nvPr>
        </p:nvSpPr>
        <p:spPr/>
        <p:txBody>
          <a:bodyPr/>
          <a:lstStyle/>
          <a:p>
            <a:endParaRPr lang="en-US" altLang="zh-CN" dirty="0"/>
          </a:p>
          <a:p>
            <a:pPr lvl="1"/>
            <a:r>
              <a:rPr lang="en-US" altLang="zh-CN" dirty="0"/>
              <a:t>SomeCity.txt</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348880"/>
            <a:ext cx="2433638" cy="2828925"/>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088" y="2348879"/>
            <a:ext cx="1368152" cy="1378967"/>
          </a:xfrm>
          <a:prstGeom prst="rect">
            <a:avLst/>
          </a:prstGeom>
        </p:spPr>
      </p:pic>
      <p:sp>
        <p:nvSpPr>
          <p:cNvPr id="9" name="文本框 8"/>
          <p:cNvSpPr txBox="1"/>
          <p:nvPr/>
        </p:nvSpPr>
        <p:spPr>
          <a:xfrm>
            <a:off x="1979712" y="5482089"/>
            <a:ext cx="5112568" cy="461665"/>
          </a:xfrm>
          <a:prstGeom prst="rect">
            <a:avLst/>
          </a:prstGeom>
          <a:noFill/>
        </p:spPr>
        <p:txBody>
          <a:bodyPr wrap="square" rtlCol="0">
            <a:spAutoFit/>
          </a:bodyPr>
          <a:lstStyle/>
          <a:p>
            <a:r>
              <a:rPr lang="zh-CN" altLang="en-US" sz="2400" dirty="0">
                <a:solidFill>
                  <a:srgbClr val="FF0000"/>
                </a:solidFill>
              </a:rPr>
              <a:t>统计出山东省还没有飞机场的城市</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8" name="内容占位符 7"/>
          <p:cNvSpPr>
            <a:spLocks noGrp="1"/>
          </p:cNvSpPr>
          <p:nvPr>
            <p:ph idx="1"/>
          </p:nvPr>
        </p:nvSpPr>
        <p:spPr/>
        <p:txBody>
          <a:bodyPr/>
          <a:lstStyle/>
          <a:p>
            <a:r>
              <a:rPr lang="zh-CN" altLang="en-US" dirty="0"/>
              <a:t>多表关联</a:t>
            </a:r>
            <a:endParaRPr lang="en-US" altLang="zh-CN" dirty="0"/>
          </a:p>
          <a:p>
            <a:pPr lvl="1"/>
            <a:r>
              <a:rPr lang="en-US" altLang="zh-CN" dirty="0"/>
              <a:t>Mapper</a:t>
            </a:r>
            <a:r>
              <a:rPr lang="zh-CN" altLang="en-US" dirty="0"/>
              <a:t>类</a:t>
            </a: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2307823"/>
            <a:ext cx="5015613" cy="2036253"/>
          </a:xfrm>
          <a:prstGeom prst="rect">
            <a:avLst/>
          </a:prstGeom>
        </p:spPr>
      </p:pic>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5816" y="4496138"/>
            <a:ext cx="5217094" cy="1980524"/>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8" name="内容占位符 7"/>
          <p:cNvSpPr>
            <a:spLocks noGrp="1"/>
          </p:cNvSpPr>
          <p:nvPr>
            <p:ph idx="1"/>
          </p:nvPr>
        </p:nvSpPr>
        <p:spPr/>
        <p:txBody>
          <a:bodyPr/>
          <a:lstStyle/>
          <a:p>
            <a:r>
              <a:rPr lang="zh-CN" altLang="en-US" dirty="0"/>
              <a:t>多表关联</a:t>
            </a:r>
            <a:endParaRPr lang="en-US" altLang="zh-CN" dirty="0"/>
          </a:p>
          <a:p>
            <a:pPr lvl="1"/>
            <a:r>
              <a:rPr lang="en-US" altLang="zh-CN" dirty="0"/>
              <a:t>Reducer</a:t>
            </a:r>
            <a:r>
              <a:rPr lang="zh-CN" altLang="en-US" dirty="0"/>
              <a:t>类</a:t>
            </a: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2348880"/>
            <a:ext cx="5349987" cy="4376872"/>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dirty="0" smtClean="0"/>
              <a:t>3.4 MapReduce</a:t>
            </a:r>
            <a:r>
              <a:rPr lang="zh-CN" altLang="en-US" dirty="0" smtClean="0"/>
              <a:t>综合案例</a:t>
            </a:r>
            <a:endParaRPr lang="zh-CN" altLang="en-US" dirty="0"/>
          </a:p>
        </p:txBody>
      </p:sp>
      <p:sp>
        <p:nvSpPr>
          <p:cNvPr id="6" name="内容占位符 5"/>
          <p:cNvSpPr>
            <a:spLocks noGrp="1"/>
          </p:cNvSpPr>
          <p:nvPr>
            <p:ph idx="1"/>
          </p:nvPr>
        </p:nvSpPr>
        <p:spPr/>
        <p:txBody>
          <a:bodyPr/>
          <a:lstStyle/>
          <a:p>
            <a:r>
              <a:rPr lang="zh-CN" altLang="en-US" dirty="0"/>
              <a:t>程序执行主类</a:t>
            </a:r>
            <a:endParaRPr lang="en-US" altLang="zh-CN" dirty="0"/>
          </a:p>
          <a:p>
            <a:pPr lvl="1"/>
            <a:r>
              <a:rPr lang="zh-CN" altLang="en-US" sz="2400" dirty="0"/>
              <a:t>通过</a:t>
            </a:r>
            <a:r>
              <a:rPr lang="en-US" altLang="zh-CN" sz="2400" dirty="0" err="1">
                <a:solidFill>
                  <a:srgbClr val="FF0000"/>
                </a:solidFill>
              </a:rPr>
              <a:t>MultiInputs</a:t>
            </a:r>
            <a:r>
              <a:rPr lang="zh-CN" altLang="en-US" sz="2400" dirty="0"/>
              <a:t>多输入方式添加多个</a:t>
            </a:r>
            <a:r>
              <a:rPr lang="en-US" altLang="zh-CN" sz="2400" dirty="0"/>
              <a:t>Map</a:t>
            </a:r>
            <a:r>
              <a:rPr lang="zh-CN" altLang="en-US" sz="2400" dirty="0"/>
              <a:t>的处理类</a:t>
            </a:r>
          </a:p>
        </p:txBody>
      </p:sp>
      <p:pic>
        <p:nvPicPr>
          <p:cNvPr id="7"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06078" y="2420888"/>
            <a:ext cx="6944694" cy="3720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subTitle" idx="1"/>
          </p:nvPr>
        </p:nvSpPr>
        <p:spPr bwMode="white">
          <a:xfrm>
            <a:off x="2819400" y="4953000"/>
            <a:ext cx="5167313" cy="414338"/>
          </a:xfrm>
          <a:extLst>
            <a:ext uri="{91240B29-F687-4F45-9708-019B960494DF}">
              <a14:hiddenLine xmlns:a14="http://schemas.microsoft.com/office/drawing/2010/main" w="9525">
                <a:solidFill>
                  <a:schemeClr val="bg1"/>
                </a:solidFill>
                <a:miter lim="800000"/>
                <a:headEnd/>
                <a:tailEnd/>
              </a14:hiddenLine>
            </a:ext>
          </a:extLst>
        </p:spPr>
        <p:txBody>
          <a:bodyPr/>
          <a:lstStyle/>
          <a:p>
            <a:pPr algn="dist">
              <a:lnSpc>
                <a:spcPct val="80000"/>
              </a:lnSpc>
            </a:pPr>
            <a:r>
              <a:rPr lang="en-US" altLang="zh-CN" sz="1800" b="1">
                <a:solidFill>
                  <a:schemeClr val="bg1"/>
                </a:solidFill>
                <a:latin typeface="Arial" panose="020B0604020202020204" pitchFamily="34" charset="0"/>
                <a:ea typeface="宋体" panose="02010600030101010101" pitchFamily="2" charset="-122"/>
              </a:rPr>
              <a:t>Click to edit company slogan .</a:t>
            </a:r>
          </a:p>
        </p:txBody>
      </p:sp>
      <p:sp>
        <p:nvSpPr>
          <p:cNvPr id="87045" name="WordArt 5"/>
          <p:cNvSpPr>
            <a:spLocks noChangeArrowheads="1" noChangeShapeType="1" noTextEdit="1"/>
          </p:cNvSpPr>
          <p:nvPr/>
        </p:nvSpPr>
        <p:spPr bwMode="gray">
          <a:xfrm>
            <a:off x="2987824" y="4365104"/>
            <a:ext cx="2951733" cy="863600"/>
          </a:xfrm>
          <a:prstGeom prst="rect">
            <a:avLst/>
          </a:prstGeom>
        </p:spPr>
        <p:txBody>
          <a:bodyPr wrap="none" fromWordArt="1">
            <a:prstTxWarp prst="textDeflate">
              <a:avLst>
                <a:gd name="adj" fmla="val 0"/>
              </a:avLst>
            </a:prstTxWarp>
          </a:bodyPr>
          <a:lstStyle/>
          <a:p>
            <a:pPr algn="ctr"/>
            <a:r>
              <a:rPr lang="zh-CN" altLang="en-US"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rPr>
              <a:t>谢谢</a:t>
            </a:r>
            <a:r>
              <a:rPr lang="en-US" altLang="zh-CN"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rPr>
              <a:t>!</a:t>
            </a:r>
            <a:endParaRPr lang="zh-CN" altLang="en-US"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7045"/>
                                        </p:tgtEl>
                                        <p:attrNameLst>
                                          <p:attrName>style.visibility</p:attrName>
                                        </p:attrNameLst>
                                      </p:cBhvr>
                                      <p:to>
                                        <p:strVal val="visible"/>
                                      </p:to>
                                    </p:set>
                                    <p:anim calcmode="lin" valueType="num">
                                      <p:cBhvr>
                                        <p:cTn id="7" dur="500" fill="hold"/>
                                        <p:tgtEl>
                                          <p:spTgt spid="87045"/>
                                        </p:tgtEl>
                                        <p:attrNameLst>
                                          <p:attrName>ppt_w</p:attrName>
                                        </p:attrNameLst>
                                      </p:cBhvr>
                                      <p:tavLst>
                                        <p:tav tm="0">
                                          <p:val>
                                            <p:fltVal val="0"/>
                                          </p:val>
                                        </p:tav>
                                        <p:tav tm="100000">
                                          <p:val>
                                            <p:strVal val="#ppt_w"/>
                                          </p:val>
                                        </p:tav>
                                      </p:tavLst>
                                    </p:anim>
                                    <p:anim calcmode="lin" valueType="num">
                                      <p:cBhvr>
                                        <p:cTn id="8" dur="500" fill="hold"/>
                                        <p:tgtEl>
                                          <p:spTgt spid="87045"/>
                                        </p:tgtEl>
                                        <p:attrNameLst>
                                          <p:attrName>ppt_h</p:attrName>
                                        </p:attrNameLst>
                                      </p:cBhvr>
                                      <p:tavLst>
                                        <p:tav tm="0">
                                          <p:val>
                                            <p:fltVal val="0"/>
                                          </p:val>
                                        </p:tav>
                                        <p:tav tm="100000">
                                          <p:val>
                                            <p:strVal val="#ppt_h"/>
                                          </p:val>
                                        </p:tav>
                                      </p:tavLst>
                                    </p:anim>
                                    <p:animEffect transition="in" filter="fade">
                                      <p:cBhvr>
                                        <p:cTn id="9" dur="500"/>
                                        <p:tgtEl>
                                          <p:spTgt spid="87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REFSHAPE" val="580353036"/>
  <p:tag name="KSO_WM_UNIT_PLACING_PICTURE_USER_VIEWPORT" val="{&quot;height&quot;:4718,&quot;width&quot;:11168}"/>
</p:tagLst>
</file>

<file path=ppt/tags/tag2.xml><?xml version="1.0" encoding="utf-8"?>
<p:tagLst xmlns:a="http://schemas.openxmlformats.org/drawingml/2006/main" xmlns:r="http://schemas.openxmlformats.org/officeDocument/2006/relationships" xmlns:p="http://schemas.openxmlformats.org/presentationml/2006/main">
  <p:tag name="REFSHAPE" val="498683068"/>
  <p:tag name="KSO_WM_UNIT_PLACING_PICTURE_USER_VIEWPORT" val="{&quot;height&quot;:8123,&quot;width&quot;:8978}"/>
</p:tagLst>
</file>

<file path=ppt/theme/theme1.xml><?xml version="1.0" encoding="utf-8"?>
<a:theme xmlns:a="http://schemas.openxmlformats.org/drawingml/2006/main" name="cdb2004c012l">
  <a:themeElements>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clrMap bg1="lt1" tx1="dk1" bg2="lt2" tx2="dk2" accent1="accent1" accent2="accent2" accent3="accent3" accent4="accent4" accent5="accent5" accent6="accent6" hlink="hlink" folHlink="folHlink"/>
    </a:extraClrScheme>
    <a:extraClrScheme>
      <a:clrScheme name="sample 2">
        <a:dk1>
          <a:srgbClr val="1D528D"/>
        </a:dk1>
        <a:lt1>
          <a:srgbClr val="FFFFFF"/>
        </a:lt1>
        <a:dk2>
          <a:srgbClr val="000000"/>
        </a:dk2>
        <a:lt2>
          <a:srgbClr val="C0C0C0"/>
        </a:lt2>
        <a:accent1>
          <a:srgbClr val="2CA3C8"/>
        </a:accent1>
        <a:accent2>
          <a:srgbClr val="FF9900"/>
        </a:accent2>
        <a:accent3>
          <a:srgbClr val="FFFFFF"/>
        </a:accent3>
        <a:accent4>
          <a:srgbClr val="174578"/>
        </a:accent4>
        <a:accent5>
          <a:srgbClr val="ACCE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sample 3">
        <a:dk1>
          <a:srgbClr val="666633"/>
        </a:dk1>
        <a:lt1>
          <a:srgbClr val="FFFFFF"/>
        </a:lt1>
        <a:dk2>
          <a:srgbClr val="000000"/>
        </a:dk2>
        <a:lt2>
          <a:srgbClr val="D1C68D"/>
        </a:lt2>
        <a:accent1>
          <a:srgbClr val="C86C62"/>
        </a:accent1>
        <a:accent2>
          <a:srgbClr val="C78DD7"/>
        </a:accent2>
        <a:accent3>
          <a:srgbClr val="FFFFFF"/>
        </a:accent3>
        <a:accent4>
          <a:srgbClr val="56562A"/>
        </a:accent4>
        <a:accent5>
          <a:srgbClr val="E0BAB7"/>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cdb2004c012l</Template>
  <TotalTime>42</TotalTime>
  <Words>4913</Words>
  <Application>Microsoft Office PowerPoint</Application>
  <PresentationFormat>全屏显示(4:3)</PresentationFormat>
  <Paragraphs>514</Paragraphs>
  <Slides>102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102</vt:i4>
      </vt:variant>
    </vt:vector>
  </HeadingPairs>
  <TitlesOfParts>
    <vt:vector size="109" baseType="lpstr">
      <vt:lpstr>宋体</vt:lpstr>
      <vt:lpstr>Arial</vt:lpstr>
      <vt:lpstr>Calibri</vt:lpstr>
      <vt:lpstr>Times New Roman</vt:lpstr>
      <vt:lpstr>Verdana</vt:lpstr>
      <vt:lpstr>Wingdings</vt:lpstr>
      <vt:lpstr>cdb2004c012l</vt:lpstr>
      <vt:lpstr>第3章 分布式计算框架MapReduce</vt:lpstr>
      <vt:lpstr>主要内容</vt:lpstr>
      <vt:lpstr>3.1 MapReduce原理</vt:lpstr>
      <vt:lpstr>3.1.1 设计思想</vt:lpstr>
      <vt:lpstr>3.1.1 设计思想</vt:lpstr>
      <vt:lpstr>PowerPoint 演示文稿</vt:lpstr>
      <vt:lpstr>3.1.1 设计思想</vt:lpstr>
      <vt:lpstr>3.1.1 设计思想</vt:lpstr>
      <vt:lpstr>3.1.1 设计思想</vt:lpstr>
      <vt:lpstr>3.1.1 设计思想</vt:lpstr>
      <vt:lpstr>3.1.1 设计思想</vt:lpstr>
      <vt:lpstr>3.1.2 MapReduce的体系结构</vt:lpstr>
      <vt:lpstr>3.1.2 MapReduce的体系结构</vt:lpstr>
      <vt:lpstr>3.1.2 MapReduce的体系结构</vt:lpstr>
      <vt:lpstr>3.1.2 MapReduce的体系结构</vt:lpstr>
      <vt:lpstr>3.1.2 MapReduce的体系结构</vt:lpstr>
      <vt:lpstr>3.1.2 MapReduce的体系结构</vt:lpstr>
      <vt:lpstr>3.1.2 MapReduce的体系结构</vt:lpstr>
      <vt:lpstr>3.1.2 MapReduce的体系结构</vt:lpstr>
      <vt:lpstr>3.1.2 MapReduce的体系结构</vt:lpstr>
      <vt:lpstr>3.1.2 MapReduce的体系结构</vt:lpstr>
      <vt:lpstr>3.1.2 MapReduce的体系结构</vt:lpstr>
      <vt:lpstr>3.1.2 MapReduce的体系结构</vt:lpstr>
      <vt:lpstr>3.1.3 资源管理器YARN</vt:lpstr>
      <vt:lpstr>1 YARN概述</vt:lpstr>
      <vt:lpstr>2 体系结构</vt:lpstr>
      <vt:lpstr>2 体系结构</vt:lpstr>
      <vt:lpstr>2 体系结构</vt:lpstr>
      <vt:lpstr>2 体系结构</vt:lpstr>
      <vt:lpstr>2 体系结构</vt:lpstr>
      <vt:lpstr>2 体系结构</vt:lpstr>
      <vt:lpstr>2 体系结构</vt:lpstr>
      <vt:lpstr>2 体系结构</vt:lpstr>
      <vt:lpstr>2 体系结构</vt:lpstr>
      <vt:lpstr>2 体系结构</vt:lpstr>
      <vt:lpstr>2 体系结构</vt:lpstr>
      <vt:lpstr>3 工作原理</vt:lpstr>
      <vt:lpstr>3 工作原理</vt:lpstr>
      <vt:lpstr>3 工作原理</vt:lpstr>
      <vt:lpstr>3 工作原理</vt:lpstr>
      <vt:lpstr>3 工作原理</vt:lpstr>
      <vt:lpstr>3 工作原理</vt:lpstr>
      <vt:lpstr>3 工作原理</vt:lpstr>
      <vt:lpstr>3 工作原理</vt:lpstr>
      <vt:lpstr>3 工作原理</vt:lpstr>
      <vt:lpstr>3.1.4 MapReduce工作原理</vt:lpstr>
      <vt:lpstr>3.1.4 MapReduce工作原理</vt:lpstr>
      <vt:lpstr>1 数据输入</vt:lpstr>
      <vt:lpstr>1 数据输入</vt:lpstr>
      <vt:lpstr>1 数据输入</vt:lpstr>
      <vt:lpstr>1 数据输入</vt:lpstr>
      <vt:lpstr>2 Map阶段</vt:lpstr>
      <vt:lpstr>3.4.3 Shuffle阶段</vt:lpstr>
      <vt:lpstr>Map端的Shuffle</vt:lpstr>
      <vt:lpstr>Map端的Shuffle</vt:lpstr>
      <vt:lpstr>Map端的Shuffle</vt:lpstr>
      <vt:lpstr>Map端的Shuffle</vt:lpstr>
      <vt:lpstr>Map端的Shuffle</vt:lpstr>
      <vt:lpstr>Map端的Shuffle</vt:lpstr>
      <vt:lpstr>Map端的Shuffle</vt:lpstr>
      <vt:lpstr>Reduce端的Shuffle</vt:lpstr>
      <vt:lpstr>Reduce端的Shuffle</vt:lpstr>
      <vt:lpstr>Reduce端的Shuffle</vt:lpstr>
      <vt:lpstr>4 Reduce阶段</vt:lpstr>
      <vt:lpstr>5 数据输出</vt:lpstr>
      <vt:lpstr>5 数据输出</vt:lpstr>
      <vt:lpstr>主要内容</vt:lpstr>
      <vt:lpstr>3.2 MapReduce编程基础</vt:lpstr>
      <vt:lpstr>3.2 MapReduce编程基础</vt:lpstr>
      <vt:lpstr>3.2 MapReduce编程基础</vt:lpstr>
      <vt:lpstr>3.2 MapReduce编程基础</vt:lpstr>
      <vt:lpstr>3.2 MapReduce编程基础</vt:lpstr>
      <vt:lpstr>3.2 MapReduce编程基础</vt:lpstr>
      <vt:lpstr>3.2 MapReduce编程基础</vt:lpstr>
      <vt:lpstr>主要内容</vt:lpstr>
      <vt:lpstr>3.3 MapReduce程序编写步骤</vt:lpstr>
      <vt:lpstr>3.3 MapReduce程序编写步骤</vt:lpstr>
      <vt:lpstr>3.3 MapReduce程序编写步骤</vt:lpstr>
      <vt:lpstr>3.3 MapReduce程序编写步骤</vt:lpstr>
      <vt:lpstr>3.3 MapReduce程序编写步骤</vt:lpstr>
      <vt:lpstr>3.3 MapReduce程序编写步骤</vt:lpstr>
      <vt:lpstr>3.3 MapReduce程序编写步骤</vt:lpstr>
      <vt:lpstr>3.3 MapReduce程序编写步骤</vt:lpstr>
      <vt:lpstr>主要内容</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3.4 MapReduce综合案例</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hadoop</dc:creator>
  <cp:lastModifiedBy>Chen Hongshun</cp:lastModifiedBy>
  <cp:revision>215</cp:revision>
  <dcterms:created xsi:type="dcterms:W3CDTF">2017-03-03T01:55:00Z</dcterms:created>
  <dcterms:modified xsi:type="dcterms:W3CDTF">2023-03-08T07:45:25Z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5651229D13CC4FC595C628EA2156CB41</vt:lpwstr>
  </property>
</Properties>
</file>