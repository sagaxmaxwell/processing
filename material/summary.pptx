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38"/>
  </p:handoutMasterIdLst>
  <p:sldIdLst>
    <p:sldId id="256" r:id="rId3"/>
    <p:sldId id="309" r:id="rId4"/>
    <p:sldId id="395" r:id="rId5"/>
    <p:sldId id="310" r:id="rId6"/>
    <p:sldId id="394" r:id="rId7"/>
    <p:sldId id="396" r:id="rId8"/>
    <p:sldId id="397" r:id="rId10"/>
    <p:sldId id="398" r:id="rId11"/>
    <p:sldId id="399" r:id="rId12"/>
    <p:sldId id="400" r:id="rId13"/>
    <p:sldId id="315" r:id="rId14"/>
    <p:sldId id="402" r:id="rId15"/>
    <p:sldId id="401" r:id="rId16"/>
    <p:sldId id="321" r:id="rId17"/>
    <p:sldId id="409" r:id="rId18"/>
    <p:sldId id="403" r:id="rId19"/>
    <p:sldId id="405" r:id="rId20"/>
    <p:sldId id="406" r:id="rId21"/>
    <p:sldId id="410" r:id="rId22"/>
    <p:sldId id="407" r:id="rId23"/>
    <p:sldId id="408" r:id="rId24"/>
    <p:sldId id="369" r:id="rId25"/>
    <p:sldId id="413" r:id="rId26"/>
    <p:sldId id="370" r:id="rId27"/>
    <p:sldId id="371" r:id="rId28"/>
    <p:sldId id="372" r:id="rId29"/>
    <p:sldId id="373" r:id="rId30"/>
    <p:sldId id="374" r:id="rId31"/>
    <p:sldId id="375" r:id="rId32"/>
    <p:sldId id="376" r:id="rId33"/>
    <p:sldId id="377" r:id="rId34"/>
    <p:sldId id="378" r:id="rId35"/>
    <p:sldId id="412" r:id="rId36"/>
    <p:sldId id="276" r:id="rId3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60" autoAdjust="0"/>
  </p:normalViewPr>
  <p:slideViewPr>
    <p:cSldViewPr>
      <p:cViewPr varScale="1">
        <p:scale>
          <a:sx n="102" d="100"/>
          <a:sy n="102" d="100"/>
        </p:scale>
        <p:origin x="813" y="5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3790A-1AF8-41FD-8613-F98BEDF9DB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559C9-FBFA-44CB-8D4D-CA6FFD5A7E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AADD5-90F8-4BC9-AC30-6195DA8BE9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D408B-9088-4E1B-998F-9D60A79664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</a:ln>
        </p:spPr>
        <p:txBody>
          <a:bodyPr/>
          <a:lstStyle/>
          <a:p>
            <a:pPr>
              <a:buFont typeface="Times New Roman" panose="02020603050405020304" pitchFamily="18" charset="0"/>
              <a:buNone/>
            </a:pPr>
            <a:fld id="{BF632177-87DD-4456-BD26-105FE8E8942E}" type="slidenum">
              <a:rPr lang="en-US" altLang="zh-CN" smtClean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587" name="Rectangle 1"/>
          <p:cNvSpPr>
            <a:spLocks noGrp="1" noChangeArrowheads="1"/>
          </p:cNvSpPr>
          <p:nvPr>
            <p:ph type="body"/>
          </p:nvPr>
        </p:nvSpPr>
        <p:spPr>
          <a:xfrm>
            <a:off x="0" y="0"/>
            <a:ext cx="1588" cy="1588"/>
          </a:xfrm>
          <a:noFill/>
        </p:spPr>
        <p:txBody>
          <a:bodyPr wrap="none" anchor="ctr"/>
          <a:lstStyle/>
          <a:p>
            <a:pPr eaLnBrk="1">
              <a:spcBef>
                <a:spcPct val="0"/>
              </a:spcBef>
            </a:pPr>
            <a:endParaRPr lang="en-US" altLang="zh-CN" sz="2000" smtClean="0">
              <a:latin typeface="Arial" panose="020B0604020202020204" pitchFamily="34" charset="0"/>
            </a:endParaRPr>
          </a:p>
        </p:txBody>
      </p:sp>
      <p:sp>
        <p:nvSpPr>
          <p:cNvPr id="67588" name="Rectangle 2"/>
          <p:cNvSpPr>
            <a:spLocks noChangeArrowheads="1"/>
          </p:cNvSpPr>
          <p:nvPr/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 w="9525">
            <a:noFill/>
            <a:round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A2328044-3BCD-4ADC-B305-E5B8A302A7B3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457200" y="4114800"/>
            <a:ext cx="8229600" cy="76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524000" y="49482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609600"/>
            <a:ext cx="8128000" cy="33954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  <a:endParaRPr lang="en-US" altLang="zh-CN"/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  <a:endParaRPr lang="en-US" altLang="zh-CN"/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  <a:endParaRPr lang="en-US" altLang="zh-CN"/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  <a:endParaRPr lang="en-US" altLang="zh-CN"/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  <a:endParaRPr lang="en-US" altLang="zh-CN"/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  <a:endParaRPr lang="en-US" altLang="zh-CN"/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  <a:endParaRPr lang="en-US" altLang="zh-CN"/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  <a:endParaRPr lang="en-US" altLang="zh-CN"/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  <a:endParaRPr lang="en-US" altLang="zh-CN"/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  <a:endParaRPr lang="en-US" altLang="zh-CN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jpeg"/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jpeg"/><Relationship Id="rId1" Type="http://schemas.openxmlformats.org/officeDocument/2006/relationships/image" Target="../media/image28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jpeg"/><Relationship Id="rId1" Type="http://schemas.openxmlformats.org/officeDocument/2006/relationships/image" Target="../media/image30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4267200"/>
            <a:ext cx="8229600" cy="762000"/>
          </a:xfrm>
        </p:spPr>
        <p:txBody>
          <a:bodyPr/>
          <a:lstStyle/>
          <a:p>
            <a:pPr algn="ctr"/>
            <a:r>
              <a:rPr lang="zh-CN" altLang="en-US" sz="3600" dirty="0" smtClean="0">
                <a:solidFill>
                  <a:schemeClr val="tx2"/>
                </a:solidFill>
                <a:ea typeface="宋体" panose="02010600030101010101" pitchFamily="2" charset="-122"/>
              </a:rPr>
              <a:t>第</a:t>
            </a:r>
            <a:r>
              <a:rPr lang="en-US" altLang="zh-CN" sz="3600" dirty="0" smtClean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zh-CN" altLang="en-US" sz="3600" dirty="0" smtClean="0">
                <a:solidFill>
                  <a:schemeClr val="tx2"/>
                </a:solidFill>
                <a:ea typeface="宋体" panose="02010600030101010101" pitchFamily="2" charset="-122"/>
              </a:rPr>
              <a:t>章 大数据处理技术概论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5091113"/>
            <a:ext cx="5943600" cy="609600"/>
          </a:xfrm>
        </p:spPr>
        <p:txBody>
          <a:bodyPr/>
          <a:lstStyle/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 flipV="1">
            <a:off x="179388" y="4648200"/>
            <a:ext cx="1466850" cy="9525"/>
          </a:xfrm>
          <a:prstGeom prst="line">
            <a:avLst/>
          </a:prstGeom>
          <a:noFill/>
          <a:ln w="76200" cap="rnd">
            <a:solidFill>
              <a:schemeClr val="accent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596188" y="4648200"/>
            <a:ext cx="1349375" cy="1588"/>
          </a:xfrm>
          <a:prstGeom prst="line">
            <a:avLst/>
          </a:prstGeom>
          <a:noFill/>
          <a:ln w="76200" cap="rnd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1.1 </a:t>
            </a:r>
            <a:r>
              <a:rPr lang="zh-CN" altLang="en-US" dirty="0">
                <a:solidFill>
                  <a:srgbClr val="FF0000"/>
                </a:solidFill>
              </a:rPr>
              <a:t>大数据简介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1.2 </a:t>
            </a:r>
            <a:r>
              <a:rPr lang="zh-CN" altLang="en-US" dirty="0"/>
              <a:t>大数据处理技术简介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1.3 </a:t>
            </a:r>
            <a:r>
              <a:rPr lang="zh-CN" altLang="en-US" dirty="0"/>
              <a:t>大数据带来的机遇和挑战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1.1 </a:t>
            </a:r>
            <a:r>
              <a:rPr lang="zh-CN" altLang="en-US">
                <a:ea typeface="宋体" panose="02010600030101010101" pitchFamily="2" charset="-122"/>
              </a:rPr>
              <a:t>大数据简介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什么是大数据</a:t>
            </a:r>
            <a:endParaRPr lang="zh-CN" altLang="en-US"/>
          </a:p>
          <a:p>
            <a:r>
              <a:rPr lang="zh-CN" altLang="en-US"/>
              <a:t>大数据特点</a:t>
            </a:r>
            <a:endParaRPr lang="zh-CN" altLang="en-US"/>
          </a:p>
          <a:p>
            <a:r>
              <a:rPr lang="zh-CN" altLang="en-US"/>
              <a:t>大数据核心技术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什么是大数据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大数据</a:t>
            </a:r>
            <a:r>
              <a:rPr lang="en-US" altLang="zh-CN" dirty="0" smtClean="0"/>
              <a:t>=</a:t>
            </a:r>
            <a:r>
              <a:rPr lang="zh-CN" altLang="en-US" dirty="0" smtClean="0">
                <a:solidFill>
                  <a:srgbClr val="FF0000"/>
                </a:solidFill>
              </a:rPr>
              <a:t>大</a:t>
            </a:r>
            <a:r>
              <a:rPr lang="en-US" altLang="zh-CN" dirty="0" smtClean="0"/>
              <a:t>+</a:t>
            </a:r>
            <a:r>
              <a:rPr lang="zh-CN" altLang="en-US" dirty="0" smtClean="0"/>
              <a:t>数据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百度百科：大数据是</a:t>
            </a:r>
            <a:r>
              <a:rPr lang="zh-CN" altLang="en-US" dirty="0"/>
              <a:t>指</a:t>
            </a:r>
            <a:r>
              <a:rPr lang="zh-CN" altLang="en-US" dirty="0">
                <a:solidFill>
                  <a:srgbClr val="FF0000"/>
                </a:solidFill>
              </a:rPr>
              <a:t>无法</a:t>
            </a:r>
            <a:r>
              <a:rPr lang="zh-CN" altLang="en-US" dirty="0"/>
              <a:t>在一定时间范围内用</a:t>
            </a:r>
            <a:r>
              <a:rPr lang="zh-CN" altLang="en-US" dirty="0">
                <a:solidFill>
                  <a:srgbClr val="FF0000"/>
                </a:solidFill>
              </a:rPr>
              <a:t>常规软件工具</a:t>
            </a:r>
            <a:r>
              <a:rPr lang="zh-CN" altLang="en-US" dirty="0"/>
              <a:t>进行捕捉、管理和处理的</a:t>
            </a:r>
            <a:r>
              <a:rPr lang="zh-CN" altLang="en-US" dirty="0">
                <a:solidFill>
                  <a:srgbClr val="FF0000"/>
                </a:solidFill>
              </a:rPr>
              <a:t>数据集合</a:t>
            </a:r>
            <a:r>
              <a:rPr lang="zh-CN" altLang="en-US" dirty="0"/>
              <a:t>，是需要</a:t>
            </a:r>
            <a:r>
              <a:rPr lang="zh-CN" altLang="en-US" dirty="0">
                <a:solidFill>
                  <a:srgbClr val="FF0000"/>
                </a:solidFill>
              </a:rPr>
              <a:t>新处理模式</a:t>
            </a:r>
            <a:r>
              <a:rPr lang="zh-CN" altLang="en-US" dirty="0"/>
              <a:t>才能具有更强的决策力、洞察发现力和流程优化能力的海量、高增长率和多样化的</a:t>
            </a:r>
            <a:r>
              <a:rPr lang="zh-CN" altLang="en-US" dirty="0">
                <a:solidFill>
                  <a:srgbClr val="FF0000"/>
                </a:solidFill>
              </a:rPr>
              <a:t>信息资产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大数据特点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4V</a:t>
            </a:r>
            <a:r>
              <a:rPr lang="zh-CN" altLang="en-US" dirty="0" smtClean="0"/>
              <a:t>特性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数据规模大（</a:t>
            </a:r>
            <a:r>
              <a:rPr lang="en-US" altLang="zh-CN" dirty="0" smtClean="0"/>
              <a:t>Volume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数据多样化（</a:t>
            </a:r>
            <a:r>
              <a:rPr lang="en-US" altLang="zh-CN" dirty="0" smtClean="0"/>
              <a:t>Variety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数据变化快（</a:t>
            </a:r>
            <a:r>
              <a:rPr lang="en-US" altLang="zh-CN" dirty="0" smtClean="0"/>
              <a:t>Velocity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价值密度低（</a:t>
            </a:r>
            <a:r>
              <a:rPr lang="en-US" altLang="zh-CN" dirty="0" smtClean="0"/>
              <a:t>Value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71600"/>
            <a:ext cx="7899400" cy="4660750"/>
          </a:xfrm>
        </p:spPr>
        <p:txBody>
          <a:bodyPr/>
          <a:lstStyle/>
          <a:p>
            <a:r>
              <a:rPr lang="zh-CN" altLang="en-US" dirty="0" smtClean="0">
                <a:sym typeface="+mn-ea"/>
              </a:rPr>
              <a:t>数据规模大</a:t>
            </a:r>
            <a:endParaRPr lang="zh-CN" altLang="en-US" dirty="0"/>
          </a:p>
        </p:txBody>
      </p:sp>
      <p:sp>
        <p:nvSpPr>
          <p:cNvPr id="28674" name="Rectangle 4"/>
          <p:cNvSpPr>
            <a:spLocks noChangeArrowheads="1"/>
          </p:cNvSpPr>
          <p:nvPr/>
        </p:nvSpPr>
        <p:spPr bwMode="auto">
          <a:xfrm>
            <a:off x="1376363" y="2415802"/>
            <a:ext cx="184731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eaLnBrk="0"/>
            <a:br>
              <a:rPr lang="en-GB" altLang="zh-CN">
                <a:ea typeface="宋体" panose="02010600030101010101" pitchFamily="2" charset="-122"/>
              </a:rPr>
            </a:br>
            <a:endParaRPr lang="en-GB" altLang="zh-CN">
              <a:ea typeface="宋体" panose="02010600030101010101" pitchFamily="2" charset="-122"/>
            </a:endParaRPr>
          </a:p>
        </p:txBody>
      </p:sp>
      <p:pic>
        <p:nvPicPr>
          <p:cNvPr id="28675" name="Picture 2" descr="http://www.techcn.com.cn/uploads/201205/1335841362tb4hOVmH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36015" y="1819910"/>
            <a:ext cx="5782945" cy="4306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6" name="TextBox 7"/>
          <p:cNvSpPr txBox="1">
            <a:spLocks noChangeArrowheads="1"/>
          </p:cNvSpPr>
          <p:nvPr/>
        </p:nvSpPr>
        <p:spPr bwMode="auto">
          <a:xfrm>
            <a:off x="827584" y="6032350"/>
            <a:ext cx="64008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ea typeface="宋体" panose="02010600030101010101" pitchFamily="2" charset="-122"/>
              </a:rPr>
              <a:t>1 EB = </a:t>
            </a:r>
            <a:r>
              <a:rPr lang="en-US" altLang="zh-CN" sz="2400" dirty="0" smtClean="0">
                <a:ea typeface="宋体" panose="02010600030101010101" pitchFamily="2" charset="-122"/>
              </a:rPr>
              <a:t>10</a:t>
            </a:r>
            <a:r>
              <a:rPr lang="en-US" altLang="zh-CN" sz="2400" baseline="30000" dirty="0" smtClean="0">
                <a:ea typeface="宋体" panose="02010600030101010101" pitchFamily="2" charset="-122"/>
              </a:rPr>
              <a:t>3</a:t>
            </a:r>
            <a:r>
              <a:rPr lang="en-US" altLang="zh-CN" sz="2400" dirty="0" smtClean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ZB = 10</a:t>
            </a:r>
            <a:r>
              <a:rPr lang="en-US" altLang="zh-CN" sz="2400" baseline="30000" dirty="0">
                <a:ea typeface="宋体" panose="02010600030101010101" pitchFamily="2" charset="-122"/>
              </a:rPr>
              <a:t>6</a:t>
            </a:r>
            <a:r>
              <a:rPr lang="en-US" altLang="zh-CN" sz="2400" dirty="0">
                <a:ea typeface="宋体" panose="02010600030101010101" pitchFamily="2" charset="-122"/>
              </a:rPr>
              <a:t> PB = 10</a:t>
            </a:r>
            <a:r>
              <a:rPr lang="en-US" altLang="zh-CN" sz="2400" baseline="30000" dirty="0">
                <a:ea typeface="宋体" panose="02010600030101010101" pitchFamily="2" charset="-122"/>
              </a:rPr>
              <a:t>9</a:t>
            </a:r>
            <a:r>
              <a:rPr lang="en-US" altLang="zh-CN" sz="2400" dirty="0">
                <a:ea typeface="宋体" panose="02010600030101010101" pitchFamily="2" charset="-122"/>
              </a:rPr>
              <a:t> TB = 10</a:t>
            </a:r>
            <a:r>
              <a:rPr lang="en-US" altLang="zh-CN" sz="2400" baseline="30000" dirty="0">
                <a:ea typeface="宋体" panose="02010600030101010101" pitchFamily="2" charset="-122"/>
              </a:rPr>
              <a:t>12</a:t>
            </a:r>
            <a:r>
              <a:rPr lang="en-US" altLang="zh-CN" sz="2400" dirty="0">
                <a:ea typeface="宋体" panose="02010600030101010101" pitchFamily="2" charset="-122"/>
              </a:rPr>
              <a:t> GB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28677" name="TextBox 8"/>
          <p:cNvSpPr txBox="1">
            <a:spLocks noChangeArrowheads="1"/>
          </p:cNvSpPr>
          <p:nvPr/>
        </p:nvSpPr>
        <p:spPr bwMode="auto">
          <a:xfrm>
            <a:off x="4546283" y="2600326"/>
            <a:ext cx="221456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rgbClr val="192FFB"/>
                </a:solidFill>
                <a:ea typeface="宋体" panose="02010600030101010101" pitchFamily="2" charset="-122"/>
              </a:rPr>
              <a:t>大数据时代！</a:t>
            </a:r>
            <a:endParaRPr lang="zh-CN" altLang="en-US" sz="2400" b="1">
              <a:solidFill>
                <a:srgbClr val="192FFB"/>
              </a:solidFill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大数据特点</a:t>
            </a:r>
            <a:endParaRPr lang="zh-CN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大数据特点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数据多样化</a:t>
            </a:r>
            <a:endParaRPr lang="en-US" altLang="zh-CN" dirty="0" smtClean="0"/>
          </a:p>
          <a:p>
            <a:pPr marL="685800" lvl="1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数据种类的多样性：文字、语音、图片、视频、信息等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数据对象的多样性：个人信息、个人数据、商业服务数据、社会公共数据、自然界数据、物质世界的数据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数据来源的多样性：在数据层面打破现实世界的界限，多家公司的共享替代一家公司的数据</a:t>
            </a:r>
            <a:endParaRPr lang="zh-CN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zh-CN" altLang="en-US" dirty="0"/>
          </a:p>
        </p:txBody>
      </p:sp>
      <p:pic>
        <p:nvPicPr>
          <p:cNvPr id="4" name="图片 5" descr="http://articles.csdn.net/uploads/allimg/121026/164_121026134659_1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23728" y="4077072"/>
            <a:ext cx="3600400" cy="2652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大数据特点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数据变化快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数据产生和更新的频率，</a:t>
            </a:r>
            <a:r>
              <a:rPr lang="zh-CN" altLang="en-US" dirty="0"/>
              <a:t>也是衡量大数据的一个重要特征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有效</a:t>
            </a:r>
            <a:r>
              <a:rPr lang="zh-CN" altLang="en-US" dirty="0"/>
              <a:t>处理大数据需要在数据变化的过程</a:t>
            </a:r>
            <a:r>
              <a:rPr lang="zh-CN" altLang="en-US" dirty="0" smtClean="0"/>
              <a:t>中进行分析。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遍布</a:t>
            </a:r>
            <a:r>
              <a:rPr lang="zh-CN" altLang="en-US" dirty="0"/>
              <a:t>全国的便利店在</a:t>
            </a:r>
            <a:r>
              <a:rPr lang="en-US" altLang="zh-CN" dirty="0"/>
              <a:t>24</a:t>
            </a:r>
            <a:r>
              <a:rPr lang="zh-CN" altLang="en-US" dirty="0"/>
              <a:t>小时内产生的</a:t>
            </a:r>
            <a:r>
              <a:rPr lang="en-US" altLang="zh-CN" dirty="0"/>
              <a:t>POS</a:t>
            </a:r>
            <a:r>
              <a:rPr lang="zh-CN" altLang="en-US" dirty="0"/>
              <a:t>机</a:t>
            </a:r>
            <a:r>
              <a:rPr lang="zh-CN" altLang="en-US" dirty="0" smtClean="0"/>
              <a:t>数据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电</a:t>
            </a:r>
            <a:r>
              <a:rPr lang="zh-CN" altLang="en-US" dirty="0"/>
              <a:t>商网站中由用户访问所产生的网站点击流</a:t>
            </a:r>
            <a:r>
              <a:rPr lang="zh-CN" altLang="en-US" dirty="0" smtClean="0"/>
              <a:t>数据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高峰</a:t>
            </a:r>
            <a:r>
              <a:rPr lang="zh-CN" altLang="en-US" dirty="0"/>
              <a:t>时达到每秒近万条的微信</a:t>
            </a:r>
            <a:r>
              <a:rPr lang="zh-CN" altLang="en-US" dirty="0" smtClean="0"/>
              <a:t>短文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大数据特点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价值密度低</a:t>
            </a:r>
            <a:endParaRPr lang="zh-CN" altLang="en-US" dirty="0"/>
          </a:p>
          <a:p>
            <a:pPr lvl="1"/>
            <a:r>
              <a:rPr lang="zh-CN" altLang="en-US" dirty="0"/>
              <a:t>数据价值密度的高低与数据总量的大小成反比，数据价值密度越高数据总量越小，数据价值密度越低数据总量越大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单位数据的价值小，但大数据产生的价值大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大数据核心技术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两大核心技术</a:t>
            </a:r>
            <a:endParaRPr lang="zh-CN" altLang="en-US"/>
          </a:p>
          <a:p>
            <a:pPr lvl="1"/>
            <a:r>
              <a:rPr lang="zh-CN" altLang="en-US"/>
              <a:t>分布式存储</a:t>
            </a:r>
            <a:endParaRPr lang="zh-CN" altLang="en-US"/>
          </a:p>
          <a:p>
            <a:pPr lvl="1"/>
            <a:r>
              <a:rPr lang="zh-CN" altLang="en-US"/>
              <a:t>并行化处理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大数据核心技术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63980"/>
            <a:ext cx="7899400" cy="4953000"/>
          </a:xfrm>
        </p:spPr>
        <p:txBody>
          <a:bodyPr/>
          <a:lstStyle/>
          <a:p>
            <a:r>
              <a:rPr lang="en-US" altLang="zh-CN" dirty="0" smtClean="0"/>
              <a:t>Google:</a:t>
            </a:r>
            <a:r>
              <a:rPr lang="zh-CN" altLang="en-US" dirty="0" smtClean="0">
                <a:ea typeface="宋体" panose="02010600030101010101" pitchFamily="2" charset="-122"/>
              </a:rPr>
              <a:t>大数据鼻祖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32580" y="3965376"/>
            <a:ext cx="3352800" cy="1905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51180" y="3889176"/>
            <a:ext cx="2209800" cy="2057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713180" y="3127176"/>
            <a:ext cx="4724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1408380" y="5451276"/>
            <a:ext cx="1338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分布式存储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20" descr="http://img.watchstor.com/uploadimg/20090702/1744123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0" t="8000" r="23199" b="14000"/>
          <a:stretch>
            <a:fillRect/>
          </a:stretch>
        </p:blipFill>
        <p:spPr bwMode="auto">
          <a:xfrm>
            <a:off x="1179780" y="3698676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2" descr="http://static.open-open.com/lib/uploadImg/20120608/20120608155525_28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980" y="3546276"/>
            <a:ext cx="304800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14"/>
          <p:cNvSpPr txBox="1">
            <a:spLocks noChangeArrowheads="1"/>
          </p:cNvSpPr>
          <p:nvPr/>
        </p:nvSpPr>
        <p:spPr bwMode="auto">
          <a:xfrm>
            <a:off x="5599380" y="5413176"/>
            <a:ext cx="1325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并行化处理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6"/>
          <p:cNvSpPr txBox="1">
            <a:spLocks noChangeArrowheads="1"/>
          </p:cNvSpPr>
          <p:nvPr/>
        </p:nvSpPr>
        <p:spPr bwMode="auto">
          <a:xfrm>
            <a:off x="5542230" y="5946576"/>
            <a:ext cx="20751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MapReduce(2004)</a:t>
            </a:r>
            <a:endParaRPr lang="zh-CN" altLang="en-US"/>
          </a:p>
        </p:txBody>
      </p:sp>
      <p:pic>
        <p:nvPicPr>
          <p:cNvPr id="12" name="Picture 24" descr="http://pic15.nipic.com/20110726/4923862_234318144138_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44" t="7292" r="16406" b="10417"/>
          <a:stretch>
            <a:fillRect/>
          </a:stretch>
        </p:blipFill>
        <p:spPr bwMode="auto">
          <a:xfrm>
            <a:off x="2932380" y="1907976"/>
            <a:ext cx="2133600" cy="191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9"/>
          <p:cNvSpPr txBox="1">
            <a:spLocks noChangeArrowheads="1"/>
          </p:cNvSpPr>
          <p:nvPr/>
        </p:nvSpPr>
        <p:spPr bwMode="auto">
          <a:xfrm>
            <a:off x="3618180" y="2669976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大数据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下箭头 13"/>
          <p:cNvSpPr/>
          <p:nvPr/>
        </p:nvSpPr>
        <p:spPr>
          <a:xfrm>
            <a:off x="1332180" y="3127176"/>
            <a:ext cx="15240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5294580" y="3127176"/>
            <a:ext cx="15240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275359" y="5951021"/>
            <a:ext cx="17195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 smtClean="0"/>
              <a:t>GFS(2003)</a:t>
            </a:r>
            <a:endParaRPr lang="en-US" altLang="zh-CN" dirty="0" smtClean="0"/>
          </a:p>
          <a:p>
            <a:pPr eaLnBrk="1" hangingPunct="1"/>
            <a:r>
              <a:rPr lang="en-US" altLang="zh-CN" dirty="0" err="1" smtClean="0"/>
              <a:t>BigTable(2006)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大数据的核心技术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Hadoop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5" name="图片 4" descr="1011838-20181214213729657-958046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40" y="1986915"/>
            <a:ext cx="6137910" cy="30587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大数据的核心技术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Hadoop</a:t>
            </a:r>
            <a:r>
              <a:rPr lang="zh-CN" altLang="en-US">
                <a:ea typeface="宋体" panose="02010600030101010101" pitchFamily="2" charset="-122"/>
              </a:rPr>
              <a:t>生态系统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4" name="图片 3" descr="微信图片_202102240905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055" y="2035810"/>
            <a:ext cx="6210935" cy="41871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1.1 </a:t>
            </a:r>
            <a:r>
              <a:rPr lang="zh-CN" altLang="en-US" dirty="0"/>
              <a:t>大数据简介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1.2 </a:t>
            </a:r>
            <a:r>
              <a:rPr lang="zh-CN" altLang="en-US" dirty="0">
                <a:solidFill>
                  <a:srgbClr val="FF0000"/>
                </a:solidFill>
              </a:rPr>
              <a:t>大数据处理技术简介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1.3 </a:t>
            </a:r>
            <a:r>
              <a:rPr lang="zh-CN" altLang="en-US" dirty="0"/>
              <a:t>大数据带来的机遇和挑战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1.2 大数据处理技术简介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数据集分类</a:t>
            </a:r>
            <a:endParaRPr lang="zh-CN" altLang="en-US"/>
          </a:p>
          <a:p>
            <a:r>
              <a:rPr lang="zh-CN" altLang="en-US"/>
              <a:t>大数据处理</a:t>
            </a:r>
            <a:endParaRPr lang="zh-CN" altLang="en-US"/>
          </a:p>
          <a:p>
            <a:r>
              <a:rPr lang="zh-CN" altLang="en-US"/>
              <a:t>大数据处理框架</a:t>
            </a:r>
            <a:endParaRPr lang="zh-CN" altLang="en-US"/>
          </a:p>
          <a:p>
            <a:r>
              <a:rPr lang="zh-CN" altLang="en-US"/>
              <a:t>大数据系统架构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数据集分类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81100"/>
            <a:ext cx="7899400" cy="4953000"/>
          </a:xfrm>
        </p:spPr>
        <p:txBody>
          <a:bodyPr/>
          <a:lstStyle/>
          <a:p>
            <a:r>
              <a:rPr lang="zh-CN" altLang="en-US" dirty="0"/>
              <a:t>常见分类</a:t>
            </a:r>
            <a:endParaRPr lang="zh-CN" altLang="en-US" dirty="0"/>
          </a:p>
          <a:p>
            <a:pPr lvl="1"/>
            <a:r>
              <a:rPr lang="zh-CN" altLang="en-US" dirty="0"/>
              <a:t>有界数据集</a:t>
            </a:r>
            <a:r>
              <a:rPr lang="en-US" altLang="zh-CN" dirty="0"/>
              <a:t>	</a:t>
            </a:r>
            <a:endParaRPr lang="en-US" altLang="zh-CN" dirty="0"/>
          </a:p>
          <a:p>
            <a:pPr lvl="2"/>
            <a:r>
              <a:rPr lang="zh-CN" altLang="en-US" dirty="0"/>
              <a:t>具有时间边界，数据有一定的起始和结束时间</a:t>
            </a:r>
            <a:endParaRPr lang="zh-CN" altLang="en-US" dirty="0"/>
          </a:p>
          <a:p>
            <a:pPr lvl="2"/>
            <a:r>
              <a:rPr lang="zh-CN" altLang="en-US" dirty="0"/>
              <a:t>例如：一年的交易数据</a:t>
            </a:r>
            <a:endParaRPr lang="zh-CN" altLang="en-US" dirty="0"/>
          </a:p>
          <a:p>
            <a:pPr lvl="1"/>
            <a:r>
              <a:rPr lang="zh-CN" altLang="en-US" dirty="0"/>
              <a:t>无界数据集</a:t>
            </a:r>
            <a:endParaRPr lang="zh-CN" altLang="en-US" dirty="0"/>
          </a:p>
          <a:p>
            <a:pPr lvl="2"/>
            <a:r>
              <a:rPr lang="zh-CN" altLang="en-US" dirty="0"/>
              <a:t>数据从开始生成就一直不断地产生新的数据</a:t>
            </a:r>
            <a:endParaRPr lang="zh-CN" altLang="en-US" dirty="0"/>
          </a:p>
          <a:p>
            <a:pPr lvl="2"/>
            <a:r>
              <a:rPr lang="zh-CN" altLang="en-US" dirty="0"/>
              <a:t>例如：服务器日志</a:t>
            </a:r>
            <a:endParaRPr lang="zh-CN" altLang="en-US" dirty="0"/>
          </a:p>
        </p:txBody>
      </p:sp>
      <p:pic>
        <p:nvPicPr>
          <p:cNvPr id="4" name="图片 3" descr="微信图片_202003110826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6560" y="4416425"/>
            <a:ext cx="4834255" cy="2227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大数据处理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处理模式</a:t>
            </a:r>
            <a:endParaRPr lang="zh-CN" altLang="en-US"/>
          </a:p>
          <a:p>
            <a:pPr lvl="1"/>
            <a:r>
              <a:rPr lang="zh-CN" altLang="en-US"/>
              <a:t>批处理</a:t>
            </a:r>
            <a:endParaRPr lang="zh-CN" altLang="en-US"/>
          </a:p>
          <a:p>
            <a:pPr lvl="2"/>
            <a:r>
              <a:rPr lang="zh-CN" altLang="en-US"/>
              <a:t>有界数据</a:t>
            </a:r>
            <a:endParaRPr lang="zh-CN" altLang="en-US"/>
          </a:p>
          <a:p>
            <a:pPr lvl="2"/>
            <a:r>
              <a:rPr lang="zh-CN" altLang="en-US"/>
              <a:t>高吞吐</a:t>
            </a:r>
            <a:endParaRPr lang="zh-CN" altLang="en-US"/>
          </a:p>
          <a:p>
            <a:pPr lvl="2"/>
            <a:r>
              <a:rPr lang="zh-CN" altLang="en-US"/>
              <a:t>高延迟</a:t>
            </a:r>
            <a:endParaRPr lang="zh-CN" altLang="en-US"/>
          </a:p>
          <a:p>
            <a:pPr lvl="1"/>
            <a:r>
              <a:rPr lang="zh-CN" altLang="en-US"/>
              <a:t>流处理</a:t>
            </a:r>
            <a:endParaRPr lang="zh-CN" altLang="en-US"/>
          </a:p>
          <a:p>
            <a:pPr lvl="2"/>
            <a:r>
              <a:rPr lang="zh-CN" altLang="en-US"/>
              <a:t>流式数据</a:t>
            </a:r>
            <a:endParaRPr lang="zh-CN" altLang="en-US"/>
          </a:p>
          <a:p>
            <a:pPr lvl="2"/>
            <a:r>
              <a:rPr lang="zh-CN" altLang="en-US"/>
              <a:t>低延迟</a:t>
            </a:r>
            <a:endParaRPr lang="zh-CN" altLang="en-US"/>
          </a:p>
          <a:p>
            <a:pPr lvl="2"/>
            <a:r>
              <a:rPr lang="zh-CN" altLang="en-US"/>
              <a:t>低吞吐</a:t>
            </a:r>
            <a:endParaRPr lang="zh-CN" altLang="en-US"/>
          </a:p>
          <a:p>
            <a:pPr lvl="2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大数据处理框架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常见大数据处理框架</a:t>
            </a:r>
            <a:endParaRPr lang="zh-CN" altLang="en-US"/>
          </a:p>
          <a:p>
            <a:pPr lvl="1"/>
            <a:r>
              <a:rPr lang="zh-CN" altLang="en-US"/>
              <a:t>仅批处理</a:t>
            </a:r>
            <a:endParaRPr lang="zh-CN" altLang="en-US"/>
          </a:p>
          <a:p>
            <a:pPr lvl="2"/>
            <a:r>
              <a:rPr lang="zh-CN" altLang="en-US"/>
              <a:t>Hadoop </a:t>
            </a:r>
            <a:r>
              <a:rPr lang="en-US" altLang="zh-CN"/>
              <a:t>MapReduce</a:t>
            </a:r>
            <a:endParaRPr lang="zh-CN" altLang="en-US"/>
          </a:p>
          <a:p>
            <a:pPr lvl="1"/>
            <a:r>
              <a:rPr lang="zh-CN" altLang="en-US"/>
              <a:t>仅流处理</a:t>
            </a:r>
            <a:endParaRPr lang="zh-CN" altLang="en-US"/>
          </a:p>
          <a:p>
            <a:pPr lvl="2"/>
            <a:r>
              <a:rPr lang="zh-CN" altLang="en-US"/>
              <a:t>Storm</a:t>
            </a:r>
            <a:endParaRPr lang="zh-CN" altLang="en-US"/>
          </a:p>
          <a:p>
            <a:pPr lvl="2"/>
            <a:r>
              <a:rPr lang="zh-CN" altLang="en-US"/>
              <a:t>Samza</a:t>
            </a:r>
            <a:endParaRPr lang="zh-CN" altLang="en-US"/>
          </a:p>
          <a:p>
            <a:pPr lvl="1"/>
            <a:r>
              <a:rPr lang="zh-CN" altLang="en-US"/>
              <a:t>混合框架</a:t>
            </a:r>
            <a:endParaRPr lang="zh-CN" altLang="en-US"/>
          </a:p>
          <a:p>
            <a:pPr lvl="2"/>
            <a:r>
              <a:rPr lang="zh-CN" altLang="en-US"/>
              <a:t>Spark</a:t>
            </a:r>
            <a:endParaRPr lang="zh-CN" altLang="en-US"/>
          </a:p>
          <a:p>
            <a:pPr lvl="2"/>
            <a:r>
              <a:rPr lang="zh-CN" altLang="en-US"/>
              <a:t>Flink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大数据处理框架</a:t>
            </a:r>
            <a:endParaRPr lang="zh-CN" altLang="en-US"/>
          </a:p>
        </p:txBody>
      </p:sp>
      <p:pic>
        <p:nvPicPr>
          <p:cNvPr id="5" name="图片 4" descr="hadoop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329055"/>
            <a:ext cx="2520315" cy="596900"/>
          </a:xfrm>
          <a:prstGeom prst="rect">
            <a:avLst/>
          </a:prstGeom>
        </p:spPr>
      </p:pic>
      <p:pic>
        <p:nvPicPr>
          <p:cNvPr id="6" name="图片 5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371725"/>
            <a:ext cx="2428875" cy="762000"/>
          </a:xfrm>
          <a:prstGeom prst="rect">
            <a:avLst/>
          </a:prstGeom>
        </p:spPr>
      </p:pic>
      <p:pic>
        <p:nvPicPr>
          <p:cNvPr id="7" name="图片 6" descr="samza-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555" y="2592070"/>
            <a:ext cx="2166620" cy="541655"/>
          </a:xfrm>
          <a:prstGeom prst="rect">
            <a:avLst/>
          </a:prstGeom>
        </p:spPr>
      </p:pic>
      <p:pic>
        <p:nvPicPr>
          <p:cNvPr id="8" name="图片 7" descr="spark-logo-trade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940" y="3589020"/>
            <a:ext cx="1863090" cy="9912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9215" y="3700145"/>
            <a:ext cx="2170430" cy="11855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Spark </a:t>
            </a:r>
            <a:r>
              <a:rPr lang="en-US" altLang="zh-CN" dirty="0">
                <a:sym typeface="+mn-ea"/>
              </a:rPr>
              <a:t>vs  </a:t>
            </a:r>
            <a:r>
              <a:rPr lang="en-US" altLang="zh-CN" dirty="0" err="1">
                <a:sym typeface="+mn-ea"/>
              </a:rPr>
              <a:t>Flink</a:t>
            </a:r>
            <a:endParaRPr lang="en-US" altLang="zh-CN" dirty="0">
              <a:sym typeface="+mn-ea"/>
            </a:endParaRPr>
          </a:p>
          <a:p>
            <a:pPr lvl="1"/>
            <a:r>
              <a:rPr lang="en-US" altLang="zh-CN" dirty="0">
                <a:sym typeface="+mn-ea"/>
              </a:rPr>
              <a:t>Spark</a:t>
            </a:r>
            <a:endParaRPr lang="en-US" altLang="zh-CN" dirty="0">
              <a:sym typeface="+mn-ea"/>
            </a:endParaRPr>
          </a:p>
          <a:p>
            <a:pPr lvl="2"/>
            <a:r>
              <a:rPr lang="zh-CN" altLang="en-US" sz="2400" dirty="0">
                <a:ea typeface="宋体" panose="02010600030101010101" pitchFamily="2" charset="-122"/>
                <a:sym typeface="+mn-ea"/>
              </a:rPr>
              <a:t>核心是批处理</a:t>
            </a:r>
            <a:endParaRPr lang="zh-CN" altLang="en-US" sz="2400" dirty="0">
              <a:ea typeface="宋体" panose="02010600030101010101" pitchFamily="2" charset="-122"/>
              <a:sym typeface="+mn-ea"/>
            </a:endParaRPr>
          </a:p>
          <a:p>
            <a:pPr lvl="2"/>
            <a:r>
              <a:rPr lang="zh-CN" altLang="en-US" sz="2400" dirty="0">
                <a:ea typeface="宋体" panose="02010600030101010101" pitchFamily="2" charset="-122"/>
                <a:sym typeface="+mn-ea"/>
              </a:rPr>
              <a:t>流处理被定义为微批处理</a:t>
            </a:r>
            <a:endParaRPr lang="zh-CN" altLang="en-US" sz="2400" dirty="0">
              <a:ea typeface="宋体" panose="02010600030101010101" pitchFamily="2" charset="-122"/>
              <a:sym typeface="+mn-ea"/>
            </a:endParaRPr>
          </a:p>
          <a:p>
            <a:pPr lvl="2"/>
            <a:r>
              <a:rPr lang="zh-CN" altLang="en-US" sz="2400" dirty="0">
                <a:ea typeface="宋体" panose="02010600030101010101" pitchFamily="2" charset="-122"/>
                <a:sym typeface="+mn-ea"/>
              </a:rPr>
              <a:t>商业应用成熟</a:t>
            </a:r>
            <a:endParaRPr lang="zh-CN" altLang="en-US" sz="2400" dirty="0">
              <a:ea typeface="宋体" panose="02010600030101010101" pitchFamily="2" charset="-122"/>
              <a:sym typeface="+mn-ea"/>
            </a:endParaRPr>
          </a:p>
          <a:p>
            <a:pPr lvl="1"/>
            <a:r>
              <a:rPr lang="en-US" altLang="zh-CN" sz="2800" dirty="0" err="1">
                <a:ea typeface="宋体" panose="02010600030101010101" pitchFamily="2" charset="-122"/>
                <a:sym typeface="+mn-ea"/>
              </a:rPr>
              <a:t>Flink</a:t>
            </a:r>
            <a:endParaRPr lang="en-US" altLang="zh-CN" sz="2800" dirty="0">
              <a:ea typeface="宋体" panose="02010600030101010101" pitchFamily="2" charset="-122"/>
              <a:sym typeface="+mn-ea"/>
            </a:endParaRPr>
          </a:p>
          <a:p>
            <a:pPr lvl="2"/>
            <a:r>
              <a:rPr lang="zh-CN" altLang="en-US" sz="2400" dirty="0">
                <a:ea typeface="宋体" panose="02010600030101010101" pitchFamily="2" charset="-122"/>
                <a:sym typeface="+mn-ea"/>
              </a:rPr>
              <a:t>核心是流处理</a:t>
            </a:r>
            <a:endParaRPr lang="zh-CN" altLang="en-US" sz="2400" dirty="0">
              <a:ea typeface="宋体" panose="02010600030101010101" pitchFamily="2" charset="-122"/>
              <a:sym typeface="+mn-ea"/>
            </a:endParaRPr>
          </a:p>
          <a:p>
            <a:pPr lvl="2"/>
            <a:r>
              <a:rPr lang="zh-CN" altLang="en-US" sz="2400" dirty="0">
                <a:ea typeface="宋体" panose="02010600030101010101" pitchFamily="2" charset="-122"/>
                <a:sym typeface="+mn-ea"/>
              </a:rPr>
              <a:t>批处理被定义为有限流处理</a:t>
            </a:r>
            <a:endParaRPr lang="zh-CN" altLang="en-US" sz="2400" dirty="0">
              <a:ea typeface="宋体" panose="02010600030101010101" pitchFamily="2" charset="-122"/>
              <a:sym typeface="+mn-ea"/>
            </a:endParaRPr>
          </a:p>
          <a:p>
            <a:pPr lvl="2"/>
            <a:r>
              <a:rPr lang="zh-CN" altLang="en-US" dirty="0">
                <a:ea typeface="宋体" panose="02010600030101010101" pitchFamily="2" charset="-122"/>
              </a:rPr>
              <a:t>设计理念先进</a:t>
            </a:r>
            <a:endParaRPr lang="zh-CN" altLang="en-US" dirty="0">
              <a:ea typeface="宋体" panose="02010600030101010101" pitchFamily="2" charset="-122"/>
            </a:endParaRPr>
          </a:p>
          <a:p>
            <a:pPr lvl="2"/>
            <a:r>
              <a:rPr lang="zh-CN" altLang="en-US" dirty="0">
                <a:ea typeface="宋体" panose="02010600030101010101" pitchFamily="2" charset="-122"/>
              </a:rPr>
              <a:t>阿里巴巴决定将Blink贡献回Flink项目</a:t>
            </a:r>
            <a:endParaRPr lang="zh-CN" altLang="en-US" dirty="0">
              <a:ea typeface="宋体" panose="02010600030101010101" pitchFamily="2" charset="-122"/>
            </a:endParaRPr>
          </a:p>
          <a:p>
            <a:pPr lvl="2"/>
            <a:endParaRPr lang="zh-CN" altLang="en-US" dirty="0"/>
          </a:p>
        </p:txBody>
      </p:sp>
      <p:sp>
        <p:nvSpPr>
          <p:cNvPr id="4" name="标题 3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大数据系统架构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>
                <a:ea typeface="宋体" panose="02010600030101010101" pitchFamily="2" charset="-122"/>
              </a:rPr>
              <a:t>常见两种架构</a:t>
            </a:r>
            <a:endParaRPr lang="zh-CN" altLang="en-US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Lamda</a:t>
            </a:r>
            <a:r>
              <a:rPr lang="zh-CN" altLang="en-US">
                <a:ea typeface="宋体" panose="02010600030101010101" pitchFamily="2" charset="-122"/>
              </a:rPr>
              <a:t>架构</a:t>
            </a:r>
            <a:endParaRPr lang="zh-CN" altLang="en-US">
              <a:ea typeface="宋体" panose="02010600030101010101" pitchFamily="2" charset="-122"/>
            </a:endParaRPr>
          </a:p>
          <a:p>
            <a:pPr lvl="1"/>
            <a:endParaRPr lang="zh-CN" altLang="en-US">
              <a:ea typeface="宋体" panose="02010600030101010101" pitchFamily="2" charset="-122"/>
            </a:endParaRPr>
          </a:p>
          <a:p>
            <a:pPr lvl="1"/>
            <a:endParaRPr lang="zh-CN" altLang="en-US">
              <a:ea typeface="宋体" panose="02010600030101010101" pitchFamily="2" charset="-122"/>
            </a:endParaRPr>
          </a:p>
          <a:p>
            <a:pPr lvl="1"/>
            <a:endParaRPr lang="zh-CN" altLang="en-US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  <a:sym typeface="+mn-ea"/>
              </a:rPr>
              <a:t>Kappa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架构</a:t>
            </a:r>
            <a:endParaRPr lang="zh-CN" altLang="en-US">
              <a:ea typeface="宋体" panose="02010600030101010101" pitchFamily="2" charset="-122"/>
            </a:endParaRPr>
          </a:p>
          <a:p>
            <a:pPr lvl="1"/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4" name="图片 3" descr="852983-20190923115012470-18306304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5260" y="2326640"/>
            <a:ext cx="4343400" cy="1555115"/>
          </a:xfrm>
          <a:prstGeom prst="rect">
            <a:avLst/>
          </a:prstGeom>
        </p:spPr>
      </p:pic>
      <p:pic>
        <p:nvPicPr>
          <p:cNvPr id="5" name="图片 4" descr="2019101118042289349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0" y="4474210"/>
            <a:ext cx="4210685" cy="17633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1.1 </a:t>
            </a:r>
            <a:r>
              <a:rPr lang="zh-CN" altLang="en-US" dirty="0"/>
              <a:t>大数据简介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1.2 </a:t>
            </a:r>
            <a:r>
              <a:rPr lang="zh-CN" altLang="en-US" dirty="0"/>
              <a:t>大数据处理技术简介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1.3 </a:t>
            </a:r>
            <a:r>
              <a:rPr lang="zh-CN" altLang="en-US" dirty="0">
                <a:solidFill>
                  <a:srgbClr val="FF0000"/>
                </a:solidFill>
              </a:rPr>
              <a:t>大数据带来的机遇和挑战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1.3 大数据带来的机遇和挑战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大数据带来的思维变革</a:t>
            </a:r>
            <a:endParaRPr lang="zh-CN" altLang="en-US"/>
          </a:p>
          <a:p>
            <a:r>
              <a:rPr lang="zh-CN" altLang="en-US" dirty="0" smtClean="0">
                <a:sym typeface="+mn-ea"/>
              </a:rPr>
              <a:t>大数据对科学研究的影响</a:t>
            </a:r>
            <a:endParaRPr lang="zh-CN" altLang="en-US" dirty="0" smtClean="0">
              <a:sym typeface="+mn-ea"/>
            </a:endParaRPr>
          </a:p>
          <a:p>
            <a:r>
              <a:rPr lang="zh-CN" altLang="en-US">
                <a:sym typeface="+mn-ea"/>
              </a:rPr>
              <a:t>大数据岗位与职业规划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大数据带来的思维变革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全面而非抽样</a:t>
            </a:r>
            <a:endParaRPr lang="en-US" altLang="zh-CN" dirty="0" smtClean="0"/>
          </a:p>
          <a:p>
            <a:r>
              <a:rPr lang="zh-CN" altLang="en-US" dirty="0" smtClean="0"/>
              <a:t>效率而非精确</a:t>
            </a:r>
            <a:endParaRPr lang="en-US" altLang="zh-CN" dirty="0" smtClean="0"/>
          </a:p>
          <a:p>
            <a:r>
              <a:rPr lang="zh-CN" altLang="en-US" dirty="0" smtClean="0"/>
              <a:t>相关而非因果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sym typeface="+mn-ea"/>
              </a:rPr>
              <a:t>全样而非抽样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Picture 2" descr="https://timgsa.baidu.com/timg?image&amp;quality=80&amp;size=b9999_10000&amp;sec=1488774479549&amp;di=1823bedc4507b9a305065fa966a317c2&amp;imgtype=0&amp;src=http%3A%2F%2Fi7.qhimg.com%2Ft01d77f8c00cf163cc1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514600"/>
            <a:ext cx="6019800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362200" y="2057400"/>
            <a:ext cx="4800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数据太多，无法保存和分析，统计学采用抽样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sym typeface="+mn-ea"/>
              </a:rPr>
              <a:t>效率而非精确</a:t>
            </a:r>
            <a:endParaRPr lang="zh-CN" altLang="en-US"/>
          </a:p>
        </p:txBody>
      </p:sp>
      <p:pic>
        <p:nvPicPr>
          <p:cNvPr id="4" name="Picture 2" descr="https://timgsa.baidu.com/timg?image&amp;quality=80&amp;size=b9999_10000&amp;sec=1488775219149&amp;di=da79a2f82ea1a10cab575e085a144df4&amp;imgtype=0&amp;src=http%3A%2F%2Fe.hiphotos.baidu.com%2Fzhidao%2Fpic%2Fitem%2Ff3d3572c11dfa9ec364005cf65d0f703908fc1f8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8800"/>
            <a:ext cx="3810000" cy="309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https://timgsa.baidu.com/timg?image&amp;quality=80&amp;size=b9999_10000&amp;sec=1488775278831&amp;di=673a89ead40f5596e9b1d54b52e3f9ed&amp;imgtype=0&amp;src=http%3A%2F%2Fp.jianke.net%2Farticle%2F201509%2F201509202112403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958"/>
          <a:stretch>
            <a:fillRect/>
          </a:stretch>
        </p:blipFill>
        <p:spPr bwMode="auto">
          <a:xfrm>
            <a:off x="5105400" y="2057400"/>
            <a:ext cx="3200400" cy="315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905000" y="5410200"/>
            <a:ext cx="1108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追求效率</a:t>
            </a:r>
            <a:endParaRPr lang="zh-CN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172200" y="5334000"/>
            <a:ext cx="157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不是追求精确</a:t>
            </a:r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8790" y="319405"/>
            <a:ext cx="7877810" cy="56324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相关而非因果</a:t>
            </a:r>
            <a:endParaRPr lang="zh-CN" altLang="en-US" dirty="0"/>
          </a:p>
          <a:p>
            <a:endParaRPr lang="zh-CN" altLang="en-US"/>
          </a:p>
        </p:txBody>
      </p:sp>
      <p:pic>
        <p:nvPicPr>
          <p:cNvPr id="4" name="Picture 8" descr="I:\厦大教师\课程\大数据技术基础\教材\2016年人民邮电出版社第2版教材\2017年2月第二版教材封面\大数据技术原理与应用第2版封面描边 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57200" y="1988334"/>
            <a:ext cx="2438400" cy="34226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79425" y="5493534"/>
            <a:ext cx="2492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用户在网店购买一本书</a:t>
            </a:r>
            <a:endParaRPr lang="zh-CN" altLang="en-US"/>
          </a:p>
        </p:txBody>
      </p:sp>
      <p:pic>
        <p:nvPicPr>
          <p:cNvPr id="6" name="Picture 2" descr="https://ss0.bdstatic.com/70cFvHSh_Q1YnxGkpoWK1HF6hhy/it/u=3604242560,1111123322&amp;fm=23&amp;gp=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692424"/>
            <a:ext cx="327977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105400" y="5417334"/>
            <a:ext cx="31861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网店自动推荐相关的另一本书</a:t>
            </a:r>
            <a:endParaRPr lang="zh-CN" altLang="en-US"/>
          </a:p>
        </p:txBody>
      </p:sp>
      <p:sp>
        <p:nvSpPr>
          <p:cNvPr id="8" name="左右箭头 7"/>
          <p:cNvSpPr>
            <a:spLocks noChangeArrowheads="1"/>
          </p:cNvSpPr>
          <p:nvPr/>
        </p:nvSpPr>
        <p:spPr bwMode="auto">
          <a:xfrm>
            <a:off x="3124200" y="3359934"/>
            <a:ext cx="2133600" cy="609600"/>
          </a:xfrm>
          <a:prstGeom prst="leftRight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733800" y="3055134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相关性</a:t>
            </a: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大数据对科学研究的影响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图灵奖获得者、著名数据库专家</a:t>
            </a:r>
            <a:r>
              <a:rPr lang="en-US" altLang="zh-CN" sz="2400" dirty="0"/>
              <a:t>Jim Gray </a:t>
            </a:r>
            <a:r>
              <a:rPr lang="zh-CN" altLang="en-US" sz="2400" dirty="0"/>
              <a:t>博士观察并总结人类自古以来，在科学研究上，先后历经了实验、理论、计算和数据四种范式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Picture 9" descr="http://dl.zhishi.sina.com.cn/upload/01/68/87/1236016887.19128608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456" b="11111"/>
          <a:stretch>
            <a:fillRect/>
          </a:stretch>
        </p:blipFill>
        <p:spPr bwMode="auto">
          <a:xfrm>
            <a:off x="1703512" y="2966864"/>
            <a:ext cx="20320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1" descr="http://imgk.zol.com.cn/techbbs/3055/a305403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9512" y="2814464"/>
            <a:ext cx="2438400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5" descr="http://www.hinews.cn/pic/0/14/54/25/14542582_37173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424064"/>
            <a:ext cx="1382713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9" descr="http://photocdn.sohu.com/20130521/Img376549666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647" y="2204864"/>
            <a:ext cx="1738313" cy="131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接连接符 7"/>
          <p:cNvCxnSpPr/>
          <p:nvPr/>
        </p:nvCxnSpPr>
        <p:spPr>
          <a:xfrm>
            <a:off x="636712" y="6167264"/>
            <a:ext cx="7543800" cy="1588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 flipH="1" flipV="1">
            <a:off x="649412" y="5945014"/>
            <a:ext cx="438150" cy="6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 flipH="1" flipV="1">
            <a:off x="2122613" y="5671964"/>
            <a:ext cx="990600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 flipH="1" flipV="1">
            <a:off x="4218113" y="5252864"/>
            <a:ext cx="1828800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 flipH="1" flipV="1">
            <a:off x="6313613" y="4908376"/>
            <a:ext cx="2514600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21"/>
          <p:cNvSpPr txBox="1">
            <a:spLocks noChangeArrowheads="1"/>
          </p:cNvSpPr>
          <p:nvPr/>
        </p:nvSpPr>
        <p:spPr bwMode="auto">
          <a:xfrm>
            <a:off x="524000" y="6167264"/>
            <a:ext cx="646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实验</a:t>
            </a:r>
            <a:endParaRPr lang="zh-CN" altLang="en-US"/>
          </a:p>
        </p:txBody>
      </p:sp>
      <p:sp>
        <p:nvSpPr>
          <p:cNvPr id="14" name="TextBox 22"/>
          <p:cNvSpPr txBox="1">
            <a:spLocks noChangeArrowheads="1"/>
          </p:cNvSpPr>
          <p:nvPr/>
        </p:nvSpPr>
        <p:spPr bwMode="auto">
          <a:xfrm>
            <a:off x="2352800" y="6167264"/>
            <a:ext cx="646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理论</a:t>
            </a:r>
            <a:endParaRPr lang="zh-CN" altLang="en-US"/>
          </a:p>
        </p:txBody>
      </p:sp>
      <p:sp>
        <p:nvSpPr>
          <p:cNvPr id="15" name="TextBox 23"/>
          <p:cNvSpPr txBox="1">
            <a:spLocks noChangeArrowheads="1"/>
          </p:cNvSpPr>
          <p:nvPr/>
        </p:nvSpPr>
        <p:spPr bwMode="auto">
          <a:xfrm>
            <a:off x="4827712" y="6167264"/>
            <a:ext cx="6461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16" name="TextBox 24"/>
          <p:cNvSpPr txBox="1">
            <a:spLocks noChangeArrowheads="1"/>
          </p:cNvSpPr>
          <p:nvPr/>
        </p:nvSpPr>
        <p:spPr bwMode="auto">
          <a:xfrm>
            <a:off x="7266112" y="6167264"/>
            <a:ext cx="6461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数据</a:t>
            </a:r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科学研究第一种范式：实验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Picture 2" descr="http://pic.baike.soso.com/p/20130609/bki-20130609234600-1383503717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460" y="2153816"/>
            <a:ext cx="2402319" cy="268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1115616" y="5085184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伽利略</a:t>
            </a:r>
            <a:endParaRPr lang="zh-CN" altLang="en-US" dirty="0"/>
          </a:p>
        </p:txBody>
      </p:sp>
      <p:pic>
        <p:nvPicPr>
          <p:cNvPr id="6" name="Picture 4" descr="http://www.chinatalent.org/uploads/allimg/160223/1-16022311260393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6235" y="1889125"/>
            <a:ext cx="4587240" cy="3450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3837112" y="5715000"/>
            <a:ext cx="45704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伽利略在比萨斜塔做两个铁球同时落地实验</a:t>
            </a: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科学研究第二种范式：理论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Picture 2" descr="https://timgsa.baidu.com/timg?image&amp;quality=80&amp;size=b9999_10000&amp;sec=1488773358561&amp;di=9be4aeec040127160f3a8e40d64423f6&amp;imgtype=0&amp;src=http%3A%2F%2Fs4.sinaimg.cn%2Fbmiddle%2F4e159771a95b15d25af1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" y="2362200"/>
            <a:ext cx="3521710" cy="1602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802010" y="5181600"/>
            <a:ext cx="1108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几何理论</a:t>
            </a:r>
            <a:endParaRPr lang="zh-CN" altLang="en-US"/>
          </a:p>
        </p:txBody>
      </p:sp>
      <p:pic>
        <p:nvPicPr>
          <p:cNvPr id="7" name="Picture 6" descr="https://timgsa.baidu.com/timg?image&amp;quality=80&amp;size=b9999_10000&amp;sec=1488773690515&amp;di=193e51f57bc2baffc3a1775828284bca&amp;imgtype=0&amp;src=http%3A%2F%2Fn1.itc.cn%2Fimg8%2Fwb%2Frecom%2F2016%2F06%2F06%2F14652004697236380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165" y="2425065"/>
            <a:ext cx="352583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9"/>
          <p:cNvSpPr txBox="1">
            <a:spLocks noChangeArrowheads="1"/>
          </p:cNvSpPr>
          <p:nvPr/>
        </p:nvSpPr>
        <p:spPr bwMode="auto">
          <a:xfrm>
            <a:off x="6297810" y="5029200"/>
            <a:ext cx="157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牛顿三大定律</a:t>
            </a:r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科学研究第三种范式：计算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Picture 2" descr="http://image88.360doc.com/DownloadImg/2015/08/3022/58395359_2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109936"/>
            <a:ext cx="57912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 descr="http://h.hiphotos.baidu.com/zhidao/wh%3D450%2C600/sign=ef17eb0bbb3eb1354492bfbf932e84e5/9213b07eca80653863ca63f090dda144ad34823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10"/>
          <a:stretch>
            <a:fillRect/>
          </a:stretch>
        </p:blipFill>
        <p:spPr bwMode="auto">
          <a:xfrm>
            <a:off x="6172200" y="2109936"/>
            <a:ext cx="27590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科学研究第四种范式：数据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Picture 2" descr="https://timgsa.baidu.com/timg?image&amp;quality=80&amp;size=b9999_10000&amp;sec=1488774084435&amp;di=2f84747c50f6773cbb6bc1019a6b341c&amp;imgtype=0&amp;src=http%3A%2F%2Fimg1.gtimg.com%2Fgy_house%2Fpics%2Fhv1%2F170%2F219%2F106%2F6948665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204864"/>
            <a:ext cx="5038725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124200" y="5939432"/>
            <a:ext cx="29543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大数据时代，以数据为中心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大数据岗位与职业规划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大数据分析师</a:t>
            </a:r>
            <a:endParaRPr lang="zh-CN" altLang="en-US"/>
          </a:p>
          <a:p>
            <a:r>
              <a:rPr lang="zh-CN" altLang="en-US"/>
              <a:t>大数据算法工程师（大数据挖掘）</a:t>
            </a:r>
            <a:endParaRPr lang="zh-CN" altLang="en-US"/>
          </a:p>
          <a:p>
            <a:r>
              <a:rPr lang="zh-CN" altLang="en-US"/>
              <a:t>大数据开发工程师</a:t>
            </a:r>
            <a:endParaRPr lang="zh-CN" altLang="en-US"/>
          </a:p>
          <a:p>
            <a:r>
              <a:rPr lang="zh-CN" altLang="en-US"/>
              <a:t>大数据运维工程师</a:t>
            </a:r>
            <a:endParaRPr lang="zh-CN" altLang="en-US"/>
          </a:p>
          <a:p>
            <a:r>
              <a:rPr lang="zh-CN" altLang="en-US"/>
              <a:t>大数据仓库工程师</a:t>
            </a:r>
            <a:endParaRPr lang="zh-CN" altLang="en-US"/>
          </a:p>
          <a:p>
            <a:r>
              <a:rPr lang="zh-CN" altLang="en-US"/>
              <a:t>大数据产品经理</a:t>
            </a:r>
            <a:endParaRPr lang="zh-CN" altLang="en-US"/>
          </a:p>
          <a:p>
            <a:r>
              <a:rPr lang="zh-CN" altLang="en-US"/>
              <a:t>大数据架构师</a:t>
            </a:r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819400" y="4953000"/>
            <a:ext cx="5167313" cy="414338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dist">
              <a:lnSpc>
                <a:spcPct val="80000"/>
              </a:lnSpc>
            </a:pPr>
            <a:r>
              <a:rPr lang="en-US" altLang="zh-CN" sz="18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Click to edit company slogan .</a:t>
            </a:r>
            <a:endParaRPr lang="en-US" altLang="zh-CN" sz="1800" b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45" name="WordArt 5"/>
          <p:cNvSpPr>
            <a:spLocks noChangeArrowheads="1" noChangeShapeType="1" noTextEdit="1"/>
          </p:cNvSpPr>
          <p:nvPr/>
        </p:nvSpPr>
        <p:spPr bwMode="gray">
          <a:xfrm>
            <a:off x="2987824" y="4365104"/>
            <a:ext cx="2951733" cy="863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zh-CN" altLang="en-US" sz="3600" b="1" kern="10" dirty="0" smtClean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谢谢</a:t>
            </a:r>
            <a:r>
              <a:rPr lang="en-US" altLang="zh-CN" sz="3600" b="1" kern="10" dirty="0" smtClean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!</a:t>
            </a:r>
            <a:endParaRPr lang="zh-CN" altLang="en-US" sz="3600" b="1" kern="10" dirty="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5" grpId="0" animBg="1"/>
    </p:bldLst>
  </p:timing>
</p:sld>
</file>

<file path=ppt/theme/theme1.xml><?xml version="1.0" encoding="utf-8"?>
<a:theme xmlns:a="http://schemas.openxmlformats.org/drawingml/2006/main" name="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cdb2004c012l</Template>
  <TotalTime>0</TotalTime>
  <Words>1598</Words>
  <Application>WPS 演示</Application>
  <PresentationFormat>全屏显示(4:3)</PresentationFormat>
  <Paragraphs>255</Paragraphs>
  <Slides>34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Arial</vt:lpstr>
      <vt:lpstr>宋体</vt:lpstr>
      <vt:lpstr>Wingdings</vt:lpstr>
      <vt:lpstr>Verdana</vt:lpstr>
      <vt:lpstr>Times New Roman</vt:lpstr>
      <vt:lpstr>微软雅黑</vt:lpstr>
      <vt:lpstr>Arial Unicode MS</vt:lpstr>
      <vt:lpstr>Calibri</vt:lpstr>
      <vt:lpstr>Arial</vt:lpstr>
      <vt:lpstr>cdb2004c012l</vt:lpstr>
      <vt:lpstr>第1章 大数据处理技术概论</vt:lpstr>
      <vt:lpstr>主要内容</vt:lpstr>
      <vt:lpstr>1.1 大数据简介</vt:lpstr>
      <vt:lpstr>什么是大数据</vt:lpstr>
      <vt:lpstr>大数据特点</vt:lpstr>
      <vt:lpstr>大数据特点</vt:lpstr>
      <vt:lpstr>大数据特点</vt:lpstr>
      <vt:lpstr>大数据特点</vt:lpstr>
      <vt:lpstr>大数据特点</vt:lpstr>
      <vt:lpstr>大数据核心技术</vt:lpstr>
      <vt:lpstr>大数据核心技术</vt:lpstr>
      <vt:lpstr>大数据的核心技术</vt:lpstr>
      <vt:lpstr>大数据的核心技术</vt:lpstr>
      <vt:lpstr>主要内容</vt:lpstr>
      <vt:lpstr>1.2 大数据处理技术简介</vt:lpstr>
      <vt:lpstr>数据集分类</vt:lpstr>
      <vt:lpstr>大数据处理</vt:lpstr>
      <vt:lpstr>大数据处理框架</vt:lpstr>
      <vt:lpstr>大数据处理框架</vt:lpstr>
      <vt:lpstr>PowerPoint 演示文稿</vt:lpstr>
      <vt:lpstr>大数据系统架构</vt:lpstr>
      <vt:lpstr>主要内容</vt:lpstr>
      <vt:lpstr>1.3 大数据带来的机遇和挑战</vt:lpstr>
      <vt:lpstr>大数据带来的思维变革</vt:lpstr>
      <vt:lpstr>PowerPoint 演示文稿</vt:lpstr>
      <vt:lpstr>PowerPoint 演示文稿</vt:lpstr>
      <vt:lpstr>PowerPoint 演示文稿</vt:lpstr>
      <vt:lpstr>大数据对科学研究的影响</vt:lpstr>
      <vt:lpstr>PowerPoint 演示文稿</vt:lpstr>
      <vt:lpstr>PowerPoint 演示文稿</vt:lpstr>
      <vt:lpstr>PowerPoint 演示文稿</vt:lpstr>
      <vt:lpstr>PowerPoint 演示文稿</vt:lpstr>
      <vt:lpstr>大数据岗位与职业规划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hadoop</dc:creator>
  <cp:lastModifiedBy>陈红顺</cp:lastModifiedBy>
  <cp:revision>54</cp:revision>
  <dcterms:created xsi:type="dcterms:W3CDTF">2017-03-03T01:55:00Z</dcterms:created>
  <dcterms:modified xsi:type="dcterms:W3CDTF">2022-02-21T03:18:32Z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3F921E874E14469CA1E45869E12C93BF</vt:lpwstr>
  </property>
</Properties>
</file>