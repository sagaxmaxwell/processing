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56" r:id="rId3"/>
    <p:sldId id="309" r:id="rId4"/>
    <p:sldId id="316" r:id="rId5"/>
    <p:sldId id="318" r:id="rId6"/>
    <p:sldId id="319" r:id="rId7"/>
    <p:sldId id="323" r:id="rId8"/>
    <p:sldId id="320" r:id="rId9"/>
    <p:sldId id="310" r:id="rId10"/>
    <p:sldId id="324" r:id="rId11"/>
    <p:sldId id="329" r:id="rId12"/>
    <p:sldId id="327" r:id="rId13"/>
    <p:sldId id="330" r:id="rId14"/>
    <p:sldId id="326" r:id="rId15"/>
    <p:sldId id="325" r:id="rId16"/>
    <p:sldId id="311" r:id="rId17"/>
    <p:sldId id="331" r:id="rId18"/>
    <p:sldId id="332" r:id="rId19"/>
    <p:sldId id="333" r:id="rId20"/>
    <p:sldId id="336" r:id="rId21"/>
    <p:sldId id="334" r:id="rId22"/>
    <p:sldId id="335" r:id="rId23"/>
    <p:sldId id="338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14" r:id="rId43"/>
    <p:sldId id="339" r:id="rId44"/>
    <p:sldId id="340" r:id="rId45"/>
    <p:sldId id="341" r:id="rId46"/>
    <p:sldId id="342" r:id="rId47"/>
    <p:sldId id="343" r:id="rId48"/>
    <p:sldId id="344" r:id="rId49"/>
    <p:sldId id="345" r:id="rId50"/>
    <p:sldId id="346" r:id="rId51"/>
    <p:sldId id="347" r:id="rId52"/>
    <p:sldId id="348" r:id="rId53"/>
    <p:sldId id="415" r:id="rId54"/>
    <p:sldId id="369" r:id="rId55"/>
    <p:sldId id="370" r:id="rId56"/>
    <p:sldId id="371" r:id="rId57"/>
    <p:sldId id="373" r:id="rId58"/>
    <p:sldId id="374" r:id="rId59"/>
    <p:sldId id="377" r:id="rId60"/>
    <p:sldId id="276" r:id="rId6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6" autoAdjust="0"/>
    <p:restoredTop sz="94660" autoAdjust="0"/>
  </p:normalViewPr>
  <p:slideViewPr>
    <p:cSldViewPr>
      <p:cViewPr varScale="1">
        <p:scale>
          <a:sx n="102" d="100"/>
          <a:sy n="102" d="100"/>
        </p:scale>
        <p:origin x="192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3790A-1AF8-41FD-8613-F98BEDF9DB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59C9-FBFA-44CB-8D4D-CA6FFD5A7E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ADD5-90F8-4BC9-AC30-6195DA8BE9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D408B-9088-4E1B-998F-9D60A79664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457200" y="4114800"/>
            <a:ext cx="822960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524000" y="49482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09600"/>
            <a:ext cx="8128000" cy="3395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33426" y="6550908"/>
            <a:ext cx="1282990" cy="320675"/>
          </a:xfrm>
        </p:spPr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267200"/>
            <a:ext cx="8229600" cy="762000"/>
          </a:xfrm>
        </p:spPr>
        <p:txBody>
          <a:bodyPr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3600" dirty="0">
                <a:solidFill>
                  <a:schemeClr val="tx2"/>
                </a:solidFill>
                <a:ea typeface="宋体" panose="02010600030101010101" pitchFamily="2" charset="-122"/>
              </a:rPr>
              <a:t>7</a:t>
            </a:r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章 分布式</a:t>
            </a:r>
            <a:r>
              <a:rPr lang="zh-CN" altLang="en-US" sz="3600" dirty="0" smtClean="0">
                <a:solidFill>
                  <a:schemeClr val="tx2"/>
                </a:solidFill>
                <a:ea typeface="宋体" panose="02010600030101010101" pitchFamily="2" charset="-122"/>
              </a:rPr>
              <a:t>实时计算系统</a:t>
            </a:r>
            <a:r>
              <a:rPr lang="en-US" altLang="zh-CN" sz="3600" dirty="0">
                <a:solidFill>
                  <a:schemeClr val="tx2"/>
                </a:solidFill>
                <a:ea typeface="宋体" panose="02010600030101010101" pitchFamily="2" charset="-122"/>
              </a:rPr>
              <a:t>Storm</a:t>
            </a:r>
            <a:endParaRPr lang="en-US" altLang="zh-CN" sz="36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5091113"/>
            <a:ext cx="5943600" cy="609600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 flipV="1">
            <a:off x="179705" y="4642486"/>
            <a:ext cx="791895" cy="5080"/>
          </a:xfrm>
          <a:prstGeom prst="line">
            <a:avLst/>
          </a:prstGeom>
          <a:noFill/>
          <a:ln w="76200" cap="rnd">
            <a:solidFill>
              <a:schemeClr val="accent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8244408" y="4645026"/>
            <a:ext cx="701472" cy="5080"/>
          </a:xfrm>
          <a:prstGeom prst="line">
            <a:avLst/>
          </a:prstGeom>
          <a:noFill/>
          <a:ln w="7620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7.1 </a:t>
            </a:r>
            <a:r>
              <a:rPr lang="zh-CN" altLang="en-US" dirty="0">
                <a:solidFill>
                  <a:srgbClr val="FF0000"/>
                </a:solidFill>
              </a:rPr>
              <a:t>什么是</a:t>
            </a:r>
            <a:r>
              <a:rPr lang="en-US" altLang="zh-CN" dirty="0">
                <a:solidFill>
                  <a:srgbClr val="FF0000"/>
                </a:solidFill>
              </a:rPr>
              <a:t>Storm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US" altLang="zh-CN" dirty="0"/>
              <a:t>7.2 </a:t>
            </a:r>
            <a:r>
              <a:rPr lang="en-US" altLang="zh-CN" dirty="0">
                <a:sym typeface="+mn-ea"/>
              </a:rPr>
              <a:t>Storm </a:t>
            </a:r>
            <a:r>
              <a:rPr lang="en-US" altLang="zh-CN" dirty="0" err="1">
                <a:sym typeface="+mn-ea"/>
              </a:rPr>
              <a:t>Topolopy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7.3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</a:t>
            </a:r>
            <a:r>
              <a:rPr lang="zh-CN" altLang="en-US" dirty="0" smtClean="0">
                <a:sym typeface="+mn-ea"/>
              </a:rPr>
              <a:t>架构</a:t>
            </a:r>
            <a:endParaRPr lang="en-US" altLang="zh-CN" dirty="0" smtClean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7.4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集群环境搭建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7.5 </a:t>
            </a:r>
            <a:r>
              <a:rPr lang="zh-CN" altLang="en-US" dirty="0">
                <a:sym typeface="+mn-ea"/>
              </a:rPr>
              <a:t>案例分析：单词</a:t>
            </a:r>
            <a:r>
              <a:rPr lang="zh-CN" altLang="en-US" dirty="0" smtClean="0">
                <a:sym typeface="+mn-ea"/>
              </a:rPr>
              <a:t>计数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/>
              <a:t>7.6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流分组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7.7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整合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/>
              <a:t>Storm</a:t>
            </a:r>
            <a:endParaRPr lang="en-US" altLang="zh-CN" b="0" dirty="0"/>
          </a:p>
          <a:p>
            <a:pPr lvl="1"/>
            <a:r>
              <a:rPr lang="en-US" altLang="zh-CN" b="0" dirty="0"/>
              <a:t>Apache Storm is a free and open source </a:t>
            </a:r>
            <a:r>
              <a:rPr lang="en-US" altLang="zh-CN" b="0" dirty="0">
                <a:solidFill>
                  <a:srgbClr val="FF0000"/>
                </a:solidFill>
              </a:rPr>
              <a:t>distributed </a:t>
            </a:r>
            <a:r>
              <a:rPr lang="en-US" altLang="zh-CN" b="0" dirty="0" err="1">
                <a:solidFill>
                  <a:srgbClr val="FF0000"/>
                </a:solidFill>
              </a:rPr>
              <a:t>realtime</a:t>
            </a:r>
            <a:r>
              <a:rPr lang="en-US" altLang="zh-CN" b="0" dirty="0">
                <a:solidFill>
                  <a:srgbClr val="FF0000"/>
                </a:solidFill>
              </a:rPr>
              <a:t> computation system</a:t>
            </a:r>
            <a:r>
              <a:rPr lang="en-US" altLang="zh-CN" b="0" dirty="0"/>
              <a:t>. </a:t>
            </a:r>
            <a:endParaRPr lang="en-US" altLang="zh-CN" b="0" dirty="0"/>
          </a:p>
          <a:p>
            <a:pPr lvl="1"/>
            <a:r>
              <a:rPr lang="en-US" altLang="zh-CN" b="0" dirty="0"/>
              <a:t>Apache Storm makes it easy to reliably process unbounded streams of data, doing for </a:t>
            </a:r>
            <a:r>
              <a:rPr lang="en-US" altLang="zh-CN" b="0" dirty="0" err="1">
                <a:solidFill>
                  <a:srgbClr val="FF0000"/>
                </a:solidFill>
              </a:rPr>
              <a:t>realtime</a:t>
            </a:r>
            <a:r>
              <a:rPr lang="en-US" altLang="zh-CN" b="0" dirty="0">
                <a:solidFill>
                  <a:srgbClr val="FF0000"/>
                </a:solidFill>
              </a:rPr>
              <a:t> processing</a:t>
            </a:r>
            <a:r>
              <a:rPr lang="en-US" altLang="zh-CN" b="0" dirty="0"/>
              <a:t> what Hadoop did for </a:t>
            </a:r>
            <a:r>
              <a:rPr lang="en-US" altLang="zh-CN" b="0" dirty="0">
                <a:solidFill>
                  <a:srgbClr val="FF0000"/>
                </a:solidFill>
              </a:rPr>
              <a:t>batch processing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394" y="1108958"/>
            <a:ext cx="2428875" cy="762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58" y="3796418"/>
            <a:ext cx="571500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应用场景举例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16832"/>
            <a:ext cx="7073300" cy="42487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Storm</a:t>
            </a:r>
            <a:r>
              <a:rPr lang="zh-CN" altLang="en-US" dirty="0"/>
              <a:t>的发展历史</a:t>
            </a:r>
            <a:endParaRPr lang="en-US" altLang="zh-CN" dirty="0"/>
          </a:p>
          <a:p>
            <a:pPr lvl="1"/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月，</a:t>
            </a:r>
            <a:r>
              <a:rPr lang="en-US" altLang="zh-CN" dirty="0"/>
              <a:t>Storm</a:t>
            </a:r>
            <a:r>
              <a:rPr lang="zh-CN" altLang="en-US" dirty="0"/>
              <a:t>核心概念于</a:t>
            </a:r>
            <a:r>
              <a:rPr lang="en-US" altLang="zh-CN" dirty="0" err="1"/>
              <a:t>BackType</a:t>
            </a:r>
            <a:r>
              <a:rPr lang="zh-CN" altLang="en-US" dirty="0"/>
              <a:t>被提出</a:t>
            </a:r>
            <a:endParaRPr lang="en-US" altLang="zh-CN" dirty="0"/>
          </a:p>
          <a:p>
            <a:pPr lvl="1"/>
            <a:r>
              <a:rPr lang="en-US" altLang="zh-CN" dirty="0"/>
              <a:t>2011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月，</a:t>
            </a:r>
            <a:r>
              <a:rPr lang="en-US" altLang="zh-CN" dirty="0"/>
              <a:t>Storm</a:t>
            </a:r>
            <a:r>
              <a:rPr lang="zh-CN" altLang="en-US" dirty="0"/>
              <a:t>于</a:t>
            </a:r>
            <a:r>
              <a:rPr lang="en-US" altLang="zh-CN" dirty="0" err="1"/>
              <a:t>BackType</a:t>
            </a:r>
            <a:r>
              <a:rPr lang="zh-CN" altLang="en-US" dirty="0"/>
              <a:t>问世</a:t>
            </a:r>
            <a:endParaRPr lang="en-US" altLang="zh-CN" dirty="0"/>
          </a:p>
          <a:p>
            <a:pPr lvl="1"/>
            <a:r>
              <a:rPr lang="en-US" altLang="zh-CN" dirty="0"/>
              <a:t>2011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月，</a:t>
            </a:r>
            <a:r>
              <a:rPr lang="en-US" altLang="zh-CN" dirty="0"/>
              <a:t>Twitter</a:t>
            </a:r>
            <a:r>
              <a:rPr lang="zh-CN" altLang="en-US" dirty="0"/>
              <a:t>收购</a:t>
            </a:r>
            <a:r>
              <a:rPr lang="en-US" altLang="zh-CN" dirty="0" err="1"/>
              <a:t>BackType</a:t>
            </a:r>
            <a:r>
              <a:rPr lang="zh-CN" altLang="en-US" dirty="0"/>
              <a:t>，</a:t>
            </a:r>
            <a:r>
              <a:rPr lang="en-US" altLang="zh-CN" dirty="0"/>
              <a:t>Storm</a:t>
            </a:r>
            <a:r>
              <a:rPr lang="zh-CN" altLang="en-US" dirty="0"/>
              <a:t>开源</a:t>
            </a:r>
            <a:endParaRPr lang="en-US" altLang="zh-CN" dirty="0"/>
          </a:p>
          <a:p>
            <a:pPr lvl="1"/>
            <a:r>
              <a:rPr lang="en-US" altLang="zh-CN" dirty="0"/>
              <a:t>2013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月，</a:t>
            </a:r>
            <a:r>
              <a:rPr lang="en-US" altLang="zh-CN" dirty="0"/>
              <a:t> Storm</a:t>
            </a:r>
            <a:r>
              <a:rPr lang="zh-CN" altLang="en-US" dirty="0"/>
              <a:t>成为</a:t>
            </a:r>
            <a:r>
              <a:rPr lang="en-US" altLang="zh-CN" dirty="0"/>
              <a:t>Apache</a:t>
            </a:r>
            <a:r>
              <a:rPr lang="zh-CN" altLang="en-US" dirty="0"/>
              <a:t>开源项目</a:t>
            </a:r>
            <a:endParaRPr lang="en-US" altLang="zh-CN" dirty="0"/>
          </a:p>
          <a:p>
            <a:pPr lvl="1"/>
            <a:r>
              <a:rPr lang="en-US" altLang="zh-CN" dirty="0"/>
              <a:t>2014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月，</a:t>
            </a:r>
            <a:r>
              <a:rPr lang="en-US" altLang="zh-CN" dirty="0"/>
              <a:t> Storm</a:t>
            </a:r>
            <a:r>
              <a:rPr lang="zh-CN" altLang="en-US" dirty="0"/>
              <a:t>成为</a:t>
            </a:r>
            <a:r>
              <a:rPr lang="en-US" altLang="zh-CN" dirty="0"/>
              <a:t>Apache</a:t>
            </a:r>
            <a:r>
              <a:rPr lang="zh-CN" altLang="en-US" dirty="0"/>
              <a:t>顶级项目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Storm</a:t>
            </a:r>
            <a:r>
              <a:rPr lang="zh-CN" altLang="en-US" dirty="0"/>
              <a:t>多语言支持</a:t>
            </a:r>
            <a:endParaRPr lang="en-US" altLang="zh-CN" dirty="0"/>
          </a:p>
          <a:p>
            <a:pPr lvl="1"/>
            <a:r>
              <a:rPr lang="en-US" altLang="zh-CN" dirty="0"/>
              <a:t>Storm</a:t>
            </a:r>
            <a:r>
              <a:rPr lang="zh-CN" altLang="en-US" dirty="0"/>
              <a:t>使用</a:t>
            </a:r>
            <a:r>
              <a:rPr lang="en-US" altLang="zh-CN" dirty="0"/>
              <a:t>Clojure</a:t>
            </a:r>
            <a:r>
              <a:rPr lang="zh-CN" altLang="en-US" dirty="0"/>
              <a:t>语言开发实现核心逻辑，辅助开发语言包括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等</a:t>
            </a:r>
            <a:endParaRPr lang="en-US" altLang="zh-CN" dirty="0"/>
          </a:p>
          <a:p>
            <a:pPr lvl="1"/>
            <a:r>
              <a:rPr lang="zh-CN" altLang="en-US" dirty="0"/>
              <a:t>默认支持</a:t>
            </a:r>
            <a:r>
              <a:rPr lang="en-US" altLang="zh-CN" dirty="0"/>
              <a:t>Clojure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Ruby</a:t>
            </a:r>
            <a:r>
              <a:rPr lang="zh-CN" altLang="en-US" dirty="0"/>
              <a:t>和</a:t>
            </a:r>
            <a:r>
              <a:rPr lang="en-US" altLang="zh-CN" dirty="0"/>
              <a:t>Python</a:t>
            </a:r>
            <a:endParaRPr lang="en-US" altLang="zh-CN" dirty="0"/>
          </a:p>
          <a:p>
            <a:pPr lvl="1"/>
            <a:r>
              <a:rPr lang="zh-CN" altLang="en-US" dirty="0"/>
              <a:t>要增加对其他语言的支持，只需实现一个简单的</a:t>
            </a:r>
            <a:r>
              <a:rPr lang="en-US" altLang="zh-CN" dirty="0"/>
              <a:t>Storm</a:t>
            </a:r>
            <a:r>
              <a:rPr lang="zh-CN" altLang="en-US" dirty="0"/>
              <a:t>通信协议即可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Storm</a:t>
            </a:r>
            <a:r>
              <a:rPr lang="zh-CN" altLang="en-US" dirty="0"/>
              <a:t>主要特点</a:t>
            </a:r>
            <a:endParaRPr lang="en-US" altLang="zh-CN" dirty="0"/>
          </a:p>
          <a:p>
            <a:pPr lvl="1"/>
            <a:r>
              <a:rPr lang="zh-CN" altLang="en-US" dirty="0"/>
              <a:t>编程简单</a:t>
            </a:r>
            <a:endParaRPr lang="en-US" altLang="zh-CN" dirty="0"/>
          </a:p>
          <a:p>
            <a:pPr lvl="2"/>
            <a:r>
              <a:rPr lang="zh-CN" altLang="en-US" dirty="0"/>
              <a:t>跟</a:t>
            </a:r>
            <a:r>
              <a:rPr lang="en-US" altLang="zh-CN" dirty="0"/>
              <a:t>Hadoop</a:t>
            </a:r>
            <a:r>
              <a:rPr lang="zh-CN" altLang="en-US" dirty="0"/>
              <a:t>类似，开发人员只需要关注应用逻辑</a:t>
            </a:r>
            <a:endParaRPr lang="en-US" altLang="zh-CN" dirty="0"/>
          </a:p>
          <a:p>
            <a:pPr lvl="1"/>
            <a:r>
              <a:rPr lang="zh-CN" altLang="en-US" dirty="0"/>
              <a:t>高性能，低延迟</a:t>
            </a:r>
            <a:endParaRPr lang="en-US" altLang="zh-CN" dirty="0"/>
          </a:p>
          <a:p>
            <a:pPr lvl="2"/>
            <a:r>
              <a:rPr lang="zh-CN" altLang="en-US" dirty="0"/>
              <a:t>可以应用于广告搜索引擎等要求实时响应的场景</a:t>
            </a:r>
            <a:endParaRPr lang="zh-CN" altLang="en-US" dirty="0"/>
          </a:p>
          <a:p>
            <a:pPr lvl="1"/>
            <a:r>
              <a:rPr lang="zh-CN" altLang="en-US" dirty="0"/>
              <a:t>分布式</a:t>
            </a:r>
            <a:endParaRPr lang="en-US" altLang="zh-CN" dirty="0"/>
          </a:p>
          <a:p>
            <a:pPr lvl="2"/>
            <a:r>
              <a:rPr lang="zh-CN" altLang="en-US" dirty="0"/>
              <a:t>可以轻松应对大数据量</a:t>
            </a:r>
            <a:endParaRPr lang="en-US" altLang="zh-CN" dirty="0"/>
          </a:p>
          <a:p>
            <a:pPr lvl="1"/>
            <a:r>
              <a:rPr lang="zh-CN" altLang="en-US" dirty="0"/>
              <a:t>可扩展</a:t>
            </a:r>
            <a:endParaRPr lang="en-US" altLang="zh-CN" dirty="0"/>
          </a:p>
          <a:p>
            <a:pPr lvl="2"/>
            <a:r>
              <a:rPr lang="zh-CN" altLang="en-US" dirty="0"/>
              <a:t> 随着业务发展，数据量和计算量越来越大，系统可水平扩展</a:t>
            </a:r>
            <a:endParaRPr lang="zh-CN" altLang="en-US" dirty="0"/>
          </a:p>
          <a:p>
            <a:pPr lvl="1"/>
            <a:r>
              <a:rPr lang="zh-CN" altLang="en-US" dirty="0"/>
              <a:t>容错</a:t>
            </a:r>
            <a:endParaRPr lang="en-US" altLang="zh-CN" dirty="0"/>
          </a:p>
          <a:p>
            <a:pPr lvl="2"/>
            <a:r>
              <a:rPr lang="zh-CN" altLang="en-US" dirty="0"/>
              <a:t>单个节点故障不影响系统应用</a:t>
            </a:r>
            <a:endParaRPr lang="zh-CN" altLang="en-US" dirty="0"/>
          </a:p>
          <a:p>
            <a:pPr lvl="1"/>
            <a:r>
              <a:rPr lang="zh-CN" altLang="en-US" dirty="0"/>
              <a:t>消息不丢失</a:t>
            </a:r>
            <a:endParaRPr lang="en-US" altLang="zh-CN" dirty="0"/>
          </a:p>
          <a:p>
            <a:pPr lvl="2"/>
            <a:r>
              <a:rPr lang="zh-CN" altLang="en-US" dirty="0"/>
              <a:t>保证消息处理（每条消息至少被处理一次）</a:t>
            </a:r>
            <a:endParaRPr lang="en-US" altLang="zh-CN" dirty="0"/>
          </a:p>
          <a:p>
            <a:pPr lvl="1"/>
            <a:r>
              <a:rPr lang="zh-CN" altLang="en-US" dirty="0"/>
              <a:t>本地模式</a:t>
            </a:r>
            <a:endParaRPr lang="en-US" altLang="zh-CN" dirty="0"/>
          </a:p>
          <a:p>
            <a:pPr lvl="2"/>
            <a:r>
              <a:rPr lang="en-US" altLang="zh-CN" dirty="0"/>
              <a:t>Storm</a:t>
            </a:r>
            <a:r>
              <a:rPr lang="zh-CN" altLang="en-US" dirty="0"/>
              <a:t>有一个“本地模式”，可以在处理过程中完全模拟</a:t>
            </a:r>
            <a:r>
              <a:rPr lang="en-US" altLang="zh-CN" dirty="0"/>
              <a:t>Storm</a:t>
            </a:r>
            <a:r>
              <a:rPr lang="zh-CN" altLang="en-US" dirty="0"/>
              <a:t>集群。 这让你可以快速进行开发和单元测试。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7.2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Storm 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Topolopy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7.3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集群架构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7.4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集群环境搭建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7.5 </a:t>
            </a:r>
            <a:r>
              <a:rPr lang="zh-CN" altLang="en-US" dirty="0">
                <a:sym typeface="+mn-ea"/>
              </a:rPr>
              <a:t>案例分析：单词计数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/>
              <a:t>7.6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流分组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7.7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整合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Storm </a:t>
            </a:r>
            <a:r>
              <a:rPr lang="en-US" altLang="zh-CN" dirty="0" err="1"/>
              <a:t>Topolopy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拓扑（</a:t>
            </a:r>
            <a:r>
              <a:rPr lang="en-US" altLang="zh-CN" dirty="0"/>
              <a:t>Topology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一个实时计算任务被称为拓扑（</a:t>
            </a:r>
            <a:r>
              <a:rPr lang="en-US" altLang="zh-CN" dirty="0"/>
              <a:t>Topology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596158"/>
            <a:ext cx="3740271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Storm </a:t>
            </a:r>
            <a:r>
              <a:rPr lang="en-US" altLang="zh-CN" dirty="0" err="1"/>
              <a:t>Topolopy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拓扑（</a:t>
            </a:r>
            <a:r>
              <a:rPr lang="en-US" altLang="zh-CN" dirty="0"/>
              <a:t>Topology</a:t>
            </a:r>
            <a:r>
              <a:rPr lang="zh-CN" altLang="en-US" dirty="0"/>
              <a:t>）的主要构成组件</a:t>
            </a:r>
            <a:endParaRPr lang="en-US" altLang="zh-CN" dirty="0"/>
          </a:p>
          <a:p>
            <a:pPr lvl="1"/>
            <a:r>
              <a:rPr lang="en-US" altLang="zh-CN" dirty="0"/>
              <a:t>Spout</a:t>
            </a:r>
            <a:endParaRPr lang="en-US" altLang="zh-CN" dirty="0"/>
          </a:p>
          <a:p>
            <a:pPr lvl="1"/>
            <a:r>
              <a:rPr lang="en-US" altLang="zh-CN" dirty="0"/>
              <a:t>Bolt</a:t>
            </a:r>
            <a:endParaRPr lang="en-US" altLang="zh-CN" dirty="0"/>
          </a:p>
          <a:p>
            <a:pPr lvl="1"/>
            <a:r>
              <a:rPr lang="en-US" altLang="zh-CN" dirty="0"/>
              <a:t>Tuple</a:t>
            </a:r>
            <a:endParaRPr lang="en-US" altLang="zh-CN" dirty="0"/>
          </a:p>
          <a:p>
            <a:pPr lvl="1"/>
            <a:r>
              <a:rPr lang="en-US" altLang="zh-CN" dirty="0"/>
              <a:t>Stream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Storm </a:t>
            </a:r>
            <a:r>
              <a:rPr lang="en-US" altLang="zh-CN" dirty="0" err="1"/>
              <a:t>Topolopy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拓扑（</a:t>
            </a:r>
            <a:r>
              <a:rPr lang="en-US" altLang="zh-CN" dirty="0"/>
              <a:t>Topology</a:t>
            </a:r>
            <a:r>
              <a:rPr lang="zh-CN" altLang="en-US" dirty="0"/>
              <a:t>）的主要构成组件</a:t>
            </a:r>
            <a:endParaRPr lang="en-US" altLang="zh-CN" dirty="0"/>
          </a:p>
          <a:p>
            <a:pPr lvl="1"/>
            <a:r>
              <a:rPr lang="en-US" altLang="zh-CN" dirty="0"/>
              <a:t>Spout</a:t>
            </a:r>
            <a:endParaRPr lang="en-US" altLang="zh-CN" dirty="0"/>
          </a:p>
          <a:p>
            <a:pPr lvl="2"/>
            <a:r>
              <a:rPr lang="en-US" altLang="zh-CN" dirty="0" err="1"/>
              <a:t>Topolopy</a:t>
            </a:r>
            <a:r>
              <a:rPr lang="zh-CN" altLang="en-US" dirty="0"/>
              <a:t>中数据流的源头</a:t>
            </a:r>
            <a:endParaRPr lang="en-US" altLang="zh-CN" dirty="0"/>
          </a:p>
          <a:p>
            <a:pPr lvl="2"/>
            <a:r>
              <a:rPr lang="zh-CN" altLang="en-US" dirty="0"/>
              <a:t>通常不断调用</a:t>
            </a:r>
            <a:r>
              <a:rPr lang="en-US" altLang="zh-CN" dirty="0" err="1"/>
              <a:t>nextTuple</a:t>
            </a:r>
            <a:r>
              <a:rPr lang="en-US" altLang="zh-CN" dirty="0"/>
              <a:t>()</a:t>
            </a:r>
            <a:r>
              <a:rPr lang="zh-CN" altLang="en-US" dirty="0"/>
              <a:t>方法从外部数据源（例如</a:t>
            </a:r>
            <a:r>
              <a:rPr lang="en-US" altLang="zh-CN" dirty="0"/>
              <a:t>Kafka</a:t>
            </a:r>
            <a:r>
              <a:rPr lang="zh-CN" altLang="en-US" dirty="0"/>
              <a:t>）读取最新数据并将数据（</a:t>
            </a:r>
            <a:r>
              <a:rPr lang="en-US" altLang="zh-CN" dirty="0"/>
              <a:t>Tuple</a:t>
            </a:r>
            <a:r>
              <a:rPr lang="zh-CN" altLang="en-US" dirty="0"/>
              <a:t>）发射到</a:t>
            </a:r>
            <a:r>
              <a:rPr lang="en-US" altLang="zh-CN" dirty="0"/>
              <a:t>Bolt</a:t>
            </a:r>
            <a:r>
              <a:rPr lang="zh-CN" altLang="en-US" dirty="0"/>
              <a:t>中。</a:t>
            </a:r>
            <a:endParaRPr lang="en-US" altLang="zh-CN" dirty="0"/>
          </a:p>
          <a:p>
            <a:pPr lvl="2"/>
            <a:r>
              <a:rPr lang="zh-CN" altLang="en-US" dirty="0"/>
              <a:t>根据可靠性划分</a:t>
            </a:r>
            <a:endParaRPr lang="en-US" altLang="zh-CN" dirty="0"/>
          </a:p>
          <a:p>
            <a:pPr lvl="3"/>
            <a:r>
              <a:rPr lang="zh-CN" altLang="en-US" dirty="0"/>
              <a:t>可靠</a:t>
            </a:r>
            <a:r>
              <a:rPr lang="en-US" altLang="zh-CN" dirty="0"/>
              <a:t>Spout</a:t>
            </a:r>
            <a:r>
              <a:rPr lang="zh-CN" altLang="en-US" dirty="0"/>
              <a:t>：重新发送</a:t>
            </a:r>
            <a:r>
              <a:rPr lang="en-US" altLang="zh-CN" dirty="0"/>
              <a:t>Storm</a:t>
            </a:r>
            <a:r>
              <a:rPr lang="zh-CN" altLang="en-US" dirty="0"/>
              <a:t>处理失败的</a:t>
            </a:r>
            <a:r>
              <a:rPr lang="en-US" altLang="zh-CN" dirty="0"/>
              <a:t>Tuple</a:t>
            </a:r>
            <a:endParaRPr lang="en-US" altLang="zh-CN" dirty="0"/>
          </a:p>
          <a:p>
            <a:pPr lvl="3"/>
            <a:r>
              <a:rPr lang="zh-CN" altLang="en-US" dirty="0"/>
              <a:t>不可靠</a:t>
            </a:r>
            <a:r>
              <a:rPr lang="en-US" altLang="zh-CN" dirty="0"/>
              <a:t>Spout</a:t>
            </a:r>
            <a:r>
              <a:rPr lang="zh-CN" altLang="en-US" dirty="0"/>
              <a:t>：将</a:t>
            </a:r>
            <a:r>
              <a:rPr lang="en-US" altLang="zh-CN" dirty="0"/>
              <a:t>Tuple</a:t>
            </a:r>
            <a:r>
              <a:rPr lang="zh-CN" altLang="en-US" dirty="0"/>
              <a:t>发送出去后，不再关心处理结果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Storm </a:t>
            </a:r>
            <a:r>
              <a:rPr lang="en-US" altLang="zh-CN" dirty="0" err="1"/>
              <a:t>Topolopy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拓扑（</a:t>
            </a:r>
            <a:r>
              <a:rPr lang="en-US" altLang="zh-CN" dirty="0"/>
              <a:t>Topology</a:t>
            </a:r>
            <a:r>
              <a:rPr lang="zh-CN" altLang="en-US" dirty="0"/>
              <a:t>）的主要构成组件</a:t>
            </a:r>
            <a:endParaRPr lang="en-US" altLang="zh-CN" dirty="0"/>
          </a:p>
          <a:p>
            <a:pPr lvl="1"/>
            <a:r>
              <a:rPr lang="en-US" altLang="zh-CN" dirty="0"/>
              <a:t>Bolt</a:t>
            </a:r>
            <a:endParaRPr lang="en-US" altLang="zh-CN" dirty="0"/>
          </a:p>
          <a:p>
            <a:pPr lvl="2"/>
            <a:r>
              <a:rPr lang="zh-CN" altLang="en-US" dirty="0"/>
              <a:t>接收</a:t>
            </a:r>
            <a:r>
              <a:rPr lang="en-US" altLang="zh-CN" dirty="0"/>
              <a:t>Spout</a:t>
            </a:r>
            <a:r>
              <a:rPr lang="zh-CN" altLang="en-US" dirty="0"/>
              <a:t>的数据并对其进行处理</a:t>
            </a:r>
            <a:endParaRPr lang="en-US" altLang="zh-CN" dirty="0"/>
          </a:p>
          <a:p>
            <a:pPr lvl="2"/>
            <a:r>
              <a:rPr lang="en-US" altLang="zh-CN" dirty="0" err="1"/>
              <a:t>Topolopy</a:t>
            </a:r>
            <a:r>
              <a:rPr lang="zh-CN" altLang="en-US" dirty="0"/>
              <a:t>中的所有处理工作都是在</a:t>
            </a:r>
            <a:r>
              <a:rPr lang="en-US" altLang="zh-CN" dirty="0"/>
              <a:t>Bolt</a:t>
            </a:r>
            <a:r>
              <a:rPr lang="zh-CN" altLang="en-US" dirty="0"/>
              <a:t>中完成的</a:t>
            </a:r>
            <a:endParaRPr lang="en-US" altLang="zh-CN" dirty="0"/>
          </a:p>
          <a:p>
            <a:pPr lvl="3"/>
            <a:r>
              <a:rPr lang="zh-CN" altLang="en-US" dirty="0"/>
              <a:t>例如过滤、函数、聚合、合并，写数据库等操作</a:t>
            </a:r>
            <a:endParaRPr lang="en-US" altLang="zh-CN" dirty="0"/>
          </a:p>
          <a:p>
            <a:pPr lvl="2"/>
            <a:r>
              <a:rPr lang="en-US" altLang="zh-CN" dirty="0"/>
              <a:t>Bolt</a:t>
            </a:r>
            <a:r>
              <a:rPr lang="zh-CN" altLang="en-US" dirty="0"/>
              <a:t>在接收到消息后会调用</a:t>
            </a:r>
            <a:r>
              <a:rPr lang="en-US" altLang="zh-CN" dirty="0"/>
              <a:t>execute()</a:t>
            </a:r>
            <a:r>
              <a:rPr lang="zh-CN" altLang="en-US" dirty="0"/>
              <a:t>方法执行相关处理操作</a:t>
            </a:r>
            <a:endParaRPr lang="en-US" altLang="zh-CN" dirty="0"/>
          </a:p>
          <a:p>
            <a:pPr lvl="3"/>
            <a:r>
              <a:rPr lang="zh-CN" altLang="en-US" dirty="0"/>
              <a:t>该方法接收一个</a:t>
            </a:r>
            <a:r>
              <a:rPr lang="en-US" altLang="zh-CN" dirty="0"/>
              <a:t>Tuple</a:t>
            </a:r>
            <a:r>
              <a:rPr lang="zh-CN" altLang="en-US" dirty="0"/>
              <a:t>对象作为输入</a:t>
            </a:r>
            <a:endParaRPr lang="en-US" altLang="zh-CN" dirty="0"/>
          </a:p>
          <a:p>
            <a:pPr lvl="2"/>
            <a:r>
              <a:rPr lang="en-US" altLang="zh-CN" dirty="0"/>
              <a:t>Bolt</a:t>
            </a:r>
            <a:r>
              <a:rPr lang="zh-CN" altLang="en-US" dirty="0"/>
              <a:t>将处理后的数据发送给下一个</a:t>
            </a:r>
            <a:r>
              <a:rPr lang="en-US" altLang="zh-CN" dirty="0"/>
              <a:t>Bolt</a:t>
            </a:r>
            <a:r>
              <a:rPr lang="zh-CN" altLang="en-US" dirty="0"/>
              <a:t>进行再次处理，或将处理结果进行持久化存储</a:t>
            </a:r>
            <a:endParaRPr lang="en-US" altLang="zh-CN" dirty="0"/>
          </a:p>
          <a:p>
            <a:pPr lvl="3"/>
            <a:r>
              <a:rPr lang="zh-CN" altLang="en-US" dirty="0"/>
              <a:t>存储到</a:t>
            </a:r>
            <a:r>
              <a:rPr lang="en-US" altLang="zh-CN" dirty="0"/>
              <a:t>MySQL</a:t>
            </a:r>
            <a:r>
              <a:rPr lang="zh-CN" altLang="en-US" dirty="0"/>
              <a:t>、</a:t>
            </a:r>
            <a:r>
              <a:rPr lang="en-US" altLang="zh-CN" dirty="0"/>
              <a:t>HDFS</a:t>
            </a:r>
            <a:r>
              <a:rPr lang="zh-CN" altLang="en-US" dirty="0"/>
              <a:t>或</a:t>
            </a:r>
            <a:r>
              <a:rPr lang="en-US" altLang="zh-CN" dirty="0" err="1"/>
              <a:t>Hbase</a:t>
            </a:r>
            <a:r>
              <a:rPr lang="zh-CN" altLang="en-US" dirty="0"/>
              <a:t>中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Storm </a:t>
            </a:r>
            <a:r>
              <a:rPr lang="en-US" altLang="zh-CN" dirty="0" err="1"/>
              <a:t>Topolopy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拓扑（</a:t>
            </a:r>
            <a:r>
              <a:rPr lang="en-US" altLang="zh-CN" dirty="0"/>
              <a:t>Topology</a:t>
            </a:r>
            <a:r>
              <a:rPr lang="zh-CN" altLang="en-US" dirty="0"/>
              <a:t>）的主要构成组件</a:t>
            </a:r>
            <a:endParaRPr lang="en-US" altLang="zh-CN" dirty="0"/>
          </a:p>
          <a:p>
            <a:pPr lvl="1"/>
            <a:r>
              <a:rPr lang="en-US" altLang="zh-CN" dirty="0"/>
              <a:t>Tuple</a:t>
            </a:r>
            <a:endParaRPr lang="en-US" altLang="zh-CN" dirty="0"/>
          </a:p>
          <a:p>
            <a:pPr lvl="2"/>
            <a:r>
              <a:rPr lang="zh-CN" altLang="en-US" dirty="0"/>
              <a:t>消息传送的基本单元，在数据在</a:t>
            </a:r>
            <a:r>
              <a:rPr lang="en-US" altLang="zh-CN" dirty="0"/>
              <a:t>Storm</a:t>
            </a:r>
            <a:r>
              <a:rPr lang="zh-CN" altLang="en-US" dirty="0"/>
              <a:t>中流动的基本单位</a:t>
            </a:r>
            <a:endParaRPr lang="en-US" altLang="zh-CN" dirty="0"/>
          </a:p>
          <a:p>
            <a:pPr lvl="2"/>
            <a:r>
              <a:rPr lang="zh-CN" altLang="en-US" dirty="0"/>
              <a:t>一个</a:t>
            </a:r>
            <a:r>
              <a:rPr lang="en-US" altLang="zh-CN" dirty="0"/>
              <a:t>Tuple</a:t>
            </a:r>
            <a:r>
              <a:rPr lang="zh-CN" altLang="en-US" dirty="0"/>
              <a:t>可以由多个字段组成</a:t>
            </a:r>
            <a:endParaRPr lang="en-US" altLang="zh-CN" dirty="0"/>
          </a:p>
          <a:p>
            <a:pPr lvl="1"/>
            <a:r>
              <a:rPr lang="en-US" altLang="zh-CN" dirty="0"/>
              <a:t>Stream</a:t>
            </a:r>
            <a:endParaRPr lang="en-US" altLang="zh-CN" dirty="0"/>
          </a:p>
          <a:p>
            <a:pPr lvl="2"/>
            <a:r>
              <a:rPr lang="zh-CN" altLang="en-US" dirty="0"/>
              <a:t>源源不断传递的</a:t>
            </a:r>
            <a:r>
              <a:rPr lang="en-US" altLang="zh-CN" dirty="0"/>
              <a:t>Tuple</a:t>
            </a:r>
            <a:r>
              <a:rPr lang="zh-CN" altLang="en-US" dirty="0"/>
              <a:t>组成了</a:t>
            </a:r>
            <a:r>
              <a:rPr lang="en-US" altLang="zh-CN" dirty="0"/>
              <a:t>Stream</a:t>
            </a:r>
            <a:endParaRPr lang="en-US" altLang="zh-CN" dirty="0"/>
          </a:p>
          <a:p>
            <a:pPr lvl="2"/>
            <a:r>
              <a:rPr lang="en-US" altLang="zh-CN" dirty="0"/>
              <a:t>Storm</a:t>
            </a:r>
            <a:r>
              <a:rPr lang="zh-CN" altLang="en-US" dirty="0"/>
              <a:t>是一个实时计算的流式处理框架，通过不断从外部数据源中获取最新的</a:t>
            </a:r>
            <a:r>
              <a:rPr lang="en-US" altLang="zh-CN" dirty="0"/>
              <a:t>Tuple</a:t>
            </a:r>
            <a:r>
              <a:rPr lang="zh-CN" altLang="en-US" dirty="0"/>
              <a:t>，并传递给</a:t>
            </a:r>
            <a:r>
              <a:rPr lang="en-US" altLang="zh-CN" dirty="0"/>
              <a:t>Bolt</a:t>
            </a:r>
            <a:r>
              <a:rPr lang="zh-CN" altLang="en-US" dirty="0"/>
              <a:t>处理，这样不断的获取与传输就形成了一个数据流（</a:t>
            </a:r>
            <a:r>
              <a:rPr lang="en-US" altLang="zh-CN" dirty="0"/>
              <a:t>Stream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7.2 Storm </a:t>
            </a:r>
            <a:r>
              <a:rPr lang="en-US" altLang="zh-CN" dirty="0" err="1"/>
              <a:t>Topolopy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拓扑（</a:t>
            </a:r>
            <a:r>
              <a:rPr lang="en-US" altLang="zh-CN" dirty="0"/>
              <a:t>Topology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 err="1"/>
              <a:t>Topolopy</a:t>
            </a:r>
            <a:r>
              <a:rPr lang="zh-CN" altLang="en-US" dirty="0"/>
              <a:t>可以由多个</a:t>
            </a:r>
            <a:r>
              <a:rPr lang="en-US" altLang="zh-CN" dirty="0"/>
              <a:t>Spout</a:t>
            </a:r>
            <a:r>
              <a:rPr lang="zh-CN" altLang="en-US" dirty="0"/>
              <a:t>和多个</a:t>
            </a:r>
            <a:r>
              <a:rPr lang="en-US" altLang="zh-CN" dirty="0"/>
              <a:t>Bolt</a:t>
            </a:r>
            <a:r>
              <a:rPr lang="zh-CN" altLang="en-US" dirty="0"/>
              <a:t>组成</a:t>
            </a:r>
            <a:endParaRPr lang="en-US" altLang="zh-CN" dirty="0"/>
          </a:p>
          <a:p>
            <a:pPr lvl="1"/>
            <a:r>
              <a:rPr lang="en-US" altLang="zh-CN" dirty="0" err="1"/>
              <a:t>Topolopy</a:t>
            </a:r>
            <a:r>
              <a:rPr lang="zh-CN" altLang="en-US" dirty="0"/>
              <a:t>的</a:t>
            </a:r>
            <a:r>
              <a:rPr lang="en-US" altLang="zh-CN" dirty="0"/>
              <a:t>Stream</a:t>
            </a:r>
            <a:r>
              <a:rPr lang="zh-CN" altLang="en-US" dirty="0"/>
              <a:t>是有方向的</a:t>
            </a:r>
            <a:endParaRPr lang="en-US" altLang="zh-CN" dirty="0"/>
          </a:p>
          <a:p>
            <a:pPr lvl="1"/>
            <a:r>
              <a:rPr lang="en-US" altLang="zh-CN" dirty="0" err="1"/>
              <a:t>Topolopy</a:t>
            </a:r>
            <a:r>
              <a:rPr lang="zh-CN" altLang="en-US" dirty="0"/>
              <a:t>中的通过</a:t>
            </a:r>
            <a:r>
              <a:rPr lang="en-US" altLang="zh-CN" dirty="0"/>
              <a:t>Stream</a:t>
            </a:r>
            <a:r>
              <a:rPr lang="zh-CN" altLang="en-US" dirty="0"/>
              <a:t>连接起来的</a:t>
            </a:r>
            <a:r>
              <a:rPr lang="en-US" altLang="zh-CN" dirty="0"/>
              <a:t>Spout</a:t>
            </a:r>
            <a:r>
              <a:rPr lang="zh-CN" altLang="en-US" dirty="0"/>
              <a:t>和</a:t>
            </a:r>
            <a:r>
              <a:rPr lang="en-US" altLang="zh-CN" dirty="0"/>
              <a:t>Bolt</a:t>
            </a:r>
            <a:r>
              <a:rPr lang="zh-CN" altLang="en-US" dirty="0"/>
              <a:t>必须是</a:t>
            </a:r>
            <a:r>
              <a:rPr lang="en-US" altLang="zh-CN" dirty="0"/>
              <a:t>DAG</a:t>
            </a:r>
            <a:r>
              <a:rPr lang="zh-CN" altLang="en-US" dirty="0"/>
              <a:t>（有向无环图）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557434"/>
            <a:ext cx="3740271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7.2 </a:t>
            </a:r>
            <a:r>
              <a:rPr lang="en-US" altLang="zh-CN" dirty="0">
                <a:sym typeface="+mn-ea"/>
              </a:rPr>
              <a:t>Storm </a:t>
            </a:r>
            <a:r>
              <a:rPr lang="en-US" altLang="zh-CN" dirty="0" err="1">
                <a:sym typeface="+mn-ea"/>
              </a:rPr>
              <a:t>Topolopy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7.3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Storm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集群架构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7.4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集群环境搭建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7.5 </a:t>
            </a:r>
            <a:r>
              <a:rPr lang="zh-CN" altLang="en-US" dirty="0">
                <a:sym typeface="+mn-ea"/>
              </a:rPr>
              <a:t>案例分析：单词计数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/>
              <a:t>7.6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流分组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7.7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整合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Storm</a:t>
            </a:r>
            <a:r>
              <a:rPr lang="zh-CN" altLang="en-US" dirty="0"/>
              <a:t>集群架构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分布式集群采用经典的主从架构</a:t>
            </a:r>
            <a:endParaRPr lang="en-US" altLang="zh-CN" dirty="0"/>
          </a:p>
          <a:p>
            <a:pPr lvl="1"/>
            <a:r>
              <a:rPr lang="en-US" altLang="zh-CN" dirty="0"/>
              <a:t>Nimbus:</a:t>
            </a:r>
            <a:r>
              <a:rPr lang="zh-CN" altLang="en-US" dirty="0"/>
              <a:t>主节点，运行一个名为</a:t>
            </a:r>
            <a:r>
              <a:rPr lang="en-US" altLang="zh-CN" dirty="0"/>
              <a:t>Nimbus</a:t>
            </a:r>
            <a:r>
              <a:rPr lang="zh-CN" altLang="en-US" dirty="0"/>
              <a:t>的主控进程</a:t>
            </a:r>
            <a:endParaRPr lang="en-US" altLang="zh-CN" dirty="0"/>
          </a:p>
          <a:p>
            <a:pPr lvl="1"/>
            <a:r>
              <a:rPr lang="en-US" altLang="zh-CN" dirty="0"/>
              <a:t>Supervisor:</a:t>
            </a:r>
            <a:r>
              <a:rPr lang="zh-CN" altLang="en-US" dirty="0"/>
              <a:t>工作节点，运行一个名为</a:t>
            </a:r>
            <a:r>
              <a:rPr lang="en-US" altLang="zh-CN" dirty="0"/>
              <a:t>Supervisor</a:t>
            </a:r>
            <a:r>
              <a:rPr lang="zh-CN" altLang="en-US" dirty="0"/>
              <a:t>的工作进程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555704"/>
            <a:ext cx="3888432" cy="19306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Storm</a:t>
            </a:r>
            <a:r>
              <a:rPr lang="zh-CN" altLang="en-US" dirty="0"/>
              <a:t>集群架构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分布式集群采用经典的主从架构</a:t>
            </a:r>
            <a:endParaRPr lang="en-US" altLang="zh-CN" dirty="0"/>
          </a:p>
          <a:p>
            <a:pPr lvl="1"/>
            <a:r>
              <a:rPr lang="zh-CN" altLang="en-US" dirty="0"/>
              <a:t>客户端提交</a:t>
            </a:r>
            <a:r>
              <a:rPr lang="en-US" altLang="zh-CN" dirty="0" err="1"/>
              <a:t>Topolopy</a:t>
            </a:r>
            <a:r>
              <a:rPr lang="zh-CN" altLang="en-US" dirty="0"/>
              <a:t>给</a:t>
            </a:r>
            <a:r>
              <a:rPr lang="en-US" altLang="zh-CN" dirty="0"/>
              <a:t>Nimbus</a:t>
            </a:r>
            <a:endParaRPr lang="en-US" altLang="zh-CN" dirty="0"/>
          </a:p>
          <a:p>
            <a:pPr lvl="1"/>
            <a:r>
              <a:rPr lang="en-US" altLang="zh-CN" dirty="0"/>
              <a:t>Nimbus</a:t>
            </a:r>
            <a:r>
              <a:rPr lang="zh-CN" altLang="en-US" dirty="0"/>
              <a:t>负责分发</a:t>
            </a:r>
            <a:r>
              <a:rPr lang="en-US" altLang="zh-CN" dirty="0" err="1"/>
              <a:t>Topolopy</a:t>
            </a:r>
            <a:r>
              <a:rPr lang="zh-CN" altLang="en-US" dirty="0"/>
              <a:t>给</a:t>
            </a:r>
            <a:r>
              <a:rPr lang="en-US" altLang="zh-CN" dirty="0"/>
              <a:t>Supervisor</a:t>
            </a:r>
            <a:endParaRPr lang="en-US" altLang="zh-CN" dirty="0"/>
          </a:p>
          <a:p>
            <a:pPr lvl="1"/>
            <a:r>
              <a:rPr lang="en-US" altLang="zh-CN" dirty="0"/>
              <a:t>Nimbus</a:t>
            </a:r>
            <a:r>
              <a:rPr lang="zh-CN" altLang="en-US" dirty="0"/>
              <a:t>通过</a:t>
            </a:r>
            <a:r>
              <a:rPr lang="en-US" altLang="zh-CN" dirty="0"/>
              <a:t>Zookeeper</a:t>
            </a:r>
            <a:r>
              <a:rPr lang="zh-CN" altLang="en-US" dirty="0"/>
              <a:t>监控</a:t>
            </a:r>
            <a:r>
              <a:rPr lang="en-US" altLang="zh-CN" dirty="0"/>
              <a:t>Supervisor</a:t>
            </a:r>
            <a:r>
              <a:rPr lang="zh-CN" altLang="en-US" dirty="0"/>
              <a:t>的状态和确定任务分配策略</a:t>
            </a:r>
            <a:endParaRPr lang="en-US" altLang="zh-CN" dirty="0"/>
          </a:p>
          <a:p>
            <a:pPr lvl="1"/>
            <a:r>
              <a:rPr lang="en-US" altLang="zh-CN" dirty="0"/>
              <a:t>Supervisor</a:t>
            </a:r>
            <a:r>
              <a:rPr lang="zh-CN" altLang="en-US" dirty="0"/>
              <a:t>定时与</a:t>
            </a:r>
            <a:r>
              <a:rPr lang="en-US" altLang="zh-CN" dirty="0"/>
              <a:t>Zookeeper</a:t>
            </a:r>
            <a:r>
              <a:rPr lang="zh-CN" altLang="en-US" dirty="0"/>
              <a:t>同步</a:t>
            </a:r>
            <a:endParaRPr lang="en-US" altLang="zh-CN" dirty="0"/>
          </a:p>
          <a:p>
            <a:pPr lvl="2"/>
            <a:r>
              <a:rPr lang="zh-CN" altLang="en-US" dirty="0"/>
              <a:t>以便获取</a:t>
            </a:r>
            <a:r>
              <a:rPr lang="en-US" altLang="zh-CN" dirty="0" err="1"/>
              <a:t>Topolopy</a:t>
            </a:r>
            <a:r>
              <a:rPr lang="zh-CN" altLang="en-US" dirty="0"/>
              <a:t>信息、任务分配信息及各类心跳信息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368930"/>
            <a:ext cx="2664296" cy="21564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Storm</a:t>
            </a:r>
            <a:r>
              <a:rPr lang="zh-CN" altLang="en-US" dirty="0"/>
              <a:t>集群架构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分布式集群采用经典的主从架构</a:t>
            </a:r>
            <a:endParaRPr lang="en-US" altLang="zh-CN" dirty="0"/>
          </a:p>
          <a:p>
            <a:pPr lvl="1"/>
            <a:r>
              <a:rPr lang="en-US" altLang="zh-CN" dirty="0"/>
              <a:t>Supervisor</a:t>
            </a:r>
            <a:r>
              <a:rPr lang="zh-CN" altLang="en-US" dirty="0"/>
              <a:t>根据需要启动一个或多个</a:t>
            </a:r>
            <a:r>
              <a:rPr lang="en-US" altLang="zh-CN" dirty="0"/>
              <a:t>Worker</a:t>
            </a:r>
            <a:r>
              <a:rPr lang="zh-CN" altLang="en-US" dirty="0"/>
              <a:t>进程执行具体的</a:t>
            </a:r>
            <a:r>
              <a:rPr lang="en-US" altLang="zh-CN" dirty="0" err="1"/>
              <a:t>Topolopy</a:t>
            </a:r>
            <a:endParaRPr lang="en-US" altLang="zh-CN" dirty="0"/>
          </a:p>
          <a:p>
            <a:pPr lvl="2"/>
            <a:r>
              <a:rPr lang="zh-CN" altLang="en-US" dirty="0"/>
              <a:t>每个</a:t>
            </a:r>
            <a:r>
              <a:rPr lang="en-US" altLang="zh-CN" dirty="0"/>
              <a:t>Worker</a:t>
            </a:r>
            <a:r>
              <a:rPr lang="zh-CN" altLang="en-US" dirty="0"/>
              <a:t>只能执行一个</a:t>
            </a:r>
            <a:r>
              <a:rPr lang="en-US" altLang="zh-CN" dirty="0" err="1"/>
              <a:t>Topolopy</a:t>
            </a:r>
            <a:endParaRPr lang="en-US" altLang="zh-CN" dirty="0"/>
          </a:p>
          <a:p>
            <a:pPr lvl="2"/>
            <a:r>
              <a:rPr lang="zh-CN" altLang="en-US" dirty="0"/>
              <a:t>但同一个</a:t>
            </a:r>
            <a:r>
              <a:rPr lang="en-US" altLang="zh-CN" dirty="0"/>
              <a:t>Topology</a:t>
            </a:r>
            <a:r>
              <a:rPr lang="zh-CN" altLang="en-US" dirty="0"/>
              <a:t>可以由多个</a:t>
            </a:r>
            <a:r>
              <a:rPr lang="en-US" altLang="zh-CN" dirty="0"/>
              <a:t>Worker</a:t>
            </a:r>
            <a:r>
              <a:rPr lang="zh-CN" altLang="en-US" dirty="0"/>
              <a:t>共同执行</a:t>
            </a:r>
            <a:endParaRPr lang="en-US" altLang="zh-CN" dirty="0"/>
          </a:p>
          <a:p>
            <a:pPr lvl="2"/>
            <a:r>
              <a:rPr lang="zh-CN" altLang="en-US" dirty="0"/>
              <a:t>一个</a:t>
            </a:r>
            <a:r>
              <a:rPr lang="en-US" altLang="zh-CN" dirty="0" err="1"/>
              <a:t>Topolopy</a:t>
            </a:r>
            <a:r>
              <a:rPr lang="zh-CN" altLang="en-US" dirty="0"/>
              <a:t>通常由多个节点的多个</a:t>
            </a:r>
            <a:r>
              <a:rPr lang="en-US" altLang="zh-CN" dirty="0"/>
              <a:t>Worker</a:t>
            </a:r>
            <a:r>
              <a:rPr lang="zh-CN" altLang="en-US" dirty="0"/>
              <a:t>共同完成</a:t>
            </a:r>
            <a:endParaRPr lang="en-US" altLang="zh-CN" dirty="0"/>
          </a:p>
          <a:p>
            <a:pPr lvl="1"/>
            <a:r>
              <a:rPr lang="en-US" altLang="zh-CN" dirty="0"/>
              <a:t>Supervisor</a:t>
            </a:r>
            <a:r>
              <a:rPr lang="zh-CN" altLang="en-US" dirty="0"/>
              <a:t>会根据新任务分配情况来调整</a:t>
            </a:r>
            <a:r>
              <a:rPr lang="en-US" altLang="zh-CN" dirty="0"/>
              <a:t>Worker</a:t>
            </a:r>
            <a:r>
              <a:rPr lang="zh-CN" altLang="en-US" dirty="0"/>
              <a:t>的数量并进行负责均衡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289" y="4681706"/>
            <a:ext cx="4031221" cy="17560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Storm</a:t>
            </a:r>
            <a:r>
              <a:rPr lang="zh-CN" altLang="en-US" dirty="0"/>
              <a:t>集群架构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Storm</a:t>
            </a:r>
            <a:r>
              <a:rPr lang="zh-CN" altLang="en-US" dirty="0"/>
              <a:t>集群运行架构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988840"/>
            <a:ext cx="3657600" cy="2647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Storm</a:t>
            </a:r>
            <a:r>
              <a:rPr lang="zh-CN" altLang="en-US" dirty="0"/>
              <a:t>集群架构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Topology </a:t>
            </a:r>
            <a:r>
              <a:rPr lang="zh-CN" altLang="en-US" dirty="0"/>
              <a:t>的详细执行流程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）客户端将写好的</a:t>
            </a:r>
            <a:r>
              <a:rPr lang="en-US" altLang="zh-CN" dirty="0"/>
              <a:t>Topology</a:t>
            </a:r>
            <a:r>
              <a:rPr lang="zh-CN" altLang="en-US" dirty="0"/>
              <a:t>代码</a:t>
            </a:r>
            <a:r>
              <a:rPr lang="en-US" altLang="zh-CN" dirty="0"/>
              <a:t>(</a:t>
            </a:r>
            <a:r>
              <a:rPr lang="zh-CN" altLang="en-US" dirty="0"/>
              <a:t>以</a:t>
            </a:r>
            <a:r>
              <a:rPr lang="en-US" altLang="zh-CN" dirty="0"/>
              <a:t>jar</a:t>
            </a:r>
            <a:r>
              <a:rPr lang="zh-CN" altLang="en-US" dirty="0"/>
              <a:t>包的形式</a:t>
            </a:r>
            <a:r>
              <a:rPr lang="en-US" altLang="zh-CN" dirty="0"/>
              <a:t>)</a:t>
            </a:r>
            <a:r>
              <a:rPr lang="zh-CN" altLang="en-US" dirty="0"/>
              <a:t>提交到</a:t>
            </a:r>
            <a:r>
              <a:rPr lang="en-US" altLang="zh-CN" dirty="0"/>
              <a:t>Nimbus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 </a:t>
            </a:r>
            <a:r>
              <a:rPr lang="en-US" altLang="zh-CN" dirty="0"/>
              <a:t>Nimbus </a:t>
            </a:r>
            <a:r>
              <a:rPr lang="zh-CN" altLang="en-US" dirty="0"/>
              <a:t>对</a:t>
            </a:r>
            <a:r>
              <a:rPr lang="en-US" altLang="zh-CN" dirty="0"/>
              <a:t>Topology </a:t>
            </a:r>
            <a:r>
              <a:rPr lang="zh-CN" altLang="en-US" dirty="0"/>
              <a:t>进行校验</a:t>
            </a:r>
            <a:r>
              <a:rPr lang="en-US" altLang="zh-CN" dirty="0"/>
              <a:t>,</a:t>
            </a:r>
            <a:r>
              <a:rPr lang="zh-CN" altLang="en-US" dirty="0"/>
              <a:t>校验内容包括</a:t>
            </a:r>
            <a:r>
              <a:rPr lang="en-US" altLang="zh-CN" dirty="0"/>
              <a:t>:</a:t>
            </a:r>
            <a:r>
              <a:rPr lang="zh-CN" altLang="en-US" dirty="0"/>
              <a:t>是否已经有同名 </a:t>
            </a:r>
            <a:r>
              <a:rPr lang="en-US" altLang="zh-CN" dirty="0"/>
              <a:t>Topology </a:t>
            </a:r>
            <a:r>
              <a:rPr lang="zh-CN" altLang="en-US" dirty="0"/>
              <a:t>正在运行、</a:t>
            </a:r>
            <a:r>
              <a:rPr lang="en-US" altLang="zh-CN" dirty="0"/>
              <a:t>Topology </a:t>
            </a:r>
            <a:r>
              <a:rPr lang="zh-CN" altLang="en-US" dirty="0"/>
              <a:t>中是否有两个</a:t>
            </a:r>
            <a:r>
              <a:rPr lang="en-US" altLang="zh-CN" dirty="0"/>
              <a:t>Spout</a:t>
            </a:r>
            <a:r>
              <a:rPr lang="zh-CN" altLang="en-US" dirty="0"/>
              <a:t>或</a:t>
            </a:r>
            <a:r>
              <a:rPr lang="en-US" altLang="zh-CN" dirty="0"/>
              <a:t>Bolt</a:t>
            </a:r>
            <a:r>
              <a:rPr lang="zh-CN" altLang="en-US" dirty="0"/>
              <a:t>使用了相同的</a:t>
            </a:r>
            <a:r>
              <a:rPr lang="en-US" altLang="zh-CN" dirty="0"/>
              <a:t>ID(Topology </a:t>
            </a:r>
            <a:r>
              <a:rPr lang="zh-CN" altLang="en-US" dirty="0"/>
              <a:t>代码中需要给</a:t>
            </a:r>
            <a:r>
              <a:rPr lang="en-US" altLang="zh-CN" dirty="0"/>
              <a:t>Spout</a:t>
            </a:r>
            <a:r>
              <a:rPr lang="zh-CN" altLang="en-US" dirty="0"/>
              <a:t>和</a:t>
            </a:r>
            <a:r>
              <a:rPr lang="en-US" altLang="zh-CN" dirty="0"/>
              <a:t>Bolt</a:t>
            </a:r>
            <a:r>
              <a:rPr lang="zh-CN" altLang="en-US" dirty="0"/>
              <a:t>指定</a:t>
            </a:r>
            <a:r>
              <a:rPr lang="en-US" altLang="zh-CN" dirty="0"/>
              <a:t>ID)</a:t>
            </a:r>
            <a:r>
              <a:rPr lang="zh-CN" altLang="en-US" dirty="0"/>
              <a:t>等。</a:t>
            </a:r>
            <a:endParaRPr lang="zh-CN" altLang="en-US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 </a:t>
            </a:r>
            <a:r>
              <a:rPr lang="en-US" altLang="zh-CN" dirty="0"/>
              <a:t>Nimbus</a:t>
            </a:r>
            <a:r>
              <a:rPr lang="zh-CN" altLang="en-US" dirty="0"/>
              <a:t>建立一个本地目录</a:t>
            </a:r>
            <a:r>
              <a:rPr lang="en-US" altLang="zh-CN" dirty="0"/>
              <a:t>,</a:t>
            </a:r>
            <a:r>
              <a:rPr lang="zh-CN" altLang="en-US" dirty="0"/>
              <a:t>用于存放</a:t>
            </a:r>
            <a:r>
              <a:rPr lang="en-US" altLang="zh-CN" dirty="0"/>
              <a:t>Topology.jar </a:t>
            </a:r>
            <a:r>
              <a:rPr lang="zh-CN" altLang="en-US" dirty="0"/>
              <a:t>包和一些临时文件。</a:t>
            </a:r>
            <a:endParaRPr lang="zh-CN" altLang="en-US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 </a:t>
            </a:r>
            <a:r>
              <a:rPr lang="en-US" altLang="zh-CN" dirty="0"/>
              <a:t>Nimbus </a:t>
            </a:r>
            <a:r>
              <a:rPr lang="zh-CN" altLang="en-US" dirty="0"/>
              <a:t>将 </a:t>
            </a:r>
            <a:r>
              <a:rPr lang="en-US" altLang="zh-CN" dirty="0"/>
              <a:t>Topology </a:t>
            </a:r>
            <a:r>
              <a:rPr lang="zh-CN" altLang="en-US" dirty="0"/>
              <a:t>的状态信息</a:t>
            </a:r>
            <a:r>
              <a:rPr lang="en-US" altLang="zh-CN" dirty="0"/>
              <a:t>(Topology </a:t>
            </a:r>
            <a:r>
              <a:rPr lang="zh-CN" altLang="en-US" dirty="0"/>
              <a:t>代码在 </a:t>
            </a:r>
            <a:r>
              <a:rPr lang="en-US" altLang="zh-CN" dirty="0"/>
              <a:t>Nimbus </a:t>
            </a:r>
            <a:r>
              <a:rPr lang="zh-CN" altLang="en-US" dirty="0"/>
              <a:t>的存储位置等</a:t>
            </a:r>
            <a:r>
              <a:rPr lang="en-US" altLang="zh-CN" dirty="0"/>
              <a:t>)</a:t>
            </a:r>
            <a:r>
              <a:rPr lang="zh-CN" altLang="en-US" dirty="0"/>
              <a:t>同步到</a:t>
            </a:r>
            <a:r>
              <a:rPr lang="en-US" altLang="zh-CN" dirty="0" err="1"/>
              <a:t>ZooKeeper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 </a:t>
            </a:r>
            <a:r>
              <a:rPr lang="en-US" altLang="zh-CN" dirty="0"/>
              <a:t>Nimbus</a:t>
            </a:r>
            <a:r>
              <a:rPr lang="zh-CN" altLang="en-US" dirty="0"/>
              <a:t>根据 </a:t>
            </a:r>
            <a:r>
              <a:rPr lang="en-US" altLang="zh-CN" dirty="0"/>
              <a:t>Topology </a:t>
            </a:r>
            <a:r>
              <a:rPr lang="zh-CN" altLang="en-US" dirty="0"/>
              <a:t>的配置计算</a:t>
            </a:r>
            <a:r>
              <a:rPr lang="en-US" altLang="zh-CN" dirty="0"/>
              <a:t>Task(Spout </a:t>
            </a:r>
            <a:r>
              <a:rPr lang="zh-CN" altLang="en-US" dirty="0"/>
              <a:t>或 </a:t>
            </a:r>
            <a:r>
              <a:rPr lang="en-US" altLang="zh-CN" dirty="0"/>
              <a:t>Bolt </a:t>
            </a:r>
            <a:r>
              <a:rPr lang="zh-CN" altLang="en-US" dirty="0"/>
              <a:t>实例</a:t>
            </a:r>
            <a:r>
              <a:rPr lang="en-US" altLang="zh-CN" dirty="0"/>
              <a:t>)</a:t>
            </a:r>
            <a:r>
              <a:rPr lang="zh-CN" altLang="en-US" dirty="0"/>
              <a:t>的数量</a:t>
            </a:r>
            <a:r>
              <a:rPr lang="en-US" altLang="zh-CN" dirty="0"/>
              <a:t>,</a:t>
            </a:r>
            <a:r>
              <a:rPr lang="zh-CN" altLang="en-US" dirty="0"/>
              <a:t>并根据</a:t>
            </a:r>
            <a:r>
              <a:rPr lang="en-US" altLang="zh-CN" dirty="0" err="1"/>
              <a:t>ZooKeeper</a:t>
            </a:r>
            <a:r>
              <a:rPr lang="zh-CN" altLang="en-US" dirty="0"/>
              <a:t>中存储的</a:t>
            </a:r>
            <a:r>
              <a:rPr lang="en-US" altLang="zh-CN" dirty="0" err="1"/>
              <a:t>Superisor</a:t>
            </a:r>
            <a:r>
              <a:rPr lang="zh-CN" altLang="en-US" dirty="0"/>
              <a:t>的资源空闲情况计算</a:t>
            </a:r>
            <a:r>
              <a:rPr lang="en-US" altLang="zh-CN" dirty="0"/>
              <a:t>Task</a:t>
            </a:r>
            <a:r>
              <a:rPr lang="zh-CN" altLang="en-US" dirty="0"/>
              <a:t>的任务分配（每个 </a:t>
            </a:r>
            <a:r>
              <a:rPr lang="en-US" altLang="zh-CN" dirty="0"/>
              <a:t>Task </a:t>
            </a:r>
            <a:r>
              <a:rPr lang="zh-CN" altLang="en-US" dirty="0"/>
              <a:t>与工作节点及端口的映射、</a:t>
            </a:r>
            <a:r>
              <a:rPr lang="en-US" altLang="zh-CN" dirty="0" err="1"/>
              <a:t>lask</a:t>
            </a:r>
            <a:r>
              <a:rPr lang="zh-CN" altLang="en-US" dirty="0"/>
              <a:t>与</a:t>
            </a:r>
            <a:r>
              <a:rPr lang="en-US" altLang="zh-CN" dirty="0"/>
              <a:t>Worker</a:t>
            </a:r>
            <a:r>
              <a:rPr lang="zh-CN" altLang="en-US" dirty="0"/>
              <a:t>的对应关系）</a:t>
            </a:r>
            <a:r>
              <a:rPr lang="en-US" altLang="zh-CN" dirty="0"/>
              <a:t>,</a:t>
            </a:r>
            <a:r>
              <a:rPr lang="zh-CN" altLang="en-US" dirty="0"/>
              <a:t>并将计算结果同步到</a:t>
            </a:r>
            <a:r>
              <a:rPr lang="en-US" altLang="zh-CN" dirty="0" err="1"/>
              <a:t>ZooKeeper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 </a:t>
            </a:r>
            <a:r>
              <a:rPr lang="en-US" altLang="zh-CN" dirty="0"/>
              <a:t>Supervisor</a:t>
            </a:r>
            <a:r>
              <a:rPr lang="zh-CN" altLang="en-US" dirty="0"/>
              <a:t>从</a:t>
            </a:r>
            <a:r>
              <a:rPr lang="en-US" altLang="zh-CN" dirty="0" err="1"/>
              <a:t>ZooKeeper</a:t>
            </a:r>
            <a:r>
              <a:rPr lang="en-US" altLang="zh-CN" dirty="0"/>
              <a:t> </a:t>
            </a:r>
            <a:r>
              <a:rPr lang="zh-CN" altLang="en-US" dirty="0"/>
              <a:t>中获取</a:t>
            </a:r>
            <a:r>
              <a:rPr lang="en-US" altLang="zh-CN" dirty="0"/>
              <a:t>Topology.jar </a:t>
            </a:r>
            <a:r>
              <a:rPr lang="zh-CN" altLang="en-US" dirty="0"/>
              <a:t>包所在的</a:t>
            </a:r>
            <a:r>
              <a:rPr lang="en-US" altLang="zh-CN" dirty="0"/>
              <a:t>Nimbus </a:t>
            </a:r>
            <a:r>
              <a:rPr lang="zh-CN" altLang="en-US" dirty="0"/>
              <a:t>的位置信息和 </a:t>
            </a:r>
            <a:r>
              <a:rPr lang="en-US" altLang="zh-CN" dirty="0"/>
              <a:t>Task</a:t>
            </a:r>
            <a:r>
              <a:rPr lang="zh-CN" altLang="en-US" dirty="0"/>
              <a:t>的任分配信息</a:t>
            </a:r>
            <a:r>
              <a:rPr lang="en-US" altLang="zh-CN" dirty="0"/>
              <a:t>,</a:t>
            </a:r>
            <a:r>
              <a:rPr lang="zh-CN" altLang="en-US" dirty="0"/>
              <a:t>从</a:t>
            </a:r>
            <a:r>
              <a:rPr lang="en-US" altLang="zh-CN" dirty="0"/>
              <a:t>Nimbus</a:t>
            </a:r>
            <a:r>
              <a:rPr lang="zh-CN" altLang="en-US" dirty="0"/>
              <a:t>相应位置下载</a:t>
            </a:r>
            <a:r>
              <a:rPr lang="en-US" altLang="zh-CN" dirty="0"/>
              <a:t>jar</a:t>
            </a:r>
            <a:r>
              <a:rPr lang="zh-CN" altLang="en-US" dirty="0"/>
              <a:t>包到本地</a:t>
            </a:r>
            <a:r>
              <a:rPr lang="en-US" altLang="zh-CN" dirty="0"/>
              <a:t>(</a:t>
            </a:r>
            <a:r>
              <a:rPr lang="zh-CN" altLang="en-US" dirty="0"/>
              <a:t>无论是否由自己执行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en-US" altLang="zh-CN" dirty="0"/>
              <a:t>Supervisor</a:t>
            </a:r>
            <a:r>
              <a:rPr lang="zh-CN" altLang="en-US" dirty="0"/>
              <a:t>根据</a:t>
            </a:r>
            <a:r>
              <a:rPr lang="en-US" altLang="zh-CN" dirty="0"/>
              <a:t>Task</a:t>
            </a:r>
            <a:r>
              <a:rPr lang="zh-CN" altLang="en-US" dirty="0"/>
              <a:t>任务分配信息</a:t>
            </a:r>
            <a:r>
              <a:rPr lang="en-US" altLang="zh-CN" dirty="0"/>
              <a:t>,</a:t>
            </a:r>
            <a:r>
              <a:rPr lang="zh-CN" altLang="en-US" dirty="0"/>
              <a:t>启动相应的</a:t>
            </a:r>
            <a:r>
              <a:rPr lang="en-US" altLang="zh-CN" dirty="0"/>
              <a:t>Worker</a:t>
            </a:r>
            <a:r>
              <a:rPr lang="zh-CN" altLang="en-US" dirty="0"/>
              <a:t>进程执行 </a:t>
            </a:r>
            <a:r>
              <a:rPr lang="en-US" altLang="zh-CN" dirty="0"/>
              <a:t>Task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Storm</a:t>
            </a:r>
            <a:r>
              <a:rPr lang="zh-CN" altLang="en-US" dirty="0"/>
              <a:t>集群架构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Work</a:t>
            </a:r>
            <a:r>
              <a:rPr lang="zh-CN" altLang="en-US" dirty="0"/>
              <a:t>的工作方式</a:t>
            </a:r>
            <a:endParaRPr lang="en-US" altLang="zh-CN" dirty="0"/>
          </a:p>
          <a:p>
            <a:pPr lvl="1"/>
            <a:r>
              <a:rPr lang="en-US" altLang="zh-CN" dirty="0"/>
              <a:t>Worker </a:t>
            </a:r>
            <a:r>
              <a:rPr lang="zh-CN" altLang="en-US" dirty="0"/>
              <a:t>进程包含一个或多个称为 </a:t>
            </a:r>
            <a:r>
              <a:rPr lang="en-US" altLang="zh-CN" dirty="0"/>
              <a:t>Executor </a:t>
            </a:r>
            <a:r>
              <a:rPr lang="zh-CN" altLang="en-US" dirty="0"/>
              <a:t>的执行线程，用于执行具体的 </a:t>
            </a:r>
            <a:r>
              <a:rPr lang="en-US" altLang="zh-CN" dirty="0"/>
              <a:t>Task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Task</a:t>
            </a:r>
            <a:r>
              <a:rPr lang="zh-CN" altLang="en-US" dirty="0"/>
              <a:t>是</a:t>
            </a:r>
            <a:r>
              <a:rPr lang="en-US" altLang="zh-CN" dirty="0"/>
              <a:t>Storm</a:t>
            </a:r>
            <a:r>
              <a:rPr lang="zh-CN" altLang="en-US" dirty="0"/>
              <a:t>中最小的处理单元</a:t>
            </a:r>
            <a:r>
              <a:rPr lang="en-US" altLang="zh-CN" dirty="0"/>
              <a:t>,</a:t>
            </a:r>
            <a:r>
              <a:rPr lang="zh-CN" altLang="en-US" dirty="0"/>
              <a:t>一个</a:t>
            </a:r>
            <a:r>
              <a:rPr lang="en-US" altLang="zh-CN" dirty="0"/>
              <a:t>Task </a:t>
            </a:r>
            <a:r>
              <a:rPr lang="zh-CN" altLang="en-US" dirty="0"/>
              <a:t>可以看作是一个</a:t>
            </a:r>
            <a:r>
              <a:rPr lang="en-US" altLang="zh-CN" dirty="0"/>
              <a:t>Spout</a:t>
            </a:r>
            <a:r>
              <a:rPr lang="zh-CN" altLang="en-US" dirty="0"/>
              <a:t>或</a:t>
            </a:r>
            <a:r>
              <a:rPr lang="en-US" altLang="zh-CN" dirty="0"/>
              <a:t>Bolt </a:t>
            </a:r>
            <a:r>
              <a:rPr lang="zh-CN" altLang="en-US" dirty="0"/>
              <a:t>实例。</a:t>
            </a:r>
            <a:endParaRPr lang="en-US" altLang="zh-CN" dirty="0"/>
          </a:p>
          <a:p>
            <a:pPr lvl="1"/>
            <a:r>
              <a:rPr lang="zh-CN" altLang="en-US" dirty="0"/>
              <a:t>一个</a:t>
            </a:r>
            <a:r>
              <a:rPr lang="en-US" altLang="zh-CN" dirty="0"/>
              <a:t>Executor</a:t>
            </a:r>
            <a:r>
              <a:rPr lang="zh-CN" altLang="en-US" dirty="0"/>
              <a:t>可以执多个</a:t>
            </a:r>
            <a:r>
              <a:rPr lang="en-US" altLang="zh-CN" dirty="0"/>
              <a:t>Task(</a:t>
            </a:r>
            <a:r>
              <a:rPr lang="zh-CN" altLang="en-US" dirty="0"/>
              <a:t>默认是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077072"/>
            <a:ext cx="373570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7.3 Storm</a:t>
            </a:r>
            <a:r>
              <a:rPr lang="zh-CN" altLang="en-US" dirty="0"/>
              <a:t>集群架构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数据交互</a:t>
            </a:r>
            <a:endParaRPr lang="en-US" altLang="zh-CN" dirty="0"/>
          </a:p>
          <a:p>
            <a:pPr lvl="1"/>
            <a:r>
              <a:rPr lang="en-US" altLang="zh-CN" dirty="0"/>
              <a:t>Storm </a:t>
            </a:r>
            <a:r>
              <a:rPr lang="zh-CN" altLang="en-US" dirty="0"/>
              <a:t>依赖于 </a:t>
            </a:r>
            <a:r>
              <a:rPr lang="en-US" altLang="zh-CN" dirty="0" err="1"/>
              <a:t>ZooKeeper</a:t>
            </a:r>
            <a:r>
              <a:rPr lang="en-US" altLang="zh-CN" dirty="0"/>
              <a:t> </a:t>
            </a:r>
            <a:r>
              <a:rPr lang="zh-CN" altLang="en-US" dirty="0"/>
              <a:t>进行数据状态的交互。</a:t>
            </a:r>
            <a:endParaRPr lang="en-US" altLang="zh-CN" dirty="0"/>
          </a:p>
          <a:p>
            <a:pPr lvl="1"/>
            <a:r>
              <a:rPr lang="en-US" altLang="zh-CN" dirty="0"/>
              <a:t>Nimbus</a:t>
            </a:r>
            <a:r>
              <a:rPr lang="zh-CN" altLang="en-US" dirty="0"/>
              <a:t>通过在</a:t>
            </a:r>
            <a:r>
              <a:rPr lang="en-US" altLang="zh-CN" dirty="0" err="1"/>
              <a:t>ZooKeeper</a:t>
            </a:r>
            <a:r>
              <a:rPr lang="en-US" altLang="zh-CN" dirty="0"/>
              <a:t> </a:t>
            </a:r>
            <a:r>
              <a:rPr lang="zh-CN" altLang="en-US" dirty="0"/>
              <a:t>中写入状态信息分配任务</a:t>
            </a:r>
            <a:endParaRPr lang="en-US" altLang="zh-CN" dirty="0"/>
          </a:p>
          <a:p>
            <a:pPr lvl="1"/>
            <a:r>
              <a:rPr lang="zh-CN" altLang="en-US" dirty="0"/>
              <a:t> </a:t>
            </a:r>
            <a:r>
              <a:rPr lang="en-US" altLang="zh-CN" dirty="0"/>
              <a:t>Supervisor </a:t>
            </a:r>
            <a:r>
              <a:rPr lang="zh-CN" altLang="en-US" dirty="0"/>
              <a:t>会定期访问</a:t>
            </a:r>
            <a:r>
              <a:rPr lang="en-US" altLang="zh-CN" dirty="0" err="1"/>
              <a:t>ZooKeepl</a:t>
            </a:r>
            <a:r>
              <a:rPr lang="zh-CN" altLang="en-US" dirty="0"/>
              <a:t>的相应目录</a:t>
            </a:r>
            <a:r>
              <a:rPr lang="en-US" altLang="zh-CN" dirty="0"/>
              <a:t>,</a:t>
            </a:r>
            <a:r>
              <a:rPr lang="zh-CN" altLang="en-US" dirty="0"/>
              <a:t>查看是否有新的任务</a:t>
            </a:r>
            <a:r>
              <a:rPr lang="en-US" altLang="zh-CN" dirty="0"/>
              <a:t>,</a:t>
            </a:r>
            <a:r>
              <a:rPr lang="zh-CN" altLang="en-US" dirty="0"/>
              <a:t>有则领取任务。</a:t>
            </a:r>
            <a:endParaRPr lang="en-US" altLang="zh-CN" dirty="0"/>
          </a:p>
          <a:p>
            <a:pPr lvl="1"/>
            <a:r>
              <a:rPr lang="en-US" altLang="zh-CN" dirty="0"/>
              <a:t>Supervisor </a:t>
            </a:r>
            <a:r>
              <a:rPr lang="zh-CN" altLang="en-US" dirty="0"/>
              <a:t>和 </a:t>
            </a:r>
            <a:r>
              <a:rPr lang="en-US" altLang="zh-CN" dirty="0"/>
              <a:t>Worker </a:t>
            </a:r>
            <a:r>
              <a:rPr lang="zh-CN" altLang="en-US" dirty="0"/>
              <a:t>会定期发送心给 </a:t>
            </a:r>
            <a:r>
              <a:rPr lang="en-US" altLang="zh-CN" dirty="0" err="1"/>
              <a:t>ZooKeeper</a:t>
            </a:r>
            <a:r>
              <a:rPr lang="en-US" altLang="zh-CN" dirty="0"/>
              <a:t>,</a:t>
            </a:r>
            <a:r>
              <a:rPr lang="zh-CN" altLang="en-US" dirty="0"/>
              <a:t>使</a:t>
            </a:r>
            <a:r>
              <a:rPr lang="en-US" altLang="zh-CN" dirty="0" err="1"/>
              <a:t>ZooKeeper</a:t>
            </a:r>
            <a:r>
              <a:rPr lang="en-US" altLang="zh-CN" dirty="0"/>
              <a:t> </a:t>
            </a:r>
            <a:r>
              <a:rPr lang="zh-CN" altLang="en-US" dirty="0"/>
              <a:t>可以监控集群的运行状态</a:t>
            </a:r>
            <a:r>
              <a:rPr lang="en-US" altLang="zh-CN" dirty="0"/>
              <a:t>,</a:t>
            </a:r>
            <a:r>
              <a:rPr lang="zh-CN" altLang="en-US" dirty="0"/>
              <a:t>以便及时向 </a:t>
            </a:r>
            <a:r>
              <a:rPr lang="en-US" altLang="zh-CN" dirty="0"/>
              <a:t>Nimbus </a:t>
            </a:r>
            <a:r>
              <a:rPr lang="zh-CN" altLang="en-US" dirty="0"/>
              <a:t>进行汇报。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695825"/>
            <a:ext cx="5257800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7.2 </a:t>
            </a:r>
            <a:r>
              <a:rPr lang="en-US" altLang="zh-CN" dirty="0">
                <a:sym typeface="+mn-ea"/>
              </a:rPr>
              <a:t>Storm </a:t>
            </a:r>
            <a:r>
              <a:rPr lang="en-US" altLang="zh-CN" dirty="0" err="1">
                <a:sym typeface="+mn-ea"/>
              </a:rPr>
              <a:t>Topolopy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7.3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集群架构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7.4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Storm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集群环境搭建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7.5 </a:t>
            </a:r>
            <a:r>
              <a:rPr lang="zh-CN" altLang="en-US" dirty="0">
                <a:sym typeface="+mn-ea"/>
              </a:rPr>
              <a:t>案例分析：单词计数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/>
              <a:t>7.6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流分组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7.7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整合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en-US" altLang="zh-CN" dirty="0"/>
              <a:t>Storm</a:t>
            </a:r>
            <a:r>
              <a:rPr lang="zh-CN" altLang="en-US" dirty="0"/>
              <a:t>集群环境搭建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前提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Java</a:t>
            </a:r>
            <a:r>
              <a:rPr lang="zh-CN" altLang="en-US" dirty="0"/>
              <a:t>环境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Zookeeper</a:t>
            </a:r>
            <a:endParaRPr lang="en-US" altLang="zh-CN" dirty="0"/>
          </a:p>
          <a:p>
            <a:r>
              <a:rPr lang="zh-CN" altLang="en-US" dirty="0"/>
              <a:t>环境搭建</a:t>
            </a:r>
            <a:endParaRPr lang="en-US" altLang="zh-CN" dirty="0"/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Storm</a:t>
            </a:r>
            <a:r>
              <a:rPr lang="zh-CN" altLang="en-US" dirty="0"/>
              <a:t>运行环境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Storm</a:t>
            </a:r>
            <a:r>
              <a:rPr lang="zh-CN" altLang="en-US" dirty="0"/>
              <a:t>配置</a:t>
            </a:r>
            <a:endParaRPr lang="en-US" altLang="zh-CN" dirty="0"/>
          </a:p>
          <a:p>
            <a:pPr lvl="1"/>
            <a:r>
              <a:rPr lang="zh-CN" altLang="en-US" dirty="0"/>
              <a:t>同步到其他节点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en-US" altLang="zh-CN" dirty="0"/>
              <a:t>Storm</a:t>
            </a:r>
            <a:r>
              <a:rPr lang="zh-CN" altLang="en-US" dirty="0"/>
              <a:t>集群环境搭建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环境搭建</a:t>
            </a:r>
            <a:endParaRPr lang="en-US" altLang="zh-CN" dirty="0"/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修改环境变量文件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/profile</a:t>
            </a:r>
            <a:r>
              <a:rPr lang="zh-CN" altLang="en-US" dirty="0"/>
              <a:t>，加入如下内容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export STORM_HOME=(</a:t>
            </a:r>
            <a:r>
              <a:rPr lang="zh-CN" altLang="en-US" dirty="0"/>
              <a:t>安装目录</a:t>
            </a:r>
            <a:r>
              <a:rPr lang="en-US" altLang="zh-CN" dirty="0"/>
              <a:t>)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export PATH=$PATH</a:t>
            </a:r>
            <a:r>
              <a:rPr lang="en-US" altLang="zh-CN" dirty="0" smtClean="0"/>
              <a:t>:$STORM_HOME/bin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en-US" altLang="zh-CN" dirty="0"/>
              <a:t>Storm</a:t>
            </a:r>
            <a:r>
              <a:rPr lang="zh-CN" altLang="en-US" dirty="0"/>
              <a:t>集群环境搭建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环境搭建</a:t>
            </a:r>
            <a:endParaRPr lang="en-US" altLang="zh-CN" dirty="0"/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Storm</a:t>
            </a:r>
            <a:r>
              <a:rPr lang="zh-CN" altLang="en-US" dirty="0"/>
              <a:t>运行环境</a:t>
            </a:r>
            <a:endParaRPr lang="en-US" altLang="zh-CN" dirty="0"/>
          </a:p>
          <a:p>
            <a:pPr lvl="2"/>
            <a:r>
              <a:rPr lang="zh-CN" altLang="en-US" dirty="0"/>
              <a:t>修改 </a:t>
            </a:r>
            <a:r>
              <a:rPr lang="en-US" altLang="zh-CN" dirty="0"/>
              <a:t>conf/storm-env.sh,</a:t>
            </a:r>
            <a:r>
              <a:rPr lang="zh-CN" altLang="en-US" dirty="0"/>
              <a:t>指定</a:t>
            </a:r>
            <a:r>
              <a:rPr lang="en-US" altLang="zh-CN" dirty="0"/>
              <a:t>JDK</a:t>
            </a:r>
            <a:r>
              <a:rPr lang="zh-CN" altLang="en-US" dirty="0"/>
              <a:t>与</a:t>
            </a:r>
            <a:r>
              <a:rPr lang="en-US" altLang="zh-CN" dirty="0"/>
              <a:t>Storm</a:t>
            </a:r>
            <a:r>
              <a:rPr lang="zh-CN" altLang="en-US" dirty="0"/>
              <a:t>配置文件的目录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export JAVA_HOME=(</a:t>
            </a:r>
            <a:r>
              <a:rPr lang="en-US" altLang="zh-CN" dirty="0" err="1"/>
              <a:t>jdk</a:t>
            </a:r>
            <a:r>
              <a:rPr lang="zh-CN" altLang="en-US" dirty="0"/>
              <a:t>安装路径</a:t>
            </a:r>
            <a:r>
              <a:rPr lang="en-US" altLang="zh-CN" dirty="0"/>
              <a:t>)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export  STORM_CONF_DIR=“Storm</a:t>
            </a:r>
            <a:r>
              <a:rPr lang="zh-CN" altLang="en-US" dirty="0"/>
              <a:t>安装目录</a:t>
            </a:r>
            <a:r>
              <a:rPr lang="en-US" altLang="zh-CN" dirty="0"/>
              <a:t>/conf”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en-US" altLang="zh-CN" dirty="0"/>
              <a:t>Storm</a:t>
            </a:r>
            <a:r>
              <a:rPr lang="zh-CN" altLang="en-US" dirty="0"/>
              <a:t>集群环境搭建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环境搭建</a:t>
            </a:r>
            <a:endParaRPr lang="en-US" altLang="zh-CN" dirty="0"/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Storm</a:t>
            </a:r>
            <a:r>
              <a:rPr lang="zh-CN" altLang="en-US" dirty="0"/>
              <a:t>运行环境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Storm</a:t>
            </a:r>
            <a:r>
              <a:rPr lang="zh-CN" altLang="en-US" dirty="0"/>
              <a:t>配置</a:t>
            </a:r>
            <a:endParaRPr lang="en-US" altLang="zh-CN" dirty="0"/>
          </a:p>
          <a:p>
            <a:pPr lvl="2"/>
            <a:r>
              <a:rPr lang="zh-CN" altLang="en-US" dirty="0"/>
              <a:t>修改</a:t>
            </a:r>
            <a:r>
              <a:rPr lang="en-US" altLang="zh-CN" dirty="0"/>
              <a:t>conf/</a:t>
            </a:r>
            <a:r>
              <a:rPr lang="en-US" altLang="zh-CN" dirty="0" err="1"/>
              <a:t>storm.yaml</a:t>
            </a:r>
            <a:r>
              <a:rPr lang="zh-CN" altLang="en-US" dirty="0"/>
              <a:t>文件，加入如下内容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614359"/>
            <a:ext cx="5244244" cy="271024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en-US" altLang="zh-CN" dirty="0"/>
              <a:t>Storm</a:t>
            </a:r>
            <a:r>
              <a:rPr lang="zh-CN" altLang="en-US" dirty="0"/>
              <a:t>集群环境搭建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环境搭建</a:t>
            </a:r>
            <a:endParaRPr lang="en-US" altLang="zh-CN" dirty="0"/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Storm</a:t>
            </a:r>
            <a:r>
              <a:rPr lang="zh-CN" altLang="en-US" dirty="0"/>
              <a:t>运行环境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Storm</a:t>
            </a:r>
            <a:r>
              <a:rPr lang="zh-CN" altLang="en-US" dirty="0"/>
              <a:t>配置</a:t>
            </a:r>
            <a:endParaRPr lang="en-US" altLang="zh-CN" dirty="0"/>
          </a:p>
          <a:p>
            <a:pPr lvl="2"/>
            <a:r>
              <a:rPr lang="zh-CN" altLang="en-US" dirty="0"/>
              <a:t>配置属性说明</a:t>
            </a:r>
            <a:r>
              <a:rPr lang="en-US" altLang="zh-CN" dirty="0"/>
              <a:t>:</a:t>
            </a:r>
            <a:endParaRPr lang="en-US" altLang="zh-CN" dirty="0"/>
          </a:p>
          <a:p>
            <a:pPr lvl="3"/>
            <a:r>
              <a:rPr lang="en-US" altLang="zh-CN" dirty="0" err="1"/>
              <a:t>storm.zookeeper.servers</a:t>
            </a:r>
            <a:r>
              <a:rPr lang="en-US" altLang="zh-CN" dirty="0"/>
              <a:t>:</a:t>
            </a:r>
            <a:r>
              <a:rPr lang="zh-CN" altLang="en-US" dirty="0"/>
              <a:t>指定</a:t>
            </a:r>
            <a:r>
              <a:rPr lang="en-US" altLang="zh-CN" dirty="0"/>
              <a:t>Zookeeper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3"/>
            <a:r>
              <a:rPr lang="en-US" altLang="zh-CN" dirty="0" err="1"/>
              <a:t>supervisors.slots.ports</a:t>
            </a:r>
            <a:r>
              <a:rPr lang="en-US" altLang="zh-CN" dirty="0"/>
              <a:t>:</a:t>
            </a:r>
            <a:r>
              <a:rPr lang="zh-CN" altLang="en-US" dirty="0"/>
              <a:t>定义</a:t>
            </a:r>
            <a:r>
              <a:rPr lang="en-US" altLang="zh-CN" dirty="0"/>
              <a:t>Worker</a:t>
            </a:r>
            <a:r>
              <a:rPr lang="zh-CN" altLang="en-US" dirty="0"/>
              <a:t>用于通信的端口号，端口的数量为每个</a:t>
            </a:r>
            <a:r>
              <a:rPr lang="en-US" altLang="zh-CN" dirty="0"/>
              <a:t>Supervisor</a:t>
            </a:r>
            <a:r>
              <a:rPr lang="zh-CN" altLang="en-US" dirty="0"/>
              <a:t>中</a:t>
            </a:r>
            <a:r>
              <a:rPr lang="en-US" altLang="zh-CN" dirty="0"/>
              <a:t>Worker</a:t>
            </a:r>
            <a:r>
              <a:rPr lang="zh-CN" altLang="en-US" dirty="0"/>
              <a:t>数量的最大值</a:t>
            </a:r>
            <a:endParaRPr lang="en-US" altLang="zh-CN" dirty="0"/>
          </a:p>
          <a:p>
            <a:pPr lvl="3"/>
            <a:r>
              <a:rPr lang="en-US" altLang="zh-CN" dirty="0" err="1"/>
              <a:t>storm.zookeeper.port</a:t>
            </a:r>
            <a:r>
              <a:rPr lang="zh-CN" altLang="en-US" dirty="0"/>
              <a:t>：</a:t>
            </a:r>
            <a:r>
              <a:rPr lang="en-US" altLang="zh-CN" dirty="0"/>
              <a:t>Zookeeper</a:t>
            </a:r>
            <a:r>
              <a:rPr lang="zh-CN" altLang="en-US" dirty="0"/>
              <a:t>访问端口</a:t>
            </a:r>
            <a:endParaRPr lang="en-US" altLang="zh-CN" dirty="0"/>
          </a:p>
          <a:p>
            <a:pPr lvl="3"/>
            <a:r>
              <a:rPr lang="en-US" altLang="zh-CN" dirty="0" err="1"/>
              <a:t>storm.local.dir</a:t>
            </a:r>
            <a:r>
              <a:rPr lang="zh-CN" altLang="en-US" dirty="0"/>
              <a:t>：</a:t>
            </a:r>
            <a:r>
              <a:rPr lang="en-US" altLang="zh-CN" dirty="0"/>
              <a:t>Nimbus</a:t>
            </a:r>
            <a:r>
              <a:rPr lang="zh-CN" altLang="en-US" dirty="0"/>
              <a:t>和</a:t>
            </a:r>
            <a:r>
              <a:rPr lang="en-US" altLang="zh-CN" dirty="0"/>
              <a:t>Supervisor</a:t>
            </a:r>
            <a:r>
              <a:rPr lang="zh-CN" altLang="en-US" dirty="0"/>
              <a:t>守护进程在本地磁盘存储状态信息的目录</a:t>
            </a:r>
            <a:endParaRPr lang="en-US" altLang="zh-CN" dirty="0"/>
          </a:p>
          <a:p>
            <a:pPr lvl="3"/>
            <a:r>
              <a:rPr lang="en-US" altLang="zh-CN" dirty="0" err="1"/>
              <a:t>nimbus.seeds:Nimbus</a:t>
            </a:r>
            <a:r>
              <a:rPr lang="zh-CN" altLang="en-US" dirty="0"/>
              <a:t>的候选节点</a:t>
            </a:r>
            <a:endParaRPr lang="en-US" altLang="zh-CN" dirty="0"/>
          </a:p>
          <a:p>
            <a:pPr lvl="3"/>
            <a:r>
              <a:rPr lang="en-US" altLang="zh-CN" dirty="0" err="1"/>
              <a:t>ui.port:Storm</a:t>
            </a:r>
            <a:r>
              <a:rPr lang="en-US" altLang="zh-CN" dirty="0"/>
              <a:t> UI</a:t>
            </a:r>
            <a:r>
              <a:rPr lang="zh-CN" altLang="en-US" dirty="0"/>
              <a:t>进程端口，默认</a:t>
            </a:r>
            <a:r>
              <a:rPr lang="en-US" altLang="zh-CN" dirty="0"/>
              <a:t>8080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en-US" altLang="zh-CN" dirty="0"/>
              <a:t>Storm</a:t>
            </a:r>
            <a:r>
              <a:rPr lang="zh-CN" altLang="en-US" dirty="0"/>
              <a:t>集群环境搭建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前提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Java</a:t>
            </a:r>
            <a:r>
              <a:rPr lang="zh-CN" altLang="en-US" dirty="0"/>
              <a:t>环境</a:t>
            </a:r>
            <a:endParaRPr lang="en-US" altLang="zh-CN" dirty="0"/>
          </a:p>
          <a:p>
            <a:pPr lvl="1"/>
            <a:r>
              <a:rPr lang="zh-CN" altLang="en-US" dirty="0"/>
              <a:t>安装</a:t>
            </a:r>
            <a:r>
              <a:rPr lang="en-US" altLang="zh-CN" dirty="0"/>
              <a:t>Zookeeper</a:t>
            </a:r>
            <a:endParaRPr lang="en-US" altLang="zh-CN" dirty="0"/>
          </a:p>
          <a:p>
            <a:r>
              <a:rPr lang="zh-CN" altLang="en-US" dirty="0"/>
              <a:t>环境搭建</a:t>
            </a:r>
            <a:endParaRPr lang="en-US" altLang="zh-CN" dirty="0"/>
          </a:p>
          <a:p>
            <a:pPr lvl="1"/>
            <a:r>
              <a:rPr lang="zh-CN" altLang="en-US" dirty="0"/>
              <a:t>配置环境变量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Storm</a:t>
            </a:r>
            <a:r>
              <a:rPr lang="zh-CN" altLang="en-US" dirty="0"/>
              <a:t>运行环境</a:t>
            </a:r>
            <a:endParaRPr lang="en-US" altLang="zh-CN" dirty="0"/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Storm</a:t>
            </a:r>
            <a:r>
              <a:rPr lang="zh-CN" altLang="en-US" dirty="0"/>
              <a:t>配置</a:t>
            </a:r>
            <a:endParaRPr lang="en-US" altLang="zh-CN" dirty="0"/>
          </a:p>
          <a:p>
            <a:pPr lvl="1"/>
            <a:r>
              <a:rPr lang="zh-CN" altLang="en-US" dirty="0"/>
              <a:t>同步到其他节点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 err="1"/>
              <a:t>scp</a:t>
            </a:r>
            <a:r>
              <a:rPr lang="zh-CN" altLang="en-US" dirty="0"/>
              <a:t>命令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7.4 </a:t>
            </a:r>
            <a:r>
              <a:rPr lang="en-US" altLang="zh-CN" dirty="0"/>
              <a:t>Storm</a:t>
            </a:r>
            <a:r>
              <a:rPr lang="zh-CN" altLang="en-US" dirty="0"/>
              <a:t>集群环境搭建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启动</a:t>
            </a:r>
            <a:r>
              <a:rPr lang="en-US" altLang="zh-CN" dirty="0"/>
              <a:t>Storm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 err="1"/>
              <a:t>ZooKeeper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Nimbus</a:t>
            </a:r>
            <a:endParaRPr lang="en-US" altLang="zh-CN" dirty="0"/>
          </a:p>
          <a:p>
            <a:pPr lvl="2"/>
            <a:r>
              <a:rPr lang="en-US" altLang="zh-CN" dirty="0"/>
              <a:t>storm nimbus</a:t>
            </a:r>
            <a:endParaRPr lang="en-US" altLang="zh-CN" dirty="0"/>
          </a:p>
          <a:p>
            <a:pPr lvl="2"/>
            <a:r>
              <a:rPr lang="en-US" altLang="zh-CN" dirty="0"/>
              <a:t>storm nimbus &gt;/dev/null 2&gt;&amp;1 &amp;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UI</a:t>
            </a:r>
            <a:endParaRPr lang="en-US" altLang="zh-CN" dirty="0"/>
          </a:p>
          <a:p>
            <a:pPr lvl="2"/>
            <a:r>
              <a:rPr lang="en-US" altLang="zh-CN" dirty="0"/>
              <a:t>storm </a:t>
            </a:r>
            <a:r>
              <a:rPr lang="en-US" altLang="zh-CN" dirty="0" err="1"/>
              <a:t>ui</a:t>
            </a:r>
            <a:endParaRPr lang="en-US" altLang="zh-CN" dirty="0"/>
          </a:p>
          <a:p>
            <a:pPr lvl="2"/>
            <a:r>
              <a:rPr lang="en-US" altLang="zh-CN" dirty="0"/>
              <a:t>storm </a:t>
            </a:r>
            <a:r>
              <a:rPr lang="en-US" altLang="zh-CN" dirty="0" err="1"/>
              <a:t>ui</a:t>
            </a:r>
            <a:r>
              <a:rPr lang="en-US" altLang="zh-CN" dirty="0"/>
              <a:t> &gt;/dev/null 2&gt;&amp;1 &amp;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Supervisor</a:t>
            </a:r>
            <a:endParaRPr lang="en-US" altLang="zh-CN" dirty="0"/>
          </a:p>
          <a:p>
            <a:pPr lvl="2"/>
            <a:r>
              <a:rPr lang="en-US" altLang="zh-CN" dirty="0"/>
              <a:t>storm supervisor</a:t>
            </a:r>
            <a:endParaRPr lang="en-US" altLang="zh-CN" dirty="0"/>
          </a:p>
          <a:p>
            <a:pPr lvl="2"/>
            <a:r>
              <a:rPr lang="en-US" altLang="zh-CN" dirty="0"/>
              <a:t>storm supervisor &gt;/dev/null 2&gt;&amp;1 &amp;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7.2 </a:t>
            </a:r>
            <a:r>
              <a:rPr lang="en-US" altLang="zh-CN" dirty="0">
                <a:sym typeface="+mn-ea"/>
              </a:rPr>
              <a:t>Storm </a:t>
            </a:r>
            <a:r>
              <a:rPr lang="en-US" altLang="zh-CN" dirty="0" err="1">
                <a:sym typeface="+mn-ea"/>
              </a:rPr>
              <a:t>Topolopy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7.3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集群架构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7.4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集群环境搭建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  <a:sym typeface="+mn-ea"/>
              </a:rPr>
              <a:t>7.5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案例分析：单词计数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/>
              <a:t>7.6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流分组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7.7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整合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Spout</a:t>
            </a:r>
            <a:r>
              <a:rPr lang="zh-CN" altLang="en-US" dirty="0"/>
              <a:t>中随机发送内置的句子作为消息源</a:t>
            </a:r>
            <a:endParaRPr lang="en-US" altLang="zh-CN" dirty="0"/>
          </a:p>
          <a:p>
            <a:pPr lvl="1"/>
            <a:r>
              <a:rPr lang="zh-CN" altLang="en-US" dirty="0"/>
              <a:t>使用一个</a:t>
            </a:r>
            <a:r>
              <a:rPr lang="en-US" altLang="zh-CN" dirty="0"/>
              <a:t>Bolt</a:t>
            </a:r>
            <a:r>
              <a:rPr lang="zh-CN" altLang="en-US" dirty="0"/>
              <a:t>进行语句切分，将句子切分成单词发射出去</a:t>
            </a:r>
            <a:endParaRPr lang="en-US" altLang="zh-CN" dirty="0"/>
          </a:p>
          <a:p>
            <a:pPr lvl="1"/>
            <a:r>
              <a:rPr lang="zh-CN" altLang="en-US" dirty="0"/>
              <a:t>使用一个</a:t>
            </a:r>
            <a:r>
              <a:rPr lang="en-US" altLang="zh-CN" dirty="0"/>
              <a:t>Bolt</a:t>
            </a:r>
            <a:r>
              <a:rPr lang="zh-CN" altLang="en-US" dirty="0"/>
              <a:t>订阅切分的单词</a:t>
            </a:r>
            <a:r>
              <a:rPr lang="en-US" altLang="zh-CN" dirty="0" err="1"/>
              <a:t>Tupe</a:t>
            </a:r>
            <a:r>
              <a:rPr lang="zh-CN" altLang="en-US" dirty="0"/>
              <a:t>，并写选择使用按照字段分组的策略进行单词统计，将结果发射出去</a:t>
            </a:r>
            <a:endParaRPr lang="en-US" altLang="zh-CN" dirty="0"/>
          </a:p>
          <a:p>
            <a:pPr lvl="1"/>
            <a:r>
              <a:rPr lang="zh-CN" altLang="en-US" dirty="0"/>
              <a:t>最后使用一个</a:t>
            </a:r>
            <a:r>
              <a:rPr lang="en-US" altLang="zh-CN" dirty="0"/>
              <a:t>Bolt</a:t>
            </a:r>
            <a:r>
              <a:rPr lang="zh-CN" altLang="en-US" dirty="0"/>
              <a:t>订阅统计结果，词频实时排序，将前</a:t>
            </a:r>
            <a:r>
              <a:rPr lang="en-US" altLang="zh-CN" dirty="0"/>
              <a:t>10</a:t>
            </a:r>
            <a:r>
              <a:rPr lang="zh-CN" altLang="en-US" dirty="0"/>
              <a:t>个单词打印到</a:t>
            </a:r>
            <a:r>
              <a:rPr lang="en-US" altLang="zh-CN" dirty="0"/>
              <a:t>log</a:t>
            </a:r>
            <a:r>
              <a:rPr lang="zh-CN" altLang="en-US" dirty="0"/>
              <a:t>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设计思路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204864"/>
            <a:ext cx="6533049" cy="201622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代码编写</a:t>
            </a:r>
            <a:endParaRPr lang="en-US" altLang="zh-CN" dirty="0"/>
          </a:p>
          <a:p>
            <a:pPr lvl="1"/>
            <a:r>
              <a:rPr lang="zh-CN" altLang="en-US" dirty="0"/>
              <a:t>配置依赖库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371577"/>
            <a:ext cx="3096057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代码编写</a:t>
            </a:r>
            <a:endParaRPr lang="en-US" altLang="zh-CN" dirty="0"/>
          </a:p>
          <a:p>
            <a:pPr lvl="1"/>
            <a:r>
              <a:rPr lang="en-US" altLang="zh-CN" dirty="0" err="1"/>
              <a:t>SentenceSpout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230908"/>
            <a:ext cx="4043424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代码编写</a:t>
            </a:r>
            <a:endParaRPr lang="en-US" altLang="zh-CN" dirty="0"/>
          </a:p>
          <a:p>
            <a:pPr lvl="1"/>
            <a:r>
              <a:rPr lang="en-US" altLang="zh-CN" dirty="0" err="1"/>
              <a:t>SplitSentenceBolt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155" y="2316480"/>
            <a:ext cx="5236210" cy="41814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代码编写</a:t>
            </a:r>
            <a:endParaRPr lang="en-US" altLang="zh-CN" dirty="0"/>
          </a:p>
          <a:p>
            <a:pPr lvl="1"/>
            <a:r>
              <a:rPr lang="en-US" altLang="zh-CN" dirty="0" err="1"/>
              <a:t>WordCountBolt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276872"/>
            <a:ext cx="5134492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代码编写</a:t>
            </a:r>
            <a:endParaRPr lang="en-US" altLang="zh-CN" dirty="0"/>
          </a:p>
          <a:p>
            <a:pPr lvl="1"/>
            <a:r>
              <a:rPr lang="en-US" altLang="zh-CN" dirty="0" err="1"/>
              <a:t>ReportBolt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1052736"/>
            <a:ext cx="3869274" cy="5760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代码编写</a:t>
            </a:r>
            <a:endParaRPr lang="en-US" altLang="zh-CN" dirty="0"/>
          </a:p>
          <a:p>
            <a:pPr lvl="1"/>
            <a:r>
              <a:rPr lang="en-US" altLang="zh-CN" dirty="0" err="1"/>
              <a:t>WordCountTopology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230908"/>
            <a:ext cx="5367057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7.5 </a:t>
            </a:r>
            <a:r>
              <a:rPr lang="zh-CN" altLang="en-US" dirty="0"/>
              <a:t>案例分析：单词计数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程序运行</a:t>
            </a:r>
            <a:endParaRPr lang="en-US" altLang="zh-CN" dirty="0"/>
          </a:p>
          <a:p>
            <a:pPr lvl="1"/>
            <a:r>
              <a:rPr lang="zh-CN" altLang="en-US" dirty="0"/>
              <a:t>本地模式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 err="1"/>
              <a:t>LocalCluster</a:t>
            </a:r>
            <a:r>
              <a:rPr lang="zh-CN" altLang="en-US" dirty="0"/>
              <a:t>类模拟集群环境</a:t>
            </a:r>
            <a:endParaRPr lang="en-US" altLang="zh-CN" dirty="0"/>
          </a:p>
          <a:p>
            <a:pPr lvl="2"/>
            <a:r>
              <a:rPr lang="zh-CN" altLang="en-US" dirty="0"/>
              <a:t>直接本地运行，一般用于调试</a:t>
            </a:r>
            <a:endParaRPr lang="en-US" altLang="zh-CN" dirty="0"/>
          </a:p>
          <a:p>
            <a:pPr lvl="1"/>
            <a:r>
              <a:rPr lang="zh-CN" altLang="en-US" dirty="0"/>
              <a:t>集群模式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Zookeeper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Nimbus</a:t>
            </a:r>
            <a:r>
              <a:rPr lang="zh-CN" altLang="en-US" dirty="0"/>
              <a:t>和</a:t>
            </a:r>
            <a:r>
              <a:rPr lang="en-US" altLang="zh-CN" dirty="0"/>
              <a:t>Supervisor</a:t>
            </a:r>
            <a:r>
              <a:rPr lang="zh-CN" altLang="en-US" dirty="0"/>
              <a:t>服务</a:t>
            </a:r>
            <a:endParaRPr lang="en-US" altLang="zh-CN" dirty="0"/>
          </a:p>
          <a:p>
            <a:pPr lvl="2"/>
            <a:r>
              <a:rPr lang="zh-CN" altLang="en-US" dirty="0"/>
              <a:t>打包成</a:t>
            </a:r>
            <a:r>
              <a:rPr lang="en-US" altLang="zh-CN" dirty="0"/>
              <a:t>jar</a:t>
            </a:r>
            <a:r>
              <a:rPr lang="zh-CN" altLang="en-US" dirty="0"/>
              <a:t>文件，并上传至</a:t>
            </a:r>
            <a:r>
              <a:rPr lang="en-US" altLang="zh-CN" dirty="0"/>
              <a:t>Nimbus</a:t>
            </a:r>
            <a:r>
              <a:rPr lang="zh-CN" altLang="en-US" dirty="0"/>
              <a:t>节点</a:t>
            </a:r>
            <a:endParaRPr lang="en-US" altLang="zh-CN" dirty="0"/>
          </a:p>
          <a:p>
            <a:pPr lvl="2"/>
            <a:r>
              <a:rPr lang="zh-CN" altLang="en-US" dirty="0"/>
              <a:t>提交</a:t>
            </a:r>
            <a:r>
              <a:rPr lang="en-US" altLang="zh-CN" dirty="0"/>
              <a:t>Topology</a:t>
            </a:r>
            <a:r>
              <a:rPr lang="zh-CN" altLang="en-US" dirty="0"/>
              <a:t>任务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UI</a:t>
            </a:r>
            <a:r>
              <a:rPr lang="zh-CN" altLang="en-US" dirty="0"/>
              <a:t>服务，查看任务信息</a:t>
            </a:r>
            <a:endParaRPr lang="en-US" altLang="zh-CN" dirty="0"/>
          </a:p>
          <a:p>
            <a:pPr lvl="2"/>
            <a:r>
              <a:rPr lang="zh-CN" altLang="en-US" dirty="0"/>
              <a:t>查看输出日志信息</a:t>
            </a:r>
            <a:endParaRPr lang="en-US" altLang="zh-CN" dirty="0"/>
          </a:p>
          <a:p>
            <a:pPr lvl="2"/>
            <a:r>
              <a:rPr lang="zh-CN" altLang="en-US" dirty="0"/>
              <a:t>停止</a:t>
            </a:r>
            <a:r>
              <a:rPr lang="en-US" altLang="zh-CN" dirty="0"/>
              <a:t>Topology</a:t>
            </a:r>
            <a:r>
              <a:rPr lang="zh-CN" altLang="en-US" dirty="0"/>
              <a:t>任务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7.1 </a:t>
            </a:r>
            <a:r>
              <a:rPr lang="zh-CN" altLang="en-US" dirty="0"/>
              <a:t>什么是</a:t>
            </a:r>
            <a:r>
              <a:rPr lang="en-US" altLang="zh-CN" dirty="0"/>
              <a:t>Storm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7.2 </a:t>
            </a:r>
            <a:r>
              <a:rPr lang="en-US" altLang="zh-CN" dirty="0">
                <a:sym typeface="+mn-ea"/>
              </a:rPr>
              <a:t>Storm </a:t>
            </a:r>
            <a:r>
              <a:rPr lang="en-US" altLang="zh-CN" dirty="0" err="1">
                <a:sym typeface="+mn-ea"/>
              </a:rPr>
              <a:t>Topolopy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7.3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集群架构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7.4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集群环境搭建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7.5 </a:t>
            </a:r>
            <a:r>
              <a:rPr lang="zh-CN" altLang="en-US" dirty="0">
                <a:sym typeface="+mn-ea"/>
              </a:rPr>
              <a:t>案例分析：单词计数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7.6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Storm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流分组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7.7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整合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流分组（</a:t>
            </a:r>
            <a:r>
              <a:rPr lang="en-US" altLang="zh-CN" dirty="0"/>
              <a:t> Stream grouping </a:t>
            </a:r>
            <a:r>
              <a:rPr lang="zh-CN" altLang="en-US" dirty="0"/>
              <a:t>）用于在定义一个</a:t>
            </a:r>
            <a:r>
              <a:rPr lang="en-US" altLang="zh-CN" dirty="0" err="1"/>
              <a:t>Topolopy</a:t>
            </a:r>
            <a:r>
              <a:rPr lang="zh-CN" altLang="en-US" dirty="0"/>
              <a:t>时，</a:t>
            </a:r>
            <a:r>
              <a:rPr lang="en-US" altLang="zh-CN" dirty="0"/>
              <a:t>Bolt</a:t>
            </a:r>
            <a:r>
              <a:rPr lang="zh-CN" altLang="en-US" dirty="0"/>
              <a:t>指定它应该接收哪些</a:t>
            </a:r>
            <a:r>
              <a:rPr lang="en-US" altLang="zh-CN" dirty="0"/>
              <a:t>Stream</a:t>
            </a:r>
            <a:r>
              <a:rPr lang="zh-CN" altLang="en-US" dirty="0"/>
              <a:t>作为输入</a:t>
            </a:r>
            <a:endParaRPr lang="en-US" altLang="zh-CN" dirty="0"/>
          </a:p>
          <a:p>
            <a:r>
              <a:rPr lang="zh-CN" altLang="en-US" dirty="0"/>
              <a:t>一个</a:t>
            </a:r>
            <a:r>
              <a:rPr lang="en-US" altLang="zh-CN" dirty="0"/>
              <a:t>Stream grouping</a:t>
            </a:r>
            <a:r>
              <a:rPr lang="zh-CN" altLang="en-US" dirty="0"/>
              <a:t>定义了如何在</a:t>
            </a:r>
            <a:r>
              <a:rPr lang="en-US" altLang="zh-CN" dirty="0"/>
              <a:t>Bolt</a:t>
            </a:r>
            <a:r>
              <a:rPr lang="zh-CN" altLang="en-US" dirty="0"/>
              <a:t>的多个</a:t>
            </a:r>
            <a:r>
              <a:rPr lang="en-US" altLang="zh-CN" dirty="0"/>
              <a:t>Task</a:t>
            </a:r>
            <a:r>
              <a:rPr lang="zh-CN" altLang="en-US" dirty="0"/>
              <a:t>之间划分该</a:t>
            </a:r>
            <a:r>
              <a:rPr lang="en-US" altLang="zh-CN" dirty="0"/>
              <a:t>Stream </a:t>
            </a:r>
            <a:r>
              <a:rPr lang="zh-CN" altLang="en-US" dirty="0"/>
              <a:t>，即对</a:t>
            </a:r>
            <a:r>
              <a:rPr lang="en-US" altLang="zh-CN" dirty="0"/>
              <a:t>Stream</a:t>
            </a:r>
            <a:r>
              <a:rPr lang="zh-CN" altLang="en-US" dirty="0"/>
              <a:t>中的</a:t>
            </a:r>
            <a:r>
              <a:rPr lang="en-US" altLang="zh-CN" dirty="0"/>
              <a:t>Tuple</a:t>
            </a:r>
            <a:r>
              <a:rPr lang="zh-CN" altLang="en-US" dirty="0"/>
              <a:t>进行分组，使不同</a:t>
            </a:r>
            <a:r>
              <a:rPr lang="en-US" altLang="zh-CN" dirty="0"/>
              <a:t>Tuple</a:t>
            </a:r>
            <a:r>
              <a:rPr lang="zh-CN" altLang="en-US" dirty="0"/>
              <a:t>进入不同的</a:t>
            </a:r>
            <a:r>
              <a:rPr lang="en-US" altLang="zh-CN" dirty="0"/>
              <a:t>Task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4161279"/>
            <a:ext cx="3048000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Shuffle grouping</a:t>
            </a:r>
            <a:endParaRPr lang="en-US" altLang="zh-CN" dirty="0"/>
          </a:p>
          <a:p>
            <a:pPr lvl="1"/>
            <a:r>
              <a:rPr lang="en-US" altLang="zh-CN" dirty="0"/>
              <a:t>Fields grouping</a:t>
            </a:r>
            <a:endParaRPr lang="en-US" altLang="zh-CN" dirty="0"/>
          </a:p>
          <a:p>
            <a:pPr lvl="1"/>
            <a:r>
              <a:rPr lang="en-US" altLang="zh-CN" dirty="0"/>
              <a:t>Partial Key grouping</a:t>
            </a:r>
            <a:endParaRPr lang="en-US" altLang="zh-CN" dirty="0"/>
          </a:p>
          <a:p>
            <a:pPr lvl="1"/>
            <a:r>
              <a:rPr lang="en-US" altLang="zh-CN" dirty="0"/>
              <a:t>All grouping</a:t>
            </a:r>
            <a:endParaRPr lang="en-US" altLang="zh-CN" dirty="0"/>
          </a:p>
          <a:p>
            <a:pPr lvl="1"/>
            <a:r>
              <a:rPr lang="en-US" altLang="zh-CN" dirty="0"/>
              <a:t>Global grouping</a:t>
            </a:r>
            <a:endParaRPr lang="en-US" altLang="zh-CN" dirty="0"/>
          </a:p>
          <a:p>
            <a:pPr lvl="1"/>
            <a:r>
              <a:rPr lang="en-US" altLang="zh-CN" dirty="0"/>
              <a:t>None grouping</a:t>
            </a:r>
            <a:endParaRPr lang="en-US" altLang="zh-CN" dirty="0"/>
          </a:p>
          <a:p>
            <a:pPr lvl="1"/>
            <a:r>
              <a:rPr lang="en-US" altLang="zh-CN" dirty="0"/>
              <a:t>Direct grouping</a:t>
            </a:r>
            <a:endParaRPr lang="en-US" altLang="zh-CN" dirty="0"/>
          </a:p>
          <a:p>
            <a:pPr lvl="1"/>
            <a:r>
              <a:rPr lang="en-US" altLang="zh-CN" dirty="0"/>
              <a:t>Local or shuffle grouping</a:t>
            </a:r>
            <a:endParaRPr lang="en-US" altLang="zh-CN" dirty="0"/>
          </a:p>
          <a:p>
            <a:r>
              <a:rPr lang="zh-CN" altLang="en-US" dirty="0"/>
              <a:t>也可以通过实现</a:t>
            </a:r>
            <a:r>
              <a:rPr lang="en-US" altLang="zh-CN" dirty="0" err="1"/>
              <a:t>CustomStreamGrouping</a:t>
            </a:r>
            <a:r>
              <a:rPr lang="zh-CN" altLang="en-US" dirty="0"/>
              <a:t>接口来实现自义定流分组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Shuffle grouping</a:t>
            </a:r>
            <a:endParaRPr lang="en-US" altLang="zh-CN" dirty="0"/>
          </a:p>
          <a:p>
            <a:pPr lvl="2"/>
            <a:r>
              <a:rPr lang="zh-CN" altLang="en-US" dirty="0"/>
              <a:t>随机分组，也是通常情况下最常用的分组</a:t>
            </a:r>
            <a:endParaRPr lang="en-US" altLang="zh-CN" dirty="0"/>
          </a:p>
          <a:p>
            <a:pPr lvl="2"/>
            <a:r>
              <a:rPr lang="en-US" altLang="zh-CN" dirty="0"/>
              <a:t>Stream</a:t>
            </a:r>
            <a:r>
              <a:rPr lang="zh-CN" altLang="en-US" dirty="0"/>
              <a:t>中的</a:t>
            </a:r>
            <a:r>
              <a:rPr lang="en-US" altLang="zh-CN" dirty="0"/>
              <a:t>Tuple</a:t>
            </a:r>
            <a:r>
              <a:rPr lang="zh-CN" altLang="en-US" dirty="0"/>
              <a:t>被随机分布在</a:t>
            </a:r>
            <a:r>
              <a:rPr lang="en-US" altLang="zh-CN" dirty="0"/>
              <a:t>Bolt</a:t>
            </a:r>
            <a:r>
              <a:rPr lang="zh-CN" altLang="en-US" dirty="0"/>
              <a:t>中的</a:t>
            </a:r>
            <a:r>
              <a:rPr lang="en-US" altLang="zh-CN" dirty="0"/>
              <a:t>Task</a:t>
            </a:r>
            <a:r>
              <a:rPr lang="zh-CN" altLang="en-US" dirty="0"/>
              <a:t>中，以保证同一级</a:t>
            </a:r>
            <a:r>
              <a:rPr lang="en-US" altLang="zh-CN" dirty="0"/>
              <a:t>Bolt</a:t>
            </a:r>
            <a:r>
              <a:rPr lang="zh-CN" altLang="en-US" dirty="0"/>
              <a:t>上的每个</a:t>
            </a:r>
            <a:r>
              <a:rPr lang="en-US" altLang="zh-CN" dirty="0"/>
              <a:t>Task</a:t>
            </a:r>
            <a:r>
              <a:rPr lang="zh-CN" altLang="en-US" dirty="0"/>
              <a:t>都能得到相同数量的</a:t>
            </a:r>
            <a:r>
              <a:rPr lang="en-US" altLang="zh-CN" dirty="0"/>
              <a:t>Tuple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450" y="3501008"/>
            <a:ext cx="3390900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Fields grouping</a:t>
            </a:r>
            <a:endParaRPr lang="en-US" altLang="zh-CN" dirty="0"/>
          </a:p>
          <a:p>
            <a:pPr lvl="2"/>
            <a:r>
              <a:rPr lang="zh-CN" altLang="en-US" dirty="0"/>
              <a:t>字段分组。</a:t>
            </a:r>
            <a:endParaRPr lang="en-US" altLang="zh-CN" dirty="0"/>
          </a:p>
          <a:p>
            <a:pPr lvl="2"/>
            <a:r>
              <a:rPr lang="zh-CN" altLang="en-US" dirty="0"/>
              <a:t>通过为</a:t>
            </a:r>
            <a:r>
              <a:rPr lang="en-US" altLang="zh-CN" dirty="0"/>
              <a:t>Tuple</a:t>
            </a:r>
            <a:r>
              <a:rPr lang="zh-CN" altLang="en-US" dirty="0"/>
              <a:t>指定一个字段，根据该指定的字段对</a:t>
            </a:r>
            <a:r>
              <a:rPr lang="en-US" altLang="zh-CN" dirty="0"/>
              <a:t>Stream</a:t>
            </a:r>
            <a:r>
              <a:rPr lang="zh-CN" altLang="en-US" dirty="0"/>
              <a:t>进行分组，字段值相同的</a:t>
            </a:r>
            <a:r>
              <a:rPr lang="en-US" altLang="zh-CN" dirty="0"/>
              <a:t>Tuple</a:t>
            </a:r>
            <a:r>
              <a:rPr lang="zh-CN" altLang="en-US" dirty="0"/>
              <a:t>会被分配到同一个</a:t>
            </a:r>
            <a:r>
              <a:rPr lang="en-US" altLang="zh-CN" dirty="0"/>
              <a:t>Task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432423"/>
            <a:ext cx="2938463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Partial Key grouping</a:t>
            </a:r>
            <a:endParaRPr lang="en-US" altLang="zh-CN" dirty="0"/>
          </a:p>
          <a:p>
            <a:pPr lvl="2"/>
            <a:r>
              <a:rPr lang="zh-CN" altLang="en-US" dirty="0"/>
              <a:t>与</a:t>
            </a:r>
            <a:r>
              <a:rPr lang="en-US" altLang="zh-CN" dirty="0"/>
              <a:t>Fields grouping</a:t>
            </a:r>
            <a:r>
              <a:rPr lang="zh-CN" altLang="en-US" dirty="0"/>
              <a:t>类似，通过对</a:t>
            </a:r>
            <a:r>
              <a:rPr lang="en-US" altLang="zh-CN" dirty="0"/>
              <a:t>Stream</a:t>
            </a:r>
            <a:r>
              <a:rPr lang="zh-CN" altLang="en-US" dirty="0"/>
              <a:t>指定字段进行分组</a:t>
            </a:r>
            <a:endParaRPr lang="en-US" altLang="zh-CN" dirty="0"/>
          </a:p>
          <a:p>
            <a:pPr lvl="2"/>
            <a:r>
              <a:rPr lang="zh-CN" altLang="en-US" dirty="0"/>
              <a:t>不同的是，该分组会在下游</a:t>
            </a:r>
            <a:r>
              <a:rPr lang="en-US" altLang="zh-CN" dirty="0"/>
              <a:t>Bolt</a:t>
            </a:r>
            <a:r>
              <a:rPr lang="zh-CN" altLang="en-US" dirty="0"/>
              <a:t>之间进行负载均衡。当发生数据倾斜时提供了更好的资源利用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All grouping</a:t>
            </a:r>
            <a:endParaRPr lang="en-US" altLang="zh-CN" dirty="0"/>
          </a:p>
          <a:p>
            <a:pPr lvl="2"/>
            <a:r>
              <a:rPr lang="zh-CN" altLang="en-US" dirty="0"/>
              <a:t>所有</a:t>
            </a:r>
            <a:r>
              <a:rPr lang="en-US" altLang="zh-CN" dirty="0"/>
              <a:t>Tuple</a:t>
            </a:r>
            <a:r>
              <a:rPr lang="zh-CN" altLang="en-US" dirty="0"/>
              <a:t>会被复制分发到所有的</a:t>
            </a:r>
            <a:r>
              <a:rPr lang="en-US" altLang="zh-CN" dirty="0"/>
              <a:t>Task</a:t>
            </a:r>
            <a:r>
              <a:rPr lang="zh-CN" altLang="en-US" dirty="0"/>
              <a:t>中，相当于广播模式。</a:t>
            </a:r>
            <a:endParaRPr lang="en-US" altLang="zh-CN" dirty="0"/>
          </a:p>
          <a:p>
            <a:pPr lvl="2"/>
            <a:r>
              <a:rPr lang="zh-CN" altLang="en-US" dirty="0"/>
              <a:t>该分组需谨慎使用。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068960"/>
            <a:ext cx="3400425" cy="277653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Global grouping</a:t>
            </a:r>
            <a:endParaRPr lang="en-US" altLang="zh-CN" dirty="0"/>
          </a:p>
          <a:p>
            <a:pPr lvl="2"/>
            <a:r>
              <a:rPr lang="zh-CN" altLang="en-US" dirty="0"/>
              <a:t>全局分组</a:t>
            </a:r>
            <a:endParaRPr lang="en-US" altLang="zh-CN" dirty="0"/>
          </a:p>
          <a:p>
            <a:pPr lvl="2"/>
            <a:r>
              <a:rPr lang="zh-CN" altLang="en-US" dirty="0"/>
              <a:t>整个</a:t>
            </a:r>
            <a:r>
              <a:rPr lang="en-US" altLang="zh-CN" dirty="0"/>
              <a:t>Stream</a:t>
            </a:r>
            <a:r>
              <a:rPr lang="zh-CN" altLang="en-US" dirty="0"/>
              <a:t>会被分发到同一个</a:t>
            </a:r>
            <a:r>
              <a:rPr lang="en-US" altLang="zh-CN" dirty="0"/>
              <a:t>Task</a:t>
            </a:r>
            <a:r>
              <a:rPr lang="zh-CN" altLang="en-US" dirty="0"/>
              <a:t>中</a:t>
            </a:r>
            <a:endParaRPr lang="en-US" altLang="zh-CN" dirty="0"/>
          </a:p>
          <a:p>
            <a:pPr lvl="3"/>
            <a:r>
              <a:rPr lang="zh-CN" altLang="en-US" dirty="0"/>
              <a:t>实际上会被分发到</a:t>
            </a:r>
            <a:r>
              <a:rPr lang="en-US" altLang="zh-CN" dirty="0"/>
              <a:t>ID</a:t>
            </a:r>
            <a:r>
              <a:rPr lang="zh-CN" altLang="en-US" dirty="0"/>
              <a:t>最小的</a:t>
            </a:r>
            <a:r>
              <a:rPr lang="en-US" altLang="zh-CN" dirty="0"/>
              <a:t>Task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3449761"/>
            <a:ext cx="3071813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None grouping</a:t>
            </a:r>
            <a:endParaRPr lang="en-US" altLang="zh-CN" dirty="0"/>
          </a:p>
          <a:p>
            <a:pPr lvl="2"/>
            <a:r>
              <a:rPr lang="zh-CN" altLang="en-US" dirty="0"/>
              <a:t>表示用户不关心</a:t>
            </a:r>
            <a:r>
              <a:rPr lang="en-US" altLang="zh-CN" dirty="0"/>
              <a:t>Stream</a:t>
            </a:r>
            <a:r>
              <a:rPr lang="zh-CN" altLang="en-US" dirty="0"/>
              <a:t>是如何被分发的</a:t>
            </a:r>
            <a:endParaRPr lang="en-US" altLang="zh-CN" dirty="0"/>
          </a:p>
          <a:p>
            <a:pPr lvl="2"/>
            <a:r>
              <a:rPr lang="zh-CN" altLang="en-US" dirty="0"/>
              <a:t>目前，该分组等同于</a:t>
            </a:r>
            <a:r>
              <a:rPr lang="en-US" altLang="zh-CN" dirty="0"/>
              <a:t>Shuffle Stream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Direct grouping</a:t>
            </a:r>
            <a:endParaRPr lang="en-US" altLang="zh-CN" dirty="0"/>
          </a:p>
          <a:p>
            <a:pPr lvl="2"/>
            <a:r>
              <a:rPr lang="zh-CN" altLang="en-US" dirty="0"/>
              <a:t>这是一种特殊的分组。</a:t>
            </a:r>
            <a:endParaRPr lang="en-US" altLang="zh-CN" dirty="0"/>
          </a:p>
          <a:p>
            <a:pPr lvl="2"/>
            <a:r>
              <a:rPr lang="zh-CN" altLang="en-US" dirty="0"/>
              <a:t>以这种方式分组的</a:t>
            </a:r>
            <a:r>
              <a:rPr lang="en-US" altLang="zh-CN" dirty="0"/>
              <a:t>Stream</a:t>
            </a:r>
            <a:r>
              <a:rPr lang="zh-CN" altLang="en-US" dirty="0"/>
              <a:t>意味着产生</a:t>
            </a:r>
            <a:r>
              <a:rPr lang="en-US" altLang="zh-CN" dirty="0"/>
              <a:t>Tuple</a:t>
            </a:r>
            <a:r>
              <a:rPr lang="zh-CN" altLang="en-US" dirty="0"/>
              <a:t>的</a:t>
            </a:r>
            <a:r>
              <a:rPr lang="en-US" altLang="zh-CN" dirty="0"/>
              <a:t>Spout</a:t>
            </a:r>
            <a:r>
              <a:rPr lang="zh-CN" altLang="en-US" dirty="0"/>
              <a:t>或</a:t>
            </a:r>
            <a:r>
              <a:rPr lang="en-US" altLang="zh-CN" dirty="0"/>
              <a:t>Bolt</a:t>
            </a:r>
            <a:r>
              <a:rPr lang="zh-CN" altLang="en-US" dirty="0"/>
              <a:t>自己明确指定</a:t>
            </a:r>
            <a:r>
              <a:rPr lang="en-US" altLang="zh-CN" dirty="0"/>
              <a:t>Tuple</a:t>
            </a:r>
            <a:r>
              <a:rPr lang="zh-CN" altLang="en-US" dirty="0"/>
              <a:t>被分配到</a:t>
            </a:r>
            <a:r>
              <a:rPr lang="en-US" altLang="zh-CN" dirty="0"/>
              <a:t>Bolt</a:t>
            </a:r>
            <a:r>
              <a:rPr lang="zh-CN" altLang="en-US" dirty="0"/>
              <a:t>的哪个</a:t>
            </a:r>
            <a:r>
              <a:rPr lang="en-US" altLang="zh-CN" dirty="0"/>
              <a:t>Task</a:t>
            </a:r>
            <a:endParaRPr lang="en-US" altLang="zh-CN" dirty="0"/>
          </a:p>
          <a:p>
            <a:pPr lvl="2"/>
            <a:r>
              <a:rPr lang="zh-CN" altLang="en-US" dirty="0"/>
              <a:t>使用该分组的</a:t>
            </a:r>
            <a:r>
              <a:rPr lang="en-US" altLang="zh-CN" dirty="0"/>
              <a:t>Stream</a:t>
            </a:r>
            <a:r>
              <a:rPr lang="zh-CN" altLang="en-US" dirty="0"/>
              <a:t>必须被声明为</a:t>
            </a:r>
            <a:r>
              <a:rPr lang="en-US" altLang="zh-CN" dirty="0"/>
              <a:t>Direct Stream</a:t>
            </a:r>
            <a:endParaRPr lang="en-US" altLang="zh-CN" dirty="0"/>
          </a:p>
          <a:p>
            <a:pPr lvl="2"/>
            <a:r>
              <a:rPr lang="zh-CN" altLang="en-US" dirty="0"/>
              <a:t>发送到</a:t>
            </a:r>
            <a:r>
              <a:rPr lang="en-US" altLang="zh-CN" dirty="0"/>
              <a:t>Direct Stream</a:t>
            </a:r>
            <a:r>
              <a:rPr lang="zh-CN" altLang="en-US" dirty="0"/>
              <a:t>的</a:t>
            </a:r>
            <a:r>
              <a:rPr lang="en-US" altLang="zh-CN" dirty="0"/>
              <a:t>Tuple</a:t>
            </a:r>
            <a:r>
              <a:rPr lang="zh-CN" altLang="en-US" dirty="0"/>
              <a:t>必须使用</a:t>
            </a:r>
            <a:r>
              <a:rPr lang="en-US" altLang="zh-CN" dirty="0"/>
              <a:t>Output Collector</a:t>
            </a:r>
            <a:r>
              <a:rPr lang="zh-CN" altLang="en-US" dirty="0"/>
              <a:t>类中的</a:t>
            </a:r>
            <a:r>
              <a:rPr lang="en-US" altLang="zh-CN" dirty="0" err="1"/>
              <a:t>emitDirect</a:t>
            </a:r>
            <a:r>
              <a:rPr lang="en-US" altLang="zh-CN" dirty="0"/>
              <a:t>()</a:t>
            </a:r>
            <a:r>
              <a:rPr lang="zh-CN" altLang="en-US" dirty="0"/>
              <a:t>方法进行发送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7.6 </a:t>
            </a:r>
            <a:r>
              <a:rPr lang="en-US" altLang="zh-CN" dirty="0"/>
              <a:t>Storm</a:t>
            </a:r>
            <a:r>
              <a:rPr lang="zh-CN" altLang="en-US" dirty="0"/>
              <a:t>流分组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内置了</a:t>
            </a:r>
            <a:r>
              <a:rPr lang="en-US" altLang="zh-CN" dirty="0"/>
              <a:t>8</a:t>
            </a:r>
            <a:r>
              <a:rPr lang="zh-CN" altLang="en-US" dirty="0"/>
              <a:t>种流分组方式</a:t>
            </a:r>
            <a:endParaRPr lang="en-US" altLang="zh-CN" dirty="0"/>
          </a:p>
          <a:p>
            <a:pPr lvl="1"/>
            <a:r>
              <a:rPr lang="en-US" altLang="zh-CN" dirty="0"/>
              <a:t>Local or shuffle grouping	</a:t>
            </a:r>
            <a:endParaRPr lang="en-US" altLang="zh-CN" dirty="0"/>
          </a:p>
          <a:p>
            <a:pPr lvl="2"/>
            <a:r>
              <a:rPr lang="zh-CN" altLang="en-US" dirty="0"/>
              <a:t>如果目标</a:t>
            </a:r>
            <a:r>
              <a:rPr lang="en-US" altLang="zh-CN" dirty="0"/>
              <a:t>Bolt</a:t>
            </a:r>
            <a:r>
              <a:rPr lang="zh-CN" altLang="en-US" dirty="0"/>
              <a:t>有一个或多个</a:t>
            </a:r>
            <a:r>
              <a:rPr lang="en-US" altLang="zh-CN" dirty="0"/>
              <a:t>Task</a:t>
            </a:r>
            <a:r>
              <a:rPr lang="zh-CN" altLang="en-US" dirty="0"/>
              <a:t>与</a:t>
            </a:r>
            <a:r>
              <a:rPr lang="en-US" altLang="zh-CN" dirty="0"/>
              <a:t>Stream</a:t>
            </a:r>
            <a:r>
              <a:rPr lang="zh-CN" altLang="en-US" dirty="0"/>
              <a:t>源（</a:t>
            </a:r>
            <a:r>
              <a:rPr lang="en-US" altLang="zh-CN" dirty="0"/>
              <a:t>Tuple</a:t>
            </a:r>
            <a:r>
              <a:rPr lang="zh-CN" altLang="en-US" dirty="0"/>
              <a:t>的发送者）在同一个</a:t>
            </a:r>
            <a:r>
              <a:rPr lang="en-US" altLang="zh-CN" dirty="0"/>
              <a:t>Worker</a:t>
            </a:r>
            <a:r>
              <a:rPr lang="zh-CN" altLang="en-US" dirty="0"/>
              <a:t>进程中，则</a:t>
            </a:r>
            <a:r>
              <a:rPr lang="en-US" altLang="zh-CN" dirty="0"/>
              <a:t>Tuple</a:t>
            </a:r>
            <a:r>
              <a:rPr lang="zh-CN" altLang="en-US" dirty="0"/>
              <a:t>会被分发到该</a:t>
            </a:r>
            <a:r>
              <a:rPr lang="en-US" altLang="zh-CN" dirty="0"/>
              <a:t>Worker</a:t>
            </a:r>
            <a:r>
              <a:rPr lang="zh-CN" altLang="en-US" dirty="0"/>
              <a:t>进程中的</a:t>
            </a:r>
            <a:r>
              <a:rPr lang="en-US" altLang="zh-CN" dirty="0"/>
              <a:t>Task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否则该方式与</a:t>
            </a:r>
            <a:r>
              <a:rPr lang="en-US" altLang="zh-CN" dirty="0"/>
              <a:t>Shuffle grouping</a:t>
            </a:r>
            <a:r>
              <a:rPr lang="zh-CN" altLang="en-US" dirty="0"/>
              <a:t>相同。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algn="l">
              <a:buSzTx/>
              <a:buNone/>
            </a:pPr>
            <a:r>
              <a:rPr lang="zh-CN" altLang="en-US" dirty="0"/>
              <a:t>7.1 什么是Storm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7.2 </a:t>
            </a:r>
            <a:r>
              <a:rPr lang="en-US" altLang="zh-CN" dirty="0">
                <a:sym typeface="+mn-ea"/>
              </a:rPr>
              <a:t>Storm </a:t>
            </a:r>
            <a:r>
              <a:rPr lang="en-US" altLang="zh-CN" dirty="0" err="1">
                <a:sym typeface="+mn-ea"/>
              </a:rPr>
              <a:t>Topolopy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7.3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</a:t>
            </a:r>
            <a:r>
              <a:rPr lang="zh-CN" altLang="en-US" dirty="0" smtClean="0">
                <a:sym typeface="+mn-ea"/>
              </a:rPr>
              <a:t>架构</a:t>
            </a:r>
            <a:endParaRPr lang="en-US" altLang="zh-CN" dirty="0" smtClean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7.4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集群环境搭建</a:t>
            </a:r>
            <a:endParaRPr lang="zh-CN" altLang="en-US" dirty="0">
              <a:sym typeface="+mn-ea"/>
            </a:endParaRPr>
          </a:p>
          <a:p>
            <a:pPr marL="0" indent="0">
              <a:buNone/>
            </a:pPr>
            <a:r>
              <a:rPr lang="en-US" altLang="zh-CN" dirty="0" smtClean="0">
                <a:sym typeface="+mn-ea"/>
              </a:rPr>
              <a:t>7.5 </a:t>
            </a:r>
            <a:r>
              <a:rPr lang="zh-CN" altLang="en-US" dirty="0">
                <a:sym typeface="+mn-ea"/>
              </a:rPr>
              <a:t>案例分析：单词</a:t>
            </a:r>
            <a:r>
              <a:rPr lang="zh-CN" altLang="en-US" dirty="0" smtClean="0">
                <a:sym typeface="+mn-ea"/>
              </a:rPr>
              <a:t>计数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 smtClean="0"/>
              <a:t>7.6 </a:t>
            </a:r>
            <a:r>
              <a:rPr lang="en-US" altLang="zh-CN" dirty="0">
                <a:sym typeface="+mn-ea"/>
              </a:rPr>
              <a:t>Storm</a:t>
            </a:r>
            <a:r>
              <a:rPr lang="zh-CN" altLang="en-US" dirty="0">
                <a:sym typeface="+mn-ea"/>
              </a:rPr>
              <a:t>流分组</a:t>
            </a:r>
            <a:endParaRPr lang="en-US" altLang="zh-CN" dirty="0">
              <a:sym typeface="+mn-ea"/>
            </a:endParaRPr>
          </a:p>
          <a:p>
            <a:pPr marL="0" algn="l">
              <a:buSzTx/>
              <a:buNone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7.7 Storm和Kafka整合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7.7 Storm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实际开发中，经常将</a:t>
            </a:r>
            <a:r>
              <a:rPr lang="en-US" altLang="zh-CN" dirty="0"/>
              <a:t>Storm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结合使用</a:t>
            </a:r>
            <a:endParaRPr lang="en-US" altLang="zh-CN" dirty="0"/>
          </a:p>
          <a:p>
            <a:pPr lvl="1"/>
            <a:r>
              <a:rPr lang="zh-CN" altLang="en-US" dirty="0"/>
              <a:t>用</a:t>
            </a:r>
            <a:r>
              <a:rPr lang="en-US" altLang="zh-CN" dirty="0"/>
              <a:t>Kafka</a:t>
            </a:r>
            <a:r>
              <a:rPr lang="zh-CN" altLang="en-US" dirty="0"/>
              <a:t>缓存消息，将不均匀的消息转换成稳定的数据流提供给</a:t>
            </a:r>
            <a:r>
              <a:rPr lang="en-US" altLang="zh-CN" dirty="0"/>
              <a:t>Storm</a:t>
            </a:r>
            <a:r>
              <a:rPr lang="zh-CN" altLang="en-US" dirty="0"/>
              <a:t>进行消费，以实现稳定的流式计算</a:t>
            </a:r>
            <a:endParaRPr lang="en-US" altLang="zh-CN" dirty="0"/>
          </a:p>
          <a:p>
            <a:pPr lvl="1"/>
            <a:r>
              <a:rPr lang="en-US" altLang="zh-CN" dirty="0"/>
              <a:t>Storm</a:t>
            </a:r>
            <a:r>
              <a:rPr lang="zh-CN" altLang="en-US" dirty="0"/>
              <a:t>可以作为生产者，将</a:t>
            </a:r>
            <a:r>
              <a:rPr lang="en-US" altLang="zh-CN" dirty="0"/>
              <a:t>Storm</a:t>
            </a:r>
            <a:r>
              <a:rPr lang="zh-CN" altLang="en-US" dirty="0"/>
              <a:t>中的每条记录作为消息发送到</a:t>
            </a:r>
            <a:r>
              <a:rPr lang="en-US" altLang="zh-CN" dirty="0"/>
              <a:t>Kafka</a:t>
            </a:r>
            <a:r>
              <a:rPr lang="zh-CN" altLang="en-US" dirty="0"/>
              <a:t>消息队列中，也可以将</a:t>
            </a:r>
            <a:r>
              <a:rPr lang="en-US" altLang="zh-CN" dirty="0"/>
              <a:t>Storm</a:t>
            </a:r>
            <a:r>
              <a:rPr lang="zh-CN" altLang="en-US" dirty="0"/>
              <a:t>作为消费者，消费</a:t>
            </a:r>
            <a:r>
              <a:rPr lang="en-US" altLang="zh-CN" dirty="0"/>
              <a:t>Kafka</a:t>
            </a:r>
            <a:r>
              <a:rPr lang="zh-CN" altLang="en-US" dirty="0"/>
              <a:t>队列中的消息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077072"/>
            <a:ext cx="4176464" cy="153508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7.7 Storm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作为</a:t>
            </a:r>
            <a:r>
              <a:rPr lang="en-US" altLang="zh-CN" dirty="0"/>
              <a:t>Kafka</a:t>
            </a:r>
            <a:r>
              <a:rPr lang="zh-CN" altLang="en-US" dirty="0"/>
              <a:t>消费者</a:t>
            </a:r>
            <a:endParaRPr lang="en-US" altLang="zh-CN" dirty="0"/>
          </a:p>
          <a:p>
            <a:pPr lvl="1"/>
            <a:r>
              <a:rPr lang="zh-CN" altLang="en-US" dirty="0"/>
              <a:t>单独使用</a:t>
            </a:r>
            <a:r>
              <a:rPr lang="en-US" altLang="zh-CN" dirty="0"/>
              <a:t>Storm</a:t>
            </a:r>
            <a:r>
              <a:rPr lang="zh-CN" altLang="en-US" dirty="0"/>
              <a:t>与</a:t>
            </a:r>
            <a:r>
              <a:rPr lang="en-US" altLang="zh-CN" dirty="0"/>
              <a:t>Kafka</a:t>
            </a:r>
            <a:r>
              <a:rPr lang="zh-CN" altLang="en-US" dirty="0"/>
              <a:t>客户端</a:t>
            </a:r>
            <a:r>
              <a:rPr lang="en-US" altLang="zh-CN" dirty="0"/>
              <a:t>API</a:t>
            </a:r>
            <a:endParaRPr lang="en-US" altLang="zh-CN" dirty="0"/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Storm</a:t>
            </a:r>
            <a:r>
              <a:rPr lang="zh-CN" altLang="en-US" dirty="0"/>
              <a:t>的</a:t>
            </a:r>
            <a:r>
              <a:rPr lang="en-US" altLang="zh-CN" dirty="0"/>
              <a:t>Spout</a:t>
            </a:r>
            <a:r>
              <a:rPr lang="zh-CN" altLang="en-US" dirty="0"/>
              <a:t>中集成</a:t>
            </a:r>
            <a:r>
              <a:rPr lang="en-US" altLang="zh-CN" dirty="0"/>
              <a:t>Kafka</a:t>
            </a:r>
            <a:r>
              <a:rPr lang="zh-CN" altLang="en-US" dirty="0"/>
              <a:t>的消费者</a:t>
            </a:r>
            <a:r>
              <a:rPr lang="en-US" altLang="zh-CN" dirty="0"/>
              <a:t>API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Storm</a:t>
            </a:r>
            <a:r>
              <a:rPr lang="zh-CN" altLang="en-US" dirty="0"/>
              <a:t>提供针对</a:t>
            </a:r>
            <a:r>
              <a:rPr lang="en-US" altLang="zh-CN" dirty="0"/>
              <a:t>Kafka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endParaRPr lang="en-US" altLang="zh-CN" dirty="0"/>
          </a:p>
          <a:p>
            <a:pPr lvl="2"/>
            <a:r>
              <a:rPr lang="zh-CN" altLang="en-US" dirty="0"/>
              <a:t>提供了一个</a:t>
            </a:r>
            <a:r>
              <a:rPr lang="en-US" altLang="zh-CN" dirty="0" err="1"/>
              <a:t>KafkaSpout</a:t>
            </a:r>
            <a:r>
              <a:rPr lang="zh-CN" altLang="en-US" dirty="0"/>
              <a:t>类，进行简单配置即可实现读取</a:t>
            </a:r>
            <a:r>
              <a:rPr lang="en-US" altLang="zh-CN" dirty="0"/>
              <a:t>Kafka</a:t>
            </a:r>
            <a:r>
              <a:rPr lang="zh-CN" altLang="en-US" dirty="0"/>
              <a:t>中的消息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7.7 Storm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600" dirty="0"/>
              <a:t>Storm</a:t>
            </a:r>
            <a:r>
              <a:rPr lang="zh-CN" altLang="en-US" sz="2600" dirty="0"/>
              <a:t>作为</a:t>
            </a:r>
            <a:r>
              <a:rPr lang="en-US" altLang="zh-CN" sz="2600" dirty="0"/>
              <a:t>Kafka</a:t>
            </a:r>
            <a:r>
              <a:rPr lang="zh-CN" altLang="en-US" sz="2600" dirty="0"/>
              <a:t>消费者</a:t>
            </a:r>
            <a:endParaRPr lang="en-US" altLang="zh-CN" sz="2600" dirty="0"/>
          </a:p>
          <a:p>
            <a:pPr lvl="1"/>
            <a:r>
              <a:rPr lang="zh-CN" altLang="en-US" dirty="0"/>
              <a:t>单独使用</a:t>
            </a:r>
            <a:r>
              <a:rPr lang="en-US" altLang="zh-CN" dirty="0"/>
              <a:t>Storm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与</a:t>
            </a:r>
            <a:r>
              <a:rPr lang="en-US" altLang="zh-CN" dirty="0"/>
              <a:t>Kafka</a:t>
            </a:r>
            <a:r>
              <a:rPr lang="zh-CN" altLang="en-US" dirty="0"/>
              <a:t>客户端</a:t>
            </a:r>
            <a:r>
              <a:rPr lang="en-US" altLang="zh-CN" dirty="0"/>
              <a:t>API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037753"/>
            <a:ext cx="3554263" cy="562406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7.7 Storm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作为</a:t>
            </a:r>
            <a:r>
              <a:rPr lang="en-US" altLang="zh-CN" dirty="0"/>
              <a:t>Kafka</a:t>
            </a:r>
            <a:r>
              <a:rPr lang="zh-CN" altLang="en-US" dirty="0"/>
              <a:t>消费者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Storm</a:t>
            </a:r>
            <a:r>
              <a:rPr lang="zh-CN" altLang="en-US" dirty="0"/>
              <a:t>提供针对</a:t>
            </a:r>
            <a:r>
              <a:rPr lang="en-US" altLang="zh-CN" dirty="0"/>
              <a:t>Kafka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383427"/>
            <a:ext cx="3639058" cy="292934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7.7 Storm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作为</a:t>
            </a:r>
            <a:r>
              <a:rPr lang="en-US" altLang="zh-CN" dirty="0"/>
              <a:t>Kafka</a:t>
            </a:r>
            <a:r>
              <a:rPr lang="zh-CN" altLang="en-US" dirty="0"/>
              <a:t>消费者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Storm</a:t>
            </a:r>
            <a:r>
              <a:rPr lang="zh-CN" altLang="en-US" dirty="0"/>
              <a:t>提供针对</a:t>
            </a:r>
            <a:r>
              <a:rPr lang="en-US" altLang="zh-CN" dirty="0"/>
              <a:t>Kafka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259508"/>
            <a:ext cx="6879999" cy="4320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7.7 Storm</a:t>
            </a:r>
            <a:r>
              <a:rPr lang="zh-CN" altLang="en-US" dirty="0"/>
              <a:t>和</a:t>
            </a:r>
            <a:r>
              <a:rPr lang="en-US" altLang="zh-CN" dirty="0"/>
              <a:t>Kafka</a:t>
            </a:r>
            <a:r>
              <a:rPr lang="zh-CN" altLang="en-US" dirty="0"/>
              <a:t>整合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Storm</a:t>
            </a:r>
            <a:r>
              <a:rPr lang="zh-CN" altLang="en-US" dirty="0"/>
              <a:t>作为</a:t>
            </a:r>
            <a:r>
              <a:rPr lang="en-US" altLang="zh-CN" dirty="0"/>
              <a:t>Kafka</a:t>
            </a:r>
            <a:r>
              <a:rPr lang="zh-CN" altLang="en-US" dirty="0"/>
              <a:t>消费者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Storm</a:t>
            </a:r>
            <a:r>
              <a:rPr lang="zh-CN" altLang="en-US" dirty="0"/>
              <a:t>提供针对</a:t>
            </a:r>
            <a:r>
              <a:rPr lang="en-US" altLang="zh-CN" dirty="0"/>
              <a:t>Kafka</a:t>
            </a:r>
            <a:r>
              <a:rPr lang="zh-CN" altLang="en-US" dirty="0"/>
              <a:t>的</a:t>
            </a:r>
            <a:r>
              <a:rPr lang="en-US" altLang="zh-CN" dirty="0"/>
              <a:t>API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Zookeeper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2"/>
            <a:r>
              <a:rPr lang="zh-CN" altLang="en-US" dirty="0"/>
              <a:t>启动</a:t>
            </a:r>
            <a:r>
              <a:rPr lang="en-US" altLang="zh-CN" dirty="0"/>
              <a:t>Kafka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2"/>
            <a:r>
              <a:rPr lang="zh-CN" altLang="en-US" dirty="0"/>
              <a:t>打包为</a:t>
            </a:r>
            <a:r>
              <a:rPr lang="en-US" altLang="zh-CN" dirty="0"/>
              <a:t>jar</a:t>
            </a:r>
            <a:r>
              <a:rPr lang="zh-CN" altLang="en-US" dirty="0"/>
              <a:t>，提交到</a:t>
            </a:r>
            <a:r>
              <a:rPr lang="en-US" altLang="zh-CN" dirty="0"/>
              <a:t>Storm</a:t>
            </a:r>
            <a:r>
              <a:rPr lang="zh-CN" altLang="en-US" dirty="0"/>
              <a:t>集群运行</a:t>
            </a:r>
            <a:endParaRPr lang="en-US" altLang="zh-CN" dirty="0"/>
          </a:p>
          <a:p>
            <a:pPr lvl="2"/>
            <a:r>
              <a:rPr lang="zh-CN" altLang="en-US" dirty="0"/>
              <a:t>创建生产者，发送消息</a:t>
            </a:r>
            <a:endParaRPr lang="en-US" altLang="zh-CN" dirty="0"/>
          </a:p>
          <a:p>
            <a:pPr lvl="2"/>
            <a:r>
              <a:rPr lang="zh-CN" altLang="en-US" dirty="0"/>
              <a:t>观察结果输出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819400" y="4953000"/>
            <a:ext cx="5167313" cy="4143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dist">
              <a:lnSpc>
                <a:spcPct val="80000"/>
              </a:lnSpc>
            </a:pPr>
            <a:r>
              <a:rPr lang="en-US" altLang="zh-CN" sz="18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Click to edit company slogan .</a:t>
            </a:r>
            <a:endParaRPr lang="en-US" altLang="zh-CN" sz="1800" b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5" name="WordArt 5"/>
          <p:cNvSpPr>
            <a:spLocks noChangeArrowheads="1" noChangeShapeType="1" noTextEdit="1"/>
          </p:cNvSpPr>
          <p:nvPr/>
        </p:nvSpPr>
        <p:spPr bwMode="gray">
          <a:xfrm>
            <a:off x="3674864" y="4396333"/>
            <a:ext cx="1728192" cy="587896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谢谢</a:t>
            </a:r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nimBg="1"/>
    </p:bldLst>
  </p:timing>
</p:sld>
</file>

<file path=ppt/theme/theme1.xml><?xml version="1.0" encoding="utf-8"?>
<a:theme xmlns:a="http://schemas.openxmlformats.org/drawingml/2006/main" name="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cdb2004c012l</Template>
  <TotalTime>0</TotalTime>
  <Words>7190</Words>
  <Application>WPS 演示</Application>
  <PresentationFormat>全屏显示(4:3)</PresentationFormat>
  <Paragraphs>628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9" baseType="lpstr">
      <vt:lpstr>Arial</vt:lpstr>
      <vt:lpstr>宋体</vt:lpstr>
      <vt:lpstr>Wingdings</vt:lpstr>
      <vt:lpstr>Verdana</vt:lpstr>
      <vt:lpstr>Times New Roman</vt:lpstr>
      <vt:lpstr>微软雅黑</vt:lpstr>
      <vt:lpstr>Arial Unicode MS</vt:lpstr>
      <vt:lpstr>Calibri</vt:lpstr>
      <vt:lpstr>Arial</vt:lpstr>
      <vt:lpstr>cdb2004c012l</vt:lpstr>
      <vt:lpstr>第7章 分布式实时计算系统Storm</vt:lpstr>
      <vt:lpstr>主要内容</vt:lpstr>
      <vt:lpstr>7.1 什么是Storm</vt:lpstr>
      <vt:lpstr>7.1 什么是Storm</vt:lpstr>
      <vt:lpstr>7.1 什么是Storm</vt:lpstr>
      <vt:lpstr>7.1 什么是Storm</vt:lpstr>
      <vt:lpstr>7.1 什么是Storm</vt:lpstr>
      <vt:lpstr>主要内容</vt:lpstr>
      <vt:lpstr>7.2 Storm Topolopy</vt:lpstr>
      <vt:lpstr>7.2 Storm Topolopy</vt:lpstr>
      <vt:lpstr>7.2 Storm Topolopy</vt:lpstr>
      <vt:lpstr>7.2 Storm Topolopy</vt:lpstr>
      <vt:lpstr>7.2 Storm Topolopy</vt:lpstr>
      <vt:lpstr>7.2 Storm Topolopy</vt:lpstr>
      <vt:lpstr>主要内容</vt:lpstr>
      <vt:lpstr>7.3 Storm集群架构</vt:lpstr>
      <vt:lpstr>7.3 Storm集群架构</vt:lpstr>
      <vt:lpstr>7.3 Storm集群架构</vt:lpstr>
      <vt:lpstr>7.3 Storm集群架构</vt:lpstr>
      <vt:lpstr>7.3 Storm集群架构</vt:lpstr>
      <vt:lpstr>7.3 Storm集群架构</vt:lpstr>
      <vt:lpstr>7.3 Storm集群架构</vt:lpstr>
      <vt:lpstr>主要内容</vt:lpstr>
      <vt:lpstr>7.4 Storm集群环境搭建</vt:lpstr>
      <vt:lpstr>7.4 Storm集群环境搭建</vt:lpstr>
      <vt:lpstr>7.4 Storm集群环境搭建</vt:lpstr>
      <vt:lpstr>7.4 Storm集群环境搭建</vt:lpstr>
      <vt:lpstr>7.4 Storm集群环境搭建</vt:lpstr>
      <vt:lpstr>7.4 Storm集群环境搭建</vt:lpstr>
      <vt:lpstr>7.4 Storm集群环境搭建</vt:lpstr>
      <vt:lpstr>主要内容</vt:lpstr>
      <vt:lpstr>7.5 案例分析：单词计数</vt:lpstr>
      <vt:lpstr>7.5 案例分析：单词计数</vt:lpstr>
      <vt:lpstr>7.5 案例分析：单词计数</vt:lpstr>
      <vt:lpstr>7.5 案例分析：单词计数</vt:lpstr>
      <vt:lpstr>7.5 案例分析：单词计数</vt:lpstr>
      <vt:lpstr>7.5 案例分析：单词计数</vt:lpstr>
      <vt:lpstr>7.5 案例分析：单词计数</vt:lpstr>
      <vt:lpstr>7.5 案例分析：单词计数</vt:lpstr>
      <vt:lpstr>7.5 案例分析：单词计数</vt:lpstr>
      <vt:lpstr>主要内容</vt:lpstr>
      <vt:lpstr>7.6 Storm流分组</vt:lpstr>
      <vt:lpstr>7.6 Storm流分组</vt:lpstr>
      <vt:lpstr>7.6 Storm流分组</vt:lpstr>
      <vt:lpstr>7.6 Storm流分组</vt:lpstr>
      <vt:lpstr>7.6 Storm流分组</vt:lpstr>
      <vt:lpstr>7.6 Storm流分组</vt:lpstr>
      <vt:lpstr>7.6 Storm流分组</vt:lpstr>
      <vt:lpstr>7.6 Storm流分组</vt:lpstr>
      <vt:lpstr>7.6 Storm流分组</vt:lpstr>
      <vt:lpstr>7.6 Storm流分组</vt:lpstr>
      <vt:lpstr>主要内容</vt:lpstr>
      <vt:lpstr>7.7 Storm和Kafka整合</vt:lpstr>
      <vt:lpstr>7.7 Storm和Kafka整合</vt:lpstr>
      <vt:lpstr>7.7 Storm和Kafka整合</vt:lpstr>
      <vt:lpstr>7.7 Storm和Kafka整合</vt:lpstr>
      <vt:lpstr>7.7 Storm和Kafka整合</vt:lpstr>
      <vt:lpstr>7.7 Storm和Kafka整合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hadoop</dc:creator>
  <cp:lastModifiedBy>Administrator</cp:lastModifiedBy>
  <cp:revision>461</cp:revision>
  <dcterms:created xsi:type="dcterms:W3CDTF">2017-03-03T01:55:00Z</dcterms:created>
  <dcterms:modified xsi:type="dcterms:W3CDTF">2021-05-06T08:40:45Z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