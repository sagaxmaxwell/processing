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256" r:id="rId2"/>
    <p:sldId id="309" r:id="rId3"/>
    <p:sldId id="319" r:id="rId4"/>
    <p:sldId id="320" r:id="rId5"/>
    <p:sldId id="322" r:id="rId6"/>
    <p:sldId id="323" r:id="rId7"/>
    <p:sldId id="310" r:id="rId8"/>
    <p:sldId id="317" r:id="rId9"/>
    <p:sldId id="324" r:id="rId10"/>
    <p:sldId id="325" r:id="rId11"/>
    <p:sldId id="326" r:id="rId12"/>
    <p:sldId id="327" r:id="rId13"/>
    <p:sldId id="328" r:id="rId14"/>
    <p:sldId id="329" r:id="rId15"/>
    <p:sldId id="331" r:id="rId16"/>
    <p:sldId id="330" r:id="rId17"/>
    <p:sldId id="332" r:id="rId18"/>
    <p:sldId id="333" r:id="rId19"/>
    <p:sldId id="334" r:id="rId20"/>
    <p:sldId id="335" r:id="rId21"/>
    <p:sldId id="337" r:id="rId22"/>
    <p:sldId id="338" r:id="rId23"/>
    <p:sldId id="339" r:id="rId24"/>
    <p:sldId id="340" r:id="rId25"/>
    <p:sldId id="341" r:id="rId26"/>
    <p:sldId id="342" r:id="rId27"/>
    <p:sldId id="343" r:id="rId28"/>
    <p:sldId id="344" r:id="rId29"/>
    <p:sldId id="345" r:id="rId30"/>
    <p:sldId id="346" r:id="rId31"/>
    <p:sldId id="347" r:id="rId32"/>
    <p:sldId id="348" r:id="rId33"/>
    <p:sldId id="349" r:id="rId34"/>
    <p:sldId id="314" r:id="rId35"/>
    <p:sldId id="350" r:id="rId36"/>
    <p:sldId id="351" r:id="rId37"/>
    <p:sldId id="353" r:id="rId38"/>
    <p:sldId id="313" r:id="rId39"/>
    <p:sldId id="355" r:id="rId40"/>
    <p:sldId id="356" r:id="rId41"/>
    <p:sldId id="357" r:id="rId42"/>
    <p:sldId id="358" r:id="rId43"/>
    <p:sldId id="359" r:id="rId44"/>
    <p:sldId id="360" r:id="rId45"/>
    <p:sldId id="361" r:id="rId46"/>
    <p:sldId id="362" r:id="rId47"/>
    <p:sldId id="312" r:id="rId48"/>
    <p:sldId id="318" r:id="rId49"/>
    <p:sldId id="364" r:id="rId50"/>
    <p:sldId id="365" r:id="rId51"/>
    <p:sldId id="367" r:id="rId52"/>
    <p:sldId id="366" r:id="rId53"/>
    <p:sldId id="375" r:id="rId54"/>
    <p:sldId id="373" r:id="rId55"/>
    <p:sldId id="311" r:id="rId56"/>
    <p:sldId id="374" r:id="rId57"/>
    <p:sldId id="276" r:id="rId5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87" autoAdjust="0"/>
    <p:restoredTop sz="94660" autoAdjust="0"/>
  </p:normalViewPr>
  <p:slideViewPr>
    <p:cSldViewPr>
      <p:cViewPr varScale="1">
        <p:scale>
          <a:sx n="80" d="100"/>
          <a:sy n="80" d="100"/>
        </p:scale>
        <p:origin x="1531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4" d="100"/>
          <a:sy n="54" d="100"/>
        </p:scale>
        <p:origin x="-2928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63790A-1AF8-41FD-8613-F98BEDF9DBBB}" type="datetimeFigureOut">
              <a:rPr lang="zh-CN" altLang="en-US" smtClean="0"/>
              <a:t>2023/5/20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559C9-FBFA-44CB-8D4D-CA6FFD5A7E2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DAADD5-90F8-4BC9-AC30-6195DA8BE947}" type="datetimeFigureOut">
              <a:rPr lang="zh-CN" altLang="en-US" smtClean="0"/>
              <a:t>2023/5/20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4D408B-9088-4E1B-998F-9D60A79664C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ChangeArrowheads="1"/>
          </p:cNvSpPr>
          <p:nvPr/>
        </p:nvSpPr>
        <p:spPr bwMode="gray">
          <a:xfrm>
            <a:off x="0" y="0"/>
            <a:ext cx="9144000" cy="609600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457200" y="4114800"/>
            <a:ext cx="8229600" cy="762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  <a:endParaRPr lang="en-US" altLang="zh-CN" noProof="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gray">
          <a:xfrm>
            <a:off x="1524000" y="4948238"/>
            <a:ext cx="5943600" cy="609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20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  <a:endParaRPr lang="en-US" altLang="zh-CN" noProof="0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553200"/>
            <a:ext cx="2133600" cy="168275"/>
          </a:xfrm>
          <a:prstGeom prst="rect">
            <a:avLst/>
          </a:prstGeom>
        </p:spPr>
        <p:txBody>
          <a:bodyPr/>
          <a:lstStyle>
            <a:lvl1pPr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551613"/>
            <a:ext cx="2895600" cy="169862"/>
          </a:xfrm>
          <a:prstGeom prst="rect">
            <a:avLst/>
          </a:prstGeom>
        </p:spPr>
        <p:txBody>
          <a:bodyPr/>
          <a:lstStyle>
            <a:lvl1pPr algn="ctr">
              <a:defRPr sz="1400">
                <a:latin typeface="Times New Roman" panose="02020603050405020304" pitchFamily="18" charset="0"/>
              </a:defRPr>
            </a:lvl1pPr>
          </a:lstStyle>
          <a:p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553200"/>
            <a:ext cx="2133600" cy="168275"/>
          </a:xfrm>
        </p:spPr>
        <p:txBody>
          <a:bodyPr/>
          <a:lstStyle>
            <a:lvl1pPr algn="r">
              <a:defRPr sz="1400">
                <a:latin typeface="Times New Roman" panose="02020603050405020304" pitchFamily="18" charset="0"/>
              </a:defRPr>
            </a:lvl1pPr>
          </a:lstStyle>
          <a:p>
            <a:fld id="{18BA97A7-D52C-4F62-9E2B-2E1482E68D18}" type="slidenum">
              <a:rPr lang="en-US" altLang="zh-CN"/>
              <a:t>‹#›</a:t>
            </a:fld>
            <a:endParaRPr lang="en-US" altLang="zh-CN"/>
          </a:p>
        </p:txBody>
      </p: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609600"/>
            <a:ext cx="8128000" cy="339546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7033426" y="6550908"/>
            <a:ext cx="1282990" cy="320675"/>
          </a:xfrm>
        </p:spPr>
        <p:txBody>
          <a:bodyPr/>
          <a:lstStyle>
            <a:lvl1pPr>
              <a:defRPr/>
            </a:lvl1pPr>
          </a:lstStyle>
          <a:p>
            <a:fld id="{C1C4B0C5-5BE3-40C4-8F17-4C7632BBC379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C1FD71B-C5BD-44C5-88B5-B9FC0532CD1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371600"/>
            <a:ext cx="4038600" cy="4953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62A2FB-1A22-4885-8807-38E2257E939D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3F31E5-079D-4AFE-8F69-467FDA11ECA6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AB19AB6-2D3D-436B-9E78-64B2C249B45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B39E09-CF7B-4C88-85E0-A8CE0F5F92B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1FB353-AD44-4DB0-AD58-7E72BC63F76E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2EE334-34F5-4D9E-B1DF-4BE72B082B0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4B2DF3-AE52-4E11-B0CF-C14697DFC2D4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4B4B3D2-56CB-4388-9D8C-8B1C0741F73C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19088"/>
            <a:ext cx="6172200" cy="56356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 hasCustomPrompt="1"/>
          </p:nvPr>
        </p:nvSpPr>
        <p:spPr>
          <a:xfrm>
            <a:off x="457200" y="1371600"/>
            <a:ext cx="8229600" cy="4953000"/>
          </a:xfrm>
        </p:spPr>
        <p:txBody>
          <a:bodyPr/>
          <a:lstStyle/>
          <a:p>
            <a:r>
              <a:rPr lang="zh-CN" altLang="en-US"/>
              <a:t>单击图标添加表格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333375" y="6489700"/>
            <a:ext cx="2133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5867400" y="6477000"/>
            <a:ext cx="2895600" cy="320675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3200400" y="6480175"/>
            <a:ext cx="2133600" cy="320675"/>
          </a:xfrm>
        </p:spPr>
        <p:txBody>
          <a:bodyPr/>
          <a:lstStyle>
            <a:lvl1pPr>
              <a:defRPr/>
            </a:lvl1pPr>
          </a:lstStyle>
          <a:p>
            <a:fld id="{581F0AB5-730F-41FD-B2B7-C4E08C420F30}" type="slidenum">
              <a:rPr lang="en-US" altLang="zh-CN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001000" cy="9144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Rectangle 15"/>
          <p:cNvSpPr>
            <a:spLocks noChangeArrowheads="1"/>
          </p:cNvSpPr>
          <p:nvPr/>
        </p:nvSpPr>
        <p:spPr bwMode="ltGray">
          <a:xfrm>
            <a:off x="8356600" y="981075"/>
            <a:ext cx="787400" cy="58769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Line 21"/>
          <p:cNvSpPr>
            <a:spLocks noChangeShapeType="1"/>
          </p:cNvSpPr>
          <p:nvPr/>
        </p:nvSpPr>
        <p:spPr bwMode="auto">
          <a:xfrm>
            <a:off x="425450" y="6524625"/>
            <a:ext cx="83534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0" name="Rectangle 16"/>
          <p:cNvSpPr>
            <a:spLocks noChangeArrowheads="1"/>
          </p:cNvSpPr>
          <p:nvPr/>
        </p:nvSpPr>
        <p:spPr bwMode="gray">
          <a:xfrm>
            <a:off x="0" y="0"/>
            <a:ext cx="9144000" cy="981075"/>
          </a:xfrm>
          <a:prstGeom prst="rect">
            <a:avLst/>
          </a:prstGeom>
          <a:gradFill rotWithShape="1">
            <a:gsLst>
              <a:gs pos="0">
                <a:schemeClr val="tx1"/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371600"/>
            <a:ext cx="7899400" cy="495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200400" y="6480175"/>
            <a:ext cx="2133600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宋体" panose="02010600030101010101" pitchFamily="2" charset="-122"/>
              </a:defRPr>
            </a:lvl1pPr>
          </a:lstStyle>
          <a:p>
            <a:fld id="{F2D526F6-2200-4386-AD27-E628E3B61413}" type="slidenum">
              <a:rPr lang="en-US" altLang="zh-CN"/>
              <a:t>‹#›</a:t>
            </a:fld>
            <a:endParaRPr lang="en-US" altLang="zh-CN"/>
          </a:p>
        </p:txBody>
      </p:sp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899400" cy="563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zh-CN" dirty="0"/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hyperlink" Target="https://kafka.apache.org/quickstart" TargetMode="Externa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kafka.apache.org/24/javadoc/index.html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57200" y="4267200"/>
            <a:ext cx="8229600" cy="762000"/>
          </a:xfrm>
        </p:spPr>
        <p:txBody>
          <a:bodyPr/>
          <a:lstStyle/>
          <a:p>
            <a:pPr algn="ctr"/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第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5</a:t>
            </a:r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章 </a:t>
            </a:r>
            <a:r>
              <a:rPr sz="3600" dirty="0" err="1">
                <a:solidFill>
                  <a:schemeClr val="tx2"/>
                </a:solidFill>
                <a:ea typeface="宋体" panose="02010600030101010101" pitchFamily="2" charset="-122"/>
              </a:rPr>
              <a:t>分布式</a:t>
            </a:r>
            <a:r>
              <a:rPr lang="zh-CN" altLang="en-US" sz="3600" dirty="0">
                <a:solidFill>
                  <a:schemeClr val="tx2"/>
                </a:solidFill>
                <a:ea typeface="宋体" panose="02010600030101010101" pitchFamily="2" charset="-122"/>
              </a:rPr>
              <a:t>消息系统</a:t>
            </a:r>
            <a:r>
              <a:rPr lang="en-US" altLang="zh-CN" sz="3600" dirty="0">
                <a:solidFill>
                  <a:schemeClr val="tx2"/>
                </a:solidFill>
                <a:ea typeface="宋体" panose="02010600030101010101" pitchFamily="2" charset="-122"/>
              </a:rPr>
              <a:t>Kafka</a:t>
            </a:r>
            <a:endParaRPr sz="3600" dirty="0">
              <a:solidFill>
                <a:schemeClr val="tx2"/>
              </a:solidFill>
              <a:ea typeface="宋体" panose="02010600030101010101" pitchFamily="2" charset="-122"/>
            </a:endParaRP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752600" y="5091113"/>
            <a:ext cx="5943600" cy="609600"/>
          </a:xfrm>
        </p:spPr>
        <p:txBody>
          <a:bodyPr/>
          <a:lstStyle/>
          <a:p>
            <a:endParaRPr lang="en-US" altLang="zh-CN" dirty="0">
              <a:ea typeface="宋体" panose="02010600030101010101" pitchFamily="2" charset="-122"/>
            </a:endParaRPr>
          </a:p>
        </p:txBody>
      </p:sp>
      <p:sp>
        <p:nvSpPr>
          <p:cNvPr id="2052" name="Line 4"/>
          <p:cNvSpPr>
            <a:spLocks noChangeShapeType="1"/>
          </p:cNvSpPr>
          <p:nvPr/>
        </p:nvSpPr>
        <p:spPr bwMode="auto">
          <a:xfrm flipV="1">
            <a:off x="179705" y="4645026"/>
            <a:ext cx="1133520" cy="2540"/>
          </a:xfrm>
          <a:prstGeom prst="line">
            <a:avLst/>
          </a:prstGeom>
          <a:noFill/>
          <a:ln w="76200" cap="rnd">
            <a:solidFill>
              <a:schemeClr val="accent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3" name="Line 5"/>
          <p:cNvSpPr>
            <a:spLocks noChangeShapeType="1"/>
          </p:cNvSpPr>
          <p:nvPr/>
        </p:nvSpPr>
        <p:spPr bwMode="auto">
          <a:xfrm>
            <a:off x="7812360" y="4647566"/>
            <a:ext cx="1133520" cy="2540"/>
          </a:xfrm>
          <a:prstGeom prst="line">
            <a:avLst/>
          </a:prstGeom>
          <a:noFill/>
          <a:ln w="76200" cap="rnd">
            <a:solidFill>
              <a:schemeClr val="tx1"/>
            </a:solidFill>
            <a:prstDash val="sysDot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5.1 </a:t>
            </a:r>
            <a:r>
              <a:rPr lang="zh-CN" altLang="en-US" dirty="0">
                <a:solidFill>
                  <a:srgbClr val="FF0000"/>
                </a:solidFill>
              </a:rPr>
              <a:t>什么是</a:t>
            </a:r>
            <a:r>
              <a:rPr lang="en-US" altLang="zh-CN" dirty="0">
                <a:solidFill>
                  <a:srgbClr val="FF0000"/>
                </a:solidFill>
              </a:rPr>
              <a:t>Kafka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  <a:defRPr/>
            </a:pPr>
            <a:r>
              <a:rPr lang="en-US" altLang="zh-CN" dirty="0"/>
              <a:t>5.2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工作原理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5.3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集群搭建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5.4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命令行操作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5.5 Kafka Java API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5.6 Kafka生产者拦截器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</p:txBody>
      </p:sp>
      <p:pic>
        <p:nvPicPr>
          <p:cNvPr id="5" name="内容占位符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9632" y="2492896"/>
            <a:ext cx="6768457" cy="1695687"/>
          </a:xfr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1196752"/>
            <a:ext cx="3305636" cy="1186028"/>
          </a:xfrm>
          <a:prstGeom prst="rect">
            <a:avLst/>
          </a:prstGeom>
        </p:spPr>
      </p:pic>
      <p:pic>
        <p:nvPicPr>
          <p:cNvPr id="8" name="Picture 2"/>
          <p:cNvPicPr>
            <a:picLocks noGrp="1"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4005064"/>
            <a:ext cx="2932487" cy="2466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什么是</a:t>
            </a:r>
            <a:r>
              <a:rPr lang="en-US" altLang="zh-CN" dirty="0"/>
              <a:t>Kafka	</a:t>
            </a:r>
          </a:p>
          <a:p>
            <a:pPr lvl="1"/>
            <a:r>
              <a:rPr lang="en-US" altLang="zh-CN" dirty="0"/>
              <a:t>Kafka</a:t>
            </a:r>
            <a:r>
              <a:rPr lang="zh-CN" altLang="en-US" dirty="0"/>
              <a:t>是一个</a:t>
            </a:r>
            <a:r>
              <a:rPr lang="zh-CN" altLang="en-US" dirty="0">
                <a:solidFill>
                  <a:srgbClr val="C00000"/>
                </a:solidFill>
              </a:rPr>
              <a:t>高吞吐量、低延迟</a:t>
            </a:r>
            <a:r>
              <a:rPr lang="zh-CN" altLang="en-US" dirty="0"/>
              <a:t>的分布式</a:t>
            </a:r>
            <a:r>
              <a:rPr lang="zh-CN" altLang="en-US" dirty="0">
                <a:solidFill>
                  <a:srgbClr val="FF0000"/>
                </a:solidFill>
              </a:rPr>
              <a:t>消息</a:t>
            </a:r>
            <a:r>
              <a:rPr lang="zh-CN" altLang="en-US" dirty="0"/>
              <a:t>发布与订阅</a:t>
            </a:r>
            <a:r>
              <a:rPr lang="zh-CN" altLang="en-US" dirty="0">
                <a:solidFill>
                  <a:srgbClr val="FF0000"/>
                </a:solidFill>
              </a:rPr>
              <a:t>系统</a:t>
            </a:r>
            <a:r>
              <a:rPr lang="zh-CN" altLang="en-US" dirty="0"/>
              <a:t>。</a:t>
            </a:r>
            <a:endParaRPr lang="en-US" altLang="zh-CN" dirty="0"/>
          </a:p>
          <a:p>
            <a:pPr lvl="2"/>
            <a:r>
              <a:rPr lang="zh-CN" altLang="en-US" dirty="0"/>
              <a:t>每秒可以处理数百万条消息，其延迟只有几毫秒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发展历史</a:t>
            </a:r>
            <a:endParaRPr lang="en-US" altLang="zh-CN" dirty="0"/>
          </a:p>
          <a:p>
            <a:pPr lvl="1"/>
            <a:r>
              <a:rPr lang="en-US" altLang="zh-CN" dirty="0"/>
              <a:t>Kafka </a:t>
            </a:r>
            <a:r>
              <a:rPr lang="zh-CN" altLang="en-US" dirty="0"/>
              <a:t>起初是由 </a:t>
            </a:r>
            <a:r>
              <a:rPr lang="en-US" altLang="zh-CN" dirty="0">
                <a:solidFill>
                  <a:srgbClr val="C00000"/>
                </a:solidFill>
              </a:rPr>
              <a:t>LinkedIn </a:t>
            </a:r>
            <a:r>
              <a:rPr lang="zh-CN" altLang="en-US" dirty="0"/>
              <a:t>公司采用</a:t>
            </a:r>
            <a:r>
              <a:rPr lang="en-US" altLang="zh-CN" dirty="0">
                <a:solidFill>
                  <a:srgbClr val="C00000"/>
                </a:solidFill>
              </a:rPr>
              <a:t>Scala</a:t>
            </a:r>
            <a:r>
              <a:rPr lang="zh-CN" altLang="en-US" dirty="0"/>
              <a:t>语言开发的一个多分区、多副本且基于 </a:t>
            </a:r>
            <a:r>
              <a:rPr lang="en-US" altLang="zh-CN" dirty="0" err="1"/>
              <a:t>ZooKeeper</a:t>
            </a:r>
            <a:r>
              <a:rPr lang="en-US" altLang="zh-CN" dirty="0"/>
              <a:t> </a:t>
            </a:r>
            <a:r>
              <a:rPr lang="zh-CN" altLang="en-US" dirty="0"/>
              <a:t>的分布式消息系统，后来捐献给 </a:t>
            </a:r>
            <a:r>
              <a:rPr lang="en-US" altLang="zh-CN" dirty="0"/>
              <a:t>Apache </a:t>
            </a:r>
            <a:r>
              <a:rPr lang="zh-CN" altLang="en-US" dirty="0"/>
              <a:t>基金会。</a:t>
            </a:r>
            <a:endParaRPr lang="en-US" altLang="zh-CN" dirty="0"/>
          </a:p>
          <a:p>
            <a:pPr lvl="1"/>
            <a:r>
              <a:rPr lang="zh-CN" altLang="en-US" dirty="0"/>
              <a:t>目前，</a:t>
            </a:r>
            <a:r>
              <a:rPr lang="en-US" altLang="zh-CN" dirty="0"/>
              <a:t>Kafka </a:t>
            </a:r>
            <a:r>
              <a:rPr lang="zh-CN" altLang="en-US" dirty="0"/>
              <a:t>已经定位为一个分布式流式处理平台，它以高吞吐、可持久化、可水平扩展、支持流数据处理等多种特性而被广泛使用。</a:t>
            </a:r>
            <a:endParaRPr lang="en-US" altLang="zh-CN" dirty="0"/>
          </a:p>
          <a:p>
            <a:pPr lvl="1"/>
            <a:r>
              <a:rPr lang="zh-CN" altLang="en-US" dirty="0"/>
              <a:t>目前，越来越多的开源分布式处理系统如 </a:t>
            </a:r>
            <a:r>
              <a:rPr lang="en-US" altLang="zh-CN" dirty="0"/>
              <a:t>Cloudera</a:t>
            </a:r>
            <a:r>
              <a:rPr lang="zh-CN" altLang="en-US" dirty="0"/>
              <a:t>、</a:t>
            </a:r>
            <a:r>
              <a:rPr lang="en-US" altLang="zh-CN" dirty="0"/>
              <a:t>Storm</a:t>
            </a:r>
            <a:r>
              <a:rPr lang="zh-CN" altLang="en-US" dirty="0"/>
              <a:t>、</a:t>
            </a:r>
            <a:r>
              <a:rPr lang="en-US" altLang="zh-CN" dirty="0"/>
              <a:t>Spark</a:t>
            </a:r>
            <a:r>
              <a:rPr lang="zh-CN" altLang="en-US" dirty="0"/>
              <a:t>、</a:t>
            </a:r>
            <a:r>
              <a:rPr lang="en-US" altLang="zh-CN" dirty="0" err="1"/>
              <a:t>Flink</a:t>
            </a:r>
            <a:r>
              <a:rPr lang="en-US" altLang="zh-CN" dirty="0"/>
              <a:t> </a:t>
            </a:r>
            <a:r>
              <a:rPr lang="zh-CN" altLang="en-US" dirty="0"/>
              <a:t>等都支持与 </a:t>
            </a:r>
            <a:r>
              <a:rPr lang="en-US" altLang="zh-CN" dirty="0"/>
              <a:t>Kafka </a:t>
            </a:r>
            <a:r>
              <a:rPr lang="zh-CN" altLang="en-US" dirty="0"/>
              <a:t>集成。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</a:t>
            </a:fld>
            <a:endParaRPr lang="en-US" altLang="zh-C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zh-CN" altLang="en-US" sz="5100" dirty="0"/>
              <a:t>基本概念</a:t>
            </a:r>
            <a:endParaRPr lang="en-US" altLang="zh-CN" sz="5100" dirty="0"/>
          </a:p>
          <a:p>
            <a:pPr lvl="1"/>
            <a:r>
              <a:rPr lang="zh-CN" altLang="en-US" sz="4400" dirty="0">
                <a:solidFill>
                  <a:srgbClr val="C00000"/>
                </a:solidFill>
              </a:rPr>
              <a:t>服务器节点（</a:t>
            </a:r>
            <a:r>
              <a:rPr lang="en-US" altLang="zh-CN" sz="4400" dirty="0">
                <a:solidFill>
                  <a:srgbClr val="C00000"/>
                </a:solidFill>
              </a:rPr>
              <a:t>Broker</a:t>
            </a:r>
            <a:r>
              <a:rPr lang="zh-CN" altLang="en-US" sz="4400" dirty="0">
                <a:solidFill>
                  <a:srgbClr val="C00000"/>
                </a:solidFill>
              </a:rPr>
              <a:t>）</a:t>
            </a:r>
            <a:r>
              <a:rPr lang="zh-CN" altLang="en-US" sz="4400" dirty="0"/>
              <a:t>：每一个</a:t>
            </a:r>
            <a:r>
              <a:rPr lang="en-US" altLang="zh-CN" sz="4400" dirty="0"/>
              <a:t>Kafka</a:t>
            </a:r>
            <a:r>
              <a:rPr lang="zh-CN" altLang="en-US" sz="4400" dirty="0"/>
              <a:t>程序实例即为一个</a:t>
            </a:r>
            <a:r>
              <a:rPr lang="en-US" altLang="zh-CN" sz="4400" dirty="0"/>
              <a:t>Broker</a:t>
            </a:r>
            <a:r>
              <a:rPr lang="zh-CN" altLang="en-US" sz="4400" dirty="0"/>
              <a:t>。一般可以将一台服务器看作</a:t>
            </a:r>
            <a:r>
              <a:rPr lang="en-US" altLang="zh-CN" sz="4400" dirty="0"/>
              <a:t>Broker</a:t>
            </a:r>
            <a:r>
              <a:rPr lang="zh-CN" altLang="en-US" sz="4400" dirty="0"/>
              <a:t>，前提此服务器只部署了一个</a:t>
            </a:r>
            <a:r>
              <a:rPr lang="en-US" altLang="zh-CN" sz="4400" dirty="0"/>
              <a:t>Kafka</a:t>
            </a:r>
            <a:r>
              <a:rPr lang="zh-CN" altLang="en-US" sz="4400" dirty="0"/>
              <a:t>实例。</a:t>
            </a:r>
          </a:p>
          <a:p>
            <a:pPr lvl="1"/>
            <a:r>
              <a:rPr lang="zh-CN" altLang="en-US" sz="4400" dirty="0">
                <a:solidFill>
                  <a:srgbClr val="C00000"/>
                </a:solidFill>
              </a:rPr>
              <a:t>主题（</a:t>
            </a:r>
            <a:r>
              <a:rPr lang="en-US" altLang="zh-CN" sz="4400" dirty="0">
                <a:solidFill>
                  <a:srgbClr val="C00000"/>
                </a:solidFill>
              </a:rPr>
              <a:t>Topic</a:t>
            </a:r>
            <a:r>
              <a:rPr lang="zh-CN" altLang="en-US" sz="4400" dirty="0">
                <a:solidFill>
                  <a:srgbClr val="C00000"/>
                </a:solidFill>
              </a:rPr>
              <a:t>）</a:t>
            </a:r>
            <a:r>
              <a:rPr lang="zh-CN" altLang="en-US" sz="4400" dirty="0"/>
              <a:t>：</a:t>
            </a:r>
            <a:r>
              <a:rPr lang="en-US" altLang="zh-CN" sz="4400" dirty="0"/>
              <a:t>Kafka</a:t>
            </a:r>
            <a:r>
              <a:rPr lang="zh-CN" altLang="en-US" sz="4400" dirty="0"/>
              <a:t>中消息以主题为单位进行归类，生产者将消息发送到特定主题，消费者从特定主题进行消费。</a:t>
            </a:r>
          </a:p>
          <a:p>
            <a:pPr lvl="1"/>
            <a:r>
              <a:rPr lang="zh-CN" altLang="en-US" sz="4400" dirty="0">
                <a:solidFill>
                  <a:srgbClr val="C00000"/>
                </a:solidFill>
              </a:rPr>
              <a:t>分区（</a:t>
            </a:r>
            <a:r>
              <a:rPr lang="en-US" altLang="zh-CN" sz="4400" dirty="0">
                <a:solidFill>
                  <a:srgbClr val="C00000"/>
                </a:solidFill>
              </a:rPr>
              <a:t>Partition</a:t>
            </a:r>
            <a:r>
              <a:rPr lang="zh-CN" altLang="en-US" sz="4400" dirty="0">
                <a:solidFill>
                  <a:srgbClr val="C00000"/>
                </a:solidFill>
              </a:rPr>
              <a:t>）</a:t>
            </a:r>
            <a:r>
              <a:rPr lang="zh-CN" altLang="en-US" sz="4400" dirty="0"/>
              <a:t>：一个</a:t>
            </a:r>
            <a:r>
              <a:rPr lang="en-US" altLang="zh-CN" sz="4400" dirty="0"/>
              <a:t>Topic</a:t>
            </a:r>
            <a:r>
              <a:rPr lang="zh-CN" altLang="en-US" sz="4400" dirty="0"/>
              <a:t>可以分为若干个分区，一个分区只属于单个主题，分区均匀分布在集群中。分区是</a:t>
            </a:r>
            <a:r>
              <a:rPr lang="en-US" altLang="zh-CN" sz="4400" dirty="0"/>
              <a:t>Kafka</a:t>
            </a:r>
            <a:r>
              <a:rPr lang="zh-CN" altLang="en-US" sz="4400" dirty="0"/>
              <a:t>高吞吐，容灾，负载均衡的保证。</a:t>
            </a:r>
            <a:endParaRPr lang="en-US" altLang="zh-CN" sz="4400" dirty="0"/>
          </a:p>
          <a:p>
            <a:pPr lvl="1"/>
            <a:r>
              <a:rPr lang="zh-CN" altLang="en-US" sz="4400" dirty="0">
                <a:solidFill>
                  <a:srgbClr val="C00000"/>
                </a:solidFill>
              </a:rPr>
              <a:t>生产者（</a:t>
            </a:r>
            <a:r>
              <a:rPr lang="en-US" altLang="zh-CN" sz="4400" dirty="0">
                <a:solidFill>
                  <a:srgbClr val="C00000"/>
                </a:solidFill>
              </a:rPr>
              <a:t>Producer</a:t>
            </a:r>
            <a:r>
              <a:rPr lang="zh-CN" altLang="en-US" sz="4400" dirty="0">
                <a:solidFill>
                  <a:srgbClr val="C00000"/>
                </a:solidFill>
              </a:rPr>
              <a:t>）</a:t>
            </a:r>
            <a:r>
              <a:rPr lang="en-US" altLang="zh-CN" sz="4400" dirty="0"/>
              <a:t>:  </a:t>
            </a:r>
            <a:r>
              <a:rPr lang="zh-CN" altLang="en-US" sz="4400" dirty="0"/>
              <a:t>消息发送方，负责创建消息，将消息投递到</a:t>
            </a:r>
            <a:r>
              <a:rPr lang="en-US" altLang="zh-CN" sz="4400" dirty="0"/>
              <a:t>Broker</a:t>
            </a:r>
            <a:r>
              <a:rPr lang="zh-CN" altLang="en-US" sz="4400" dirty="0"/>
              <a:t>中。</a:t>
            </a:r>
            <a:endParaRPr lang="en-US" altLang="zh-CN" sz="4400" dirty="0"/>
          </a:p>
          <a:p>
            <a:pPr lvl="1"/>
            <a:r>
              <a:rPr lang="zh-CN" altLang="en-US" sz="4400" dirty="0">
                <a:solidFill>
                  <a:srgbClr val="C00000"/>
                </a:solidFill>
              </a:rPr>
              <a:t>消费者（</a:t>
            </a:r>
            <a:r>
              <a:rPr lang="en-US" altLang="zh-CN" sz="4400" dirty="0">
                <a:solidFill>
                  <a:srgbClr val="C00000"/>
                </a:solidFill>
              </a:rPr>
              <a:t>Consumer</a:t>
            </a:r>
            <a:r>
              <a:rPr lang="zh-CN" altLang="en-US" sz="4400" dirty="0">
                <a:solidFill>
                  <a:srgbClr val="C00000"/>
                </a:solidFill>
              </a:rPr>
              <a:t>）</a:t>
            </a:r>
            <a:r>
              <a:rPr lang="zh-CN" altLang="en-US" sz="4400" dirty="0"/>
              <a:t>：消息接收方，连接到</a:t>
            </a:r>
            <a:r>
              <a:rPr lang="en-US" altLang="zh-CN" sz="4400" dirty="0"/>
              <a:t>Broker</a:t>
            </a:r>
            <a:r>
              <a:rPr lang="zh-CN" altLang="en-US" sz="4400" dirty="0"/>
              <a:t>并消费特定</a:t>
            </a:r>
            <a:r>
              <a:rPr lang="en-US" altLang="zh-CN" sz="4400" dirty="0"/>
              <a:t>Topic</a:t>
            </a:r>
            <a:r>
              <a:rPr lang="zh-CN" altLang="en-US" sz="4400" dirty="0"/>
              <a:t>中的消息，进行逻辑处理。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6</a:t>
            </a:fld>
            <a:endParaRPr lang="en-US" altLang="zh-C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>
                <a:solidFill>
                  <a:srgbClr val="FF0000"/>
                </a:solidFill>
              </a:rPr>
              <a:t>5.2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Kafka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工作原理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5.3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集群搭建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5.4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命令行操作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5.5 Kafka Java API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5.6 Kafka生产者拦截器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7</a:t>
            </a:fld>
            <a:endParaRPr lang="en-US" altLang="zh-C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 Kafka</a:t>
            </a:r>
            <a:r>
              <a:rPr lang="zh-CN" altLang="en-US" dirty="0"/>
              <a:t>工作原理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5.2.1 Kafka</a:t>
            </a:r>
            <a:r>
              <a:rPr lang="zh-CN" altLang="en-US" dirty="0"/>
              <a:t>架构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5.2.2 </a:t>
            </a:r>
            <a:r>
              <a:rPr lang="zh-CN" altLang="en-US" dirty="0"/>
              <a:t>主题与分区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5.2.5 </a:t>
            </a:r>
            <a:r>
              <a:rPr lang="zh-CN" altLang="en-US" dirty="0"/>
              <a:t>数据存储机制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8</a:t>
            </a:fld>
            <a:endParaRPr lang="en-US" altLang="zh-C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Kafka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Kafka</a:t>
            </a:r>
            <a:r>
              <a:rPr lang="zh-CN" altLang="en-US" dirty="0"/>
              <a:t>消息传递</a:t>
            </a:r>
            <a:endParaRPr lang="en-US" altLang="zh-CN" dirty="0"/>
          </a:p>
          <a:p>
            <a:pPr lvl="1"/>
            <a:r>
              <a:rPr lang="zh-CN" altLang="en-US" dirty="0"/>
              <a:t>生产者将消息发送到</a:t>
            </a:r>
            <a:r>
              <a:rPr lang="en-US" altLang="zh-CN" dirty="0"/>
              <a:t>Kafka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1"/>
            <a:r>
              <a:rPr lang="en-US" altLang="zh-CN" dirty="0"/>
              <a:t>Kafka</a:t>
            </a:r>
            <a:r>
              <a:rPr lang="zh-CN" altLang="en-US" dirty="0"/>
              <a:t>集群将消息转发给消费者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3068960"/>
            <a:ext cx="4192588" cy="2509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9</a:t>
            </a:fld>
            <a:endParaRPr lang="en-US" altLang="zh-C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Kafka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集群架构</a:t>
            </a:r>
            <a:endParaRPr lang="en-US" altLang="zh-CN" dirty="0"/>
          </a:p>
          <a:p>
            <a:pPr lvl="1"/>
            <a:r>
              <a:rPr lang="zh-CN" altLang="en-US" dirty="0"/>
              <a:t>一组生产者</a:t>
            </a:r>
            <a:endParaRPr lang="en-US" altLang="zh-CN" dirty="0"/>
          </a:p>
          <a:p>
            <a:pPr lvl="2"/>
            <a:r>
              <a:rPr lang="zh-CN" altLang="en-US" dirty="0"/>
              <a:t>数据可以是</a:t>
            </a:r>
            <a:r>
              <a:rPr lang="en-US" altLang="zh-CN" dirty="0"/>
              <a:t>Web</a:t>
            </a:r>
            <a:r>
              <a:rPr lang="zh-CN" altLang="en-US" dirty="0"/>
              <a:t>前端产生的页面、服务器日志等</a:t>
            </a:r>
            <a:endParaRPr lang="en-US" altLang="zh-CN" dirty="0"/>
          </a:p>
          <a:p>
            <a:pPr lvl="1"/>
            <a:r>
              <a:rPr lang="zh-CN" altLang="en-US" dirty="0"/>
              <a:t>一组消费者</a:t>
            </a:r>
            <a:endParaRPr lang="en-US" altLang="zh-CN" dirty="0"/>
          </a:p>
          <a:p>
            <a:pPr lvl="2"/>
            <a:r>
              <a:rPr lang="zh-CN" altLang="en-US" dirty="0"/>
              <a:t>可以是</a:t>
            </a:r>
            <a:r>
              <a:rPr lang="en-US" altLang="zh-CN" dirty="0"/>
              <a:t>Hadoop</a:t>
            </a:r>
            <a:r>
              <a:rPr lang="zh-CN" altLang="en-US" dirty="0"/>
              <a:t>集群、实时监控程序、数据仓库或其他服务</a:t>
            </a:r>
            <a:endParaRPr lang="en-US" altLang="zh-CN" dirty="0"/>
          </a:p>
          <a:p>
            <a:pPr lvl="1"/>
            <a:r>
              <a:rPr lang="zh-CN" altLang="en-US" dirty="0"/>
              <a:t>一组</a:t>
            </a:r>
            <a:r>
              <a:rPr lang="en-US" altLang="zh-CN" dirty="0"/>
              <a:t>Broker</a:t>
            </a:r>
          </a:p>
          <a:p>
            <a:pPr lvl="1"/>
            <a:r>
              <a:rPr lang="zh-CN" altLang="en-US" dirty="0"/>
              <a:t>一个</a:t>
            </a:r>
            <a:r>
              <a:rPr lang="en-US" altLang="zh-CN" dirty="0" err="1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2"/>
            <a:r>
              <a:rPr lang="zh-CN" altLang="en-US" dirty="0">
                <a:solidFill>
                  <a:srgbClr val="C00000"/>
                </a:solidFill>
              </a:rPr>
              <a:t>管理和协调</a:t>
            </a:r>
            <a:r>
              <a:rPr lang="en-US" altLang="zh-CN" dirty="0">
                <a:solidFill>
                  <a:srgbClr val="C00000"/>
                </a:solidFill>
              </a:rPr>
              <a:t>Broker</a:t>
            </a:r>
            <a:endParaRPr lang="en-US" altLang="zh-CN" dirty="0"/>
          </a:p>
          <a:p>
            <a:pPr lvl="3"/>
            <a:r>
              <a:rPr lang="zh-CN" altLang="en-US" dirty="0"/>
              <a:t>当</a:t>
            </a:r>
            <a:r>
              <a:rPr lang="en-US" altLang="zh-CN" dirty="0"/>
              <a:t>Kafka</a:t>
            </a:r>
            <a:r>
              <a:rPr lang="zh-CN" altLang="en-US" dirty="0"/>
              <a:t>新增</a:t>
            </a:r>
            <a:r>
              <a:rPr lang="en-US" altLang="zh-CN" dirty="0"/>
              <a:t>Broker</a:t>
            </a:r>
            <a:r>
              <a:rPr lang="zh-CN" altLang="en-US" dirty="0"/>
              <a:t>或某个</a:t>
            </a:r>
            <a:r>
              <a:rPr lang="en-US" altLang="zh-CN" dirty="0"/>
              <a:t>Broker</a:t>
            </a:r>
            <a:r>
              <a:rPr lang="zh-CN" altLang="en-US" dirty="0"/>
              <a:t>故障失效时，</a:t>
            </a:r>
            <a:r>
              <a:rPr lang="en-US" altLang="zh-CN" dirty="0" err="1"/>
              <a:t>ZooKeeper</a:t>
            </a:r>
            <a:r>
              <a:rPr lang="zh-CN" altLang="en-US" dirty="0"/>
              <a:t>将及时通知生产者和消费者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10</a:t>
            </a:fld>
            <a:endParaRPr lang="en-US" altLang="zh-C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5.2.1 Kafka</a:t>
            </a:r>
            <a:r>
              <a:rPr lang="zh-CN" altLang="en-US" dirty="0"/>
              <a:t>架构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集群架构</a:t>
            </a:r>
            <a:endParaRPr lang="en-US" altLang="zh-CN" dirty="0"/>
          </a:p>
          <a:p>
            <a:pPr lvl="1"/>
            <a:r>
              <a:rPr lang="zh-CN" altLang="en-US" dirty="0"/>
              <a:t>生产者使用</a:t>
            </a:r>
            <a:r>
              <a:rPr lang="en-US" altLang="zh-CN" dirty="0">
                <a:solidFill>
                  <a:srgbClr val="C00000"/>
                </a:solidFill>
              </a:rPr>
              <a:t>Push</a:t>
            </a:r>
            <a:r>
              <a:rPr lang="zh-CN" altLang="en-US" dirty="0">
                <a:solidFill>
                  <a:srgbClr val="C00000"/>
                </a:solidFill>
              </a:rPr>
              <a:t>模式</a:t>
            </a:r>
            <a:r>
              <a:rPr lang="zh-CN" altLang="en-US" dirty="0"/>
              <a:t>将消息发送到</a:t>
            </a:r>
            <a:r>
              <a:rPr lang="en-US" altLang="zh-CN" dirty="0"/>
              <a:t>Broker</a:t>
            </a:r>
          </a:p>
          <a:p>
            <a:pPr lvl="1"/>
            <a:r>
              <a:rPr lang="zh-CN" altLang="en-US" dirty="0"/>
              <a:t>消费者使用</a:t>
            </a:r>
            <a:r>
              <a:rPr lang="en-US" altLang="zh-CN" dirty="0">
                <a:solidFill>
                  <a:srgbClr val="C00000"/>
                </a:solidFill>
              </a:rPr>
              <a:t>Pull</a:t>
            </a:r>
            <a:r>
              <a:rPr lang="zh-CN" altLang="en-US" dirty="0">
                <a:solidFill>
                  <a:srgbClr val="C00000"/>
                </a:solidFill>
              </a:rPr>
              <a:t>模式</a:t>
            </a:r>
            <a:r>
              <a:rPr lang="zh-CN" altLang="en-US" dirty="0"/>
              <a:t>从</a:t>
            </a:r>
            <a:r>
              <a:rPr lang="en-US" altLang="zh-CN" dirty="0"/>
              <a:t>Broker</a:t>
            </a:r>
            <a:r>
              <a:rPr lang="zh-CN" altLang="en-US" dirty="0"/>
              <a:t>消费消息</a:t>
            </a:r>
            <a:endParaRPr lang="en-US" altLang="zh-CN" dirty="0"/>
          </a:p>
          <a:p>
            <a:pPr lvl="2"/>
            <a:r>
              <a:rPr lang="zh-CN" altLang="en-US" dirty="0"/>
              <a:t>避免</a:t>
            </a:r>
            <a:r>
              <a:rPr lang="en-US" altLang="zh-CN" dirty="0"/>
              <a:t>Consumer</a:t>
            </a:r>
            <a:r>
              <a:rPr lang="zh-CN" altLang="en-US" dirty="0"/>
              <a:t>消息堆积</a:t>
            </a:r>
          </a:p>
          <a:p>
            <a:pPr lvl="2"/>
            <a:r>
              <a:rPr lang="zh-CN" altLang="en-US" dirty="0"/>
              <a:t>可以设置</a:t>
            </a:r>
            <a:r>
              <a:rPr lang="en-US" altLang="zh-CN" dirty="0"/>
              <a:t>offset</a:t>
            </a:r>
            <a:r>
              <a:rPr lang="zh-CN" altLang="en-US" dirty="0"/>
              <a:t>从任何位置开始消费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1720" y="3861048"/>
            <a:ext cx="4383435" cy="256817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11</a:t>
            </a:fld>
            <a:endParaRPr lang="en-US" altLang="zh-C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主题和分区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通过</a:t>
            </a:r>
            <a:r>
              <a:rPr lang="zh-CN" altLang="en-US" dirty="0">
                <a:solidFill>
                  <a:srgbClr val="C00000"/>
                </a:solidFill>
              </a:rPr>
              <a:t>主题</a:t>
            </a:r>
            <a:r>
              <a:rPr lang="zh-CN" altLang="en-US" dirty="0"/>
              <a:t>对消息进行分类</a:t>
            </a:r>
            <a:endParaRPr lang="en-US" altLang="zh-CN" dirty="0"/>
          </a:p>
          <a:p>
            <a:pPr lvl="1"/>
            <a:r>
              <a:rPr lang="zh-CN" altLang="en-US" dirty="0"/>
              <a:t>一个主题可以分为多个分区，每个分区可以存储于不同的</a:t>
            </a:r>
            <a:r>
              <a:rPr lang="en-US" altLang="zh-CN" dirty="0"/>
              <a:t>Broker</a:t>
            </a:r>
            <a:r>
              <a:rPr lang="zh-CN" altLang="en-US" dirty="0"/>
              <a:t>上</a:t>
            </a:r>
            <a:endParaRPr lang="en-US" altLang="zh-CN" dirty="0"/>
          </a:p>
          <a:p>
            <a:pPr lvl="2"/>
            <a:r>
              <a:rPr lang="zh-CN" altLang="en-US" dirty="0"/>
              <a:t>好处：允许主题消息规模超过一台服务器的文件大小上限，易于扩充分区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9712" y="3717032"/>
            <a:ext cx="4832727" cy="244827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12</a:t>
            </a:fld>
            <a:endParaRPr lang="en-US" altLang="zh-C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主题和分区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会为每个主题维护一个分区日志，记录各个分区消息存放情况</a:t>
            </a:r>
            <a:endParaRPr lang="en-US" altLang="zh-CN" dirty="0"/>
          </a:p>
          <a:p>
            <a:pPr lvl="1"/>
            <a:r>
              <a:rPr lang="zh-CN" altLang="en-US" dirty="0"/>
              <a:t>消息以</a:t>
            </a:r>
            <a:r>
              <a:rPr lang="zh-CN" altLang="en-US" dirty="0">
                <a:solidFill>
                  <a:srgbClr val="C00000"/>
                </a:solidFill>
              </a:rPr>
              <a:t>追加</a:t>
            </a:r>
            <a:r>
              <a:rPr lang="zh-CN" altLang="en-US" dirty="0"/>
              <a:t>的方式写入到每个分区的尾部</a:t>
            </a:r>
            <a:endParaRPr lang="en-US" altLang="zh-CN" dirty="0"/>
          </a:p>
          <a:p>
            <a:pPr lvl="1"/>
            <a:r>
              <a:rPr lang="zh-CN" altLang="en-US" dirty="0"/>
              <a:t>消息以</a:t>
            </a:r>
            <a:r>
              <a:rPr lang="zh-CN" altLang="en-US" dirty="0">
                <a:solidFill>
                  <a:srgbClr val="C00000"/>
                </a:solidFill>
              </a:rPr>
              <a:t>先入先出</a:t>
            </a:r>
            <a:r>
              <a:rPr lang="zh-CN" altLang="en-US" dirty="0"/>
              <a:t>的顺序进行读取</a:t>
            </a:r>
            <a:endParaRPr lang="en-US" altLang="zh-CN" dirty="0"/>
          </a:p>
          <a:p>
            <a:pPr lvl="1"/>
            <a:r>
              <a:rPr lang="en-US" altLang="zh-CN" dirty="0"/>
              <a:t>Kafka</a:t>
            </a:r>
            <a:r>
              <a:rPr lang="zh-CN" altLang="en-US" dirty="0"/>
              <a:t>可以保证单个</a:t>
            </a:r>
            <a:r>
              <a:rPr lang="zh-CN" altLang="en-US" dirty="0">
                <a:solidFill>
                  <a:srgbClr val="C00000"/>
                </a:solidFill>
              </a:rPr>
              <a:t>分区</a:t>
            </a:r>
            <a:r>
              <a:rPr lang="zh-CN" altLang="en-US" dirty="0"/>
              <a:t>内消息的顺序，但无法在整个主题范围内保证消息的顺序</a:t>
            </a:r>
            <a:endParaRPr lang="en-US" altLang="zh-CN" dirty="0"/>
          </a:p>
          <a:p>
            <a:pPr lvl="1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13</a:t>
            </a:fld>
            <a:endParaRPr lang="en-US" altLang="zh-C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主题和分区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分区</a:t>
            </a:r>
            <a:endParaRPr lang="en-US" altLang="zh-CN" dirty="0"/>
          </a:p>
          <a:p>
            <a:pPr lvl="1"/>
            <a:r>
              <a:rPr lang="zh-CN" altLang="en-US" dirty="0"/>
              <a:t>每条消息会根据</a:t>
            </a:r>
            <a:r>
              <a:rPr lang="zh-CN" altLang="en-US" dirty="0">
                <a:solidFill>
                  <a:srgbClr val="C00000"/>
                </a:solidFill>
              </a:rPr>
              <a:t>分区规则</a:t>
            </a:r>
            <a:r>
              <a:rPr lang="zh-CN" altLang="en-US" dirty="0"/>
              <a:t>被存储到某个分区</a:t>
            </a:r>
            <a:endParaRPr lang="en-US" altLang="zh-CN" dirty="0"/>
          </a:p>
          <a:p>
            <a:pPr lvl="2"/>
            <a:r>
              <a:rPr lang="zh-CN" altLang="en-US" dirty="0"/>
              <a:t>如果分区合理，所有消息可以被均匀分配到不同的分区，这样就实现了</a:t>
            </a:r>
            <a:r>
              <a:rPr lang="zh-CN" altLang="en-US" dirty="0">
                <a:solidFill>
                  <a:srgbClr val="C00000"/>
                </a:solidFill>
              </a:rPr>
              <a:t>水平扩展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分区中的每条记录被都分配了一个偏移量（</a:t>
            </a:r>
            <a:r>
              <a:rPr lang="en-US" altLang="zh-CN" dirty="0"/>
              <a:t>offset</a:t>
            </a:r>
            <a:r>
              <a:rPr lang="zh-CN" altLang="en-US" dirty="0"/>
              <a:t>）</a:t>
            </a:r>
            <a:endParaRPr lang="en-US" altLang="zh-CN" dirty="0"/>
          </a:p>
          <a:p>
            <a:pPr lvl="2"/>
            <a:r>
              <a:rPr lang="zh-CN" altLang="en-US" dirty="0"/>
              <a:t>偏移量是一个连续递增的整数，唯一标识分区中的某个记录</a:t>
            </a:r>
            <a:endParaRPr lang="en-US" altLang="zh-CN" dirty="0"/>
          </a:p>
          <a:p>
            <a:pPr lvl="2"/>
            <a:r>
              <a:rPr lang="zh-CN" altLang="en-US" dirty="0"/>
              <a:t>消费者只需要保存偏移量，当消费者客户端向</a:t>
            </a:r>
            <a:r>
              <a:rPr lang="en-US" altLang="zh-CN" dirty="0"/>
              <a:t>Broker</a:t>
            </a:r>
            <a:r>
              <a:rPr lang="zh-CN" altLang="en-US" dirty="0"/>
              <a:t>发起消息请求时需要携带偏移量，当消费者读取消息后，偏移量会递增</a:t>
            </a:r>
            <a:endParaRPr lang="en-US" altLang="zh-CN" dirty="0"/>
          </a:p>
          <a:p>
            <a:pPr lvl="2"/>
            <a:r>
              <a:rPr lang="zh-CN" altLang="en-US" dirty="0"/>
              <a:t>消费者可以按照任意顺序消费消息，也可以指定从某个分区中一次最多返回多少条消息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14</a:t>
            </a:fld>
            <a:endParaRPr lang="en-US" altLang="zh-C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主题和分区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分区消息的读写</a:t>
            </a:r>
            <a:endParaRPr lang="en-US" altLang="zh-CN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31" y="2132856"/>
            <a:ext cx="6815138" cy="36004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15</a:t>
            </a:fld>
            <a:endParaRPr lang="en-US" altLang="zh-C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5.2.2 </a:t>
            </a:r>
            <a:r>
              <a:rPr lang="zh-CN" altLang="en-US" dirty="0"/>
              <a:t>主题和分区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消息保留策略</a:t>
            </a:r>
            <a:endParaRPr lang="en-US" altLang="zh-CN" dirty="0"/>
          </a:p>
          <a:p>
            <a:pPr lvl="1"/>
            <a:r>
              <a:rPr lang="zh-CN" altLang="en-US" sz="2400" dirty="0"/>
              <a:t>对于已经发布的消息，</a:t>
            </a:r>
            <a:r>
              <a:rPr lang="en-US" altLang="zh-CN" sz="2400" dirty="0"/>
              <a:t>Kafka</a:t>
            </a:r>
            <a:r>
              <a:rPr lang="zh-CN" altLang="en-US" sz="2400" dirty="0"/>
              <a:t>都会保留一段时间，具体的保留策略有两种：</a:t>
            </a:r>
            <a:endParaRPr lang="en-US" altLang="zh-CN" sz="2400" dirty="0"/>
          </a:p>
          <a:p>
            <a:pPr lvl="2"/>
            <a:r>
              <a:rPr lang="zh-CN" altLang="en-US" dirty="0"/>
              <a:t>根据时间保留</a:t>
            </a:r>
            <a:endParaRPr lang="en-US" altLang="zh-CN" dirty="0"/>
          </a:p>
          <a:p>
            <a:pPr lvl="2"/>
            <a:r>
              <a:rPr lang="zh-CN" altLang="en-US" dirty="0"/>
              <a:t>根据消息大小保留</a:t>
            </a:r>
            <a:endParaRPr lang="en-US" altLang="zh-CN" dirty="0"/>
          </a:p>
          <a:p>
            <a:pPr lvl="3"/>
            <a:r>
              <a:rPr lang="en-US" altLang="zh-CN" dirty="0"/>
              <a:t>Kafka</a:t>
            </a:r>
            <a:r>
              <a:rPr lang="zh-CN" altLang="en-US" dirty="0"/>
              <a:t>的性能对数据大小不敏感</a:t>
            </a:r>
            <a:endParaRPr lang="en-US" altLang="zh-CN" dirty="0"/>
          </a:p>
          <a:p>
            <a:pPr lvl="1"/>
            <a:r>
              <a:rPr lang="zh-CN" altLang="en-US" sz="2400" dirty="0"/>
              <a:t>每个主题可以配置自己的保留策略</a:t>
            </a:r>
            <a:endParaRPr lang="en-US" altLang="zh-CN" sz="2400" dirty="0"/>
          </a:p>
          <a:p>
            <a:pPr lvl="1"/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为了提高数据的可靠性，同一分区可以复制多个副本分配到不同的</a:t>
            </a:r>
            <a:r>
              <a:rPr lang="en-US" altLang="zh-CN" dirty="0"/>
              <a:t>Broker</a:t>
            </a:r>
          </a:p>
          <a:p>
            <a:pPr lvl="1"/>
            <a:r>
              <a:rPr lang="zh-CN" altLang="en-US" dirty="0"/>
              <a:t>如果其中一个</a:t>
            </a:r>
            <a:r>
              <a:rPr lang="en-US" altLang="zh-CN" dirty="0"/>
              <a:t>Broker</a:t>
            </a:r>
            <a:r>
              <a:rPr lang="zh-CN" altLang="en-US" dirty="0"/>
              <a:t>宕机，其他</a:t>
            </a:r>
            <a:r>
              <a:rPr lang="en-US" altLang="zh-CN" dirty="0"/>
              <a:t>Broker</a:t>
            </a:r>
            <a:r>
              <a:rPr lang="zh-CN" altLang="en-US" dirty="0"/>
              <a:t>可以接替宕机的</a:t>
            </a:r>
            <a:r>
              <a:rPr lang="en-US" altLang="zh-CN" dirty="0"/>
              <a:t>Broker</a:t>
            </a:r>
            <a:r>
              <a:rPr lang="zh-CN" altLang="en-US" dirty="0"/>
              <a:t>继续服务</a:t>
            </a:r>
            <a:endParaRPr lang="en-US" altLang="zh-CN" dirty="0"/>
          </a:p>
          <a:p>
            <a:pPr lvl="2"/>
            <a:r>
              <a:rPr lang="zh-CN" altLang="en-US" dirty="0"/>
              <a:t>生产者和消费者需要重新连接到新的</a:t>
            </a:r>
            <a:r>
              <a:rPr lang="en-US" altLang="zh-CN" dirty="0"/>
              <a:t>Broker</a:t>
            </a:r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3789040"/>
            <a:ext cx="5219700" cy="26193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17</a:t>
            </a:fld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分区副本被分为两种类型</a:t>
            </a:r>
            <a:endParaRPr lang="en-US" altLang="zh-CN" dirty="0"/>
          </a:p>
          <a:p>
            <a:pPr lvl="1"/>
            <a:r>
              <a:rPr lang="zh-CN" altLang="en-US" dirty="0"/>
              <a:t>领导者副本</a:t>
            </a:r>
            <a:endParaRPr lang="en-US" altLang="zh-CN" dirty="0"/>
          </a:p>
          <a:p>
            <a:pPr lvl="2"/>
            <a:r>
              <a:rPr lang="zh-CN" altLang="en-US" dirty="0"/>
              <a:t>领导者副本只有一个</a:t>
            </a:r>
            <a:endParaRPr lang="en-US" altLang="zh-CN" dirty="0"/>
          </a:p>
          <a:p>
            <a:pPr lvl="2"/>
            <a:r>
              <a:rPr lang="zh-CN" altLang="en-US" dirty="0"/>
              <a:t>所有生产者和消费者都向领导者副本发起请求</a:t>
            </a:r>
            <a:endParaRPr lang="en-US" altLang="zh-CN" dirty="0"/>
          </a:p>
          <a:p>
            <a:pPr lvl="1"/>
            <a:r>
              <a:rPr lang="zh-CN" altLang="en-US" dirty="0"/>
              <a:t>追随者副本</a:t>
            </a:r>
            <a:endParaRPr lang="en-US" altLang="zh-CN" dirty="0"/>
          </a:p>
          <a:p>
            <a:pPr lvl="2"/>
            <a:r>
              <a:rPr lang="zh-CN" altLang="en-US" dirty="0"/>
              <a:t>除领导者副本外，其余的都是跟随者副本</a:t>
            </a:r>
            <a:endParaRPr lang="en-US" altLang="zh-CN" dirty="0"/>
          </a:p>
          <a:p>
            <a:pPr lvl="2"/>
            <a:r>
              <a:rPr lang="zh-CN" altLang="en-US" dirty="0"/>
              <a:t>跟随者副本不处理客户端请求，唯一的任务是从领导者副本复制消息，以保持与领导副本数据和状态的一致</a:t>
            </a:r>
            <a:r>
              <a:rPr lang="en-US" altLang="zh-CN" dirty="0"/>
              <a:t>	</a:t>
            </a:r>
          </a:p>
          <a:p>
            <a:r>
              <a:rPr lang="zh-CN" altLang="en-US" dirty="0"/>
              <a:t>当领导者副本发生崩溃，会从其余的跟随者副本中选举一个新的领导者副本</a:t>
            </a:r>
            <a:endParaRPr lang="en-US" altLang="zh-CN" dirty="0"/>
          </a:p>
          <a:p>
            <a:pPr lvl="2"/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领导者副本与跟随者副本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400" y="2024844"/>
            <a:ext cx="7053820" cy="280831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19</a:t>
            </a:fld>
            <a:endParaRPr lang="en-US" altLang="zh-C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副本消息复制</a:t>
            </a:r>
            <a:endParaRPr lang="en-US" altLang="zh-CN" dirty="0"/>
          </a:p>
          <a:p>
            <a:pPr lvl="1"/>
            <a:r>
              <a:rPr lang="zh-CN" altLang="en-US" sz="2400" dirty="0"/>
              <a:t>跟随者为了与领导者同步，会周期性向向领导者发起获取数据的请求（</a:t>
            </a:r>
            <a:r>
              <a:rPr lang="en-US" altLang="zh-CN" sz="2400" dirty="0"/>
              <a:t>Pull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2"/>
            <a:r>
              <a:rPr lang="zh-CN" altLang="en-US" sz="2000" dirty="0"/>
              <a:t>请求消息包含了跟随者想要获取消息的偏移量，偏移量随着每次请求进行递增</a:t>
            </a:r>
            <a:endParaRPr lang="en-US" altLang="zh-CN" sz="2000" dirty="0"/>
          </a:p>
          <a:p>
            <a:pPr lvl="2"/>
            <a:r>
              <a:rPr lang="zh-CN" altLang="en-US" sz="2000" dirty="0"/>
              <a:t>领导者从跟随者请求的偏移量可以知道消息复制的进度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20</a:t>
            </a:fld>
            <a:endParaRPr lang="en-US" altLang="zh-C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基于</a:t>
            </a:r>
            <a:r>
              <a:rPr lang="en-US" altLang="zh-CN" dirty="0"/>
              <a:t>ISR(In-sync Replica)</a:t>
            </a:r>
            <a:r>
              <a:rPr lang="zh-CN" altLang="en-US" dirty="0"/>
              <a:t>动态复制方案</a:t>
            </a:r>
            <a:endParaRPr lang="en-US" altLang="zh-CN" dirty="0"/>
          </a:p>
          <a:p>
            <a:pPr lvl="1"/>
            <a:r>
              <a:rPr lang="zh-CN" altLang="en-US" sz="2400" dirty="0"/>
              <a:t>领导者会动态维护一个需要与其保持同步的副本列表（包括领导者自己），该列表称为</a:t>
            </a:r>
            <a:r>
              <a:rPr lang="en-US" altLang="zh-CN" sz="2400" dirty="0"/>
              <a:t>ISR</a:t>
            </a:r>
            <a:r>
              <a:rPr lang="zh-CN" altLang="en-US" sz="2400" dirty="0"/>
              <a:t>。</a:t>
            </a:r>
            <a:endParaRPr lang="en-US" altLang="zh-CN" sz="2400" dirty="0"/>
          </a:p>
          <a:p>
            <a:pPr lvl="1"/>
            <a:r>
              <a:rPr lang="zh-CN" altLang="en-US" sz="2400" dirty="0"/>
              <a:t>如果在一定时间内跟随者没有向领导者请求新的消息，该跟随者将被认为不同步，领导者会从</a:t>
            </a:r>
            <a:r>
              <a:rPr lang="en-US" altLang="zh-CN" sz="2400" dirty="0"/>
              <a:t>ISR</a:t>
            </a:r>
            <a:r>
              <a:rPr lang="zh-CN" altLang="en-US" sz="2400" dirty="0"/>
              <a:t>中将其移除（</a:t>
            </a:r>
            <a:r>
              <a:rPr lang="zh-CN" altLang="en-US" sz="2400" dirty="0">
                <a:solidFill>
                  <a:srgbClr val="FF0000"/>
                </a:solidFill>
              </a:rPr>
              <a:t>防止拖慢整体速度</a:t>
            </a:r>
            <a:r>
              <a:rPr lang="zh-CN" altLang="en-US" sz="2400" dirty="0"/>
              <a:t>）</a:t>
            </a:r>
            <a:endParaRPr lang="en-US" altLang="zh-CN" sz="2400" dirty="0"/>
          </a:p>
          <a:p>
            <a:pPr lvl="1"/>
            <a:r>
              <a:rPr lang="zh-CN" altLang="en-US" sz="2400" dirty="0"/>
              <a:t>当跟随者重新与领导者保持同步时，领导者会将其再次加入到</a:t>
            </a:r>
            <a:r>
              <a:rPr lang="en-US" altLang="zh-CN" sz="2400" dirty="0"/>
              <a:t>ISR</a:t>
            </a:r>
            <a:r>
              <a:rPr lang="zh-CN" altLang="en-US" sz="2400" dirty="0"/>
              <a:t>中</a:t>
            </a:r>
            <a:endParaRPr lang="en-US" altLang="zh-CN" sz="2400" dirty="0"/>
          </a:p>
          <a:p>
            <a:pPr lvl="1"/>
            <a:r>
              <a:rPr lang="zh-CN" altLang="en-US" sz="2400" dirty="0"/>
              <a:t>当领导者失效时，也不会选择</a:t>
            </a:r>
            <a:r>
              <a:rPr lang="en-US" altLang="zh-CN" sz="2400" dirty="0"/>
              <a:t>ISR</a:t>
            </a:r>
            <a:r>
              <a:rPr lang="zh-CN" altLang="en-US" sz="2400" dirty="0"/>
              <a:t>中不存在的跟随者作为新的领导者</a:t>
            </a:r>
            <a:endParaRPr lang="en-US" altLang="zh-CN" sz="2400" dirty="0"/>
          </a:p>
          <a:p>
            <a:pPr lvl="1"/>
            <a:r>
              <a:rPr lang="en-US" altLang="zh-CN" sz="2400" dirty="0"/>
              <a:t>ISR</a:t>
            </a:r>
            <a:r>
              <a:rPr lang="zh-CN" altLang="en-US" sz="2400" dirty="0"/>
              <a:t>的列表数据保存在</a:t>
            </a:r>
            <a:r>
              <a:rPr lang="en-US" altLang="zh-CN" sz="2400" dirty="0" err="1"/>
              <a:t>ZooKeeper</a:t>
            </a:r>
            <a:r>
              <a:rPr lang="zh-CN" altLang="en-US" sz="2400" dirty="0"/>
              <a:t>中，每次</a:t>
            </a:r>
            <a:r>
              <a:rPr lang="en-US" altLang="zh-CN" sz="2400" dirty="0"/>
              <a:t>ISR</a:t>
            </a:r>
            <a:r>
              <a:rPr lang="zh-CN" altLang="en-US" sz="2400" dirty="0"/>
              <a:t>改变后，领导者都会将最新的</a:t>
            </a:r>
            <a:r>
              <a:rPr lang="en-US" altLang="zh-CN" sz="2400" dirty="0"/>
              <a:t>ISR</a:t>
            </a:r>
            <a:r>
              <a:rPr lang="zh-CN" altLang="en-US" sz="2400" dirty="0"/>
              <a:t>同步到</a:t>
            </a:r>
            <a:r>
              <a:rPr lang="en-US" altLang="zh-CN" sz="2400" dirty="0" err="1"/>
              <a:t>ZooKeeper</a:t>
            </a:r>
            <a:r>
              <a:rPr lang="zh-CN" altLang="en-US" sz="2400" dirty="0"/>
              <a:t>中。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21</a:t>
            </a:fld>
            <a:endParaRPr lang="en-US" altLang="zh-C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写入消息时，只有当</a:t>
            </a:r>
            <a:r>
              <a:rPr lang="en-US" altLang="zh-CN" sz="2400" dirty="0"/>
              <a:t>ISR</a:t>
            </a:r>
            <a:r>
              <a:rPr lang="zh-CN" altLang="en-US" sz="2400" dirty="0"/>
              <a:t>中所有跟随者都复制完毕，领导者才会将信息写入状态置为</a:t>
            </a:r>
            <a:r>
              <a:rPr lang="en-US" altLang="zh-CN" sz="2400" dirty="0"/>
              <a:t>Commit</a:t>
            </a:r>
            <a:r>
              <a:rPr lang="zh-CN" altLang="en-US" sz="2400" dirty="0"/>
              <a:t>（写入成功），而只有状态置为</a:t>
            </a:r>
            <a:r>
              <a:rPr lang="en-US" altLang="zh-CN" sz="2400" dirty="0"/>
              <a:t>Commit</a:t>
            </a:r>
            <a:r>
              <a:rPr lang="zh-CN" altLang="en-US" sz="2400" dirty="0"/>
              <a:t>的消息才能被消费者读取</a:t>
            </a:r>
            <a:endParaRPr lang="en-US" altLang="zh-CN" sz="2400" dirty="0"/>
          </a:p>
          <a:p>
            <a:pPr lvl="1"/>
            <a:r>
              <a:rPr lang="zh-CN" altLang="en-US" sz="2400" dirty="0"/>
              <a:t>从消费者角度看，要想成功读取消息，</a:t>
            </a:r>
            <a:r>
              <a:rPr lang="en-US" altLang="zh-CN" sz="2400" dirty="0"/>
              <a:t>ISR</a:t>
            </a:r>
            <a:r>
              <a:rPr lang="zh-CN" altLang="en-US" sz="2400" dirty="0"/>
              <a:t>中的所有副本必须处于同步状态，从而提高了数据的一致性</a:t>
            </a:r>
            <a:endParaRPr lang="en-US" altLang="zh-CN" sz="2400" dirty="0"/>
          </a:p>
          <a:p>
            <a:pPr lvl="1"/>
            <a:r>
              <a:rPr lang="zh-CN" altLang="en-US" sz="2400" dirty="0"/>
              <a:t>可以通过设置参数</a:t>
            </a:r>
            <a:r>
              <a:rPr lang="en-US" altLang="zh-CN" sz="2400" dirty="0"/>
              <a:t>(</a:t>
            </a:r>
            <a:r>
              <a:rPr lang="en-US" altLang="zh-CN" sz="2400" dirty="0" err="1"/>
              <a:t>min.insync.replica</a:t>
            </a:r>
            <a:r>
              <a:rPr lang="en-US" altLang="zh-CN" sz="2400" dirty="0"/>
              <a:t>)</a:t>
            </a:r>
            <a:r>
              <a:rPr lang="zh-CN" altLang="en-US" sz="2400" dirty="0"/>
              <a:t>指定</a:t>
            </a:r>
            <a:r>
              <a:rPr lang="en-US" altLang="zh-CN" sz="2400" dirty="0"/>
              <a:t>ISR</a:t>
            </a:r>
            <a:r>
              <a:rPr lang="zh-CN" altLang="en-US" sz="2400" dirty="0"/>
              <a:t>的最小数量，默认</a:t>
            </a:r>
            <a:r>
              <a:rPr lang="en-US" altLang="zh-CN" sz="2400" dirty="0"/>
              <a:t>1</a:t>
            </a:r>
          </a:p>
          <a:p>
            <a:pPr lvl="2"/>
            <a:r>
              <a:rPr lang="zh-CN" altLang="en-US" sz="2000" dirty="0"/>
              <a:t>适当增加</a:t>
            </a:r>
            <a:r>
              <a:rPr lang="en-US" altLang="zh-CN" sz="2000" dirty="0" err="1"/>
              <a:t>min.insync.replica</a:t>
            </a:r>
            <a:r>
              <a:rPr lang="zh-CN" altLang="en-US" sz="2000" dirty="0"/>
              <a:t>数量，可以提高系统的可用性</a:t>
            </a:r>
            <a:endParaRPr lang="en-US" altLang="zh-CN" sz="2000" dirty="0"/>
          </a:p>
          <a:p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5.2.3 </a:t>
            </a:r>
            <a:r>
              <a:rPr lang="zh-CN" altLang="en-US" dirty="0"/>
              <a:t>分区副本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生产者通过</a:t>
            </a:r>
            <a:r>
              <a:rPr lang="en-US" altLang="zh-CN" dirty="0" err="1"/>
              <a:t>ZooKeeper</a:t>
            </a:r>
            <a:r>
              <a:rPr lang="zh-CN" altLang="en-US" dirty="0"/>
              <a:t>向领导者副本所在的</a:t>
            </a:r>
            <a:r>
              <a:rPr lang="en-US" altLang="zh-CN" dirty="0"/>
              <a:t>Broker</a:t>
            </a:r>
            <a:r>
              <a:rPr lang="zh-CN" altLang="en-US" dirty="0"/>
              <a:t>发送消息，领导者收到消息后需要向生产者返回消息确认收到的通知</a:t>
            </a:r>
            <a:endParaRPr lang="en-US" altLang="zh-CN" dirty="0"/>
          </a:p>
          <a:p>
            <a:pPr lvl="1"/>
            <a:r>
              <a:rPr lang="zh-CN" altLang="en-US" sz="2400" dirty="0"/>
              <a:t>可以对</a:t>
            </a:r>
            <a:r>
              <a:rPr lang="en-US" altLang="zh-CN" sz="2400" dirty="0"/>
              <a:t>acks</a:t>
            </a:r>
            <a:r>
              <a:rPr lang="zh-CN" altLang="en-US" sz="2400" dirty="0"/>
              <a:t>参数进行配置，指定写消息写入成功的界定</a:t>
            </a:r>
            <a:endParaRPr lang="en-US" altLang="zh-CN" sz="2400" dirty="0"/>
          </a:p>
          <a:p>
            <a:pPr lvl="2"/>
            <a:r>
              <a:rPr lang="en-US" altLang="zh-CN" sz="2000" dirty="0"/>
              <a:t>acks=1</a:t>
            </a:r>
            <a:r>
              <a:rPr lang="zh-CN" altLang="en-US" sz="2000" dirty="0"/>
              <a:t>（默认值）：只要领导者副本写入成功</a:t>
            </a:r>
            <a:endParaRPr lang="en-US" altLang="zh-CN" sz="2000" dirty="0"/>
          </a:p>
          <a:p>
            <a:pPr lvl="2"/>
            <a:r>
              <a:rPr lang="en-US" altLang="zh-CN" sz="2000" dirty="0"/>
              <a:t>acks= all</a:t>
            </a:r>
            <a:r>
              <a:rPr lang="zh-CN" altLang="en-US" sz="2000" dirty="0"/>
              <a:t>：需要</a:t>
            </a:r>
            <a:r>
              <a:rPr lang="en-US" altLang="zh-CN" sz="2000" dirty="0"/>
              <a:t>ISR</a:t>
            </a:r>
            <a:r>
              <a:rPr lang="zh-CN" altLang="en-US" sz="2000" dirty="0"/>
              <a:t>中的所有副本写入成功</a:t>
            </a:r>
            <a:endParaRPr lang="en-US" altLang="zh-CN" sz="2000" dirty="0"/>
          </a:p>
          <a:p>
            <a:pPr lvl="2"/>
            <a:r>
              <a:rPr lang="en-US" altLang="zh-CN" sz="2000" dirty="0"/>
              <a:t>acks= 0</a:t>
            </a:r>
            <a:r>
              <a:rPr lang="zh-CN" altLang="en-US" sz="2000" dirty="0"/>
              <a:t>：消息发送后即认为成功（不等待</a:t>
            </a:r>
            <a:r>
              <a:rPr lang="en-US" altLang="zh-CN" sz="2000" dirty="0"/>
              <a:t>Broker</a:t>
            </a:r>
            <a:r>
              <a:rPr lang="zh-CN" altLang="en-US" sz="2000" dirty="0"/>
              <a:t>的响应）</a:t>
            </a:r>
            <a:endParaRPr lang="en-US" altLang="zh-CN" sz="2000" dirty="0"/>
          </a:p>
          <a:p>
            <a:pPr lvl="1"/>
            <a:r>
              <a:rPr lang="en-US" altLang="zh-CN" sz="2400" dirty="0"/>
              <a:t>Broker</a:t>
            </a:r>
            <a:r>
              <a:rPr lang="zh-CN" altLang="en-US" sz="2400" dirty="0"/>
              <a:t>会通过</a:t>
            </a:r>
            <a:r>
              <a:rPr lang="en-US" altLang="zh-CN" sz="2400" dirty="0"/>
              <a:t>acks</a:t>
            </a:r>
            <a:r>
              <a:rPr lang="zh-CN" altLang="en-US" sz="2400" dirty="0"/>
              <a:t>来判断何时向生产者返回响应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消费者组（</a:t>
            </a:r>
            <a:r>
              <a:rPr lang="en-US" altLang="zh-CN" dirty="0"/>
              <a:t>Consumer Group</a:t>
            </a:r>
            <a:r>
              <a:rPr lang="zh-CN" altLang="en-US" dirty="0"/>
              <a:t>）实际上就是一组消费者集合</a:t>
            </a:r>
            <a:endParaRPr lang="en-US" altLang="zh-CN" dirty="0"/>
          </a:p>
          <a:p>
            <a:pPr lvl="1"/>
            <a:r>
              <a:rPr lang="zh-CN" altLang="en-US" sz="2400" dirty="0"/>
              <a:t>每个消费者属于一个特定的消费者组</a:t>
            </a:r>
            <a:endParaRPr lang="en-US" altLang="zh-CN" sz="2400" dirty="0"/>
          </a:p>
          <a:p>
            <a:pPr lvl="1"/>
            <a:r>
              <a:rPr lang="zh-CN" altLang="en-US" sz="2400" dirty="0"/>
              <a:t>消费者通过组名称对自己进行标识</a:t>
            </a:r>
            <a:endParaRPr lang="en-US" altLang="zh-CN" sz="2400" dirty="0"/>
          </a:p>
          <a:p>
            <a:pPr lvl="1"/>
            <a:r>
              <a:rPr lang="zh-CN" altLang="en-US" sz="2400" dirty="0"/>
              <a:t>若不指定组名称，则属于默认的组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24</a:t>
            </a:fld>
            <a:endParaRPr lang="en-US" altLang="zh-C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消费者组（</a:t>
            </a:r>
            <a:r>
              <a:rPr lang="en-US" altLang="zh-CN" dirty="0"/>
              <a:t>Consumer Group</a:t>
            </a:r>
            <a:r>
              <a:rPr lang="zh-CN" altLang="en-US" dirty="0"/>
              <a:t>）实际上就是一组消费者集合</a:t>
            </a:r>
            <a:endParaRPr lang="en-US" altLang="zh-CN" dirty="0"/>
          </a:p>
          <a:p>
            <a:pPr lvl="1"/>
            <a:r>
              <a:rPr lang="zh-CN" altLang="en-US" sz="2400" dirty="0"/>
              <a:t>每个消费者属于一个特定的消费者组</a:t>
            </a:r>
            <a:endParaRPr lang="en-US" altLang="zh-CN" sz="2400" dirty="0"/>
          </a:p>
          <a:p>
            <a:pPr lvl="1"/>
            <a:r>
              <a:rPr lang="zh-CN" altLang="en-US" sz="2400" dirty="0"/>
              <a:t>消费者通过组名称对自己进行标识</a:t>
            </a:r>
            <a:endParaRPr lang="en-US" altLang="zh-CN" sz="2400" dirty="0"/>
          </a:p>
          <a:p>
            <a:pPr lvl="1"/>
            <a:r>
              <a:rPr lang="zh-CN" altLang="en-US" sz="2400" dirty="0"/>
              <a:t>若不指定组名称，则属于默认的组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25</a:t>
            </a:fld>
            <a:endParaRPr lang="en-US" altLang="zh-C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传统消息处理模式</a:t>
            </a:r>
            <a:endParaRPr lang="en-US" altLang="zh-CN" dirty="0"/>
          </a:p>
          <a:p>
            <a:pPr lvl="1"/>
            <a:r>
              <a:rPr lang="zh-CN" altLang="en-US" sz="2400" dirty="0"/>
              <a:t>队列模式</a:t>
            </a:r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endParaRPr lang="en-US" altLang="zh-CN" sz="2400" dirty="0"/>
          </a:p>
          <a:p>
            <a:pPr lvl="1"/>
            <a:r>
              <a:rPr lang="zh-CN" altLang="en-US" sz="2400" dirty="0"/>
              <a:t>发布订阅模式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4509120"/>
            <a:ext cx="4320000" cy="15516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1855" y="2256178"/>
            <a:ext cx="4320000" cy="1591922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26</a:t>
            </a:fld>
            <a:endParaRPr lang="en-US" altLang="zh-C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消费者组模式</a:t>
            </a:r>
            <a:endParaRPr lang="en-US" altLang="zh-CN" dirty="0"/>
          </a:p>
          <a:p>
            <a:pPr lvl="1"/>
            <a:r>
              <a:rPr lang="zh-CN" altLang="en-US" sz="2400" dirty="0"/>
              <a:t>能够同时具备两种模式（队列和发布订阅）的特点</a:t>
            </a:r>
            <a:endParaRPr lang="en-US" altLang="zh-CN" sz="2400" dirty="0"/>
          </a:p>
          <a:p>
            <a:pPr lvl="1"/>
            <a:r>
              <a:rPr lang="zh-CN" altLang="en-US" sz="2400" dirty="0"/>
              <a:t>同一消费者组内不允许多个消费者消费同一分区的消息，不同的消费者组可以同时消费同一分区的消息</a:t>
            </a:r>
            <a:endParaRPr lang="en-US" altLang="zh-CN" sz="2400" dirty="0"/>
          </a:p>
          <a:p>
            <a:pPr lvl="2"/>
            <a:r>
              <a:rPr lang="zh-CN" altLang="en-US" sz="2000" dirty="0"/>
              <a:t>分区与同一消费者组中的消费者是多对一的关系</a:t>
            </a:r>
            <a:endParaRPr lang="en-US" altLang="zh-CN" sz="20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72000" y="4188861"/>
            <a:ext cx="5400000" cy="2345834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消费者组模式</a:t>
            </a:r>
            <a:endParaRPr lang="en-US" altLang="zh-CN" dirty="0"/>
          </a:p>
          <a:p>
            <a:pPr lvl="1"/>
            <a:r>
              <a:rPr lang="zh-CN" altLang="en-US" sz="2400" dirty="0"/>
              <a:t>同一消费者组内不允许多个消费者消费同一分区的消息，不同的消费者组可以同时消费同一分区的消息</a:t>
            </a:r>
            <a:endParaRPr lang="en-US" altLang="zh-CN" sz="2400" dirty="0"/>
          </a:p>
          <a:p>
            <a:pPr lvl="2"/>
            <a:r>
              <a:rPr lang="zh-CN" altLang="en-US" sz="2000" dirty="0"/>
              <a:t>分区与同一消费者组中的消费者是多对一的关系，而不是一对多的关系</a:t>
            </a:r>
            <a:endParaRPr lang="en-US" altLang="zh-CN" sz="2000" dirty="0"/>
          </a:p>
          <a:p>
            <a:pPr lvl="1"/>
            <a:r>
              <a:rPr lang="zh-CN" altLang="en-US" sz="2400" dirty="0"/>
              <a:t>每条消息发送到主题后，只能发送给某个消费者组中的唯一一个消费者实例</a:t>
            </a:r>
            <a:endParaRPr lang="en-US" altLang="zh-CN" sz="2400" dirty="0"/>
          </a:p>
          <a:p>
            <a:pPr lvl="1"/>
            <a:r>
              <a:rPr lang="zh-CN" altLang="en-US" dirty="0"/>
              <a:t>能够同时具备队列两种模式（队列和发布订阅）的特点</a:t>
            </a:r>
            <a:endParaRPr lang="en-US" altLang="zh-CN" dirty="0"/>
          </a:p>
          <a:p>
            <a:pPr lvl="2"/>
            <a:r>
              <a:rPr lang="zh-CN" altLang="en-US" dirty="0"/>
              <a:t>如果所有消费者实例属于同一分组，则该过程就是传统的队列模式</a:t>
            </a:r>
            <a:endParaRPr lang="en-US" altLang="zh-CN" dirty="0"/>
          </a:p>
          <a:p>
            <a:pPr lvl="2"/>
            <a:r>
              <a:rPr lang="zh-CN" altLang="en-US" dirty="0"/>
              <a:t>如果所有的消费者都不属于同一分组，则该过程就是发布订阅模式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5.2.4 </a:t>
            </a:r>
            <a:r>
              <a:rPr lang="zh-CN" altLang="en-US" dirty="0"/>
              <a:t>消费者组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从消费者组与分区的角度看整个</a:t>
            </a:r>
            <a:r>
              <a:rPr lang="en-US" altLang="zh-CN" dirty="0"/>
              <a:t>Kafka</a:t>
            </a:r>
            <a:r>
              <a:rPr lang="zh-CN" altLang="en-US" dirty="0"/>
              <a:t>架构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616" y="1916832"/>
            <a:ext cx="5838825" cy="3381375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5.2.5 </a:t>
            </a:r>
            <a:r>
              <a:rPr lang="zh-CN" altLang="en-US" dirty="0"/>
              <a:t>数据存储机制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的消息由主题进行分类，而主题在物理上又分为多个分区</a:t>
            </a:r>
            <a:endParaRPr lang="en-US" altLang="zh-CN" dirty="0"/>
          </a:p>
          <a:p>
            <a:pPr lvl="1"/>
            <a:r>
              <a:rPr lang="zh-CN" altLang="en-US" sz="2400" dirty="0"/>
              <a:t>在</a:t>
            </a:r>
            <a:r>
              <a:rPr lang="en-US" altLang="zh-CN" sz="2400" dirty="0"/>
              <a:t>Kafka</a:t>
            </a:r>
            <a:r>
              <a:rPr lang="zh-CN" altLang="en-US" sz="2400" dirty="0"/>
              <a:t>数据存储中，每个分区的消息数据存储于一个单独的文件夹中，分区文件夹的命名规则为“主题名</a:t>
            </a:r>
            <a:r>
              <a:rPr lang="en-US" altLang="zh-CN" sz="2400" dirty="0"/>
              <a:t>-</a:t>
            </a:r>
            <a:r>
              <a:rPr lang="zh-CN" altLang="en-US" sz="2400" dirty="0"/>
              <a:t>分区编号”，分区编号从</a:t>
            </a:r>
            <a:r>
              <a:rPr lang="en-US" altLang="zh-CN" sz="2400" dirty="0"/>
              <a:t>0</a:t>
            </a:r>
            <a:r>
              <a:rPr lang="zh-CN" altLang="en-US" sz="2400" dirty="0"/>
              <a:t>开始，依次递增</a:t>
            </a:r>
            <a:endParaRPr lang="en-US" altLang="zh-CN" sz="2400" dirty="0"/>
          </a:p>
          <a:p>
            <a:pPr lvl="1"/>
            <a:r>
              <a:rPr lang="zh-CN" altLang="en-US" sz="2400" dirty="0"/>
              <a:t>一个分区在物理上又由多个段（</a:t>
            </a:r>
            <a:r>
              <a:rPr lang="en-US" altLang="zh-CN" sz="2400" dirty="0"/>
              <a:t>segment</a:t>
            </a:r>
            <a:r>
              <a:rPr lang="zh-CN" altLang="en-US" sz="2400" dirty="0"/>
              <a:t>）组成</a:t>
            </a:r>
            <a:endParaRPr lang="en-US" altLang="zh-CN" sz="2400" dirty="0"/>
          </a:p>
          <a:p>
            <a:pPr lvl="2"/>
            <a:r>
              <a:rPr lang="en-US" altLang="zh-CN" dirty="0"/>
              <a:t>segment</a:t>
            </a:r>
            <a:r>
              <a:rPr lang="zh-CN" altLang="en-US" dirty="0"/>
              <a:t>是</a:t>
            </a:r>
            <a:r>
              <a:rPr lang="en-US" altLang="zh-CN" dirty="0"/>
              <a:t>Kafka</a:t>
            </a:r>
            <a:r>
              <a:rPr lang="zh-CN" altLang="en-US" dirty="0"/>
              <a:t>数据存储的最小单位</a:t>
            </a:r>
            <a:endParaRPr lang="en-US" altLang="zh-CN" dirty="0"/>
          </a:p>
          <a:p>
            <a:pPr lvl="1"/>
            <a:r>
              <a:rPr lang="zh-CN" altLang="en-US" sz="2400" dirty="0"/>
              <a:t>每个分区的消息数据会被分配到多个</a:t>
            </a:r>
            <a:r>
              <a:rPr lang="en-US" altLang="zh-CN" sz="2400" dirty="0"/>
              <a:t>segment</a:t>
            </a:r>
            <a:r>
              <a:rPr lang="zh-CN" altLang="en-US" sz="2400" dirty="0"/>
              <a:t>文件中</a:t>
            </a:r>
            <a:endParaRPr lang="en-US" altLang="zh-CN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30</a:t>
            </a:fld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5.2.5 </a:t>
            </a:r>
            <a:r>
              <a:rPr lang="zh-CN" altLang="en-US" dirty="0"/>
              <a:t>数据存储机制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segment</a:t>
            </a:r>
            <a:r>
              <a:rPr lang="zh-CN" altLang="en-US" dirty="0"/>
              <a:t>文件</a:t>
            </a:r>
            <a:endParaRPr lang="en-US" altLang="zh-CN" dirty="0"/>
          </a:p>
          <a:p>
            <a:pPr lvl="1"/>
            <a:r>
              <a:rPr lang="zh-CN" altLang="en-US" sz="2400" dirty="0"/>
              <a:t>由两部分组成</a:t>
            </a:r>
            <a:endParaRPr lang="en-US" altLang="zh-CN" sz="2400" dirty="0"/>
          </a:p>
          <a:p>
            <a:pPr lvl="2"/>
            <a:r>
              <a:rPr lang="zh-CN" altLang="en-US" sz="2000" dirty="0"/>
              <a:t>索引文件（后缀为</a:t>
            </a:r>
            <a:r>
              <a:rPr lang="en-US" altLang="zh-CN" sz="2000" dirty="0"/>
              <a:t>.index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3"/>
            <a:r>
              <a:rPr lang="zh-CN" altLang="en-US" sz="1800" dirty="0"/>
              <a:t>存储元数据，采用稀疏索引记录对应数据文件中消息的物理偏移地址</a:t>
            </a:r>
            <a:endParaRPr lang="en-US" altLang="zh-CN" sz="1800" dirty="0"/>
          </a:p>
          <a:p>
            <a:pPr lvl="2"/>
            <a:r>
              <a:rPr lang="zh-CN" altLang="en-US" sz="2000" dirty="0"/>
              <a:t>数据文件（后缀为</a:t>
            </a:r>
            <a:r>
              <a:rPr lang="en-US" altLang="zh-CN" sz="2000" dirty="0"/>
              <a:t>.log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3"/>
            <a:r>
              <a:rPr lang="zh-CN" altLang="en-US" sz="1800" dirty="0"/>
              <a:t>存储实际消息</a:t>
            </a:r>
            <a:endParaRPr lang="en-US" altLang="zh-CN" sz="1800" dirty="0"/>
          </a:p>
          <a:p>
            <a:pPr lvl="1"/>
            <a:r>
              <a:rPr lang="zh-CN" altLang="en-US" sz="2400" dirty="0"/>
              <a:t>索引文件和数据文件一一对应，且成对出现</a:t>
            </a:r>
            <a:endParaRPr lang="en-US" altLang="zh-CN" sz="2400" dirty="0"/>
          </a:p>
          <a:p>
            <a:pPr lvl="1"/>
            <a:r>
              <a:rPr lang="zh-CN" altLang="en-US" sz="2400" dirty="0"/>
              <a:t>命名由</a:t>
            </a:r>
            <a:r>
              <a:rPr lang="en-US" altLang="zh-CN" sz="2400" dirty="0"/>
              <a:t>20</a:t>
            </a:r>
            <a:r>
              <a:rPr lang="zh-CN" altLang="en-US" sz="2400" dirty="0"/>
              <a:t>位数字组成（编号长度不够以</a:t>
            </a:r>
            <a:r>
              <a:rPr lang="en-US" altLang="zh-CN" sz="2400" dirty="0"/>
              <a:t>0</a:t>
            </a:r>
            <a:r>
              <a:rPr lang="zh-CN" altLang="en-US" sz="2400" dirty="0"/>
              <a:t>补充）</a:t>
            </a:r>
            <a:endParaRPr lang="en-US" altLang="zh-CN" sz="2400" dirty="0"/>
          </a:p>
          <a:p>
            <a:pPr lvl="2"/>
            <a:r>
              <a:rPr lang="zh-CN" altLang="en-US" sz="2000" dirty="0"/>
              <a:t>同一分区中的第一个</a:t>
            </a:r>
            <a:r>
              <a:rPr lang="en-US" altLang="zh-CN" sz="2000" dirty="0"/>
              <a:t>segment</a:t>
            </a:r>
            <a:r>
              <a:rPr lang="zh-CN" altLang="en-US" sz="2000" dirty="0"/>
              <a:t>文件的文件编号从</a:t>
            </a:r>
            <a:r>
              <a:rPr lang="en-US" altLang="zh-CN" sz="2000" dirty="0"/>
              <a:t>0</a:t>
            </a:r>
            <a:r>
              <a:rPr lang="zh-CN" altLang="en-US" sz="2000" dirty="0"/>
              <a:t>开始，下一个</a:t>
            </a:r>
            <a:r>
              <a:rPr lang="en-US" altLang="zh-CN" sz="2000" dirty="0"/>
              <a:t>segment</a:t>
            </a:r>
            <a:r>
              <a:rPr lang="zh-CN" altLang="en-US" sz="2000" dirty="0"/>
              <a:t>文件的编号为上一个</a:t>
            </a:r>
            <a:r>
              <a:rPr lang="en-US" altLang="zh-CN" sz="2000" dirty="0"/>
              <a:t>segment</a:t>
            </a:r>
            <a:r>
              <a:rPr lang="zh-CN" altLang="en-US" sz="2000" dirty="0"/>
              <a:t>文件最后一条消息的</a:t>
            </a:r>
            <a:r>
              <a:rPr lang="en-US" altLang="zh-CN" sz="2000" dirty="0"/>
              <a:t>offset</a:t>
            </a:r>
            <a:r>
              <a:rPr lang="zh-CN" altLang="en-US" sz="2000" dirty="0"/>
              <a:t>值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31</a:t>
            </a:fld>
            <a:endParaRPr lang="en-US" altLang="zh-CN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5.2.5 </a:t>
            </a:r>
            <a:r>
              <a:rPr lang="zh-CN" altLang="en-US" dirty="0"/>
              <a:t>数据存储机制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/>
              <a:t>segment</a:t>
            </a:r>
            <a:r>
              <a:rPr lang="zh-CN" altLang="en-US" sz="2400" dirty="0"/>
              <a:t>文件</a:t>
            </a:r>
            <a:endParaRPr lang="en-US" altLang="zh-CN" sz="2400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2060848"/>
            <a:ext cx="5338763" cy="37909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5.2.5 </a:t>
            </a:r>
            <a:r>
              <a:rPr lang="zh-CN" altLang="en-US" dirty="0"/>
              <a:t>数据存储机制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dirty="0"/>
              <a:t>Kafka</a:t>
            </a:r>
            <a:r>
              <a:rPr lang="zh-CN" altLang="en-US" dirty="0"/>
              <a:t>查找消息（消费者通过</a:t>
            </a:r>
            <a:r>
              <a:rPr lang="en-US" altLang="zh-CN" dirty="0"/>
              <a:t>offset</a:t>
            </a:r>
            <a:r>
              <a:rPr lang="zh-CN" altLang="en-US" dirty="0"/>
              <a:t>查找）</a:t>
            </a:r>
            <a:endParaRPr lang="en-US" altLang="zh-CN" dirty="0"/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offset</a:t>
            </a:r>
            <a:r>
              <a:rPr lang="zh-CN" altLang="en-US" dirty="0"/>
              <a:t>值定位到索引文件</a:t>
            </a:r>
            <a:endParaRPr lang="en-US" altLang="zh-CN" dirty="0"/>
          </a:p>
          <a:p>
            <a:pPr lvl="1"/>
            <a:r>
              <a:rPr lang="zh-CN" altLang="en-US" dirty="0"/>
              <a:t>通过索引文件查询消息物理偏移地址</a:t>
            </a:r>
            <a:endParaRPr lang="en-US" altLang="zh-CN" dirty="0"/>
          </a:p>
          <a:p>
            <a:pPr lvl="1"/>
            <a:r>
              <a:rPr lang="zh-CN" altLang="en-US" dirty="0"/>
              <a:t>通过物理偏移地址定位消息内容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33</a:t>
            </a:fld>
            <a:endParaRPr lang="en-US" altLang="zh-C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5.2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工作原理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5.3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Kafka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集群搭建</a:t>
            </a: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zh-CN" dirty="0"/>
              <a:t>5.4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命令行操作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5.5 Kafka Java API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5.6 Kafka生产者拦截器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34</a:t>
            </a:fld>
            <a:endParaRPr lang="en-US" altLang="zh-CN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Kafka</a:t>
            </a:r>
            <a:r>
              <a:rPr lang="zh-CN" altLang="en-US" dirty="0"/>
              <a:t>集群搭建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Kafka</a:t>
            </a:r>
            <a:r>
              <a:rPr lang="zh-CN" altLang="en-US" dirty="0"/>
              <a:t>依赖</a:t>
            </a:r>
            <a:r>
              <a:rPr lang="en-US" altLang="zh-CN" dirty="0" err="1"/>
              <a:t>ZooKeeper</a:t>
            </a:r>
            <a:r>
              <a:rPr lang="zh-CN" altLang="en-US" dirty="0"/>
              <a:t>集群，需要提前搭建好</a:t>
            </a:r>
            <a:r>
              <a:rPr lang="en-US" altLang="zh-CN" dirty="0" err="1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r>
              <a:rPr lang="en-US" altLang="zh-CN" dirty="0"/>
              <a:t>Kafka</a:t>
            </a:r>
            <a:r>
              <a:rPr lang="zh-CN" altLang="en-US" dirty="0"/>
              <a:t>集群中各个</a:t>
            </a:r>
            <a:r>
              <a:rPr lang="en-US" altLang="zh-CN" dirty="0"/>
              <a:t>Broker</a:t>
            </a:r>
            <a:r>
              <a:rPr lang="zh-CN" altLang="en-US" dirty="0"/>
              <a:t>地位对等</a:t>
            </a:r>
            <a:endParaRPr lang="en-US" altLang="zh-CN" dirty="0"/>
          </a:p>
          <a:p>
            <a:r>
              <a:rPr lang="zh-CN" altLang="en-US" dirty="0"/>
              <a:t>主要配置步骤</a:t>
            </a:r>
            <a:endParaRPr lang="en-US" altLang="zh-CN" dirty="0"/>
          </a:p>
          <a:p>
            <a:pPr lvl="1"/>
            <a:r>
              <a:rPr lang="zh-CN" altLang="en-US" dirty="0"/>
              <a:t>修改配置文件</a:t>
            </a:r>
            <a:r>
              <a:rPr lang="en-US" altLang="zh-CN" dirty="0"/>
              <a:t>(conf/</a:t>
            </a:r>
            <a:r>
              <a:rPr lang="en-US" altLang="zh-CN" dirty="0" err="1"/>
              <a:t>server.properties</a:t>
            </a:r>
            <a:r>
              <a:rPr lang="en-US" altLang="zh-CN" dirty="0"/>
              <a:t>)</a:t>
            </a:r>
          </a:p>
          <a:p>
            <a:pPr lvl="1"/>
            <a:endParaRPr lang="en-US" altLang="zh-CN" dirty="0"/>
          </a:p>
          <a:p>
            <a:pPr lvl="1"/>
            <a:endParaRPr lang="en-US" altLang="zh-CN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35</a:t>
            </a:fld>
            <a:endParaRPr lang="en-US" altLang="zh-CN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Kafka</a:t>
            </a:r>
            <a:r>
              <a:rPr lang="zh-CN" altLang="en-US" dirty="0"/>
              <a:t>集群搭建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主要配置参数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#Broker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的唯一标识符，全局（集群范围）唯一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broker.id=1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每个主题的分区数量（默认是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num.partitions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=2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消息备份副本数量（默认是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1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）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default.replication.factor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=2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#Socket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监听地址，用于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Broker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监听生产者和消费者请求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>
                <a:solidFill>
                  <a:srgbClr val="FF0000"/>
                </a:solidFill>
                <a:latin typeface="Arial" panose="020B0604020202020204" pitchFamily="34" charset="0"/>
              </a:rPr>
              <a:t>listeners=PLAINTEXT://centos01:9092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消息数据存放位置（可以指定多目录，以逗号分隔）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logdirs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=(</a:t>
            </a: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kafka_home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)/</a:t>
            </a: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kafka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-logs</a:t>
            </a:r>
          </a:p>
          <a:p>
            <a:pPr marL="0" indent="0">
              <a:buNone/>
            </a:pP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#</a:t>
            </a: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ZooKeeper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的连接地址（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/path</a:t>
            </a:r>
            <a:r>
              <a:rPr lang="zh-CN" altLang="en-US" sz="1800" dirty="0">
                <a:solidFill>
                  <a:schemeClr val="tx1"/>
                </a:solidFill>
                <a:latin typeface="Arial" panose="020B0604020202020204" pitchFamily="34" charset="0"/>
              </a:rPr>
              <a:t>可选）</a:t>
            </a:r>
            <a:endParaRPr lang="en-US" altLang="zh-CN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1800" dirty="0" err="1">
                <a:solidFill>
                  <a:schemeClr val="tx1"/>
                </a:solidFill>
                <a:latin typeface="Arial" panose="020B0604020202020204" pitchFamily="34" charset="0"/>
              </a:rPr>
              <a:t>zookeeper.connect</a:t>
            </a:r>
            <a:r>
              <a:rPr lang="en-US" altLang="zh-CN" sz="1800" dirty="0">
                <a:solidFill>
                  <a:schemeClr val="tx1"/>
                </a:solidFill>
                <a:latin typeface="Arial" panose="020B0604020202020204" pitchFamily="34" charset="0"/>
              </a:rPr>
              <a:t>=centos01:2181, centos02:2181, centos03:2181</a:t>
            </a:r>
          </a:p>
          <a:p>
            <a:pPr lvl="1"/>
            <a:endParaRPr lang="en-US" altLang="zh-CN" dirty="0"/>
          </a:p>
          <a:p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36</a:t>
            </a:fld>
            <a:endParaRPr lang="en-US" altLang="zh-CN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5.3 Kafka</a:t>
            </a:r>
            <a:r>
              <a:rPr lang="zh-CN" altLang="en-US" dirty="0"/>
              <a:t>集群搭建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启动</a:t>
            </a:r>
            <a:r>
              <a:rPr lang="en-US" altLang="zh-CN" dirty="0"/>
              <a:t>Kafka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 err="1"/>
              <a:t>ZooKeeper</a:t>
            </a:r>
            <a:r>
              <a:rPr lang="zh-CN" altLang="en-US" dirty="0"/>
              <a:t>集群</a:t>
            </a:r>
            <a:endParaRPr lang="en-US" altLang="zh-CN" dirty="0"/>
          </a:p>
          <a:p>
            <a:pPr lvl="1"/>
            <a:r>
              <a:rPr lang="zh-CN" altLang="en-US" dirty="0"/>
              <a:t>启动</a:t>
            </a:r>
            <a:r>
              <a:rPr lang="en-US" altLang="zh-CN" dirty="0"/>
              <a:t>Kafka</a:t>
            </a:r>
            <a:r>
              <a:rPr lang="zh-CN" altLang="en-US" dirty="0"/>
              <a:t>集群（每个</a:t>
            </a:r>
            <a:r>
              <a:rPr lang="en-US" altLang="zh-CN" dirty="0"/>
              <a:t>Broker</a:t>
            </a:r>
            <a:r>
              <a:rPr lang="zh-CN" altLang="en-US" dirty="0"/>
              <a:t>都需要执行）</a:t>
            </a:r>
            <a:endParaRPr lang="en-US" altLang="zh-CN" dirty="0"/>
          </a:p>
          <a:p>
            <a:pPr lvl="2"/>
            <a:r>
              <a:rPr lang="en-US" altLang="zh-CN" dirty="0"/>
              <a:t>bin/kafka-server-start.sh config/</a:t>
            </a:r>
            <a:r>
              <a:rPr lang="en-US" altLang="zh-CN" dirty="0" err="1"/>
              <a:t>server.properties</a:t>
            </a: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可以使用</a:t>
            </a:r>
            <a:r>
              <a:rPr lang="en-US" altLang="zh-CN" dirty="0"/>
              <a:t>-daemon</a:t>
            </a:r>
            <a:r>
              <a:rPr lang="zh-CN" altLang="en-US" dirty="0"/>
              <a:t>参数以守护进程方式后台启动</a:t>
            </a:r>
            <a:endParaRPr lang="en-US" altLang="zh-CN" dirty="0"/>
          </a:p>
          <a:p>
            <a:pPr marL="457200" lvl="1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37</a:t>
            </a:fld>
            <a:endParaRPr lang="en-US" altLang="zh-CN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5.2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工作原理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5.3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集群搭建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</a:rPr>
              <a:t>5.4 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Kafka</a:t>
            </a:r>
            <a:r>
              <a:rPr lang="zh-CN" altLang="en-US" dirty="0">
                <a:solidFill>
                  <a:srgbClr val="FF0000"/>
                </a:solidFill>
                <a:sym typeface="+mn-ea"/>
              </a:rPr>
              <a:t>命令行操作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5.5 Kafka Java API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5.6 Kafka生产者拦截器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38</a:t>
            </a:fld>
            <a:endParaRPr lang="en-US" altLang="zh-CN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主题管理</a:t>
            </a:r>
            <a:endParaRPr lang="en-US" altLang="zh-CN" dirty="0"/>
          </a:p>
          <a:p>
            <a:r>
              <a:rPr lang="zh-CN" altLang="en-US" dirty="0"/>
              <a:t>消费者管理</a:t>
            </a:r>
            <a:endParaRPr lang="en-US" altLang="zh-CN" dirty="0"/>
          </a:p>
          <a:p>
            <a:r>
              <a:rPr lang="zh-CN" altLang="en-US" dirty="0"/>
              <a:t>创建生产者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39</a:t>
            </a:fld>
            <a:endParaRPr lang="en-US" altLang="zh-CN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主题管理</a:t>
            </a:r>
            <a:endParaRPr lang="en-US" altLang="zh-CN" dirty="0"/>
          </a:p>
          <a:p>
            <a:pPr marL="457200" lvl="1" indent="0">
              <a:buNone/>
            </a:pPr>
            <a:r>
              <a:rPr lang="zh-CN" altLang="en-US" dirty="0"/>
              <a:t>使用</a:t>
            </a:r>
            <a:r>
              <a:rPr lang="en-US" altLang="zh-CN" dirty="0"/>
              <a:t>kafka-topics.sh</a:t>
            </a:r>
            <a:r>
              <a:rPr lang="zh-CN" altLang="en-US" dirty="0"/>
              <a:t>脚本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238" y="2420888"/>
            <a:ext cx="5130970" cy="3816424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40</a:t>
            </a:fld>
            <a:endParaRPr lang="en-US" altLang="zh-CN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主题管理</a:t>
            </a:r>
            <a:endParaRPr lang="en-US" altLang="zh-CN" dirty="0"/>
          </a:p>
          <a:p>
            <a:pPr lvl="1"/>
            <a:r>
              <a:rPr lang="zh-CN" altLang="en-US" dirty="0"/>
              <a:t>创建主题</a:t>
            </a:r>
            <a:endParaRPr lang="en-US" altLang="zh-CN" dirty="0"/>
          </a:p>
          <a:p>
            <a:pPr lvl="2"/>
            <a:r>
              <a:rPr lang="en-US" altLang="zh-CN" dirty="0"/>
              <a:t>bin/kafka-topics.sh \</a:t>
            </a:r>
          </a:p>
          <a:p>
            <a:pPr marL="914400" lvl="2" indent="0">
              <a:buNone/>
            </a:pPr>
            <a:r>
              <a:rPr lang="en-US" altLang="zh-CN" dirty="0"/>
              <a:t>--create \</a:t>
            </a:r>
          </a:p>
          <a:p>
            <a:pPr marL="914400" lvl="2" indent="0">
              <a:buNone/>
            </a:pPr>
            <a:r>
              <a:rPr lang="en-US" altLang="zh-CN" dirty="0"/>
              <a:t>--zookeeper centos01:2181, centos02:2181, centos03:2181\</a:t>
            </a:r>
          </a:p>
          <a:p>
            <a:pPr marL="914400" lvl="2" indent="0">
              <a:buNone/>
            </a:pPr>
            <a:r>
              <a:rPr lang="en-US" altLang="zh-CN" dirty="0"/>
              <a:t>--replication-factor 2 \</a:t>
            </a:r>
          </a:p>
          <a:p>
            <a:pPr marL="914400" lvl="2" indent="0">
              <a:buNone/>
            </a:pPr>
            <a:r>
              <a:rPr lang="en-US" altLang="zh-CN" dirty="0"/>
              <a:t>--partitions 2 \</a:t>
            </a:r>
          </a:p>
          <a:p>
            <a:pPr marL="914400" lvl="2" indent="0">
              <a:buNone/>
            </a:pPr>
            <a:r>
              <a:rPr lang="en-US" altLang="zh-CN" dirty="0"/>
              <a:t>--topic </a:t>
            </a:r>
            <a:r>
              <a:rPr lang="en-US" altLang="zh-CN" dirty="0" err="1"/>
              <a:t>topictest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41</a:t>
            </a:fld>
            <a:endParaRPr lang="en-US" altLang="zh-CN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主题管理</a:t>
            </a:r>
            <a:endParaRPr lang="en-US" altLang="zh-CN" dirty="0"/>
          </a:p>
          <a:p>
            <a:pPr lvl="1"/>
            <a:r>
              <a:rPr lang="zh-CN" altLang="en-US" dirty="0"/>
              <a:t>查询主题列表</a:t>
            </a:r>
            <a:endParaRPr lang="en-US" altLang="zh-CN" dirty="0"/>
          </a:p>
          <a:p>
            <a:pPr lvl="2"/>
            <a:r>
              <a:rPr lang="en-US" altLang="zh-CN" dirty="0"/>
              <a:t>bin/kafka-topics.sh \</a:t>
            </a:r>
          </a:p>
          <a:p>
            <a:pPr marL="914400" lvl="2" indent="0">
              <a:buNone/>
            </a:pPr>
            <a:r>
              <a:rPr lang="en-US" altLang="zh-CN" dirty="0"/>
              <a:t>--list \</a:t>
            </a:r>
          </a:p>
          <a:p>
            <a:pPr marL="914400" lvl="2" indent="0">
              <a:buNone/>
            </a:pPr>
            <a:r>
              <a:rPr lang="en-US" altLang="zh-CN" dirty="0"/>
              <a:t>--zookeeper centos01:2181, centos02:2181, centos03:2181</a:t>
            </a:r>
          </a:p>
          <a:p>
            <a:pPr lvl="1"/>
            <a:r>
              <a:rPr lang="zh-CN" altLang="en-US" dirty="0"/>
              <a:t>查询主题详情</a:t>
            </a:r>
            <a:endParaRPr lang="en-US" altLang="zh-CN" dirty="0"/>
          </a:p>
          <a:p>
            <a:pPr lvl="2"/>
            <a:r>
              <a:rPr lang="en-US" altLang="zh-CN" dirty="0"/>
              <a:t>bin/kafka-topics.sh \</a:t>
            </a:r>
          </a:p>
          <a:p>
            <a:pPr marL="914400" lvl="2" indent="0">
              <a:buNone/>
            </a:pPr>
            <a:r>
              <a:rPr lang="en-US" altLang="zh-CN" dirty="0"/>
              <a:t>--describe \</a:t>
            </a:r>
          </a:p>
          <a:p>
            <a:pPr marL="914400" lvl="2" indent="0">
              <a:buNone/>
            </a:pPr>
            <a:r>
              <a:rPr lang="en-US" altLang="zh-CN" dirty="0"/>
              <a:t>--zookeeper centos01:2181, centos02:2181, centos03:2181\</a:t>
            </a:r>
          </a:p>
          <a:p>
            <a:pPr marL="914400" lvl="2" indent="0">
              <a:buNone/>
            </a:pPr>
            <a:r>
              <a:rPr lang="en-US" altLang="zh-CN" dirty="0"/>
              <a:t>--topic </a:t>
            </a:r>
            <a:r>
              <a:rPr lang="en-US" altLang="zh-CN" dirty="0" err="1"/>
              <a:t>topictest</a:t>
            </a:r>
            <a:endParaRPr lang="zh-CN" altLang="en-US" dirty="0"/>
          </a:p>
          <a:p>
            <a:pPr marL="914400" lvl="2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42</a:t>
            </a:fld>
            <a:endParaRPr lang="en-US" altLang="zh-CN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消费者管理</a:t>
            </a:r>
            <a:endParaRPr lang="en-US" altLang="zh-CN" dirty="0"/>
          </a:p>
          <a:p>
            <a:pPr lvl="1"/>
            <a:r>
              <a:rPr lang="zh-CN" altLang="en-US" dirty="0"/>
              <a:t>创建消费者</a:t>
            </a:r>
            <a:endParaRPr lang="en-US" altLang="zh-CN" dirty="0"/>
          </a:p>
          <a:p>
            <a:pPr lvl="2"/>
            <a:r>
              <a:rPr lang="en-US" altLang="zh-CN" dirty="0"/>
              <a:t>bin/kafka-console-consumer.sh \</a:t>
            </a:r>
          </a:p>
          <a:p>
            <a:pPr marL="914400" lvl="2" indent="0">
              <a:buNone/>
            </a:pPr>
            <a:r>
              <a:rPr lang="en-US" altLang="zh-CN" dirty="0"/>
              <a:t>--bootstrap-server centos01:9092, centos02:9092, centos03:9092 \</a:t>
            </a:r>
          </a:p>
          <a:p>
            <a:pPr marL="914400" lvl="2" indent="0">
              <a:buNone/>
            </a:pPr>
            <a:r>
              <a:rPr lang="en-US" altLang="zh-CN" dirty="0"/>
              <a:t>--topic </a:t>
            </a:r>
            <a:r>
              <a:rPr lang="en-US" altLang="zh-CN" dirty="0" err="1"/>
              <a:t>topictest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bootstrap-server</a:t>
            </a:r>
            <a:r>
              <a:rPr lang="zh-CN" altLang="en-US" dirty="0">
                <a:solidFill>
                  <a:srgbClr val="FF0000"/>
                </a:solidFill>
              </a:rPr>
              <a:t>用来指定</a:t>
            </a:r>
            <a:r>
              <a:rPr lang="en-US" altLang="zh-CN" dirty="0">
                <a:solidFill>
                  <a:srgbClr val="FF0000"/>
                </a:solidFill>
              </a:rPr>
              <a:t>Broker</a:t>
            </a:r>
            <a:r>
              <a:rPr lang="zh-CN" altLang="en-US" dirty="0">
                <a:solidFill>
                  <a:srgbClr val="FF0000"/>
                </a:solidFill>
              </a:rPr>
              <a:t>的访问地址，只要能访问到其中一个即可连接成功</a:t>
            </a:r>
            <a:r>
              <a:rPr lang="zh-CN" altLang="en-US" dirty="0"/>
              <a:t>）</a:t>
            </a:r>
            <a:endParaRPr lang="en-US" altLang="zh-CN" dirty="0"/>
          </a:p>
          <a:p>
            <a:pPr marL="914400" lvl="2" indent="0">
              <a:buNone/>
            </a:pPr>
            <a:endParaRPr lang="zh-CN" altLang="en-US" dirty="0"/>
          </a:p>
          <a:p>
            <a:pPr marL="914400" lvl="2" indent="0">
              <a:buNone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消费者管理</a:t>
            </a:r>
            <a:endParaRPr lang="en-US" altLang="zh-CN" dirty="0"/>
          </a:p>
          <a:p>
            <a:pPr lvl="1"/>
            <a:r>
              <a:rPr lang="zh-CN" altLang="en-US" dirty="0"/>
              <a:t>查询消费者组</a:t>
            </a:r>
            <a:endParaRPr lang="en-US" altLang="zh-CN" dirty="0"/>
          </a:p>
          <a:p>
            <a:pPr lvl="2"/>
            <a:r>
              <a:rPr lang="zh-CN" altLang="en-US" dirty="0"/>
              <a:t>使用</a:t>
            </a:r>
            <a:r>
              <a:rPr lang="en-US" altLang="zh-CN" dirty="0"/>
              <a:t>kafka-consumer-groups.sh</a:t>
            </a:r>
            <a:r>
              <a:rPr lang="zh-CN" altLang="en-US" dirty="0"/>
              <a:t>脚本</a:t>
            </a:r>
            <a:endParaRPr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2708920"/>
            <a:ext cx="6386451" cy="1573750"/>
          </a:xfrm>
          <a:prstGeom prst="rect">
            <a:avLst/>
          </a:prstGeom>
        </p:spPr>
      </p:pic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44</a:t>
            </a:fld>
            <a:endParaRPr lang="en-US" altLang="zh-CN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创建生产者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en-US" altLang="zh-CN" dirty="0"/>
              <a:t>kafka-console-producer.sh </a:t>
            </a:r>
            <a:r>
              <a:rPr lang="zh-CN" altLang="en-US" dirty="0"/>
              <a:t>脚本</a:t>
            </a:r>
            <a:endParaRPr lang="en-US" altLang="zh-CN" dirty="0"/>
          </a:p>
          <a:p>
            <a:pPr lvl="2"/>
            <a:r>
              <a:rPr lang="en-US" altLang="zh-CN" dirty="0"/>
              <a:t>bin/ kafka-console-producer.sh  \</a:t>
            </a:r>
          </a:p>
          <a:p>
            <a:pPr marL="914400" lvl="2" indent="0">
              <a:buNone/>
            </a:pPr>
            <a:r>
              <a:rPr lang="en-US" altLang="zh-CN" dirty="0"/>
              <a:t>--broker-list centos01:9092, centos01:9092, centos01:9092 \</a:t>
            </a:r>
          </a:p>
          <a:p>
            <a:pPr marL="914400" lvl="2" indent="0">
              <a:buNone/>
            </a:pPr>
            <a:r>
              <a:rPr lang="en-US" altLang="zh-CN" dirty="0"/>
              <a:t>--topic </a:t>
            </a:r>
            <a:r>
              <a:rPr lang="en-US" altLang="zh-CN" dirty="0" err="1"/>
              <a:t>topictest</a:t>
            </a:r>
            <a:endParaRPr lang="en-US" altLang="zh-CN" dirty="0"/>
          </a:p>
          <a:p>
            <a:pPr marL="914400" lvl="2" indent="0">
              <a:buNone/>
            </a:pPr>
            <a:endParaRPr lang="en-US" altLang="zh-CN" dirty="0"/>
          </a:p>
          <a:p>
            <a:pPr marL="914400" lvl="2" indent="0">
              <a:buNone/>
            </a:pPr>
            <a:r>
              <a:rPr lang="zh-CN" altLang="en-US" dirty="0"/>
              <a:t>（</a:t>
            </a:r>
            <a:r>
              <a:rPr lang="zh-CN" altLang="en-US" dirty="0">
                <a:solidFill>
                  <a:srgbClr val="FF0000"/>
                </a:solidFill>
              </a:rPr>
              <a:t>注意：</a:t>
            </a:r>
            <a:r>
              <a:rPr lang="en-US" altLang="zh-CN" dirty="0">
                <a:solidFill>
                  <a:srgbClr val="FF0000"/>
                </a:solidFill>
              </a:rPr>
              <a:t> broker-list</a:t>
            </a:r>
            <a:r>
              <a:rPr lang="zh-CN" altLang="en-US" dirty="0">
                <a:solidFill>
                  <a:srgbClr val="FF0000"/>
                </a:solidFill>
              </a:rPr>
              <a:t>用来指定</a:t>
            </a:r>
            <a:r>
              <a:rPr lang="en-US" altLang="zh-CN" dirty="0">
                <a:solidFill>
                  <a:srgbClr val="FF0000"/>
                </a:solidFill>
              </a:rPr>
              <a:t>Broker</a:t>
            </a:r>
            <a:r>
              <a:rPr lang="zh-CN" altLang="en-US" dirty="0">
                <a:solidFill>
                  <a:srgbClr val="FF0000"/>
                </a:solidFill>
              </a:rPr>
              <a:t>的访问地址，只要能访问到其中一个即可连接成功</a:t>
            </a:r>
            <a:r>
              <a:rPr lang="zh-CN" altLang="en-US" dirty="0"/>
              <a:t>）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45</a:t>
            </a:fld>
            <a:endParaRPr lang="en-US" altLang="zh-CN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5.4 Kafka</a:t>
            </a:r>
            <a:r>
              <a:rPr lang="zh-CN" altLang="en-US" dirty="0"/>
              <a:t>命令行操作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更多操作命令</a:t>
            </a:r>
            <a:endParaRPr lang="en-US" altLang="zh-CN" dirty="0"/>
          </a:p>
          <a:p>
            <a:pPr lvl="1"/>
            <a:r>
              <a:rPr lang="en-US" altLang="zh-CN" dirty="0">
                <a:hlinkClick r:id="rId2"/>
              </a:rPr>
              <a:t>https://kafka.apache.org/quickstart</a:t>
            </a:r>
            <a:endParaRPr lang="en-US" altLang="zh-CN" dirty="0"/>
          </a:p>
          <a:p>
            <a:pPr lvl="1"/>
            <a:r>
              <a:rPr lang="zh-CN" altLang="en-US" dirty="0"/>
              <a:t>输入命令不带任何参数，会列出命令的详细用法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46</a:t>
            </a:fld>
            <a:endParaRPr lang="en-US" altLang="zh-CN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5.2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工作原理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5.3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集群搭建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5.4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命令行操作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5.5 Kafka Java API</a:t>
            </a: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5.6 Kafka生产者拦截器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47</a:t>
            </a:fld>
            <a:endParaRPr lang="en-US" altLang="zh-CN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Kafka Java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5.5.1 </a:t>
            </a:r>
            <a:r>
              <a:rPr lang="zh-CN" altLang="en-US" dirty="0"/>
              <a:t>创建生产者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5.5.2 </a:t>
            </a:r>
            <a:r>
              <a:rPr lang="zh-CN" altLang="en-US" dirty="0"/>
              <a:t>创建消费者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48</a:t>
            </a:fld>
            <a:endParaRPr lang="en-US" altLang="zh-CN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5.5.1 </a:t>
            </a:r>
            <a:r>
              <a:rPr lang="zh-CN" altLang="en-US" dirty="0"/>
              <a:t>创建生产者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客户端开发步骤</a:t>
            </a:r>
            <a:endParaRPr lang="en-US" altLang="zh-CN" dirty="0"/>
          </a:p>
          <a:p>
            <a:pPr lvl="1"/>
            <a:r>
              <a:rPr lang="zh-CN" altLang="en-US" dirty="0"/>
              <a:t>配置生产者客户端参数</a:t>
            </a:r>
            <a:endParaRPr lang="en-US" altLang="zh-CN" dirty="0"/>
          </a:p>
          <a:p>
            <a:pPr lvl="1"/>
            <a:r>
              <a:rPr lang="zh-CN" altLang="en-US" dirty="0"/>
              <a:t>创建相应的生产者实例</a:t>
            </a:r>
          </a:p>
          <a:p>
            <a:pPr lvl="1"/>
            <a:r>
              <a:rPr lang="zh-CN" altLang="en-US" dirty="0"/>
              <a:t>构建待发送消息</a:t>
            </a:r>
          </a:p>
          <a:p>
            <a:pPr lvl="1"/>
            <a:r>
              <a:rPr lang="zh-CN" altLang="en-US" dirty="0"/>
              <a:t>发送消息</a:t>
            </a:r>
          </a:p>
          <a:p>
            <a:pPr lvl="1"/>
            <a:r>
              <a:rPr lang="zh-CN" altLang="en-US" dirty="0"/>
              <a:t>关闭生产者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49</a:t>
            </a:fld>
            <a:endParaRPr lang="en-US" altLang="zh-CN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5.5.1 </a:t>
            </a:r>
            <a:r>
              <a:rPr lang="zh-CN" altLang="en-US" dirty="0"/>
              <a:t>创建生产者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序列化</a:t>
            </a:r>
            <a:endParaRPr lang="en-US" altLang="zh-CN" dirty="0"/>
          </a:p>
          <a:p>
            <a:pPr lvl="1"/>
            <a:r>
              <a:rPr lang="zh-CN" altLang="en-US" dirty="0"/>
              <a:t>目的：</a:t>
            </a:r>
            <a:endParaRPr lang="en-US" altLang="zh-CN" dirty="0"/>
          </a:p>
          <a:p>
            <a:pPr lvl="2"/>
            <a:r>
              <a:rPr lang="en-US" altLang="zh-CN" dirty="0"/>
              <a:t>Broker </a:t>
            </a:r>
            <a:r>
              <a:rPr lang="zh-CN" altLang="en-US" dirty="0"/>
              <a:t>端将接收的消息以字节数组（</a:t>
            </a:r>
            <a:r>
              <a:rPr lang="en-US" altLang="zh-CN" dirty="0"/>
              <a:t>byte[]</a:t>
            </a:r>
            <a:r>
              <a:rPr lang="zh-CN" altLang="en-US" dirty="0"/>
              <a:t>）形式存储</a:t>
            </a:r>
          </a:p>
          <a:p>
            <a:pPr lvl="1"/>
            <a:r>
              <a:rPr lang="zh-CN" altLang="en-US" dirty="0"/>
              <a:t>序列化需要实现的接口</a:t>
            </a:r>
            <a:endParaRPr lang="en-US" altLang="zh-CN" dirty="0"/>
          </a:p>
          <a:p>
            <a:pPr lvl="2"/>
            <a:r>
              <a:rPr lang="en-US" altLang="zh-CN" dirty="0" err="1"/>
              <a:t>org.apache.kafka.common.serialization.Serializer</a:t>
            </a:r>
            <a:r>
              <a:rPr lang="en-US" altLang="zh-CN" dirty="0"/>
              <a:t>&lt;T&gt;</a:t>
            </a:r>
          </a:p>
          <a:p>
            <a:pPr lvl="1"/>
            <a:r>
              <a:rPr lang="en-US" altLang="zh-CN" dirty="0"/>
              <a:t>Kafka</a:t>
            </a:r>
            <a:r>
              <a:rPr lang="zh-CN" altLang="en-US" dirty="0"/>
              <a:t>客户端自带的序列化实现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50</a:t>
            </a:fld>
            <a:endParaRPr lang="en-US" altLang="zh-CN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5.5.1 </a:t>
            </a:r>
            <a:r>
              <a:rPr lang="zh-CN" altLang="en-US" dirty="0"/>
              <a:t>创建生产者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发送消息的方式</a:t>
            </a:r>
            <a:endParaRPr lang="en-US" altLang="zh-CN" dirty="0"/>
          </a:p>
          <a:p>
            <a:pPr lvl="1"/>
            <a:r>
              <a:rPr lang="zh-CN" altLang="en-US" dirty="0"/>
              <a:t>发后即忘（</a:t>
            </a:r>
            <a:r>
              <a:rPr lang="en-US" altLang="zh-CN" dirty="0"/>
              <a:t>fire-and-forget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同步（</a:t>
            </a:r>
            <a:r>
              <a:rPr lang="en-US" altLang="zh-CN" dirty="0"/>
              <a:t>sync</a:t>
            </a:r>
            <a:r>
              <a:rPr lang="zh-CN" altLang="en-US" dirty="0"/>
              <a:t>）</a:t>
            </a:r>
          </a:p>
          <a:p>
            <a:pPr lvl="1"/>
            <a:r>
              <a:rPr lang="zh-CN" altLang="en-US" dirty="0"/>
              <a:t>异步（</a:t>
            </a:r>
            <a:r>
              <a:rPr lang="en-US" altLang="zh-CN" dirty="0"/>
              <a:t>async</a:t>
            </a:r>
            <a:r>
              <a:rPr lang="zh-CN" altLang="en-US" dirty="0"/>
              <a:t>）</a:t>
            </a:r>
            <a:br>
              <a:rPr lang="zh-CN" altLang="en-US" dirty="0"/>
            </a:br>
            <a:endParaRPr lang="zh-CN" altLang="en-US" dirty="0"/>
          </a:p>
          <a:p>
            <a:pPr lvl="1"/>
            <a:r>
              <a:rPr lang="zh-CN" altLang="en-US" dirty="0"/>
              <a:t>发送消息的方法</a:t>
            </a:r>
          </a:p>
          <a:p>
            <a:pPr lvl="2"/>
            <a:r>
              <a:rPr lang="en-US" altLang="zh-CN" dirty="0"/>
              <a:t>public Future&lt;</a:t>
            </a:r>
            <a:r>
              <a:rPr lang="en-US" altLang="zh-CN" dirty="0" err="1"/>
              <a:t>RecordMetadata</a:t>
            </a:r>
            <a:r>
              <a:rPr lang="en-US" altLang="zh-CN" dirty="0"/>
              <a:t>&gt; send(</a:t>
            </a:r>
            <a:r>
              <a:rPr lang="en-US" altLang="zh-CN" dirty="0" err="1"/>
              <a:t>ProducerRecord</a:t>
            </a:r>
            <a:r>
              <a:rPr lang="en-US" altLang="zh-CN" dirty="0"/>
              <a:t>&lt;K, V&gt; record) </a:t>
            </a:r>
          </a:p>
          <a:p>
            <a:pPr lvl="2"/>
            <a:r>
              <a:rPr lang="en-US" altLang="zh-CN" dirty="0"/>
              <a:t>public Future&lt;</a:t>
            </a:r>
            <a:r>
              <a:rPr lang="en-US" altLang="zh-CN" dirty="0" err="1"/>
              <a:t>RecordMetadata</a:t>
            </a:r>
            <a:r>
              <a:rPr lang="en-US" altLang="zh-CN" dirty="0"/>
              <a:t>&gt; send(</a:t>
            </a:r>
            <a:r>
              <a:rPr lang="en-US" altLang="zh-CN" dirty="0" err="1"/>
              <a:t>ProducerRecord</a:t>
            </a:r>
            <a:r>
              <a:rPr lang="en-US" altLang="zh-CN" dirty="0"/>
              <a:t>&lt;K, V&gt; record, Callback callback)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51</a:t>
            </a:fld>
            <a:endParaRPr lang="en-US" altLang="zh-CN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 </a:t>
            </a:r>
            <a:r>
              <a:rPr lang="zh-CN" altLang="en-US" dirty="0"/>
              <a:t>创建消费者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客户端开发步骤</a:t>
            </a:r>
          </a:p>
          <a:p>
            <a:pPr lvl="1"/>
            <a:r>
              <a:rPr lang="zh-CN" altLang="en-US" dirty="0"/>
              <a:t>配置客户端参数</a:t>
            </a:r>
          </a:p>
          <a:p>
            <a:pPr lvl="1"/>
            <a:r>
              <a:rPr lang="zh-CN" altLang="en-US" dirty="0"/>
              <a:t>创建相应消费者的实例</a:t>
            </a:r>
            <a:endParaRPr lang="en-US" altLang="zh-CN" dirty="0"/>
          </a:p>
          <a:p>
            <a:pPr lvl="1"/>
            <a:r>
              <a:rPr lang="zh-CN" altLang="en-US" dirty="0"/>
              <a:t>订阅主题</a:t>
            </a:r>
          </a:p>
          <a:p>
            <a:pPr lvl="1"/>
            <a:r>
              <a:rPr lang="zh-CN" altLang="en-US" dirty="0"/>
              <a:t>消息轮询，并处理消息</a:t>
            </a:r>
            <a:endParaRPr lang="en-US" altLang="zh-CN" dirty="0"/>
          </a:p>
          <a:p>
            <a:pPr lvl="2"/>
            <a:r>
              <a:rPr lang="zh-CN" altLang="en-US" dirty="0"/>
              <a:t>循环使用</a:t>
            </a:r>
            <a:r>
              <a:rPr lang="en-US" altLang="zh-CN" dirty="0"/>
              <a:t>poll()</a:t>
            </a:r>
            <a:r>
              <a:rPr lang="zh-CN" altLang="en-US" dirty="0"/>
              <a:t>方法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52</a:t>
            </a:fld>
            <a:endParaRPr lang="en-US" altLang="zh-CN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5.5.2 </a:t>
            </a:r>
            <a:r>
              <a:rPr lang="zh-CN" altLang="en-US" dirty="0"/>
              <a:t>创建消费者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反序列化</a:t>
            </a:r>
            <a:endParaRPr lang="en-US" altLang="zh-CN" dirty="0"/>
          </a:p>
          <a:p>
            <a:pPr lvl="1"/>
            <a:r>
              <a:rPr lang="zh-CN" altLang="en-US" dirty="0"/>
              <a:t>目的：</a:t>
            </a:r>
            <a:endParaRPr lang="en-US" altLang="zh-CN" dirty="0"/>
          </a:p>
          <a:p>
            <a:pPr lvl="2"/>
            <a:r>
              <a:rPr lang="zh-CN" altLang="en-US" dirty="0"/>
              <a:t>将</a:t>
            </a:r>
            <a:r>
              <a:rPr lang="en-US" altLang="zh-CN" dirty="0"/>
              <a:t>Broker </a:t>
            </a:r>
            <a:r>
              <a:rPr lang="zh-CN" altLang="en-US" dirty="0"/>
              <a:t>以字节数组（</a:t>
            </a:r>
            <a:r>
              <a:rPr lang="en-US" altLang="zh-CN" dirty="0"/>
              <a:t>byte[]</a:t>
            </a:r>
            <a:r>
              <a:rPr lang="zh-CN" altLang="en-US" dirty="0"/>
              <a:t>）形式存储的消息反序列换为相应的</a:t>
            </a:r>
            <a:r>
              <a:rPr lang="en-US" altLang="zh-CN" dirty="0"/>
              <a:t>Java</a:t>
            </a:r>
            <a:r>
              <a:rPr lang="zh-CN" altLang="en-US" dirty="0"/>
              <a:t>类型</a:t>
            </a:r>
            <a:endParaRPr lang="en-US" altLang="zh-CN" dirty="0"/>
          </a:p>
          <a:p>
            <a:pPr lvl="2"/>
            <a:r>
              <a:rPr lang="zh-CN" altLang="en-US" dirty="0"/>
              <a:t>必须与序列化前</a:t>
            </a:r>
            <a:r>
              <a:rPr lang="en-US" altLang="zh-CN" dirty="0"/>
              <a:t>Java</a:t>
            </a:r>
            <a:r>
              <a:rPr lang="zh-CN" altLang="en-US" dirty="0"/>
              <a:t>类型一致</a:t>
            </a:r>
          </a:p>
          <a:p>
            <a:pPr lvl="1"/>
            <a:r>
              <a:rPr lang="zh-CN" altLang="en-US" dirty="0"/>
              <a:t>反序列化需要实现的接口</a:t>
            </a:r>
            <a:endParaRPr lang="en-US" altLang="zh-CN" dirty="0"/>
          </a:p>
          <a:p>
            <a:pPr lvl="2"/>
            <a:r>
              <a:rPr lang="en-US" altLang="zh-CN" dirty="0" err="1"/>
              <a:t>org.apache.kafka.common.serialization.DeSerializer</a:t>
            </a:r>
            <a:r>
              <a:rPr lang="en-US" altLang="zh-CN" dirty="0"/>
              <a:t>&lt;T&gt;</a:t>
            </a:r>
          </a:p>
          <a:p>
            <a:pPr lvl="1"/>
            <a:r>
              <a:rPr lang="en-US" altLang="zh-CN" dirty="0"/>
              <a:t>Kafka</a:t>
            </a:r>
            <a:r>
              <a:rPr lang="zh-CN" altLang="en-US" dirty="0"/>
              <a:t>客户端自带的反序列化实现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53</a:t>
            </a:fld>
            <a:endParaRPr lang="en-US" altLang="zh-CN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5.5 Kafka Java API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更多内容，可以参考官方文档</a:t>
            </a:r>
          </a:p>
          <a:p>
            <a:pPr lvl="1"/>
            <a:r>
              <a:rPr lang="zh-CN" altLang="en-US" dirty="0">
                <a:hlinkClick r:id="rId2" action="ppaction://hlinkfile"/>
              </a:rPr>
              <a:t>https://kafka.apache.org/24/javadoc/index.html</a:t>
            </a: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54</a:t>
            </a:fld>
            <a:endParaRPr lang="en-US" altLang="zh-CN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主要内容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5.1 </a:t>
            </a:r>
            <a:r>
              <a:rPr lang="zh-CN" altLang="en-US" dirty="0"/>
              <a:t>什么是</a:t>
            </a:r>
            <a:r>
              <a:rPr lang="en-US" altLang="zh-CN" dirty="0"/>
              <a:t>Kafka</a:t>
            </a:r>
            <a:endParaRPr lang="zh-CN" altLang="en-US" dirty="0"/>
          </a:p>
          <a:p>
            <a:pPr marL="0" indent="0">
              <a:buNone/>
              <a:defRPr/>
            </a:pPr>
            <a:r>
              <a:rPr lang="en-US" altLang="zh-CN" dirty="0"/>
              <a:t>5.2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工作原理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/>
              <a:t>5.3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集群搭建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5.4 </a:t>
            </a:r>
            <a:r>
              <a:rPr lang="en-US" altLang="zh-CN" dirty="0">
                <a:sym typeface="+mn-ea"/>
              </a:rPr>
              <a:t>Kafka</a:t>
            </a:r>
            <a:r>
              <a:rPr lang="zh-CN" altLang="en-US" dirty="0">
                <a:sym typeface="+mn-ea"/>
              </a:rPr>
              <a:t>命令行操作</a:t>
            </a:r>
            <a:endParaRPr lang="en-US" altLang="zh-CN" dirty="0">
              <a:sym typeface="+mn-ea"/>
            </a:endParaRPr>
          </a:p>
          <a:p>
            <a:pPr marL="0" indent="0">
              <a:buNone/>
            </a:pPr>
            <a:r>
              <a:rPr lang="en-US" altLang="zh-CN" dirty="0">
                <a:sym typeface="+mn-ea"/>
              </a:rPr>
              <a:t>5.5 Kafka Java API</a:t>
            </a:r>
          </a:p>
          <a:p>
            <a:pPr marL="0" indent="0">
              <a:buNone/>
            </a:pPr>
            <a:r>
              <a:rPr lang="en-US" altLang="zh-CN" dirty="0">
                <a:solidFill>
                  <a:srgbClr val="FF0000"/>
                </a:solidFill>
                <a:sym typeface="+mn-ea"/>
              </a:rPr>
              <a:t>5.6 Kafka生产者拦截器</a:t>
            </a:r>
            <a:endParaRPr lang="zh-CN" altLang="en-US" dirty="0">
              <a:solidFill>
                <a:srgbClr val="FF00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55</a:t>
            </a:fld>
            <a:endParaRPr lang="en-US" altLang="zh-CN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5.6 Kafka生产者拦截器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生产者拦截器</a:t>
            </a:r>
          </a:p>
          <a:p>
            <a:pPr lvl="1"/>
            <a:r>
              <a:rPr lang="zh-CN" altLang="en-US" dirty="0"/>
              <a:t>在消息发送前对消息内容进行定制化修改，以便满足相应的业务需求，也可以用于在消息发送后获取消息的发送状态、所在分区和偏移量等信息</a:t>
            </a:r>
          </a:p>
          <a:p>
            <a:pPr lvl="1"/>
            <a:r>
              <a:rPr lang="zh-CN" altLang="en-US" dirty="0"/>
              <a:t>用户可以在生产者中指定多个拦截器形成一个拦截器链，生产者会根据指定顺序先后调用</a:t>
            </a:r>
            <a:endParaRPr lang="en-US" altLang="zh-CN" dirty="0"/>
          </a:p>
          <a:p>
            <a:pPr lvl="1"/>
            <a:r>
              <a:rPr lang="zh-CN" altLang="en-US" dirty="0"/>
              <a:t>需要实现生产者接口</a:t>
            </a:r>
            <a:r>
              <a:rPr lang="en-US" altLang="zh-CN" dirty="0" err="1"/>
              <a:t>ProducerInterceptor</a:t>
            </a:r>
            <a:r>
              <a:rPr lang="en-US" altLang="zh-CN" dirty="0"/>
              <a:t> &lt;K,V&gt;</a:t>
            </a:r>
          </a:p>
          <a:p>
            <a:pPr lvl="2"/>
            <a:r>
              <a:rPr lang="en-US" altLang="zh-CN" dirty="0"/>
              <a:t>configure(Map(String,?&gt; configs)</a:t>
            </a:r>
          </a:p>
          <a:p>
            <a:pPr lvl="2"/>
            <a:r>
              <a:rPr lang="en-US" altLang="zh-CN" dirty="0" err="1"/>
              <a:t>onSend</a:t>
            </a:r>
            <a:r>
              <a:rPr lang="en-US" altLang="zh-CN" dirty="0"/>
              <a:t>(</a:t>
            </a:r>
            <a:r>
              <a:rPr lang="en-US" altLang="zh-CN" dirty="0" err="1"/>
              <a:t>ProducerRecord</a:t>
            </a:r>
            <a:r>
              <a:rPr lang="en-US" altLang="zh-CN" dirty="0"/>
              <a:t>&lt;K,V&gt; record)</a:t>
            </a:r>
          </a:p>
          <a:p>
            <a:pPr lvl="2"/>
            <a:r>
              <a:rPr lang="en-US" altLang="zh-CN" dirty="0" err="1"/>
              <a:t>onAcknowledgement</a:t>
            </a:r>
            <a:r>
              <a:rPr lang="en-US" altLang="zh-CN" dirty="0"/>
              <a:t>(</a:t>
            </a:r>
            <a:r>
              <a:rPr lang="en-US" altLang="zh-CN" dirty="0" err="1"/>
              <a:t>RecordMetadata</a:t>
            </a:r>
            <a:r>
              <a:rPr lang="en-US" altLang="zh-CN" dirty="0"/>
              <a:t> </a:t>
            </a:r>
            <a:r>
              <a:rPr lang="en-US" altLang="zh-CN" dirty="0" err="1"/>
              <a:t>metadata,Exception</a:t>
            </a:r>
            <a:r>
              <a:rPr lang="en-US" altLang="zh-CN" dirty="0"/>
              <a:t> exception)</a:t>
            </a:r>
          </a:p>
          <a:p>
            <a:pPr lvl="2"/>
            <a:r>
              <a:rPr lang="en-US" altLang="zh-CN"/>
              <a:t>close</a:t>
            </a:r>
            <a:r>
              <a:rPr lang="en-US" altLang="zh-CN" dirty="0"/>
              <a:t>()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C4B0C5-5BE3-40C4-8F17-4C7632BBC379}" type="slidenum">
              <a:rPr lang="en-US" altLang="zh-CN" smtClean="0"/>
              <a:t>56</a:t>
            </a:fld>
            <a:endParaRPr lang="en-US" altLang="zh-CN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819400" y="4953000"/>
            <a:ext cx="5167313" cy="414338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dist">
              <a:lnSpc>
                <a:spcPct val="80000"/>
              </a:lnSpc>
            </a:pPr>
            <a:r>
              <a:rPr lang="en-US" altLang="zh-CN" sz="1800" b="1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Click to edit company slogan .</a:t>
            </a:r>
          </a:p>
        </p:txBody>
      </p:sp>
      <p:sp>
        <p:nvSpPr>
          <p:cNvPr id="87045" name="WordArt 5"/>
          <p:cNvSpPr>
            <a:spLocks noChangeArrowheads="1" noChangeShapeType="1" noTextEdit="1"/>
          </p:cNvSpPr>
          <p:nvPr/>
        </p:nvSpPr>
        <p:spPr bwMode="gray">
          <a:xfrm>
            <a:off x="3674864" y="4396333"/>
            <a:ext cx="1728192" cy="587896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zh-CN" altLang="en-US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谢谢</a:t>
            </a:r>
            <a:r>
              <a:rPr lang="en-US" altLang="zh-CN" sz="3600" b="1" kern="10" dirty="0">
                <a:ln w="19050">
                  <a:solidFill>
                    <a:schemeClr val="bg1"/>
                  </a:solidFill>
                  <a:round/>
                </a:ln>
                <a:gradFill rotWithShape="1">
                  <a:gsLst>
                    <a:gs pos="0">
                      <a:schemeClr val="accent1">
                        <a:gamma/>
                        <a:shade val="46275"/>
                        <a:invGamma/>
                      </a:schemeClr>
                    </a:gs>
                    <a:gs pos="100000">
                      <a:schemeClr val="accent1"/>
                    </a:gs>
                  </a:gsLst>
                  <a:lin ang="0" scaled="1"/>
                </a:gradFill>
                <a:effectLst>
                  <a:outerShdw dist="63500" dir="2212194" algn="ctr" rotWithShape="0">
                    <a:srgbClr val="868686">
                      <a:alpha val="50000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!</a:t>
            </a:r>
            <a:endParaRPr lang="zh-CN" altLang="en-US" sz="3600" b="1" kern="10" dirty="0">
              <a:ln w="19050">
                <a:solidFill>
                  <a:schemeClr val="bg1"/>
                </a:solidFill>
                <a:round/>
              </a:ln>
              <a:gradFill rotWithShape="1">
                <a:gsLst>
                  <a:gs pos="0">
                    <a:schemeClr val="accent1">
                      <a:gamma/>
                      <a:shade val="46275"/>
                      <a:invGamma/>
                    </a:schemeClr>
                  </a:gs>
                  <a:gs pos="100000">
                    <a:schemeClr val="accent1"/>
                  </a:gs>
                </a:gsLst>
                <a:lin ang="0" scaled="1"/>
              </a:gradFill>
              <a:effectLst>
                <a:outerShdw dist="63500" dir="2212194" algn="ctr" rotWithShape="0">
                  <a:srgbClr val="868686">
                    <a:alpha val="50000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70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8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animBg="1"/>
    </p:bldLst>
  </p:timing>
</p:sld>
</file>

<file path=ppt/theme/theme1.xml><?xml version="1.0" encoding="utf-8"?>
<a:theme xmlns:a="http://schemas.openxmlformats.org/drawingml/2006/main" name="cdb2004c012l">
  <a:themeElements>
    <a:clrScheme name="sample 1">
      <a:dk1>
        <a:srgbClr val="2B166E"/>
      </a:dk1>
      <a:lt1>
        <a:srgbClr val="FFFFFF"/>
      </a:lt1>
      <a:dk2>
        <a:srgbClr val="336699"/>
      </a:dk2>
      <a:lt2>
        <a:srgbClr val="C0C0C0"/>
      </a:lt2>
      <a:accent1>
        <a:srgbClr val="458F8F"/>
      </a:accent1>
      <a:accent2>
        <a:srgbClr val="CCCC00"/>
      </a:accent2>
      <a:accent3>
        <a:srgbClr val="FFFFFF"/>
      </a:accent3>
      <a:accent4>
        <a:srgbClr val="23115D"/>
      </a:accent4>
      <a:accent5>
        <a:srgbClr val="B0C6C6"/>
      </a:accent5>
      <a:accent6>
        <a:srgbClr val="B9B900"/>
      </a:accent6>
      <a:hlink>
        <a:srgbClr val="9999FF"/>
      </a:hlink>
      <a:folHlink>
        <a:srgbClr val="6C9BBE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ample 1">
        <a:dk1>
          <a:srgbClr val="2B166E"/>
        </a:dk1>
        <a:lt1>
          <a:srgbClr val="FFFFFF"/>
        </a:lt1>
        <a:dk2>
          <a:srgbClr val="336699"/>
        </a:dk2>
        <a:lt2>
          <a:srgbClr val="C0C0C0"/>
        </a:lt2>
        <a:accent1>
          <a:srgbClr val="458F8F"/>
        </a:accent1>
        <a:accent2>
          <a:srgbClr val="CCCC00"/>
        </a:accent2>
        <a:accent3>
          <a:srgbClr val="FFFFFF"/>
        </a:accent3>
        <a:accent4>
          <a:srgbClr val="23115D"/>
        </a:accent4>
        <a:accent5>
          <a:srgbClr val="B0C6C6"/>
        </a:accent5>
        <a:accent6>
          <a:srgbClr val="B9B900"/>
        </a:accent6>
        <a:hlink>
          <a:srgbClr val="9999FF"/>
        </a:hlink>
        <a:folHlink>
          <a:srgbClr val="6C9BB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1D528D"/>
        </a:dk1>
        <a:lt1>
          <a:srgbClr val="FFFFFF"/>
        </a:lt1>
        <a:dk2>
          <a:srgbClr val="000000"/>
        </a:dk2>
        <a:lt2>
          <a:srgbClr val="C0C0C0"/>
        </a:lt2>
        <a:accent1>
          <a:srgbClr val="2CA3C8"/>
        </a:accent1>
        <a:accent2>
          <a:srgbClr val="FF9900"/>
        </a:accent2>
        <a:accent3>
          <a:srgbClr val="FFFFFF"/>
        </a:accent3>
        <a:accent4>
          <a:srgbClr val="174578"/>
        </a:accent4>
        <a:accent5>
          <a:srgbClr val="ACCEE0"/>
        </a:accent5>
        <a:accent6>
          <a:srgbClr val="E78A00"/>
        </a:accent6>
        <a:hlink>
          <a:srgbClr val="9999F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666633"/>
        </a:dk1>
        <a:lt1>
          <a:srgbClr val="FFFFFF"/>
        </a:lt1>
        <a:dk2>
          <a:srgbClr val="000000"/>
        </a:dk2>
        <a:lt2>
          <a:srgbClr val="D1C68D"/>
        </a:lt2>
        <a:accent1>
          <a:srgbClr val="C86C62"/>
        </a:accent1>
        <a:accent2>
          <a:srgbClr val="C78DD7"/>
        </a:accent2>
        <a:accent3>
          <a:srgbClr val="FFFFFF"/>
        </a:accent3>
        <a:accent4>
          <a:srgbClr val="56562A"/>
        </a:accent4>
        <a:accent5>
          <a:srgbClr val="E0BAB7"/>
        </a:accent5>
        <a:accent6>
          <a:srgbClr val="B47FC3"/>
        </a:accent6>
        <a:hlink>
          <a:srgbClr val="3197BB"/>
        </a:hlink>
        <a:folHlink>
          <a:srgbClr val="878FA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cdb2004c012l</Template>
  <TotalTime>87</TotalTime>
  <Words>2840</Words>
  <Application>Microsoft Office PowerPoint</Application>
  <PresentationFormat>全屏显示(4:3)</PresentationFormat>
  <Paragraphs>407</Paragraphs>
  <Slides>57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57</vt:i4>
      </vt:variant>
    </vt:vector>
  </HeadingPairs>
  <TitlesOfParts>
    <vt:vector size="63" baseType="lpstr">
      <vt:lpstr>Arial</vt:lpstr>
      <vt:lpstr>Calibri</vt:lpstr>
      <vt:lpstr>Times New Roman</vt:lpstr>
      <vt:lpstr>Verdana</vt:lpstr>
      <vt:lpstr>Wingdings</vt:lpstr>
      <vt:lpstr>cdb2004c012l</vt:lpstr>
      <vt:lpstr>第5章 分布式消息系统Kafka</vt:lpstr>
      <vt:lpstr>主要内容</vt:lpstr>
      <vt:lpstr>5.1 什么是Kafka</vt:lpstr>
      <vt:lpstr>5.1 什么是Kafka</vt:lpstr>
      <vt:lpstr>5.1 什么是Kafka</vt:lpstr>
      <vt:lpstr>5.1 什么是Kafka</vt:lpstr>
      <vt:lpstr>主要内容</vt:lpstr>
      <vt:lpstr>5.2 Kafka工作原理</vt:lpstr>
      <vt:lpstr>5.2.1 Kafka架构</vt:lpstr>
      <vt:lpstr>5.2.1 Kafka架构</vt:lpstr>
      <vt:lpstr>5.2.1 Kafka架构</vt:lpstr>
      <vt:lpstr>5.2.2 主题和分区</vt:lpstr>
      <vt:lpstr>5.2.2 主题和分区</vt:lpstr>
      <vt:lpstr>5.2.2 主题和分区</vt:lpstr>
      <vt:lpstr>5.2.2 主题和分区</vt:lpstr>
      <vt:lpstr>5.2.2 主题和分区</vt:lpstr>
      <vt:lpstr>5.2.3 分区副本</vt:lpstr>
      <vt:lpstr>5.2.3 分区副本</vt:lpstr>
      <vt:lpstr>5.2.3 分区副本</vt:lpstr>
      <vt:lpstr>5.2.3 分区副本</vt:lpstr>
      <vt:lpstr>5.2.3 分区副本</vt:lpstr>
      <vt:lpstr>5.2.3 分区副本</vt:lpstr>
      <vt:lpstr>5.2.3 分区副本</vt:lpstr>
      <vt:lpstr>5.2.4 消费者组</vt:lpstr>
      <vt:lpstr>5.2.4 消费者组</vt:lpstr>
      <vt:lpstr>5.2.4 消费者组</vt:lpstr>
      <vt:lpstr>5.2.4 消费者组</vt:lpstr>
      <vt:lpstr>5.2.4 消费者组</vt:lpstr>
      <vt:lpstr>5.2.4 消费者组</vt:lpstr>
      <vt:lpstr>5.2.5 数据存储机制</vt:lpstr>
      <vt:lpstr>5.2.5 数据存储机制</vt:lpstr>
      <vt:lpstr>5.2.5 数据存储机制</vt:lpstr>
      <vt:lpstr>5.2.5 数据存储机制</vt:lpstr>
      <vt:lpstr>主要内容</vt:lpstr>
      <vt:lpstr>5.3 Kafka集群搭建</vt:lpstr>
      <vt:lpstr>5.3 Kafka集群搭建</vt:lpstr>
      <vt:lpstr>5.3 Kafka集群搭建</vt:lpstr>
      <vt:lpstr>主要内容</vt:lpstr>
      <vt:lpstr>5.4 Kafka命令行操作</vt:lpstr>
      <vt:lpstr>5.4 Kafka命令行操作</vt:lpstr>
      <vt:lpstr>5.4 Kafka命令行操作</vt:lpstr>
      <vt:lpstr>5.4 Kafka命令行操作</vt:lpstr>
      <vt:lpstr>5.4 Kafka命令行操作</vt:lpstr>
      <vt:lpstr>5.4 Kafka命令行操作</vt:lpstr>
      <vt:lpstr>5.4 Kafka命令行操作</vt:lpstr>
      <vt:lpstr>5.4 Kafka命令行操作</vt:lpstr>
      <vt:lpstr>主要内容</vt:lpstr>
      <vt:lpstr>5.5 Kafka Java API</vt:lpstr>
      <vt:lpstr>5.5.1 创建生产者</vt:lpstr>
      <vt:lpstr>5.5.1 创建生产者</vt:lpstr>
      <vt:lpstr>5.5.1 创建生产者</vt:lpstr>
      <vt:lpstr>5.5.2 创建消费者</vt:lpstr>
      <vt:lpstr>5.5.2 创建消费者</vt:lpstr>
      <vt:lpstr>5.5 Kafka Java API</vt:lpstr>
      <vt:lpstr>主要内容</vt:lpstr>
      <vt:lpstr>5.6 Kafka生产者拦截器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hadoop</dc:creator>
  <cp:lastModifiedBy>晓辉 马</cp:lastModifiedBy>
  <cp:revision>335</cp:revision>
  <dcterms:created xsi:type="dcterms:W3CDTF">2017-03-03T01:55:00Z</dcterms:created>
  <dcterms:modified xsi:type="dcterms:W3CDTF">2023-05-20T05:39:58Z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2052-11.1.0.11636</vt:lpwstr>
  </property>
  <property fmtid="{D5CDD505-2E9C-101B-9397-08002B2CF9AE}" pid="3" name="ICV">
    <vt:lpwstr>EFD4C4C689264EEFBC3A3DE0737564B1</vt:lpwstr>
  </property>
</Properties>
</file>