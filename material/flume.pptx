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256" r:id="rId2"/>
    <p:sldId id="309" r:id="rId3"/>
    <p:sldId id="387" r:id="rId4"/>
    <p:sldId id="388" r:id="rId5"/>
    <p:sldId id="389" r:id="rId6"/>
    <p:sldId id="380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381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408" r:id="rId27"/>
    <p:sldId id="382" r:id="rId28"/>
    <p:sldId id="409" r:id="rId29"/>
    <p:sldId id="411" r:id="rId30"/>
    <p:sldId id="410" r:id="rId31"/>
    <p:sldId id="412" r:id="rId32"/>
    <p:sldId id="413" r:id="rId33"/>
    <p:sldId id="414" r:id="rId34"/>
    <p:sldId id="415" r:id="rId35"/>
    <p:sldId id="416" r:id="rId36"/>
    <p:sldId id="417" r:id="rId37"/>
    <p:sldId id="419" r:id="rId38"/>
    <p:sldId id="420" r:id="rId39"/>
    <p:sldId id="386" r:id="rId40"/>
    <p:sldId id="421" r:id="rId41"/>
    <p:sldId id="424" r:id="rId42"/>
    <p:sldId id="422" r:id="rId43"/>
    <p:sldId id="425" r:id="rId44"/>
    <p:sldId id="426" r:id="rId45"/>
    <p:sldId id="427" r:id="rId46"/>
    <p:sldId id="428" r:id="rId47"/>
    <p:sldId id="429" r:id="rId48"/>
    <p:sldId id="430" r:id="rId49"/>
    <p:sldId id="431" r:id="rId50"/>
    <p:sldId id="432" r:id="rId51"/>
    <p:sldId id="384" r:id="rId52"/>
    <p:sldId id="434" r:id="rId53"/>
    <p:sldId id="435" r:id="rId54"/>
    <p:sldId id="436" r:id="rId55"/>
    <p:sldId id="385" r:id="rId56"/>
    <p:sldId id="438" r:id="rId57"/>
    <p:sldId id="439" r:id="rId58"/>
    <p:sldId id="440" r:id="rId59"/>
    <p:sldId id="441" r:id="rId60"/>
    <p:sldId id="442" r:id="rId61"/>
    <p:sldId id="443" r:id="rId62"/>
    <p:sldId id="445" r:id="rId63"/>
    <p:sldId id="444" r:id="rId64"/>
    <p:sldId id="446" r:id="rId65"/>
    <p:sldId id="276" r:id="rId6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6" autoAdjust="0"/>
    <p:restoredTop sz="94660" autoAdjust="0"/>
  </p:normalViewPr>
  <p:slideViewPr>
    <p:cSldViewPr>
      <p:cViewPr varScale="1">
        <p:scale>
          <a:sx n="102" d="100"/>
          <a:sy n="102" d="100"/>
        </p:scale>
        <p:origin x="192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3790A-1AF8-41FD-8613-F98BEDF9DBBB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559C9-FBFA-44CB-8D4D-CA6FFD5A7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ADD5-90F8-4BC9-AC30-6195DA8BE947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D408B-9088-4E1B-998F-9D60A7966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457200" y="4114800"/>
            <a:ext cx="822960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524000" y="49482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609600"/>
            <a:ext cx="8128000" cy="3395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33426" y="6550908"/>
            <a:ext cx="1282990" cy="320675"/>
          </a:xfrm>
        </p:spPr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flume.apache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267200"/>
            <a:ext cx="8229600" cy="762000"/>
          </a:xfrm>
        </p:spPr>
        <p:txBody>
          <a:bodyPr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3600" dirty="0">
                <a:solidFill>
                  <a:schemeClr val="tx2"/>
                </a:solidFill>
                <a:ea typeface="宋体" panose="02010600030101010101" pitchFamily="2" charset="-122"/>
              </a:rPr>
              <a:t>6</a:t>
            </a:r>
            <a:r>
              <a:rPr lang="zh-CN" altLang="en-US" sz="3600" dirty="0">
                <a:solidFill>
                  <a:schemeClr val="tx2"/>
                </a:solidFill>
                <a:ea typeface="宋体" panose="02010600030101010101" pitchFamily="2" charset="-122"/>
              </a:rPr>
              <a:t>章 </a:t>
            </a:r>
            <a:r>
              <a:rPr lang="zh-CN" sz="3600" dirty="0" smtClean="0">
                <a:solidFill>
                  <a:schemeClr val="tx2"/>
                </a:solidFill>
                <a:ea typeface="宋体" panose="02010600030101010101" pitchFamily="2" charset="-122"/>
              </a:rPr>
              <a:t>日志</a:t>
            </a:r>
            <a:r>
              <a:rPr lang="zh-CN" sz="3600" dirty="0">
                <a:solidFill>
                  <a:schemeClr val="tx2"/>
                </a:solidFill>
                <a:ea typeface="宋体" panose="02010600030101010101" pitchFamily="2" charset="-122"/>
              </a:rPr>
              <a:t>收集系统</a:t>
            </a:r>
            <a:r>
              <a:rPr lang="en-US" altLang="zh-CN" sz="3600" dirty="0" err="1">
                <a:solidFill>
                  <a:schemeClr val="tx2"/>
                </a:solidFill>
                <a:ea typeface="宋体" panose="02010600030101010101" pitchFamily="2" charset="-122"/>
              </a:rPr>
              <a:t>Flume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5091113"/>
            <a:ext cx="5943600" cy="609600"/>
          </a:xfrm>
        </p:spPr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 flipV="1">
            <a:off x="179705" y="4645026"/>
            <a:ext cx="1133520" cy="2540"/>
          </a:xfrm>
          <a:prstGeom prst="line">
            <a:avLst/>
          </a:prstGeom>
          <a:noFill/>
          <a:ln w="76200" cap="rnd">
            <a:solidFill>
              <a:schemeClr val="accent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812360" y="4647566"/>
            <a:ext cx="1133520" cy="2540"/>
          </a:xfrm>
          <a:prstGeom prst="line">
            <a:avLst/>
          </a:prstGeom>
          <a:noFill/>
          <a:ln w="7620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6.1 </a:t>
            </a:r>
            <a:r>
              <a:rPr lang="zh-CN" altLang="en-US" dirty="0">
                <a:solidFill>
                  <a:srgbClr val="FF0000"/>
                </a:solidFill>
              </a:rPr>
              <a:t>什么是</a:t>
            </a:r>
            <a:r>
              <a:rPr lang="en-US" altLang="zh-CN" dirty="0">
                <a:solidFill>
                  <a:srgbClr val="FF0000"/>
                </a:solidFill>
              </a:rPr>
              <a:t>Flume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US" altLang="zh-CN" dirty="0"/>
              <a:t>6.2 </a:t>
            </a:r>
            <a:r>
              <a:rPr lang="en-US" altLang="zh-CN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架构原理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6.3 </a:t>
            </a:r>
            <a:r>
              <a:rPr lang="en-US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安装与使用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6.4 </a:t>
            </a:r>
            <a:r>
              <a:rPr lang="zh-CN" altLang="en-US" dirty="0">
                <a:sym typeface="+mn-ea"/>
              </a:rPr>
              <a:t>案例分析：日志监控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6.5 </a:t>
            </a:r>
            <a:r>
              <a:rPr lang="zh-CN" altLang="en-US" dirty="0">
                <a:sym typeface="+mn-ea"/>
              </a:rPr>
              <a:t>拦截器</a:t>
            </a: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6.6 </a:t>
            </a:r>
            <a:r>
              <a:rPr lang="zh-CN" altLang="en-US" dirty="0">
                <a:sym typeface="+mn-ea"/>
              </a:rPr>
              <a:t>选择器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6.7 </a:t>
            </a:r>
            <a:r>
              <a:rPr lang="zh-CN" altLang="en-US" dirty="0">
                <a:sym typeface="+mn-ea"/>
              </a:rPr>
              <a:t>综合案例分析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 </a:t>
            </a:r>
            <a:r>
              <a:rPr lang="zh-CN" altLang="en-US" dirty="0"/>
              <a:t>什么是</a:t>
            </a:r>
            <a:r>
              <a:rPr lang="en-US" altLang="zh-CN" dirty="0"/>
              <a:t>Flume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b="0" dirty="0"/>
          </a:p>
          <a:p>
            <a:endParaRPr lang="en-US" altLang="zh-CN" b="0" dirty="0"/>
          </a:p>
          <a:p>
            <a:r>
              <a:rPr lang="zh-CN" altLang="zh-CN" dirty="0">
                <a:latin typeface="+mn-ea"/>
                <a:cs typeface="宋体" panose="02010600030101010101" pitchFamily="2" charset="-122"/>
              </a:rPr>
              <a:t>官方网址：</a:t>
            </a:r>
            <a:r>
              <a:rPr lang="en-US" altLang="zh-CN" u="sng" dirty="0">
                <a:solidFill>
                  <a:srgbClr val="0000FF"/>
                </a:solidFill>
                <a:latin typeface="+mn-ea"/>
                <a:cs typeface="宋体" panose="02010600030101010101" pitchFamily="2" charset="-122"/>
                <a:hlinkClick r:id="rId2"/>
              </a:rPr>
              <a:t>http://flume.apache.org/</a:t>
            </a:r>
            <a:endParaRPr lang="zh-CN" altLang="en-US" dirty="0"/>
          </a:p>
          <a:p>
            <a:r>
              <a:rPr lang="en-US" altLang="zh-CN" b="0" dirty="0"/>
              <a:t>Flume is a distributed, reliable, and available service for efficiently </a:t>
            </a:r>
            <a:r>
              <a:rPr lang="en-US" altLang="zh-CN" b="0" dirty="0">
                <a:solidFill>
                  <a:srgbClr val="FF0000"/>
                </a:solidFill>
              </a:rPr>
              <a:t>collecting, aggregating, and moving large amounts of log data</a:t>
            </a:r>
            <a:r>
              <a:rPr lang="en-US" altLang="zh-CN" b="0" dirty="0"/>
              <a:t>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</a:t>
            </a:fld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2"/>
            <a:ext cx="161925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 </a:t>
            </a:r>
            <a:r>
              <a:rPr lang="zh-CN" altLang="en-US" dirty="0"/>
              <a:t>什么是</a:t>
            </a:r>
            <a:r>
              <a:rPr lang="en-US" altLang="zh-CN" dirty="0"/>
              <a:t>Flume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Flume	</a:t>
            </a:r>
          </a:p>
          <a:p>
            <a:pPr lvl="1"/>
            <a:r>
              <a:rPr lang="en-US" altLang="zh-CN" dirty="0"/>
              <a:t>Flume</a:t>
            </a:r>
            <a:r>
              <a:rPr lang="zh-CN" altLang="en-US" dirty="0"/>
              <a:t>是分布式的、可靠的和易用的日志收集系统，用于将大量日志从许多不同的源进行</a:t>
            </a:r>
            <a:r>
              <a:rPr lang="zh-CN" altLang="en-US" dirty="0">
                <a:solidFill>
                  <a:srgbClr val="FF0000"/>
                </a:solidFill>
              </a:rPr>
              <a:t>收集、聚合</a:t>
            </a:r>
            <a:r>
              <a:rPr lang="zh-CN" altLang="en-US" dirty="0"/>
              <a:t>，最终移动到一个集中的数据中心进行存储。</a:t>
            </a:r>
            <a:endParaRPr lang="en-US" altLang="zh-CN" dirty="0"/>
          </a:p>
          <a:p>
            <a:pPr lvl="1"/>
            <a:r>
              <a:rPr lang="zh-CN" altLang="en-US" dirty="0"/>
              <a:t>特点</a:t>
            </a:r>
            <a:endParaRPr lang="en-US" altLang="zh-CN" dirty="0"/>
          </a:p>
          <a:p>
            <a:pPr lvl="2"/>
            <a:r>
              <a:rPr lang="zh-CN" altLang="en-US" dirty="0"/>
              <a:t>可靠性</a:t>
            </a:r>
          </a:p>
          <a:p>
            <a:pPr lvl="3"/>
            <a:r>
              <a:rPr lang="zh-CN" altLang="en-US" dirty="0"/>
              <a:t>保证数据不丢失</a:t>
            </a:r>
          </a:p>
          <a:p>
            <a:pPr lvl="2"/>
            <a:r>
              <a:rPr lang="zh-CN" altLang="en-US" dirty="0"/>
              <a:t>可扩展性</a:t>
            </a:r>
          </a:p>
          <a:p>
            <a:pPr lvl="3"/>
            <a:r>
              <a:rPr lang="zh-CN" altLang="en-US" dirty="0"/>
              <a:t>各组件数目可扩展</a:t>
            </a:r>
          </a:p>
          <a:p>
            <a:pPr lvl="2"/>
            <a:r>
              <a:rPr lang="zh-CN" altLang="en-US" dirty="0"/>
              <a:t>高性能</a:t>
            </a:r>
          </a:p>
          <a:p>
            <a:pPr lvl="3"/>
            <a:r>
              <a:rPr lang="zh-CN" altLang="en-US" dirty="0"/>
              <a:t>高吞吐量、能满足海量数据收集需求</a:t>
            </a:r>
          </a:p>
          <a:p>
            <a:pPr lvl="2"/>
            <a:r>
              <a:rPr lang="zh-CN" altLang="en-US" dirty="0"/>
              <a:t>可管理性</a:t>
            </a:r>
          </a:p>
          <a:p>
            <a:pPr lvl="3"/>
            <a:r>
              <a:rPr lang="zh-CN" altLang="en-US" dirty="0"/>
              <a:t>可动态增加、删除组件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 </a:t>
            </a:r>
            <a:r>
              <a:rPr lang="zh-CN" altLang="en-US" dirty="0"/>
              <a:t>什么是</a:t>
            </a:r>
            <a:r>
              <a:rPr lang="en-US" altLang="zh-CN" dirty="0"/>
              <a:t>Flume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发展历史</a:t>
            </a:r>
            <a:endParaRPr lang="en-US" altLang="zh-CN" dirty="0"/>
          </a:p>
          <a:p>
            <a:pPr lvl="1"/>
            <a:r>
              <a:rPr lang="en-US" altLang="zh-CN" dirty="0">
                <a:latin typeface="+mn-ea"/>
                <a:cs typeface="宋体" panose="02010600030101010101" pitchFamily="2" charset="-122"/>
              </a:rPr>
              <a:t>Flume 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作为 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Cloudera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开发的实时日志收集系统，在企业中得到广泛的应用。</a:t>
            </a:r>
            <a:endParaRPr lang="en-US" altLang="zh-CN" dirty="0">
              <a:latin typeface="+mn-ea"/>
              <a:cs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+mn-ea"/>
                <a:cs typeface="宋体" panose="02010600030101010101" pitchFamily="2" charset="-122"/>
              </a:rPr>
              <a:t>Flume 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初始的发行版本目前被统称为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 Flume OG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original generation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），属于 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Cloudera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。</a:t>
            </a:r>
            <a:endParaRPr lang="en-US" altLang="zh-CN" dirty="0">
              <a:latin typeface="+mn-ea"/>
              <a:cs typeface="宋体" panose="02010600030101010101" pitchFamily="2" charset="-122"/>
            </a:endParaRPr>
          </a:p>
          <a:p>
            <a:pPr lvl="2"/>
            <a:r>
              <a:rPr lang="zh-CN" altLang="zh-CN" dirty="0">
                <a:latin typeface="+mn-ea"/>
                <a:cs typeface="宋体" panose="02010600030101010101" pitchFamily="2" charset="-122"/>
              </a:rPr>
              <a:t>但随着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 Flume 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功能的扩展，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Flume OG 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代码工程臃肿、核心组件设计不合理、核心配置不标准等缺点暴露出来，</a:t>
            </a:r>
            <a:endParaRPr lang="en-US" altLang="zh-CN" dirty="0">
              <a:latin typeface="+mn-ea"/>
              <a:cs typeface="宋体" panose="02010600030101010101" pitchFamily="2" charset="-122"/>
            </a:endParaRPr>
          </a:p>
          <a:p>
            <a:pPr lvl="1"/>
            <a:r>
              <a:rPr lang="zh-CN" altLang="zh-CN" dirty="0">
                <a:latin typeface="+mn-ea"/>
                <a:cs typeface="宋体" panose="02010600030101010101" pitchFamily="2" charset="-122"/>
              </a:rPr>
              <a:t>对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 Flume 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进行里程碑式的改动：重构核心组件、核心配置以及代码架构，重构后的版本统称为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 Flume NG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next generation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）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，并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纳入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 Apache </a:t>
            </a:r>
            <a:r>
              <a:rPr lang="zh-CN" altLang="zh-CN" dirty="0">
                <a:latin typeface="+mn-ea"/>
                <a:cs typeface="宋体" panose="02010600030101010101" pitchFamily="2" charset="-122"/>
              </a:rPr>
              <a:t>旗下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l">
              <a:buSzTx/>
              <a:buNone/>
            </a:pPr>
            <a:r>
              <a:rPr lang="en-US" dirty="0"/>
              <a:t>6.1 什么是Flume</a:t>
            </a:r>
          </a:p>
          <a:p>
            <a:pPr marL="0" algn="l">
              <a:buSzTx/>
              <a:buNone/>
            </a:pPr>
            <a:r>
              <a:rPr lang="en-US" altLang="zh-CN" dirty="0">
                <a:solidFill>
                  <a:srgbClr val="FF0000"/>
                </a:solidFill>
              </a:rPr>
              <a:t>6.2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Flume架构原理</a:t>
            </a:r>
          </a:p>
          <a:p>
            <a:pPr marL="0" indent="0">
              <a:buNone/>
            </a:pPr>
            <a:r>
              <a:rPr lang="en-US" altLang="zh-CN" dirty="0"/>
              <a:t>6.3 </a:t>
            </a:r>
            <a:r>
              <a:rPr lang="en-US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安装与使用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6.4 </a:t>
            </a:r>
            <a:r>
              <a:rPr lang="zh-CN" altLang="en-US" dirty="0">
                <a:sym typeface="+mn-ea"/>
              </a:rPr>
              <a:t>案例分析：日志监控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6.5 </a:t>
            </a:r>
            <a:r>
              <a:rPr lang="zh-CN" altLang="en-US" dirty="0">
                <a:sym typeface="+mn-ea"/>
              </a:rPr>
              <a:t>拦截器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6.6 </a:t>
            </a:r>
            <a:r>
              <a:rPr lang="zh-CN" altLang="en-US" dirty="0">
                <a:sym typeface="+mn-ea"/>
              </a:rPr>
              <a:t>选择器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6.7 </a:t>
            </a:r>
            <a:r>
              <a:rPr lang="zh-CN" altLang="en-US" dirty="0">
                <a:sym typeface="+mn-ea"/>
              </a:rPr>
              <a:t>综合案例分析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Flume</a:t>
            </a:r>
            <a:r>
              <a:rPr lang="zh-CN" altLang="en-US" dirty="0"/>
              <a:t>以</a:t>
            </a:r>
            <a:r>
              <a:rPr lang="en-US" altLang="zh-CN" dirty="0"/>
              <a:t>Agent</a:t>
            </a:r>
            <a:r>
              <a:rPr lang="zh-CN" altLang="en-US" dirty="0"/>
              <a:t>为最小的独立运行单位</a:t>
            </a:r>
            <a:endParaRPr lang="en-US" altLang="zh-CN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Agent</a:t>
            </a:r>
            <a:r>
              <a:rPr lang="zh-CN" altLang="en-US" dirty="0"/>
              <a:t>就是一个</a:t>
            </a:r>
            <a:r>
              <a:rPr lang="en-US" altLang="zh-CN" dirty="0"/>
              <a:t>JVM</a:t>
            </a:r>
            <a:r>
              <a:rPr lang="zh-CN" altLang="en-US" dirty="0"/>
              <a:t>进程</a:t>
            </a:r>
            <a:endParaRPr lang="en-US" altLang="zh-CN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Agent</a:t>
            </a:r>
            <a:r>
              <a:rPr lang="zh-CN" altLang="en-US" dirty="0"/>
              <a:t>由</a:t>
            </a:r>
            <a:r>
              <a:rPr lang="en-US" altLang="zh-CN" dirty="0"/>
              <a:t>Source</a:t>
            </a:r>
            <a:r>
              <a:rPr lang="zh-CN" altLang="en-US" dirty="0"/>
              <a:t>、</a:t>
            </a:r>
            <a:r>
              <a:rPr lang="en-US" altLang="zh-CN" dirty="0"/>
              <a:t>Sink</a:t>
            </a:r>
            <a:r>
              <a:rPr lang="zh-CN" altLang="en-US" dirty="0"/>
              <a:t>和</a:t>
            </a:r>
            <a:r>
              <a:rPr lang="en-US" altLang="zh-CN" dirty="0"/>
              <a:t>Channel</a:t>
            </a:r>
            <a:r>
              <a:rPr lang="zh-CN" altLang="en-US" dirty="0"/>
              <a:t>三大组件和其它组件构成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7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408242"/>
            <a:ext cx="5157432" cy="216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Flume Agent</a:t>
            </a:r>
            <a:r>
              <a:rPr lang="zh-CN" altLang="en-US" dirty="0"/>
              <a:t>三大组件</a:t>
            </a:r>
          </a:p>
          <a:p>
            <a:pPr lvl="1"/>
            <a:r>
              <a:rPr lang="en-US" altLang="zh-CN" dirty="0"/>
              <a:t>Source</a:t>
            </a:r>
            <a:r>
              <a:rPr lang="zh-CN" altLang="en-US" dirty="0"/>
              <a:t>（源）</a:t>
            </a:r>
            <a:endParaRPr lang="en-US" altLang="zh-CN" dirty="0"/>
          </a:p>
          <a:p>
            <a:pPr lvl="2"/>
            <a:r>
              <a:rPr lang="zh-CN" altLang="en-US" dirty="0"/>
              <a:t>收集数据，并传递给</a:t>
            </a:r>
            <a:r>
              <a:rPr lang="en-US" altLang="zh-CN" dirty="0"/>
              <a:t>Channel</a:t>
            </a:r>
            <a:endParaRPr lang="zh-CN" altLang="en-US" dirty="0"/>
          </a:p>
          <a:p>
            <a:pPr lvl="1"/>
            <a:r>
              <a:rPr lang="en-US" altLang="zh-CN" dirty="0"/>
              <a:t>Channel</a:t>
            </a:r>
            <a:r>
              <a:rPr lang="zh-CN" altLang="en-US" dirty="0"/>
              <a:t>（通道）</a:t>
            </a:r>
            <a:endParaRPr lang="en-US" altLang="zh-CN" dirty="0"/>
          </a:p>
          <a:p>
            <a:pPr lvl="2"/>
            <a:r>
              <a:rPr lang="zh-CN" altLang="en-US" dirty="0"/>
              <a:t>将</a:t>
            </a:r>
            <a:r>
              <a:rPr lang="en-US" altLang="zh-CN" dirty="0"/>
              <a:t>Source</a:t>
            </a:r>
            <a:r>
              <a:rPr lang="zh-CN" altLang="en-US" dirty="0"/>
              <a:t>传输的数据暂时存放</a:t>
            </a:r>
          </a:p>
          <a:p>
            <a:pPr lvl="1"/>
            <a:r>
              <a:rPr lang="en-US" altLang="zh-CN" dirty="0"/>
              <a:t>Sink</a:t>
            </a:r>
            <a:r>
              <a:rPr lang="zh-CN" altLang="en-US" dirty="0"/>
              <a:t>（接收地）</a:t>
            </a:r>
            <a:endParaRPr lang="en-US" altLang="zh-CN" dirty="0"/>
          </a:p>
          <a:p>
            <a:pPr lvl="2"/>
            <a:r>
              <a:rPr lang="zh-CN" altLang="en-US" dirty="0"/>
              <a:t>从</a:t>
            </a:r>
            <a:r>
              <a:rPr lang="en-US" altLang="zh-CN" dirty="0"/>
              <a:t>Channel</a:t>
            </a:r>
            <a:r>
              <a:rPr lang="zh-CN" altLang="en-US" dirty="0"/>
              <a:t>接收数据，并写入到指定地址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Event</a:t>
            </a:r>
            <a:r>
              <a:rPr lang="zh-CN" altLang="en-US" dirty="0"/>
              <a:t>（事件）</a:t>
            </a:r>
            <a:endParaRPr lang="en-US" altLang="zh-CN" dirty="0"/>
          </a:p>
          <a:p>
            <a:pPr lvl="1"/>
            <a:r>
              <a:rPr lang="en-US" altLang="zh-CN" dirty="0"/>
              <a:t>Event</a:t>
            </a:r>
            <a:r>
              <a:rPr lang="zh-CN" altLang="en-US" dirty="0"/>
              <a:t>是</a:t>
            </a:r>
            <a:r>
              <a:rPr lang="en-US" altLang="zh-CN" dirty="0"/>
              <a:t>Flume</a:t>
            </a:r>
            <a:r>
              <a:rPr lang="zh-CN" altLang="en-US" dirty="0"/>
              <a:t>数据传输的基本单元</a:t>
            </a:r>
          </a:p>
          <a:p>
            <a:pPr lvl="1"/>
            <a:r>
              <a:rPr lang="en-US" altLang="zh-CN" dirty="0"/>
              <a:t>Event</a:t>
            </a:r>
            <a:r>
              <a:rPr lang="zh-CN" altLang="en-US" dirty="0"/>
              <a:t>由</a:t>
            </a:r>
            <a:r>
              <a:rPr lang="en-US" altLang="zh-CN" dirty="0"/>
              <a:t>headers</a:t>
            </a:r>
            <a:r>
              <a:rPr lang="zh-CN" altLang="en-US" dirty="0"/>
              <a:t>（头）和</a:t>
            </a:r>
            <a:r>
              <a:rPr lang="en-US" altLang="zh-CN" dirty="0"/>
              <a:t>body</a:t>
            </a:r>
            <a:r>
              <a:rPr lang="zh-CN" altLang="en-US" dirty="0"/>
              <a:t>（体）构成</a:t>
            </a:r>
          </a:p>
          <a:p>
            <a:pPr lvl="2"/>
            <a:r>
              <a:rPr lang="en-US" altLang="zh-CN" dirty="0"/>
              <a:t>Headers</a:t>
            </a:r>
            <a:r>
              <a:rPr lang="zh-CN" altLang="en-US" dirty="0"/>
              <a:t>包含一些</a:t>
            </a:r>
            <a:r>
              <a:rPr lang="en-US" altLang="zh-CN" dirty="0"/>
              <a:t>key-value</a:t>
            </a:r>
            <a:r>
              <a:rPr lang="zh-CN" altLang="en-US" dirty="0"/>
              <a:t>键值对，存放在</a:t>
            </a:r>
            <a:r>
              <a:rPr lang="en-US" altLang="zh-CN" dirty="0"/>
              <a:t>Map</a:t>
            </a:r>
            <a:r>
              <a:rPr lang="zh-CN" altLang="en-US" dirty="0"/>
              <a:t>集合中</a:t>
            </a:r>
            <a:endParaRPr lang="en-US" altLang="zh-CN" dirty="0"/>
          </a:p>
          <a:p>
            <a:pPr lvl="2"/>
            <a:r>
              <a:rPr lang="en-US" altLang="zh-CN" dirty="0"/>
              <a:t>body</a:t>
            </a:r>
            <a:r>
              <a:rPr lang="zh-CN" altLang="en-US" dirty="0"/>
              <a:t>是一个字节数组，存储实际要传递的数据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9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573016"/>
            <a:ext cx="2652713" cy="24812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Event</a:t>
            </a:r>
            <a:r>
              <a:rPr lang="zh-CN" altLang="en-US" dirty="0"/>
              <a:t>（事件）</a:t>
            </a:r>
            <a:endParaRPr lang="en-US" altLang="zh-CN" dirty="0"/>
          </a:p>
          <a:p>
            <a:pPr lvl="1"/>
            <a:r>
              <a:rPr lang="en-US" altLang="zh-CN" dirty="0"/>
              <a:t>Event</a:t>
            </a:r>
            <a:r>
              <a:rPr lang="zh-CN" altLang="en-US" dirty="0"/>
              <a:t>是</a:t>
            </a:r>
            <a:r>
              <a:rPr lang="en-US" altLang="zh-CN" dirty="0"/>
              <a:t>Flume</a:t>
            </a:r>
            <a:r>
              <a:rPr lang="zh-CN" altLang="en-US" dirty="0"/>
              <a:t>数据传输的基本单元</a:t>
            </a:r>
          </a:p>
          <a:p>
            <a:pPr lvl="1"/>
            <a:r>
              <a:rPr lang="en-US" altLang="zh-CN" dirty="0"/>
              <a:t>Event</a:t>
            </a:r>
            <a:r>
              <a:rPr lang="zh-CN" altLang="en-US" dirty="0"/>
              <a:t>由</a:t>
            </a:r>
            <a:r>
              <a:rPr lang="en-US" altLang="zh-CN" dirty="0"/>
              <a:t>headers</a:t>
            </a:r>
            <a:r>
              <a:rPr lang="zh-CN" altLang="en-US" dirty="0"/>
              <a:t>（头）和</a:t>
            </a:r>
            <a:r>
              <a:rPr lang="en-US" altLang="zh-CN" dirty="0"/>
              <a:t>body</a:t>
            </a:r>
            <a:r>
              <a:rPr lang="zh-CN" altLang="en-US" dirty="0"/>
              <a:t>（体）构成</a:t>
            </a:r>
          </a:p>
          <a:p>
            <a:pPr lvl="2"/>
            <a:r>
              <a:rPr lang="en-US" altLang="zh-CN" dirty="0"/>
              <a:t>Headers</a:t>
            </a:r>
            <a:r>
              <a:rPr lang="zh-CN" altLang="en-US" dirty="0"/>
              <a:t>包含一些</a:t>
            </a:r>
            <a:r>
              <a:rPr lang="en-US" altLang="zh-CN" dirty="0"/>
              <a:t>key-value</a:t>
            </a:r>
            <a:r>
              <a:rPr lang="zh-CN" altLang="en-US" dirty="0"/>
              <a:t>键值对，存放在</a:t>
            </a:r>
            <a:r>
              <a:rPr lang="en-US" altLang="zh-CN" dirty="0"/>
              <a:t>Map</a:t>
            </a:r>
            <a:r>
              <a:rPr lang="zh-CN" altLang="en-US" dirty="0"/>
              <a:t>集合中</a:t>
            </a:r>
            <a:endParaRPr lang="en-US" altLang="zh-CN" dirty="0"/>
          </a:p>
          <a:p>
            <a:pPr lvl="2"/>
            <a:r>
              <a:rPr lang="en-US" altLang="zh-CN" dirty="0"/>
              <a:t>body</a:t>
            </a:r>
            <a:r>
              <a:rPr lang="zh-CN" altLang="en-US" dirty="0"/>
              <a:t>是一个字节数组，存储实际要传递的数据</a:t>
            </a:r>
            <a:endParaRPr lang="en-US" altLang="zh-CN" dirty="0"/>
          </a:p>
          <a:p>
            <a:pPr lvl="1"/>
            <a:r>
              <a:rPr lang="en-US" altLang="zh-CN" dirty="0"/>
              <a:t>Event</a:t>
            </a:r>
            <a:r>
              <a:rPr lang="zh-CN" altLang="en-US" dirty="0"/>
              <a:t>从</a:t>
            </a:r>
            <a:r>
              <a:rPr lang="en-US" altLang="zh-CN" dirty="0"/>
              <a:t>Source</a:t>
            </a:r>
            <a:r>
              <a:rPr lang="zh-CN" altLang="en-US" dirty="0"/>
              <a:t>流向</a:t>
            </a:r>
            <a:r>
              <a:rPr lang="en-US" altLang="zh-CN" dirty="0"/>
              <a:t>Channel</a:t>
            </a:r>
            <a:r>
              <a:rPr lang="zh-CN" altLang="en-US" dirty="0"/>
              <a:t>，再流向</a:t>
            </a:r>
            <a:r>
              <a:rPr lang="en-US" altLang="zh-CN" dirty="0"/>
              <a:t>Sink</a:t>
            </a:r>
            <a:r>
              <a:rPr lang="zh-CN" altLang="en-US" dirty="0"/>
              <a:t>，最终输出到目的地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10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4325417"/>
            <a:ext cx="3600000" cy="21123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主要组件</a:t>
            </a:r>
            <a:r>
              <a:rPr lang="en-US" altLang="zh-CN" dirty="0"/>
              <a:t>-Source</a:t>
            </a:r>
          </a:p>
          <a:p>
            <a:pPr lvl="1"/>
            <a:r>
              <a:rPr lang="zh-CN" altLang="en-US" dirty="0"/>
              <a:t>用于消费外部数据源中的数据（</a:t>
            </a:r>
            <a:r>
              <a:rPr lang="en-US" altLang="zh-CN" dirty="0"/>
              <a:t>event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Source</a:t>
            </a:r>
            <a:r>
              <a:rPr lang="zh-CN" altLang="en-US" dirty="0"/>
              <a:t>可以分为</a:t>
            </a:r>
            <a:r>
              <a:rPr lang="en-US" altLang="zh-CN" dirty="0"/>
              <a:t>event</a:t>
            </a:r>
            <a:r>
              <a:rPr lang="zh-CN" altLang="en-US" dirty="0"/>
              <a:t>驱动和轮询两种类型</a:t>
            </a:r>
            <a:endParaRPr lang="en-US" altLang="zh-CN" dirty="0"/>
          </a:p>
          <a:p>
            <a:pPr lvl="1"/>
            <a:r>
              <a:rPr lang="en-US" altLang="zh-CN" dirty="0"/>
              <a:t>Source</a:t>
            </a:r>
            <a:r>
              <a:rPr lang="zh-CN" altLang="en-US" dirty="0"/>
              <a:t>将数据</a:t>
            </a:r>
            <a:r>
              <a:rPr lang="en-US" altLang="zh-CN" dirty="0"/>
              <a:t>(events)</a:t>
            </a:r>
            <a:r>
              <a:rPr lang="zh-CN" altLang="en-US" dirty="0"/>
              <a:t>传递给一个或多个</a:t>
            </a:r>
            <a:r>
              <a:rPr lang="en-US" altLang="zh-CN" dirty="0"/>
              <a:t>Channel</a:t>
            </a:r>
          </a:p>
          <a:p>
            <a:pPr lvl="2"/>
            <a:r>
              <a:rPr lang="en-US" altLang="zh-CN" dirty="0"/>
              <a:t>Source</a:t>
            </a:r>
            <a:r>
              <a:rPr lang="zh-CN" altLang="en-US" dirty="0"/>
              <a:t>必须至少与一个</a:t>
            </a:r>
            <a:r>
              <a:rPr lang="en-US" altLang="zh-CN" dirty="0"/>
              <a:t>Channel</a:t>
            </a:r>
            <a:r>
              <a:rPr lang="zh-CN" altLang="en-US" dirty="0"/>
              <a:t>关联</a:t>
            </a:r>
            <a:endParaRPr lang="en-US" altLang="zh-CN" dirty="0"/>
          </a:p>
          <a:p>
            <a:pPr lvl="1"/>
            <a:r>
              <a:rPr lang="en-US" altLang="zh-CN" dirty="0"/>
              <a:t>Source</a:t>
            </a:r>
            <a:r>
              <a:rPr lang="zh-CN" altLang="en-US" dirty="0"/>
              <a:t>根据数据源的不同，分为不同的类型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11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005064"/>
            <a:ext cx="7070118" cy="20361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主要组件</a:t>
            </a:r>
            <a:r>
              <a:rPr lang="en-US" altLang="zh-CN" dirty="0"/>
              <a:t>-Channel</a:t>
            </a:r>
          </a:p>
          <a:p>
            <a:pPr lvl="1"/>
            <a:r>
              <a:rPr lang="zh-CN" altLang="en-US" dirty="0"/>
              <a:t>用于存储</a:t>
            </a:r>
            <a:r>
              <a:rPr lang="en-US" altLang="zh-CN" dirty="0"/>
              <a:t>Source</a:t>
            </a:r>
            <a:r>
              <a:rPr lang="zh-CN" altLang="en-US" dirty="0"/>
              <a:t>传入的数据，当数据被</a:t>
            </a:r>
            <a:r>
              <a:rPr lang="en-US" altLang="zh-CN" dirty="0"/>
              <a:t>Sink</a:t>
            </a:r>
            <a:r>
              <a:rPr lang="zh-CN" altLang="en-US" dirty="0"/>
              <a:t>消费后则会自动删除</a:t>
            </a:r>
            <a:endParaRPr lang="en-US" altLang="zh-CN" dirty="0"/>
          </a:p>
          <a:p>
            <a:pPr lvl="1"/>
            <a:r>
              <a:rPr lang="en-US" altLang="zh-CN" dirty="0"/>
              <a:t>Channel</a:t>
            </a:r>
            <a:r>
              <a:rPr lang="zh-CN" altLang="en-US" dirty="0"/>
              <a:t>根据存储方式的不同，分为不同的类型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12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284984"/>
            <a:ext cx="7602664" cy="21673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主要组件</a:t>
            </a:r>
            <a:r>
              <a:rPr lang="en-US" altLang="zh-CN" dirty="0"/>
              <a:t>-Sink</a:t>
            </a:r>
          </a:p>
          <a:p>
            <a:pPr lvl="1"/>
            <a:r>
              <a:rPr lang="zh-CN" altLang="en-US" dirty="0"/>
              <a:t>用于消费</a:t>
            </a:r>
            <a:r>
              <a:rPr lang="en-US" altLang="zh-CN" dirty="0"/>
              <a:t>Channel</a:t>
            </a:r>
            <a:r>
              <a:rPr lang="zh-CN" altLang="en-US" dirty="0"/>
              <a:t>中的数据，并将其持久化输出</a:t>
            </a:r>
            <a:endParaRPr lang="en-US" altLang="zh-CN" dirty="0"/>
          </a:p>
          <a:p>
            <a:pPr lvl="1"/>
            <a:r>
              <a:rPr lang="en-US" altLang="zh-CN" dirty="0"/>
              <a:t>Sink</a:t>
            </a:r>
            <a:r>
              <a:rPr lang="zh-CN" altLang="en-US" dirty="0"/>
              <a:t>根据输出目的地的不同，分为不同的类型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13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780928"/>
            <a:ext cx="6406243" cy="22547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Flume</a:t>
            </a:r>
            <a:r>
              <a:rPr lang="zh-CN" altLang="en-US" dirty="0"/>
              <a:t>可以在一个配置文件中指定一个或多个</a:t>
            </a:r>
            <a:r>
              <a:rPr lang="en-US" altLang="zh-CN" dirty="0"/>
              <a:t>Agent</a:t>
            </a:r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Agent</a:t>
            </a:r>
            <a:r>
              <a:rPr lang="zh-CN" altLang="en-US" dirty="0"/>
              <a:t>都需要指定</a:t>
            </a:r>
            <a:r>
              <a:rPr lang="en-US" altLang="zh-CN" dirty="0"/>
              <a:t>Source</a:t>
            </a:r>
            <a:r>
              <a:rPr lang="zh-CN" altLang="en-US" dirty="0"/>
              <a:t>、</a:t>
            </a:r>
            <a:r>
              <a:rPr lang="en-US" altLang="zh-CN" dirty="0"/>
              <a:t>Channel</a:t>
            </a:r>
            <a:r>
              <a:rPr lang="zh-CN" altLang="en-US" dirty="0"/>
              <a:t>和</a:t>
            </a:r>
            <a:r>
              <a:rPr lang="en-US" altLang="zh-CN" dirty="0"/>
              <a:t>Sink</a:t>
            </a:r>
            <a:r>
              <a:rPr lang="zh-CN" altLang="en-US" dirty="0"/>
              <a:t>三个组件以及它们之间的</a:t>
            </a:r>
            <a:r>
              <a:rPr lang="zh-CN" altLang="en-US" dirty="0">
                <a:solidFill>
                  <a:srgbClr val="FF0000"/>
                </a:solidFill>
              </a:rPr>
              <a:t>绑定关系</a:t>
            </a:r>
            <a:r>
              <a:rPr lang="zh-CN" altLang="en-US" dirty="0"/>
              <a:t>，从而形成一个完整的数据流</a:t>
            </a:r>
            <a:endParaRPr lang="en-US" altLang="zh-CN" dirty="0"/>
          </a:p>
          <a:p>
            <a:pPr lvl="1"/>
            <a:r>
              <a:rPr lang="zh-CN" altLang="en-US" dirty="0"/>
              <a:t>具体使用哪种类型的组件，需要根据业务需要在</a:t>
            </a:r>
            <a:r>
              <a:rPr lang="en-US" altLang="zh-CN" dirty="0"/>
              <a:t>Flume</a:t>
            </a:r>
            <a:r>
              <a:rPr lang="zh-CN" altLang="en-US" dirty="0"/>
              <a:t>配置文件中进行指定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14</a:t>
            </a:fld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Flume</a:t>
            </a:r>
            <a:r>
              <a:rPr lang="zh-CN" altLang="en-US" dirty="0"/>
              <a:t>提供了多节点共同采集数据的功能</a:t>
            </a:r>
            <a:endParaRPr lang="en-US" altLang="zh-CN" dirty="0"/>
          </a:p>
          <a:p>
            <a:pPr lvl="1"/>
            <a:r>
              <a:rPr lang="zh-CN" altLang="en-US" dirty="0"/>
              <a:t>多个</a:t>
            </a:r>
            <a:r>
              <a:rPr lang="en-US" altLang="zh-CN" dirty="0"/>
              <a:t>Agent</a:t>
            </a:r>
            <a:r>
              <a:rPr lang="zh-CN" altLang="en-US" dirty="0"/>
              <a:t>位于不同的服务器上</a:t>
            </a:r>
            <a:endParaRPr lang="en-US" altLang="zh-CN" dirty="0"/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Agent Avro Sink</a:t>
            </a:r>
            <a:r>
              <a:rPr lang="zh-CN" altLang="en-US" dirty="0"/>
              <a:t>将数据输出到另一台服务器上的</a:t>
            </a:r>
            <a:r>
              <a:rPr lang="en-US" altLang="zh-CN" dirty="0"/>
              <a:t>Avro Source</a:t>
            </a:r>
            <a:r>
              <a:rPr lang="zh-CN" altLang="en-US" dirty="0"/>
              <a:t>进行汇总，最终将数据输出到</a:t>
            </a:r>
            <a:r>
              <a:rPr lang="en-US" altLang="zh-CN" dirty="0"/>
              <a:t>HDFS</a:t>
            </a:r>
            <a:r>
              <a:rPr lang="zh-CN" altLang="en-US" dirty="0"/>
              <a:t>文件中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15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280" y="3173812"/>
            <a:ext cx="4320000" cy="29194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Flume</a:t>
            </a:r>
            <a:r>
              <a:rPr lang="zh-CN" altLang="en-US" dirty="0"/>
              <a:t>还支持将数据流多路复用到一个或多个目的地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16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564904"/>
            <a:ext cx="4320000" cy="25194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Flume</a:t>
            </a:r>
            <a:r>
              <a:rPr lang="zh-CN" altLang="en-US" dirty="0"/>
              <a:t>架构原理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  <a:endParaRPr lang="en-US" altLang="zh-CN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Source</a:t>
            </a:r>
            <a:r>
              <a:rPr lang="zh-CN" altLang="en-US" dirty="0"/>
              <a:t>可以对应多个</a:t>
            </a:r>
            <a:r>
              <a:rPr lang="en-US" altLang="zh-CN" dirty="0"/>
              <a:t>Channel</a:t>
            </a:r>
            <a:r>
              <a:rPr lang="zh-CN" altLang="en-US" dirty="0"/>
              <a:t>，一个</a:t>
            </a:r>
            <a:r>
              <a:rPr lang="en-US" altLang="zh-CN" dirty="0"/>
              <a:t>Channel</a:t>
            </a:r>
            <a:r>
              <a:rPr lang="zh-CN" altLang="en-US" dirty="0"/>
              <a:t>也可以对应多个</a:t>
            </a:r>
            <a:r>
              <a:rPr lang="en-US" altLang="zh-CN" dirty="0"/>
              <a:t>Source</a:t>
            </a:r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Channel</a:t>
            </a:r>
            <a:r>
              <a:rPr lang="zh-CN" altLang="en-US" dirty="0"/>
              <a:t>可以对应多个</a:t>
            </a:r>
            <a:r>
              <a:rPr lang="en-US" altLang="zh-CN" dirty="0"/>
              <a:t>Sink</a:t>
            </a:r>
            <a:r>
              <a:rPr lang="zh-CN" altLang="en-US" dirty="0"/>
              <a:t>，但一个</a:t>
            </a:r>
            <a:r>
              <a:rPr lang="en-US" altLang="zh-CN" dirty="0"/>
              <a:t>Sink</a:t>
            </a:r>
            <a:r>
              <a:rPr lang="zh-CN" altLang="en-US" dirty="0"/>
              <a:t>只能对应一个</a:t>
            </a:r>
            <a:r>
              <a:rPr lang="en-US" altLang="zh-CN" dirty="0"/>
              <a:t>Channel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17</a:t>
            </a:fld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l">
              <a:buSzTx/>
              <a:buNone/>
              <a:defRPr/>
            </a:pPr>
            <a:r>
              <a:rPr lang="en-US" altLang="zh-CN" dirty="0"/>
              <a:t>6.1 什么是Flume</a:t>
            </a:r>
          </a:p>
          <a:p>
            <a:pPr marL="0" indent="0">
              <a:buNone/>
              <a:defRPr/>
            </a:pPr>
            <a:r>
              <a:rPr lang="en-US" altLang="zh-CN" dirty="0"/>
              <a:t>6.2 </a:t>
            </a:r>
            <a:r>
              <a:rPr lang="en-US" altLang="zh-CN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架构原理</a:t>
            </a:r>
            <a:endParaRPr lang="en-US" altLang="zh-CN" dirty="0">
              <a:sym typeface="+mn-ea"/>
            </a:endParaRPr>
          </a:p>
          <a:p>
            <a:pPr marL="0" algn="l">
              <a:buSzTx/>
              <a:buNone/>
            </a:pPr>
            <a:r>
              <a:rPr lang="en-US" altLang="zh-CN" dirty="0">
                <a:solidFill>
                  <a:srgbClr val="FF0000"/>
                </a:solidFill>
              </a:rPr>
              <a:t>6.3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Flume安装与使用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6.4 </a:t>
            </a:r>
            <a:r>
              <a:rPr lang="zh-CN" altLang="en-US" dirty="0">
                <a:sym typeface="+mn-ea"/>
              </a:rPr>
              <a:t>案例分析：日志监控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6.5 </a:t>
            </a:r>
            <a:r>
              <a:rPr lang="zh-CN" altLang="en-US" dirty="0">
                <a:sym typeface="+mn-ea"/>
              </a:rPr>
              <a:t>拦截器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6.6 </a:t>
            </a:r>
            <a:r>
              <a:rPr lang="zh-CN" altLang="en-US" dirty="0">
                <a:sym typeface="+mn-ea"/>
              </a:rPr>
              <a:t>选择器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6.7 </a:t>
            </a:r>
            <a:r>
              <a:rPr lang="zh-CN" altLang="en-US" dirty="0">
                <a:sym typeface="+mn-ea"/>
              </a:rPr>
              <a:t>综合案例分析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Flume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主要步骤</a:t>
            </a:r>
            <a:endParaRPr lang="en-US" altLang="zh-CN" dirty="0"/>
          </a:p>
          <a:p>
            <a:pPr lvl="1"/>
            <a:r>
              <a:rPr lang="zh-CN" altLang="en-US" dirty="0"/>
              <a:t>安装</a:t>
            </a:r>
            <a:r>
              <a:rPr lang="en-US" altLang="zh-CN" dirty="0"/>
              <a:t>JDK</a:t>
            </a:r>
          </a:p>
          <a:p>
            <a:pPr lvl="2"/>
            <a:r>
              <a:rPr lang="en-US" altLang="zh-CN" dirty="0"/>
              <a:t>Flume</a:t>
            </a:r>
            <a:r>
              <a:rPr lang="zh-CN" altLang="en-US" dirty="0"/>
              <a:t>依赖</a:t>
            </a:r>
            <a:r>
              <a:rPr lang="en-US" altLang="zh-CN" dirty="0"/>
              <a:t>Java</a:t>
            </a:r>
            <a:r>
              <a:rPr lang="zh-CN" altLang="en-US" dirty="0"/>
              <a:t>环境</a:t>
            </a:r>
            <a:endParaRPr lang="en-US" altLang="zh-CN" dirty="0"/>
          </a:p>
          <a:p>
            <a:pPr lvl="1"/>
            <a:r>
              <a:rPr lang="zh-CN" altLang="en-US" dirty="0"/>
              <a:t>配置环境变量</a:t>
            </a:r>
            <a:endParaRPr lang="en-US" altLang="zh-CN" dirty="0"/>
          </a:p>
          <a:p>
            <a:pPr lvl="2"/>
            <a:r>
              <a:rPr lang="zh-CN" altLang="en-US" dirty="0"/>
              <a:t>修改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/profile</a:t>
            </a:r>
            <a:r>
              <a:rPr lang="zh-CN" altLang="en-US" dirty="0"/>
              <a:t>文件，增加</a:t>
            </a:r>
            <a:endParaRPr lang="en-US" altLang="zh-CN" dirty="0"/>
          </a:p>
          <a:p>
            <a:pPr marL="1314450" lvl="3" indent="0"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export FLUME_HOME=(</a:t>
            </a:r>
            <a:r>
              <a:rPr lang="zh-CN" altLang="en-US" sz="1600" dirty="0">
                <a:solidFill>
                  <a:srgbClr val="FF0000"/>
                </a:solidFill>
              </a:rPr>
              <a:t>安装目录</a:t>
            </a:r>
            <a:r>
              <a:rPr lang="en-US" altLang="zh-CN" sz="1600" dirty="0">
                <a:solidFill>
                  <a:srgbClr val="FF0000"/>
                </a:solidFill>
              </a:rPr>
              <a:t>)</a:t>
            </a:r>
          </a:p>
          <a:p>
            <a:pPr marL="1314450" lvl="3" indent="0"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export PATH={$</a:t>
            </a:r>
            <a:r>
              <a:rPr lang="en-US" altLang="zh-CN" sz="1600" dirty="0">
                <a:solidFill>
                  <a:srgbClr val="FF0000"/>
                </a:solidFill>
                <a:sym typeface="+mn-ea"/>
              </a:rPr>
              <a:t>PATH}</a:t>
            </a:r>
            <a:r>
              <a:rPr lang="en-US" altLang="zh-CN" sz="1600" dirty="0">
                <a:solidFill>
                  <a:srgbClr val="FF0000"/>
                </a:solidFill>
              </a:rPr>
              <a:t>:{$ FLUME_HOME}/bin</a:t>
            </a:r>
          </a:p>
          <a:p>
            <a:pPr lvl="2"/>
            <a:r>
              <a:rPr lang="zh-CN" altLang="en-US" dirty="0"/>
              <a:t>输入</a:t>
            </a:r>
            <a:r>
              <a:rPr lang="en-US" altLang="zh-CN" dirty="0"/>
              <a:t>flume-ng</a:t>
            </a:r>
            <a:r>
              <a:rPr lang="zh-CN" altLang="en-US" dirty="0"/>
              <a:t>命令，测试配置是否成功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Flume</a:t>
            </a:r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Flume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19</a:t>
            </a:fld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Flume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主要步骤</a:t>
            </a:r>
            <a:endParaRPr lang="en-US" altLang="zh-CN" dirty="0"/>
          </a:p>
          <a:p>
            <a:pPr lvl="1"/>
            <a:r>
              <a:rPr lang="zh-CN" altLang="en-US" dirty="0"/>
              <a:t>安装</a:t>
            </a:r>
            <a:r>
              <a:rPr lang="en-US" altLang="zh-CN" dirty="0"/>
              <a:t>JDK</a:t>
            </a:r>
          </a:p>
          <a:p>
            <a:pPr lvl="1"/>
            <a:r>
              <a:rPr lang="zh-CN" altLang="en-US" dirty="0"/>
              <a:t>配置环境变量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Flume</a:t>
            </a:r>
          </a:p>
          <a:p>
            <a:pPr lvl="2"/>
            <a:r>
              <a:rPr lang="en-US" altLang="zh-CN" dirty="0"/>
              <a:t>Flume</a:t>
            </a:r>
            <a:r>
              <a:rPr lang="zh-CN" altLang="en-US" dirty="0"/>
              <a:t>配置文件是</a:t>
            </a:r>
            <a:r>
              <a:rPr lang="en-US" altLang="zh-CN" dirty="0"/>
              <a:t>Java</a:t>
            </a:r>
            <a:r>
              <a:rPr lang="zh-CN" altLang="en-US" dirty="0"/>
              <a:t>属性文件，里面存放</a:t>
            </a:r>
            <a:r>
              <a:rPr lang="en-US" altLang="zh-CN" dirty="0"/>
              <a:t>key/value</a:t>
            </a:r>
            <a:r>
              <a:rPr lang="zh-CN" altLang="en-US" dirty="0"/>
              <a:t>对</a:t>
            </a:r>
            <a:endParaRPr lang="en-US" altLang="zh-CN" dirty="0"/>
          </a:p>
          <a:p>
            <a:pPr lvl="2"/>
            <a:r>
              <a:rPr lang="zh-CN" altLang="en-US" dirty="0"/>
              <a:t>对配置文件名称和路径没有固定要求</a:t>
            </a:r>
            <a:endParaRPr lang="en-US" altLang="zh-CN" dirty="0"/>
          </a:p>
          <a:p>
            <a:pPr lvl="3"/>
            <a:r>
              <a:rPr lang="zh-CN" altLang="en-US" dirty="0"/>
              <a:t>一般都放在安装目录的</a:t>
            </a:r>
            <a:r>
              <a:rPr lang="en-US" altLang="zh-CN" dirty="0"/>
              <a:t>conf</a:t>
            </a:r>
            <a:r>
              <a:rPr lang="zh-CN" altLang="en-US" dirty="0"/>
              <a:t>文件中</a:t>
            </a:r>
            <a:endParaRPr lang="en-US" altLang="zh-CN" dirty="0"/>
          </a:p>
          <a:p>
            <a:pPr marL="1543050" lvl="3">
              <a:buFont typeface="Wingdings" panose="05000000000000000000" pitchFamily="2" charset="2"/>
              <a:buChar char="Ø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20</a:t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Flume</a:t>
            </a:r>
            <a:r>
              <a:rPr lang="zh-CN" altLang="en-US" dirty="0"/>
              <a:t>安装与使用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21</a:t>
            </a:fld>
            <a:endParaRPr lang="en-US" altLang="zh-CN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新建配置文件：</a:t>
            </a:r>
            <a:r>
              <a:rPr lang="en-US" altLang="zh-CN" dirty="0"/>
              <a:t>flume-</a:t>
            </a:r>
            <a:r>
              <a:rPr lang="en-US" altLang="zh-CN" dirty="0" err="1"/>
              <a:t>conf.properties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内容占位符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600" y="1916832"/>
            <a:ext cx="4201111" cy="3415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Flume</a:t>
            </a:r>
            <a:r>
              <a:rPr lang="zh-CN" altLang="en-US" dirty="0"/>
              <a:t>安装与使用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22</a:t>
            </a:fld>
            <a:endParaRPr lang="en-US" altLang="zh-CN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配置属性说明</a:t>
            </a:r>
            <a:endParaRPr lang="en-US" altLang="zh-CN" dirty="0"/>
          </a:p>
          <a:p>
            <a:pPr lvl="1"/>
            <a:r>
              <a:rPr lang="en-US" altLang="zh-CN" dirty="0"/>
              <a:t>a1.sources.type: </a:t>
            </a:r>
            <a:r>
              <a:rPr lang="zh-CN" altLang="en-US" dirty="0"/>
              <a:t>指定</a:t>
            </a:r>
            <a:r>
              <a:rPr lang="en-US" altLang="zh-CN" dirty="0"/>
              <a:t>Source</a:t>
            </a:r>
            <a:r>
              <a:rPr lang="zh-CN" altLang="en-US" dirty="0"/>
              <a:t>的类型</a:t>
            </a:r>
            <a:endParaRPr lang="en-US" altLang="zh-CN" dirty="0"/>
          </a:p>
          <a:p>
            <a:pPr lvl="1"/>
            <a:r>
              <a:rPr lang="en-US" altLang="zh-CN" dirty="0"/>
              <a:t>a1.sinks.k1.type:</a:t>
            </a:r>
            <a:r>
              <a:rPr lang="zh-CN" altLang="en-US" dirty="0"/>
              <a:t>指定</a:t>
            </a:r>
            <a:r>
              <a:rPr lang="en-US" altLang="zh-CN" dirty="0"/>
              <a:t>Sink</a:t>
            </a:r>
            <a:r>
              <a:rPr lang="zh-CN" altLang="en-US" dirty="0"/>
              <a:t>的类型</a:t>
            </a:r>
            <a:endParaRPr lang="en-US" altLang="zh-CN" dirty="0"/>
          </a:p>
          <a:p>
            <a:pPr lvl="1"/>
            <a:r>
              <a:rPr lang="en-US" altLang="zh-CN" dirty="0"/>
              <a:t>a1.channels.c1.type</a:t>
            </a:r>
            <a:r>
              <a:rPr lang="zh-CN" altLang="en-US" dirty="0"/>
              <a:t>：指定</a:t>
            </a:r>
            <a:r>
              <a:rPr lang="en-US" altLang="zh-CN" dirty="0"/>
              <a:t>Channel</a:t>
            </a:r>
            <a:r>
              <a:rPr lang="zh-CN" altLang="en-US" dirty="0"/>
              <a:t>的类型</a:t>
            </a:r>
            <a:endParaRPr lang="en-US" altLang="zh-CN" dirty="0"/>
          </a:p>
          <a:p>
            <a:pPr lvl="1"/>
            <a:r>
              <a:rPr lang="en-US" altLang="zh-CN" dirty="0"/>
              <a:t>a1.channels.c1.capacity</a:t>
            </a:r>
            <a:r>
              <a:rPr lang="zh-CN" altLang="en-US" dirty="0"/>
              <a:t>：存储在</a:t>
            </a:r>
            <a:r>
              <a:rPr lang="en-US" altLang="zh-CN" dirty="0"/>
              <a:t>Channel</a:t>
            </a:r>
            <a:r>
              <a:rPr lang="zh-CN" altLang="en-US" dirty="0"/>
              <a:t>中的最大</a:t>
            </a:r>
            <a:r>
              <a:rPr lang="en-US" altLang="zh-CN" dirty="0"/>
              <a:t>event</a:t>
            </a:r>
            <a:r>
              <a:rPr lang="zh-CN" altLang="en-US" dirty="0"/>
              <a:t>数量</a:t>
            </a:r>
            <a:endParaRPr lang="en-US" altLang="zh-CN" dirty="0"/>
          </a:p>
          <a:p>
            <a:pPr lvl="1"/>
            <a:r>
              <a:rPr lang="en-US" altLang="zh-CN" dirty="0"/>
              <a:t>a1.channels.c1.transactionCapacity</a:t>
            </a:r>
            <a:r>
              <a:rPr lang="zh-CN" altLang="en-US" dirty="0"/>
              <a:t>：在每次事务中，</a:t>
            </a:r>
            <a:r>
              <a:rPr lang="en-US" altLang="zh-CN" dirty="0"/>
              <a:t>Channel</a:t>
            </a:r>
            <a:r>
              <a:rPr lang="zh-CN" altLang="en-US" dirty="0"/>
              <a:t>从</a:t>
            </a:r>
            <a:r>
              <a:rPr lang="en-US" altLang="zh-CN" dirty="0"/>
              <a:t>Source</a:t>
            </a:r>
            <a:r>
              <a:rPr lang="zh-CN" altLang="en-US" dirty="0"/>
              <a:t>接收或发送给</a:t>
            </a:r>
            <a:r>
              <a:rPr lang="en-US" altLang="zh-CN" dirty="0"/>
              <a:t>Sink</a:t>
            </a:r>
            <a:r>
              <a:rPr lang="zh-CN" altLang="en-US" dirty="0"/>
              <a:t>的最大</a:t>
            </a:r>
            <a:r>
              <a:rPr lang="en-US" altLang="zh-CN" dirty="0"/>
              <a:t>event</a:t>
            </a:r>
            <a:r>
              <a:rPr lang="zh-CN" altLang="en-US" dirty="0"/>
              <a:t>数量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Flume</a:t>
            </a:r>
            <a:r>
              <a:rPr lang="zh-CN" altLang="en-US" dirty="0"/>
              <a:t>安装与使用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23</a:t>
            </a:fld>
            <a:endParaRPr lang="en-US" altLang="zh-CN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Flume</a:t>
            </a:r>
            <a:r>
              <a:rPr lang="zh-CN" altLang="en-US" dirty="0"/>
              <a:t>配置文件的特点</a:t>
            </a:r>
            <a:endParaRPr lang="en-US" altLang="zh-CN" dirty="0"/>
          </a:p>
          <a:p>
            <a:pPr lvl="1"/>
            <a:r>
              <a:rPr lang="zh-CN" altLang="en-US" dirty="0"/>
              <a:t>使用纯文本的键值对来进行配置</a:t>
            </a:r>
            <a:endParaRPr lang="en-US" altLang="zh-CN" dirty="0"/>
          </a:p>
          <a:p>
            <a:pPr lvl="1"/>
            <a:r>
              <a:rPr lang="zh-CN" altLang="en-US" dirty="0"/>
              <a:t>在配置文件中，</a:t>
            </a:r>
            <a:r>
              <a:rPr lang="en-US" altLang="zh-CN" dirty="0"/>
              <a:t>Flume</a:t>
            </a:r>
            <a:r>
              <a:rPr lang="zh-CN" altLang="en-US" dirty="0"/>
              <a:t>使用分层结构</a:t>
            </a:r>
            <a:endParaRPr lang="en-US" altLang="zh-CN" dirty="0"/>
          </a:p>
          <a:p>
            <a:pPr lvl="1"/>
            <a:r>
              <a:rPr lang="zh-CN" altLang="en-US" dirty="0"/>
              <a:t>配置文件中，可以包含若干</a:t>
            </a:r>
            <a:r>
              <a:rPr lang="en-US" altLang="zh-CN" dirty="0"/>
              <a:t>Agent</a:t>
            </a:r>
            <a:r>
              <a:rPr lang="zh-CN" altLang="en-US" dirty="0"/>
              <a:t>的配置，但实际只加载</a:t>
            </a:r>
            <a:r>
              <a:rPr lang="en-US" altLang="zh-CN" dirty="0"/>
              <a:t>flume-ng</a:t>
            </a:r>
            <a:r>
              <a:rPr lang="zh-CN" altLang="en-US" dirty="0"/>
              <a:t>命令中指定</a:t>
            </a:r>
            <a:r>
              <a:rPr lang="en-US" altLang="zh-CN" dirty="0"/>
              <a:t>agent</a:t>
            </a:r>
            <a:r>
              <a:rPr lang="zh-CN" altLang="en-US" dirty="0"/>
              <a:t>的配置</a:t>
            </a:r>
            <a:endParaRPr lang="en-US" altLang="zh-CN" dirty="0"/>
          </a:p>
          <a:p>
            <a:pPr lvl="1"/>
            <a:r>
              <a:rPr lang="en-US" altLang="zh-CN" dirty="0"/>
              <a:t>Agent</a:t>
            </a:r>
            <a:r>
              <a:rPr lang="zh-CN" altLang="en-US" dirty="0"/>
              <a:t>的组件可以有若干实例，需要对组件命名</a:t>
            </a:r>
            <a:endParaRPr lang="en-US" altLang="zh-CN" dirty="0"/>
          </a:p>
          <a:p>
            <a:pPr lvl="1"/>
            <a:r>
              <a:rPr lang="zh-CN" altLang="en-US" dirty="0"/>
              <a:t>必须使用指定格式列出组件，该列表称为活跃列表</a:t>
            </a:r>
            <a:endParaRPr lang="en-US" altLang="zh-CN" dirty="0"/>
          </a:p>
          <a:p>
            <a:pPr lvl="2"/>
            <a:r>
              <a:rPr lang="zh-CN" altLang="en-US" dirty="0"/>
              <a:t>不在活跃列表中的组件，不会被创建、配置或启动</a:t>
            </a:r>
            <a:endParaRPr lang="en-US" altLang="zh-CN" dirty="0"/>
          </a:p>
          <a:p>
            <a:pPr lvl="1"/>
            <a:r>
              <a:rPr lang="zh-CN" altLang="en-US" dirty="0"/>
              <a:t>组件属性的配置，使用以下格式的前缀传递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5299263"/>
            <a:ext cx="5760000" cy="3742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Flume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主要步骤</a:t>
            </a:r>
            <a:endParaRPr lang="en-US" altLang="zh-CN" dirty="0"/>
          </a:p>
          <a:p>
            <a:pPr lvl="1"/>
            <a:r>
              <a:rPr lang="zh-CN" altLang="en-US" dirty="0"/>
              <a:t>安装</a:t>
            </a:r>
            <a:r>
              <a:rPr lang="en-US" altLang="zh-CN" dirty="0"/>
              <a:t>JDK</a:t>
            </a:r>
          </a:p>
          <a:p>
            <a:pPr lvl="1"/>
            <a:r>
              <a:rPr lang="zh-CN" altLang="en-US" dirty="0"/>
              <a:t>配置环境变量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Flume</a:t>
            </a:r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Flume</a:t>
            </a:r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Flume</a:t>
            </a: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 flume-ng agent \</a:t>
            </a: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--conf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conf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\</a:t>
            </a: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--conf-file conf/flume-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conf.properties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\</a:t>
            </a: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--name a1 \</a:t>
            </a: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Dflume.root.logger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INFO,console</a:t>
            </a:r>
            <a:r>
              <a:rPr lang="en-US" altLang="zh-CN" dirty="0"/>
              <a:t>	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24</a:t>
            </a:fld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Flume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启动参数说明</a:t>
            </a:r>
            <a:endParaRPr lang="en-US" altLang="zh-CN" dirty="0"/>
          </a:p>
          <a:p>
            <a:pPr lvl="1"/>
            <a:r>
              <a:rPr lang="en-US" altLang="zh-CN" dirty="0"/>
              <a:t>--conf-file:</a:t>
            </a:r>
            <a:r>
              <a:rPr lang="zh-CN" altLang="en-US" dirty="0"/>
              <a:t>指定配置文件位置</a:t>
            </a:r>
            <a:endParaRPr lang="en-US" altLang="zh-CN" dirty="0"/>
          </a:p>
          <a:p>
            <a:pPr lvl="1"/>
            <a:r>
              <a:rPr lang="en-US" altLang="zh-CN" dirty="0"/>
              <a:t>--name:</a:t>
            </a:r>
            <a:r>
              <a:rPr lang="zh-CN" altLang="en-US" dirty="0"/>
              <a:t>指定要运行的</a:t>
            </a:r>
            <a:r>
              <a:rPr lang="en-US" altLang="zh-CN" dirty="0"/>
              <a:t>agent</a:t>
            </a:r>
            <a:r>
              <a:rPr lang="zh-CN" altLang="en-US" dirty="0"/>
              <a:t>的名称</a:t>
            </a:r>
            <a:endParaRPr lang="en-US" altLang="zh-CN" dirty="0"/>
          </a:p>
          <a:p>
            <a:pPr lvl="1"/>
            <a:r>
              <a:rPr lang="en-US" altLang="zh-CN" dirty="0"/>
              <a:t>-</a:t>
            </a:r>
            <a:r>
              <a:rPr lang="en-US" altLang="zh-CN" dirty="0" err="1"/>
              <a:t>Dflume.root.logger</a:t>
            </a:r>
            <a:r>
              <a:rPr lang="zh-CN" altLang="en-US" dirty="0"/>
              <a:t>：指定日志输出级别和输出位置</a:t>
            </a:r>
            <a:endParaRPr lang="en-US" altLang="zh-CN" dirty="0"/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 flume-ng agent </a:t>
            </a: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--conf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conf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--conf-file conf/flume-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conf.properties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--name a1</a:t>
            </a: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Dflume.root.logger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INFO,console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71600" lvl="3" indent="0">
              <a:buNone/>
            </a:pPr>
            <a:r>
              <a:rPr lang="en-US" altLang="zh-CN" dirty="0"/>
              <a:t>	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25</a:t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Flume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endParaRPr lang="en-US" altLang="zh-CN" dirty="0"/>
          </a:p>
          <a:p>
            <a:pPr lvl="1"/>
            <a:r>
              <a:rPr lang="zh-CN" altLang="en-US" dirty="0"/>
              <a:t>新打开一个终端窗口，连接本地</a:t>
            </a:r>
            <a:r>
              <a:rPr lang="en-US" altLang="zh-CN" dirty="0"/>
              <a:t>44444</a:t>
            </a:r>
            <a:r>
              <a:rPr lang="zh-CN" altLang="en-US" dirty="0"/>
              <a:t>端口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telnet localhost 44444</a:t>
            </a:r>
          </a:p>
          <a:p>
            <a:pPr marL="914400" lvl="2" indent="0">
              <a:buNone/>
            </a:pPr>
            <a:r>
              <a:rPr lang="zh-CN" altLang="en-US" dirty="0"/>
              <a:t>（若提示找不到</a:t>
            </a:r>
            <a:r>
              <a:rPr lang="en-US" altLang="zh-CN" dirty="0"/>
              <a:t>telnet</a:t>
            </a:r>
            <a:r>
              <a:rPr lang="zh-CN" altLang="en-US" dirty="0"/>
              <a:t>，可以使用</a:t>
            </a:r>
            <a:r>
              <a:rPr lang="en-US" altLang="zh-CN" dirty="0"/>
              <a:t>yum install –y telnet</a:t>
            </a:r>
            <a:r>
              <a:rPr lang="zh-CN" altLang="en-US" dirty="0"/>
              <a:t>安装）</a:t>
            </a:r>
            <a:endParaRPr lang="en-US" altLang="zh-CN" dirty="0"/>
          </a:p>
          <a:p>
            <a:pPr lvl="1"/>
            <a:r>
              <a:rPr lang="zh-CN" altLang="en-US" dirty="0"/>
              <a:t>输入任意内容后按</a:t>
            </a:r>
            <a:r>
              <a:rPr lang="en-US" altLang="zh-CN" dirty="0"/>
              <a:t>Enter</a:t>
            </a:r>
            <a:r>
              <a:rPr lang="zh-CN" altLang="en-US" dirty="0"/>
              <a:t>键发送</a:t>
            </a:r>
            <a:endParaRPr lang="en-US" altLang="zh-CN" dirty="0"/>
          </a:p>
          <a:p>
            <a:pPr lvl="1"/>
            <a:r>
              <a:rPr lang="zh-CN" altLang="en-US" dirty="0"/>
              <a:t>观察</a:t>
            </a:r>
            <a:r>
              <a:rPr lang="en-US" altLang="zh-CN" dirty="0"/>
              <a:t>Flume</a:t>
            </a:r>
            <a:r>
              <a:rPr lang="zh-CN" altLang="en-US" dirty="0"/>
              <a:t>窗口的输出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26</a:t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l">
              <a:buSzTx/>
              <a:buNone/>
            </a:pPr>
            <a:r>
              <a:rPr lang="zh-CN" altLang="en-US" dirty="0"/>
              <a:t>6.1 什么是Flume</a:t>
            </a:r>
          </a:p>
          <a:p>
            <a:pPr marL="0" indent="0">
              <a:buNone/>
              <a:defRPr/>
            </a:pPr>
            <a:r>
              <a:rPr lang="en-US" altLang="zh-CN" dirty="0"/>
              <a:t>6.2 </a:t>
            </a:r>
            <a:r>
              <a:rPr lang="en-US" altLang="zh-CN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架构原理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6.3 </a:t>
            </a:r>
            <a:r>
              <a:rPr lang="en-US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安装与使用</a:t>
            </a:r>
            <a:endParaRPr lang="zh-CN" altLang="en-US" dirty="0"/>
          </a:p>
          <a:p>
            <a:pPr marL="0" algn="l">
              <a:buSzTx/>
              <a:buNone/>
            </a:pPr>
            <a:r>
              <a:rPr lang="zh-CN" altLang="en-US" dirty="0">
                <a:solidFill>
                  <a:srgbClr val="FF0000"/>
                </a:solidFill>
              </a:rPr>
              <a:t>6.4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案例分析：日志监控</a:t>
            </a: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6.5 </a:t>
            </a:r>
            <a:r>
              <a:rPr lang="zh-CN" altLang="en-US" dirty="0">
                <a:sym typeface="+mn-ea"/>
              </a:rPr>
              <a:t>拦截器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6.6 </a:t>
            </a:r>
            <a:r>
              <a:rPr lang="zh-CN" altLang="en-US" dirty="0">
                <a:sym typeface="+mn-ea"/>
              </a:rPr>
              <a:t>选择器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6.7 </a:t>
            </a:r>
            <a:r>
              <a:rPr lang="zh-CN" altLang="en-US" dirty="0">
                <a:sym typeface="+mn-ea"/>
              </a:rPr>
              <a:t>综合案例分析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endParaRPr lang="en-US" altLang="zh-CN" dirty="0"/>
          </a:p>
          <a:p>
            <a:pPr lvl="1"/>
            <a:r>
              <a:rPr lang="en-US" altLang="zh-CN" dirty="0"/>
              <a:t>Linux Shell</a:t>
            </a:r>
            <a:r>
              <a:rPr lang="zh-CN" altLang="en-US" dirty="0"/>
              <a:t>命令</a:t>
            </a:r>
            <a:r>
              <a:rPr lang="en-US" altLang="zh-CN" dirty="0"/>
              <a:t>tail –F</a:t>
            </a:r>
            <a:r>
              <a:rPr lang="zh-CN" altLang="en-US" dirty="0"/>
              <a:t>可以实时监控文件内容并进行输出</a:t>
            </a:r>
            <a:endParaRPr lang="en-US" altLang="zh-CN" dirty="0"/>
          </a:p>
          <a:p>
            <a:pPr lvl="1"/>
            <a:r>
              <a:rPr lang="zh-CN" altLang="en-US" dirty="0"/>
              <a:t>可以利用</a:t>
            </a:r>
            <a:r>
              <a:rPr lang="en-US" altLang="zh-CN" dirty="0"/>
              <a:t>Flume</a:t>
            </a:r>
            <a:r>
              <a:rPr lang="zh-CN" altLang="en-US" dirty="0"/>
              <a:t>实时采集日志文件中的数据并输出</a:t>
            </a:r>
            <a:endParaRPr lang="en-US" altLang="zh-CN" dirty="0"/>
          </a:p>
          <a:p>
            <a:pPr lvl="2"/>
            <a:r>
              <a:rPr lang="zh-CN" altLang="en-US" dirty="0"/>
              <a:t>输出到控制台</a:t>
            </a:r>
            <a:endParaRPr lang="en-US" altLang="zh-CN" dirty="0"/>
          </a:p>
          <a:p>
            <a:pPr lvl="2"/>
            <a:r>
              <a:rPr lang="zh-CN" altLang="en-US" dirty="0"/>
              <a:t>输出到</a:t>
            </a:r>
            <a:r>
              <a:rPr lang="en-US" altLang="zh-CN" dirty="0"/>
              <a:t>HDFS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输出到控制台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Source</a:t>
            </a:r>
            <a:r>
              <a:rPr lang="zh-CN" altLang="en-US" dirty="0"/>
              <a:t>：</a:t>
            </a:r>
            <a:r>
              <a:rPr lang="en-US" altLang="zh-CN" dirty="0"/>
              <a:t>Exec Source</a:t>
            </a:r>
          </a:p>
          <a:p>
            <a:pPr lvl="2"/>
            <a:r>
              <a:rPr lang="zh-CN" altLang="en-US" dirty="0"/>
              <a:t>在启动时，可以运行指定的</a:t>
            </a:r>
            <a:r>
              <a:rPr lang="en-US" altLang="zh-CN" dirty="0"/>
              <a:t>Shell</a:t>
            </a:r>
            <a:r>
              <a:rPr lang="zh-CN" altLang="en-US" dirty="0"/>
              <a:t>命令，并且期望该进程在标准输出上持续生成数据 </a:t>
            </a:r>
            <a:endParaRPr lang="en-US" altLang="zh-CN" dirty="0"/>
          </a:p>
          <a:p>
            <a:pPr lvl="2"/>
            <a:r>
              <a:rPr lang="en-US" altLang="zh-CN" dirty="0"/>
              <a:t>Exec Source</a:t>
            </a:r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en-US" altLang="zh-CN" dirty="0"/>
              <a:t>Source</a:t>
            </a:r>
            <a:r>
              <a:rPr lang="zh-CN" altLang="en-US" dirty="0"/>
              <a:t>组件配置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29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501008"/>
            <a:ext cx="4810796" cy="80021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855086"/>
            <a:ext cx="4282085" cy="38581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输出到控制台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Channel</a:t>
            </a:r>
            <a:r>
              <a:rPr lang="zh-CN" altLang="en-US" dirty="0"/>
              <a:t>：</a:t>
            </a:r>
            <a:r>
              <a:rPr lang="en-US" altLang="zh-CN" dirty="0"/>
              <a:t>Memory</a:t>
            </a:r>
          </a:p>
          <a:p>
            <a:pPr lvl="2"/>
            <a:r>
              <a:rPr lang="zh-CN" altLang="en-US" dirty="0"/>
              <a:t>将日志数据存储于内存队列中，可以加快速度</a:t>
            </a:r>
            <a:endParaRPr lang="en-US" altLang="zh-CN" dirty="0"/>
          </a:p>
          <a:p>
            <a:pPr lvl="2"/>
            <a:r>
              <a:rPr lang="en-US" altLang="zh-CN" dirty="0"/>
              <a:t>Memory Channel</a:t>
            </a:r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en-US" altLang="zh-CN" dirty="0"/>
              <a:t>Channel</a:t>
            </a:r>
            <a:r>
              <a:rPr lang="zh-CN" altLang="en-US" dirty="0"/>
              <a:t>组件配置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30</a:t>
            </a:fld>
            <a:endParaRPr lang="en-US" altLang="zh-CN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068960"/>
            <a:ext cx="6534150" cy="914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632" y="4577636"/>
            <a:ext cx="3124636" cy="57634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输出到控制台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Sink</a:t>
            </a:r>
            <a:r>
              <a:rPr lang="zh-CN" altLang="en-US" dirty="0"/>
              <a:t>：</a:t>
            </a:r>
            <a:r>
              <a:rPr lang="en-US" altLang="zh-CN" dirty="0"/>
              <a:t>Logger</a:t>
            </a:r>
          </a:p>
          <a:p>
            <a:pPr lvl="2"/>
            <a:r>
              <a:rPr lang="zh-CN" altLang="en-US" dirty="0"/>
              <a:t>在</a:t>
            </a:r>
            <a:r>
              <a:rPr lang="en-US" altLang="zh-CN" dirty="0"/>
              <a:t>INFO</a:t>
            </a:r>
            <a:r>
              <a:rPr lang="zh-CN" altLang="en-US" dirty="0"/>
              <a:t>级别上记录日志数据，通常用于测试</a:t>
            </a:r>
            <a:r>
              <a:rPr lang="en-US" altLang="zh-CN" dirty="0"/>
              <a:t>/</a:t>
            </a:r>
            <a:r>
              <a:rPr lang="zh-CN" altLang="en-US" dirty="0"/>
              <a:t>调试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en-US" altLang="zh-CN" dirty="0"/>
              <a:t>Sink</a:t>
            </a:r>
            <a:r>
              <a:rPr lang="zh-CN" altLang="en-US" dirty="0"/>
              <a:t>组件配置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31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708920"/>
            <a:ext cx="6596063" cy="9858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4221088"/>
            <a:ext cx="1971950" cy="28102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输出到控制台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绑定组件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32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348880"/>
            <a:ext cx="2229161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输出到控制台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完整配置文件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33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420888"/>
            <a:ext cx="4386875" cy="238158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输出到控制台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Agent</a:t>
            </a:r>
          </a:p>
          <a:p>
            <a:pPr lvl="1"/>
            <a:r>
              <a:rPr lang="zh-CN" altLang="en-US" dirty="0"/>
              <a:t>测试</a:t>
            </a:r>
            <a:endParaRPr lang="en-US" altLang="zh-CN" dirty="0"/>
          </a:p>
          <a:p>
            <a:pPr lvl="2"/>
            <a:r>
              <a:rPr lang="zh-CN" altLang="en-US" dirty="0"/>
              <a:t>向日志文件写入内容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echo ‘hello’ &gt;&gt;/home/</a:t>
            </a:r>
            <a:r>
              <a:rPr lang="en-US" altLang="zh-CN" dirty="0" err="1"/>
              <a:t>hadoop</a:t>
            </a:r>
            <a:r>
              <a:rPr lang="en-US" altLang="zh-CN" dirty="0"/>
              <a:t>/data.log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</a:t>
            </a:r>
            <a:r>
              <a:rPr lang="en-US" altLang="zh-CN" sz="2400" dirty="0">
                <a:solidFill>
                  <a:srgbClr val="FF0000"/>
                </a:solidFill>
              </a:rPr>
              <a:t>HDFS</a:t>
            </a:r>
          </a:p>
          <a:p>
            <a:pPr lvl="1"/>
            <a:r>
              <a:rPr lang="zh-CN" altLang="en-US" sz="2000" dirty="0"/>
              <a:t>在实际应用中，通常需要将日志实时输出到</a:t>
            </a:r>
            <a:r>
              <a:rPr lang="en-US" altLang="zh-CN" sz="2000" dirty="0"/>
              <a:t>HDFS</a:t>
            </a:r>
            <a:r>
              <a:rPr lang="zh-CN" altLang="en-US" sz="2000" dirty="0"/>
              <a:t>文件系统中，以便对日志进行存储与分析</a:t>
            </a:r>
            <a:endParaRPr lang="en-US" altLang="zh-CN" sz="2000" dirty="0"/>
          </a:p>
          <a:p>
            <a:pPr lvl="1"/>
            <a:r>
              <a:rPr lang="zh-CN" altLang="en-US" sz="2000" dirty="0"/>
              <a:t>使用</a:t>
            </a:r>
            <a:r>
              <a:rPr lang="en-US" altLang="zh-CN" sz="2000" dirty="0"/>
              <a:t>HDFS</a:t>
            </a:r>
            <a:r>
              <a:rPr lang="zh-CN" altLang="en-US" sz="2000" dirty="0"/>
              <a:t>的</a:t>
            </a:r>
            <a:r>
              <a:rPr lang="en-US" altLang="zh-CN" sz="2000" dirty="0"/>
              <a:t>Sink</a:t>
            </a:r>
            <a:r>
              <a:rPr lang="zh-CN" altLang="en-US" sz="2000" dirty="0"/>
              <a:t>组件，将日志信息的目的地由控制台修改为</a:t>
            </a:r>
            <a:r>
              <a:rPr lang="en-US" altLang="zh-CN" sz="2000" dirty="0"/>
              <a:t>HDFS</a:t>
            </a:r>
            <a:r>
              <a:rPr lang="zh-CN" altLang="en-US" sz="2000" dirty="0"/>
              <a:t>文件系统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35</a:t>
            </a:fld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</a:t>
            </a:r>
            <a:r>
              <a:rPr lang="en-US" altLang="zh-CN" sz="2400" dirty="0">
                <a:solidFill>
                  <a:srgbClr val="FF0000"/>
                </a:solidFill>
              </a:rPr>
              <a:t>HDFS</a:t>
            </a:r>
          </a:p>
          <a:p>
            <a:pPr lvl="1"/>
            <a:r>
              <a:rPr lang="en-US" altLang="zh-CN" sz="2000" dirty="0"/>
              <a:t>HDFS Sink</a:t>
            </a:r>
            <a:r>
              <a:rPr lang="zh-CN" altLang="en-US" sz="2000" dirty="0"/>
              <a:t>的常用配置属性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36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200951"/>
            <a:ext cx="7200000" cy="423680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</a:t>
            </a:r>
            <a:r>
              <a:rPr lang="en-US" altLang="zh-CN" sz="2400" dirty="0">
                <a:solidFill>
                  <a:srgbClr val="FF0000"/>
                </a:solidFill>
              </a:rPr>
              <a:t>HDFS</a:t>
            </a:r>
          </a:p>
          <a:p>
            <a:pPr lvl="1"/>
            <a:r>
              <a:rPr lang="zh-CN" altLang="en-US" sz="2000" dirty="0"/>
              <a:t>配置文件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37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276872"/>
            <a:ext cx="4448796" cy="329134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案例分析：日志监控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日志监控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输出到</a:t>
            </a:r>
            <a:r>
              <a:rPr lang="en-US" altLang="zh-CN" sz="2400" dirty="0">
                <a:solidFill>
                  <a:srgbClr val="FF0000"/>
                </a:solidFill>
              </a:rPr>
              <a:t>HDFS</a:t>
            </a:r>
          </a:p>
          <a:p>
            <a:pPr lvl="1"/>
            <a:r>
              <a:rPr lang="zh-CN" altLang="en-US" sz="2000" dirty="0"/>
              <a:t>启动</a:t>
            </a:r>
            <a:r>
              <a:rPr lang="en-US" altLang="zh-CN" sz="2000" dirty="0"/>
              <a:t>HDFS</a:t>
            </a:r>
          </a:p>
          <a:p>
            <a:pPr lvl="1"/>
            <a:r>
              <a:rPr lang="zh-CN" altLang="en-US" sz="2000" dirty="0"/>
              <a:t>启动</a:t>
            </a:r>
            <a:r>
              <a:rPr lang="en-US" altLang="zh-CN" sz="2000" dirty="0"/>
              <a:t>Agent</a:t>
            </a:r>
          </a:p>
          <a:p>
            <a:pPr lvl="1"/>
            <a:r>
              <a:rPr lang="zh-CN" altLang="en-US" sz="2000" dirty="0"/>
              <a:t>往日志文件写入数据</a:t>
            </a:r>
            <a:endParaRPr lang="en-US" altLang="zh-CN" sz="2000" dirty="0"/>
          </a:p>
          <a:p>
            <a:pPr lvl="1"/>
            <a:r>
              <a:rPr lang="zh-CN" altLang="en-US" sz="2000" dirty="0"/>
              <a:t>查看结果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38</a:t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l">
              <a:buSzTx/>
              <a:buNone/>
            </a:pPr>
            <a:r>
              <a:rPr lang="en-US" altLang="zh-CN" dirty="0"/>
              <a:t>6.1 </a:t>
            </a:r>
            <a:r>
              <a:rPr lang="zh-CN" altLang="en-US" dirty="0"/>
              <a:t>什么是</a:t>
            </a:r>
            <a:r>
              <a:rPr lang="en-US" altLang="zh-CN" dirty="0"/>
              <a:t>Flume</a:t>
            </a:r>
          </a:p>
          <a:p>
            <a:pPr marL="0" indent="0">
              <a:buNone/>
              <a:defRPr/>
            </a:pPr>
            <a:r>
              <a:rPr lang="en-US" altLang="zh-CN" dirty="0"/>
              <a:t>6.2 </a:t>
            </a:r>
            <a:r>
              <a:rPr lang="en-US" altLang="zh-CN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架构原理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6.3 </a:t>
            </a:r>
            <a:r>
              <a:rPr lang="en-US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安装与使用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6.4 </a:t>
            </a:r>
            <a:r>
              <a:rPr lang="zh-CN" altLang="en-US" dirty="0">
                <a:sym typeface="+mn-ea"/>
              </a:rPr>
              <a:t>案例分析：日志监控</a:t>
            </a:r>
            <a:endParaRPr lang="en-US" altLang="zh-CN" dirty="0">
              <a:sym typeface="+mn-ea"/>
            </a:endParaRPr>
          </a:p>
          <a:p>
            <a:pPr marL="0" algn="l">
              <a:buSzTx/>
              <a:buNone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6.5 拦截器</a:t>
            </a: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6.6 </a:t>
            </a:r>
            <a:r>
              <a:rPr lang="zh-CN" altLang="en-US" dirty="0">
                <a:sym typeface="+mn-ea"/>
              </a:rPr>
              <a:t>选择器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6.7 </a:t>
            </a:r>
            <a:r>
              <a:rPr lang="zh-CN" altLang="en-US" dirty="0">
                <a:sym typeface="+mn-ea"/>
              </a:rPr>
              <a:t>综合案例分析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39</a:t>
            </a:fld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拦截器（</a:t>
            </a:r>
            <a:r>
              <a:rPr lang="en-US" altLang="zh-CN" dirty="0"/>
              <a:t>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作用：修改或删除正在传送中</a:t>
            </a:r>
            <a:r>
              <a:rPr lang="en-US" altLang="zh-CN" dirty="0"/>
              <a:t>event</a:t>
            </a:r>
          </a:p>
          <a:p>
            <a:pPr lvl="1"/>
            <a:r>
              <a:rPr lang="zh-CN" altLang="en-US" dirty="0"/>
              <a:t>拦截器是一些实现</a:t>
            </a:r>
            <a:r>
              <a:rPr lang="en-US" altLang="zh-CN" dirty="0"/>
              <a:t>Interceptor</a:t>
            </a:r>
            <a:r>
              <a:rPr lang="zh-CN" altLang="en-US" dirty="0"/>
              <a:t>接口的类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Source</a:t>
            </a:r>
            <a:r>
              <a:rPr lang="zh-CN" altLang="en-US" dirty="0"/>
              <a:t>组件中设置，支持设置多个拦截器</a:t>
            </a:r>
            <a:endParaRPr lang="en-US" altLang="zh-CN" dirty="0"/>
          </a:p>
          <a:p>
            <a:pPr lvl="2"/>
            <a:r>
              <a:rPr lang="zh-CN" altLang="en-US" dirty="0"/>
              <a:t>多个拦截器使用空格连接在一起，根据配置顺序依次执行</a:t>
            </a:r>
            <a:endParaRPr lang="en-US" altLang="zh-CN" dirty="0"/>
          </a:p>
          <a:p>
            <a:pPr lvl="2"/>
            <a:r>
              <a:rPr lang="zh-CN" altLang="en-US" dirty="0"/>
              <a:t>如果某个拦截器需要删除</a:t>
            </a:r>
            <a:r>
              <a:rPr lang="en-US" altLang="zh-CN" dirty="0"/>
              <a:t>event</a:t>
            </a:r>
            <a:r>
              <a:rPr lang="zh-CN" altLang="en-US" dirty="0"/>
              <a:t>，当</a:t>
            </a:r>
            <a:r>
              <a:rPr lang="en-US" altLang="zh-CN" dirty="0"/>
              <a:t>event</a:t>
            </a:r>
            <a:r>
              <a:rPr lang="zh-CN" altLang="en-US" dirty="0"/>
              <a:t>经过该拦截器后，该</a:t>
            </a:r>
            <a:r>
              <a:rPr lang="en-US" altLang="zh-CN" dirty="0"/>
              <a:t>event</a:t>
            </a:r>
            <a:r>
              <a:rPr lang="zh-CN" altLang="en-US" dirty="0"/>
              <a:t>会被过滤掉，不会返回给下一个拦截器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40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4293096"/>
            <a:ext cx="1800000" cy="15963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拦截器（</a:t>
            </a:r>
            <a:r>
              <a:rPr lang="en-US" altLang="zh-CN" dirty="0"/>
              <a:t>Interceptor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41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88840"/>
            <a:ext cx="6901826" cy="153373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常用内置拦截器</a:t>
            </a:r>
            <a:endParaRPr lang="en-US" altLang="zh-CN" dirty="0"/>
          </a:p>
          <a:p>
            <a:pPr lvl="1"/>
            <a:r>
              <a:rPr lang="zh-CN" altLang="en-US" dirty="0"/>
              <a:t>时间戳拦截器（</a:t>
            </a:r>
            <a:r>
              <a:rPr lang="en-US" altLang="zh-CN" dirty="0"/>
              <a:t>Timestamp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主机名拦截器（</a:t>
            </a:r>
            <a:r>
              <a:rPr lang="en-US" altLang="zh-CN" dirty="0"/>
              <a:t>Host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静态拦截器（</a:t>
            </a:r>
            <a:r>
              <a:rPr lang="en-US" altLang="zh-CN" dirty="0"/>
              <a:t>Static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UUID</a:t>
            </a:r>
            <a:r>
              <a:rPr lang="zh-CN" altLang="en-US" dirty="0"/>
              <a:t>拦截器（</a:t>
            </a:r>
            <a:r>
              <a:rPr lang="en-US" altLang="zh-CN" dirty="0"/>
              <a:t>UUID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搜索替换拦截器（</a:t>
            </a:r>
            <a:r>
              <a:rPr lang="en-US" altLang="zh-CN" dirty="0"/>
              <a:t>Search and Replace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正则表达式拦截器（</a:t>
            </a:r>
            <a:r>
              <a:rPr lang="en-US" altLang="zh-CN" dirty="0"/>
              <a:t>Regex Filtering Interceptor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42</a:t>
            </a:fld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常用内置拦截器</a:t>
            </a:r>
            <a:endParaRPr lang="en-US" altLang="zh-CN" dirty="0"/>
          </a:p>
          <a:p>
            <a:pPr lvl="1"/>
            <a:r>
              <a:rPr lang="zh-CN" altLang="en-US" dirty="0"/>
              <a:t>时间戳拦截器（</a:t>
            </a:r>
            <a:r>
              <a:rPr lang="en-US" altLang="zh-CN" dirty="0"/>
              <a:t>Timestamp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将处理</a:t>
            </a:r>
            <a:r>
              <a:rPr lang="en-US" altLang="zh-CN" dirty="0"/>
              <a:t>event</a:t>
            </a:r>
            <a:r>
              <a:rPr lang="zh-CN" altLang="en-US" dirty="0"/>
              <a:t>时的当前时间戳（毫秒）加入到</a:t>
            </a:r>
            <a:r>
              <a:rPr lang="en-US" altLang="zh-CN" dirty="0"/>
              <a:t>event</a:t>
            </a:r>
            <a:r>
              <a:rPr lang="zh-CN" altLang="en-US" dirty="0"/>
              <a:t>的头部（</a:t>
            </a:r>
            <a:r>
              <a:rPr lang="en-US" altLang="zh-CN" dirty="0"/>
              <a:t>header</a:t>
            </a:r>
            <a:r>
              <a:rPr lang="zh-CN" altLang="en-US" dirty="0"/>
              <a:t>）中，加入的数据为一个</a:t>
            </a:r>
            <a:r>
              <a:rPr lang="en-US" altLang="zh-CN" dirty="0"/>
              <a:t>key/value</a:t>
            </a:r>
            <a:r>
              <a:rPr lang="zh-CN" altLang="en-US" dirty="0"/>
              <a:t>对</a:t>
            </a:r>
            <a:endParaRPr lang="en-US" altLang="zh-CN" dirty="0"/>
          </a:p>
          <a:p>
            <a:pPr lvl="3"/>
            <a:r>
              <a:rPr lang="en-US" altLang="zh-CN" dirty="0"/>
              <a:t>key</a:t>
            </a:r>
            <a:r>
              <a:rPr lang="zh-CN" altLang="en-US" dirty="0"/>
              <a:t>的值为‘</a:t>
            </a:r>
            <a:r>
              <a:rPr lang="en-US" altLang="zh-CN" dirty="0"/>
              <a:t>timestamp</a:t>
            </a:r>
            <a:r>
              <a:rPr lang="zh-CN" altLang="en-US" dirty="0"/>
              <a:t>’（可以自定义）</a:t>
            </a:r>
            <a:endParaRPr lang="en-US" altLang="zh-CN" dirty="0"/>
          </a:p>
          <a:p>
            <a:pPr lvl="3"/>
            <a:r>
              <a:rPr lang="en-US" altLang="zh-CN" dirty="0"/>
              <a:t>value</a:t>
            </a:r>
            <a:r>
              <a:rPr lang="zh-CN" altLang="en-US" dirty="0"/>
              <a:t>的值为当前时间戳</a:t>
            </a:r>
            <a:endParaRPr lang="en-US" altLang="zh-CN" dirty="0"/>
          </a:p>
          <a:p>
            <a:pPr lvl="2"/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43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077072"/>
            <a:ext cx="6830378" cy="73829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常用内置拦截器</a:t>
            </a:r>
            <a:endParaRPr lang="en-US" altLang="zh-CN" dirty="0"/>
          </a:p>
          <a:p>
            <a:pPr lvl="1"/>
            <a:r>
              <a:rPr lang="zh-CN" altLang="en-US" dirty="0"/>
              <a:t>时间戳拦截器（</a:t>
            </a:r>
            <a:r>
              <a:rPr lang="en-US" altLang="zh-CN" dirty="0"/>
              <a:t>Timestamp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常用于对文件或目录按照日期进行命名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配置示例</a:t>
            </a:r>
            <a:endParaRPr lang="en-US" altLang="zh-CN" dirty="0"/>
          </a:p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44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708920"/>
            <a:ext cx="5519738" cy="8524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4149080"/>
            <a:ext cx="3338978" cy="96692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常用内置拦截器</a:t>
            </a:r>
            <a:endParaRPr lang="en-US" altLang="zh-CN" dirty="0"/>
          </a:p>
          <a:p>
            <a:pPr lvl="1"/>
            <a:r>
              <a:rPr lang="zh-CN" altLang="en-US" dirty="0"/>
              <a:t>主机名拦截器（</a:t>
            </a:r>
            <a:r>
              <a:rPr lang="en-US" altLang="zh-CN" dirty="0"/>
              <a:t>Host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将运行</a:t>
            </a:r>
            <a:r>
              <a:rPr lang="en-US" altLang="zh-CN" dirty="0"/>
              <a:t>Agent</a:t>
            </a:r>
            <a:r>
              <a:rPr lang="zh-CN" altLang="en-US" dirty="0"/>
              <a:t>的主机名或</a:t>
            </a:r>
            <a:r>
              <a:rPr lang="en-US" altLang="zh-CN" dirty="0"/>
              <a:t>IP</a:t>
            </a:r>
            <a:r>
              <a:rPr lang="zh-CN" altLang="en-US" dirty="0"/>
              <a:t>以一个</a:t>
            </a:r>
            <a:r>
              <a:rPr lang="en-US" altLang="zh-CN" dirty="0"/>
              <a:t>key/value</a:t>
            </a:r>
            <a:r>
              <a:rPr lang="zh-CN" altLang="en-US" dirty="0"/>
              <a:t>对的形式加入到</a:t>
            </a:r>
            <a:r>
              <a:rPr lang="en-US" altLang="zh-CN" dirty="0"/>
              <a:t>event</a:t>
            </a:r>
            <a:r>
              <a:rPr lang="zh-CN" altLang="en-US" dirty="0"/>
              <a:t>的头部（</a:t>
            </a:r>
            <a:r>
              <a:rPr lang="en-US" altLang="zh-CN" dirty="0"/>
              <a:t>header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en-US" altLang="zh-CN" dirty="0"/>
              <a:t>key</a:t>
            </a:r>
            <a:r>
              <a:rPr lang="zh-CN" altLang="en-US" dirty="0"/>
              <a:t>的值为‘</a:t>
            </a:r>
            <a:r>
              <a:rPr lang="en-US" altLang="zh-CN" dirty="0"/>
              <a:t>host</a:t>
            </a:r>
            <a:r>
              <a:rPr lang="zh-CN" altLang="en-US" dirty="0"/>
              <a:t>’（可以自定义）</a:t>
            </a:r>
            <a:endParaRPr lang="en-US" altLang="zh-CN" dirty="0"/>
          </a:p>
          <a:p>
            <a:pPr lvl="3"/>
            <a:r>
              <a:rPr lang="en-US" altLang="zh-CN" dirty="0"/>
              <a:t>value</a:t>
            </a:r>
            <a:r>
              <a:rPr lang="zh-CN" altLang="en-US" dirty="0"/>
              <a:t>的值为主机名或</a:t>
            </a:r>
            <a:r>
              <a:rPr lang="en-US" altLang="zh-CN" dirty="0"/>
              <a:t>IP</a:t>
            </a:r>
          </a:p>
          <a:p>
            <a:pPr lvl="2"/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配置示例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45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900" y="4005064"/>
            <a:ext cx="5760000" cy="71804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5145021"/>
            <a:ext cx="3177031" cy="69542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常用内置拦截器</a:t>
            </a:r>
            <a:endParaRPr lang="en-US" altLang="zh-CN" dirty="0"/>
          </a:p>
          <a:p>
            <a:pPr lvl="1"/>
            <a:r>
              <a:rPr lang="zh-CN" altLang="en-US" dirty="0"/>
              <a:t>静态拦截器（</a:t>
            </a:r>
            <a:r>
              <a:rPr lang="en-US" altLang="zh-CN" dirty="0"/>
              <a:t>Static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运行用户在</a:t>
            </a:r>
            <a:r>
              <a:rPr lang="en-US" altLang="zh-CN" dirty="0"/>
              <a:t>event</a:t>
            </a:r>
            <a:r>
              <a:rPr lang="zh-CN" altLang="en-US" dirty="0"/>
              <a:t>头部加入一个静态</a:t>
            </a:r>
            <a:r>
              <a:rPr lang="en-US" altLang="zh-CN" dirty="0"/>
              <a:t>key/value</a:t>
            </a:r>
            <a:r>
              <a:rPr lang="zh-CN" altLang="en-US" dirty="0"/>
              <a:t>对</a:t>
            </a:r>
            <a:endParaRPr lang="en-US" altLang="zh-CN" dirty="0"/>
          </a:p>
          <a:p>
            <a:pPr lvl="2"/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配置示例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46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996952"/>
            <a:ext cx="5760000" cy="72202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149080"/>
            <a:ext cx="3686689" cy="126223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常用内置拦截器</a:t>
            </a:r>
            <a:endParaRPr lang="en-US" altLang="zh-CN" dirty="0"/>
          </a:p>
          <a:p>
            <a:pPr lvl="1"/>
            <a:r>
              <a:rPr lang="en-US" altLang="zh-CN" dirty="0"/>
              <a:t>UUID</a:t>
            </a:r>
            <a:r>
              <a:rPr lang="zh-CN" altLang="en-US" dirty="0"/>
              <a:t>拦截器（</a:t>
            </a:r>
            <a:r>
              <a:rPr lang="en-US" altLang="zh-CN" dirty="0"/>
              <a:t>UUID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为所有被拦截的</a:t>
            </a:r>
            <a:r>
              <a:rPr lang="en-US" altLang="zh-CN" dirty="0"/>
              <a:t>event</a:t>
            </a:r>
            <a:r>
              <a:rPr lang="zh-CN" altLang="en-US" dirty="0"/>
              <a:t>设置一个</a:t>
            </a:r>
            <a:r>
              <a:rPr lang="en-US" altLang="zh-CN" dirty="0"/>
              <a:t>UUID</a:t>
            </a:r>
            <a:r>
              <a:rPr lang="zh-CN" altLang="en-US" dirty="0"/>
              <a:t>作为唯一标识符</a:t>
            </a:r>
            <a:endParaRPr lang="en-US" altLang="zh-CN" dirty="0"/>
          </a:p>
          <a:p>
            <a:pPr lvl="3"/>
            <a:r>
              <a:rPr lang="zh-CN" altLang="en-US" dirty="0"/>
              <a:t>在后续的复制和重分发过程中，可以对其重复数据进行删除，以便提高系统的性能</a:t>
            </a:r>
            <a:endParaRPr lang="en-US" altLang="zh-CN" dirty="0"/>
          </a:p>
          <a:p>
            <a:pPr lvl="2"/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47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900" y="3645024"/>
            <a:ext cx="5760000" cy="61492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常用内置拦截器</a:t>
            </a:r>
            <a:endParaRPr lang="en-US" altLang="zh-CN" dirty="0"/>
          </a:p>
          <a:p>
            <a:pPr lvl="1"/>
            <a:r>
              <a:rPr lang="zh-CN" altLang="en-US" dirty="0"/>
              <a:t>搜索替换拦截器（</a:t>
            </a:r>
            <a:r>
              <a:rPr lang="en-US" altLang="zh-CN" dirty="0"/>
              <a:t>Search and Replace Interceptor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提供了简单的基于</a:t>
            </a:r>
            <a:r>
              <a:rPr lang="en-US" altLang="zh-CN" dirty="0"/>
              <a:t>Java</a:t>
            </a:r>
            <a:r>
              <a:rPr lang="zh-CN" altLang="en-US" dirty="0"/>
              <a:t>正则表达式的字符串搜索和替换功能，可以对</a:t>
            </a:r>
            <a:r>
              <a:rPr lang="en-US" altLang="zh-CN" dirty="0"/>
              <a:t>event</a:t>
            </a:r>
            <a:r>
              <a:rPr lang="zh-CN" altLang="en-US" dirty="0"/>
              <a:t>的</a:t>
            </a:r>
            <a:r>
              <a:rPr lang="en-US" altLang="zh-CN" dirty="0"/>
              <a:t>body</a:t>
            </a:r>
            <a:r>
              <a:rPr lang="zh-CN" altLang="en-US" dirty="0"/>
              <a:t>的匹配内容进行替换</a:t>
            </a:r>
            <a:endParaRPr lang="en-US" altLang="zh-CN" dirty="0"/>
          </a:p>
          <a:p>
            <a:pPr lvl="2"/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配置示例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48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356992"/>
            <a:ext cx="5760000" cy="7763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5272868"/>
            <a:ext cx="6480000" cy="74218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4365104"/>
            <a:ext cx="4032448" cy="71160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常用内置拦截器</a:t>
            </a:r>
            <a:endParaRPr lang="en-US" altLang="zh-CN" dirty="0"/>
          </a:p>
          <a:p>
            <a:pPr lvl="1"/>
            <a:r>
              <a:rPr lang="zh-CN" altLang="en-US" dirty="0"/>
              <a:t>正则表达式拦截器（</a:t>
            </a:r>
            <a:r>
              <a:rPr lang="en-US" altLang="zh-CN" dirty="0"/>
              <a:t>Regex Filtering Interceptor</a:t>
            </a:r>
            <a:r>
              <a:rPr lang="zh-CN" altLang="en-US" dirty="0"/>
              <a:t>）</a:t>
            </a:r>
          </a:p>
          <a:p>
            <a:pPr lvl="2"/>
            <a:r>
              <a:rPr lang="zh-CN" altLang="en-US" dirty="0"/>
              <a:t>通过将</a:t>
            </a:r>
            <a:r>
              <a:rPr lang="en-US" altLang="zh-CN" dirty="0"/>
              <a:t>event</a:t>
            </a:r>
            <a:r>
              <a:rPr lang="zh-CN" altLang="en-US" dirty="0"/>
              <a:t>的</a:t>
            </a:r>
            <a:r>
              <a:rPr lang="en-US" altLang="zh-CN" dirty="0"/>
              <a:t>body</a:t>
            </a:r>
            <a:r>
              <a:rPr lang="zh-CN" altLang="en-US" dirty="0"/>
              <a:t>解释成文本并与正则表达式匹配，从而有选择地过滤</a:t>
            </a:r>
            <a:r>
              <a:rPr lang="en-US" altLang="zh-CN" dirty="0"/>
              <a:t>event</a:t>
            </a:r>
          </a:p>
          <a:p>
            <a:pPr lvl="3"/>
            <a:r>
              <a:rPr lang="zh-CN" altLang="en-US" dirty="0"/>
              <a:t>提供的正则表达式可用于包含</a:t>
            </a:r>
            <a:r>
              <a:rPr lang="en-US" altLang="zh-CN" dirty="0"/>
              <a:t>event</a:t>
            </a:r>
            <a:r>
              <a:rPr lang="zh-CN" altLang="en-US" dirty="0"/>
              <a:t>或移除</a:t>
            </a:r>
            <a:r>
              <a:rPr lang="en-US" altLang="zh-CN" dirty="0"/>
              <a:t>event</a:t>
            </a:r>
          </a:p>
          <a:p>
            <a:pPr lvl="2"/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49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900" y="3789040"/>
            <a:ext cx="5760000" cy="49637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6.5 </a:t>
            </a:r>
            <a:r>
              <a:rPr lang="zh-CN" altLang="en-US" dirty="0"/>
              <a:t>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自定义拦截器</a:t>
            </a:r>
            <a:endParaRPr lang="en-US" altLang="zh-CN" dirty="0"/>
          </a:p>
          <a:p>
            <a:pPr lvl="1"/>
            <a:r>
              <a:rPr lang="zh-CN" altLang="en-US" dirty="0"/>
              <a:t>自定义拦截器需要实现</a:t>
            </a:r>
            <a:r>
              <a:rPr lang="en-US" altLang="zh-CN" dirty="0"/>
              <a:t>Interceptor</a:t>
            </a:r>
            <a:r>
              <a:rPr lang="zh-CN" altLang="en-US" dirty="0"/>
              <a:t>接口并重写</a:t>
            </a:r>
            <a:r>
              <a:rPr lang="en-US" altLang="zh-CN" dirty="0"/>
              <a:t>intercept()</a:t>
            </a:r>
            <a:r>
              <a:rPr lang="zh-CN" altLang="en-US" dirty="0"/>
              <a:t>方法</a:t>
            </a:r>
            <a:endParaRPr lang="en-US" altLang="zh-CN" dirty="0"/>
          </a:p>
          <a:p>
            <a:pPr lvl="1"/>
            <a:r>
              <a:rPr lang="zh-CN" altLang="en-US" dirty="0"/>
              <a:t>主要步骤</a:t>
            </a:r>
            <a:endParaRPr lang="en-US" altLang="zh-CN" dirty="0"/>
          </a:p>
          <a:p>
            <a:pPr lvl="2"/>
            <a:r>
              <a:rPr lang="zh-CN" altLang="en-US" dirty="0"/>
              <a:t>编写拦截器类</a:t>
            </a:r>
            <a:endParaRPr lang="en-US" altLang="zh-CN" dirty="0"/>
          </a:p>
          <a:p>
            <a:pPr lvl="2"/>
            <a:r>
              <a:rPr lang="zh-CN" altLang="en-US" dirty="0"/>
              <a:t>导出</a:t>
            </a:r>
            <a:r>
              <a:rPr lang="en-US" altLang="zh-CN" dirty="0"/>
              <a:t>jar</a:t>
            </a:r>
            <a:r>
              <a:rPr lang="zh-CN" altLang="en-US" dirty="0"/>
              <a:t>包</a:t>
            </a:r>
            <a:endParaRPr lang="en-US" altLang="zh-CN" dirty="0"/>
          </a:p>
          <a:p>
            <a:pPr lvl="3"/>
            <a:r>
              <a:rPr lang="zh-CN" altLang="en-US" dirty="0"/>
              <a:t>上传至</a:t>
            </a:r>
            <a:r>
              <a:rPr lang="en-US" altLang="zh-CN" dirty="0"/>
              <a:t>Flume</a:t>
            </a:r>
            <a:r>
              <a:rPr lang="zh-CN" altLang="en-US" dirty="0"/>
              <a:t>安装目录下的</a:t>
            </a:r>
            <a:r>
              <a:rPr lang="en-US" altLang="zh-CN" dirty="0"/>
              <a:t>lib</a:t>
            </a:r>
            <a:r>
              <a:rPr lang="zh-CN" altLang="en-US" dirty="0"/>
              <a:t>文件夹中</a:t>
            </a:r>
            <a:endParaRPr lang="en-US" altLang="zh-CN" dirty="0"/>
          </a:p>
          <a:p>
            <a:pPr lvl="2"/>
            <a:r>
              <a:rPr lang="zh-CN" altLang="en-US" dirty="0"/>
              <a:t>编写配置文件，加入自定义的拦截器</a:t>
            </a:r>
            <a:endParaRPr lang="en-US" altLang="zh-CN" dirty="0"/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agent</a:t>
            </a:r>
            <a:r>
              <a:rPr lang="zh-CN" altLang="en-US" dirty="0"/>
              <a:t>测试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50</a:t>
            </a:fld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l">
              <a:buSzTx/>
              <a:buNone/>
            </a:pPr>
            <a:r>
              <a:rPr lang="en-US" altLang="zh-CN" dirty="0"/>
              <a:t>6.1 </a:t>
            </a:r>
            <a:r>
              <a:rPr lang="zh-CN" altLang="en-US" dirty="0"/>
              <a:t>什么是</a:t>
            </a:r>
            <a:r>
              <a:rPr lang="en-US" altLang="zh-CN" dirty="0"/>
              <a:t>Flume</a:t>
            </a:r>
          </a:p>
          <a:p>
            <a:pPr marL="0" indent="0">
              <a:buNone/>
              <a:defRPr/>
            </a:pPr>
            <a:r>
              <a:rPr lang="en-US" altLang="zh-CN" dirty="0"/>
              <a:t>6.2 </a:t>
            </a:r>
            <a:r>
              <a:rPr lang="en-US" altLang="zh-CN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架构原理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6.3 </a:t>
            </a:r>
            <a:r>
              <a:rPr lang="en-US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安装与使用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6.4 </a:t>
            </a:r>
            <a:r>
              <a:rPr lang="zh-CN" altLang="en-US" dirty="0">
                <a:sym typeface="+mn-ea"/>
              </a:rPr>
              <a:t>案例分析：日志监控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6.5 </a:t>
            </a:r>
            <a:r>
              <a:rPr lang="zh-CN" altLang="en-US" dirty="0">
                <a:sym typeface="+mn-ea"/>
              </a:rPr>
              <a:t>拦截器</a:t>
            </a:r>
            <a:endParaRPr lang="en-US" altLang="zh-CN" dirty="0">
              <a:sym typeface="+mn-ea"/>
            </a:endParaRPr>
          </a:p>
          <a:p>
            <a:pPr marL="0" algn="l">
              <a:buSzTx/>
              <a:buNone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6.6 选择器</a:t>
            </a: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6.7 </a:t>
            </a:r>
            <a:r>
              <a:rPr lang="zh-CN" altLang="en-US" dirty="0">
                <a:sym typeface="+mn-ea"/>
              </a:rPr>
              <a:t>综合案例分析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51</a:t>
            </a:fld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6.6 </a:t>
            </a:r>
            <a:r>
              <a:rPr lang="zh-CN" altLang="en-US" dirty="0"/>
              <a:t>选择器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选择器（</a:t>
            </a:r>
            <a:r>
              <a:rPr lang="en-US" altLang="zh-CN" dirty="0"/>
              <a:t>Selector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Source</a:t>
            </a:r>
            <a:r>
              <a:rPr lang="zh-CN" altLang="en-US" dirty="0"/>
              <a:t>可以将</a:t>
            </a:r>
            <a:r>
              <a:rPr lang="en-US" altLang="zh-CN" dirty="0"/>
              <a:t>event</a:t>
            </a:r>
            <a:r>
              <a:rPr lang="zh-CN" altLang="en-US" dirty="0"/>
              <a:t>写入多个</a:t>
            </a:r>
            <a:r>
              <a:rPr lang="en-US" altLang="zh-CN" dirty="0"/>
              <a:t>Channel</a:t>
            </a:r>
            <a:r>
              <a:rPr lang="zh-CN" altLang="en-US" dirty="0"/>
              <a:t>，而</a:t>
            </a:r>
            <a:r>
              <a:rPr lang="en-US" altLang="zh-CN" dirty="0"/>
              <a:t>Channel</a:t>
            </a:r>
            <a:r>
              <a:rPr lang="zh-CN" altLang="en-US" dirty="0"/>
              <a:t>选择器可以决定将</a:t>
            </a:r>
            <a:r>
              <a:rPr lang="en-US" altLang="zh-CN" dirty="0"/>
              <a:t>event</a:t>
            </a:r>
            <a:r>
              <a:rPr lang="zh-CN" altLang="en-US" dirty="0"/>
              <a:t>写入哪些</a:t>
            </a:r>
            <a:r>
              <a:rPr lang="en-US" altLang="zh-CN" dirty="0"/>
              <a:t>Channel</a:t>
            </a:r>
          </a:p>
          <a:p>
            <a:pPr lvl="1"/>
            <a:r>
              <a:rPr lang="en-US" altLang="zh-CN" dirty="0"/>
              <a:t>Flume</a:t>
            </a:r>
            <a:r>
              <a:rPr lang="zh-CN" altLang="en-US" dirty="0"/>
              <a:t>内置两种选择器</a:t>
            </a:r>
            <a:endParaRPr lang="en-US" altLang="zh-CN" dirty="0"/>
          </a:p>
          <a:p>
            <a:pPr lvl="2"/>
            <a:r>
              <a:rPr lang="zh-CN" altLang="en-US" dirty="0"/>
              <a:t>复制选择器</a:t>
            </a:r>
            <a:endParaRPr lang="en-US" altLang="zh-CN" dirty="0"/>
          </a:p>
          <a:p>
            <a:pPr lvl="2"/>
            <a:r>
              <a:rPr lang="zh-CN" altLang="en-US" dirty="0"/>
              <a:t>多路选择器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52</a:t>
            </a:fld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6.6 </a:t>
            </a:r>
            <a:r>
              <a:rPr lang="zh-CN" altLang="en-US" dirty="0"/>
              <a:t>选择器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选择器（</a:t>
            </a:r>
            <a:r>
              <a:rPr lang="en-US" altLang="zh-CN" dirty="0"/>
              <a:t>Selector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复制选择器</a:t>
            </a:r>
            <a:endParaRPr lang="en-US" altLang="zh-CN" dirty="0"/>
          </a:p>
          <a:p>
            <a:pPr lvl="2"/>
            <a:r>
              <a:rPr lang="zh-CN" altLang="en-US" dirty="0"/>
              <a:t>将同一个</a:t>
            </a:r>
            <a:r>
              <a:rPr lang="en-US" altLang="zh-CN" dirty="0"/>
              <a:t>event</a:t>
            </a:r>
            <a:r>
              <a:rPr lang="zh-CN" altLang="en-US" dirty="0"/>
              <a:t>发送到每个</a:t>
            </a:r>
            <a:r>
              <a:rPr lang="en-US" altLang="zh-CN" dirty="0"/>
              <a:t>Channel</a:t>
            </a:r>
          </a:p>
          <a:p>
            <a:pPr lvl="2"/>
            <a:r>
              <a:rPr lang="zh-CN" altLang="en-US" dirty="0"/>
              <a:t>如果</a:t>
            </a:r>
            <a:r>
              <a:rPr lang="en-US" altLang="zh-CN" dirty="0"/>
              <a:t>Source</a:t>
            </a:r>
            <a:r>
              <a:rPr lang="zh-CN" altLang="en-US" dirty="0"/>
              <a:t>没有指定选择器，则默认使用复制选择器</a:t>
            </a:r>
            <a:endParaRPr lang="en-US" altLang="zh-CN" dirty="0"/>
          </a:p>
          <a:p>
            <a:pPr lvl="2"/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配置示例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53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501008"/>
            <a:ext cx="5410955" cy="54776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95" y="4581128"/>
            <a:ext cx="3720032" cy="81450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6.6 </a:t>
            </a:r>
            <a:r>
              <a:rPr lang="zh-CN" altLang="en-US" dirty="0"/>
              <a:t>选择器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选择器（</a:t>
            </a:r>
            <a:r>
              <a:rPr lang="en-US" altLang="zh-CN" dirty="0"/>
              <a:t>Selector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多路选择器</a:t>
            </a:r>
            <a:endParaRPr lang="en-US" altLang="zh-CN" dirty="0"/>
          </a:p>
          <a:p>
            <a:pPr lvl="2"/>
            <a:r>
              <a:rPr lang="zh-CN" altLang="en-US" dirty="0"/>
              <a:t>按照</a:t>
            </a:r>
            <a:r>
              <a:rPr lang="en-US" altLang="zh-CN" dirty="0"/>
              <a:t>event header</a:t>
            </a:r>
            <a:r>
              <a:rPr lang="zh-CN" altLang="en-US" dirty="0"/>
              <a:t>的配置信息将</a:t>
            </a:r>
            <a:r>
              <a:rPr lang="en-US" altLang="zh-CN" dirty="0"/>
              <a:t>event</a:t>
            </a:r>
            <a:r>
              <a:rPr lang="zh-CN" altLang="en-US" dirty="0"/>
              <a:t>发送至相应的</a:t>
            </a:r>
            <a:r>
              <a:rPr lang="en-US" altLang="zh-CN" dirty="0"/>
              <a:t>Channel</a:t>
            </a:r>
          </a:p>
          <a:p>
            <a:pPr lvl="2"/>
            <a:r>
              <a:rPr lang="zh-CN" altLang="en-US" dirty="0"/>
              <a:t>常用配置属性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配置示例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54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429000"/>
            <a:ext cx="6506483" cy="85260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869160"/>
            <a:ext cx="4034401" cy="110981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l">
              <a:buSzTx/>
              <a:buNone/>
            </a:pPr>
            <a:r>
              <a:rPr lang="zh-CN" altLang="en-US" dirty="0"/>
              <a:t>6.1 什么是Flume</a:t>
            </a:r>
          </a:p>
          <a:p>
            <a:pPr marL="0" indent="0">
              <a:buNone/>
              <a:defRPr/>
            </a:pPr>
            <a:r>
              <a:rPr lang="en-US" altLang="zh-CN" dirty="0"/>
              <a:t>6.2 </a:t>
            </a:r>
            <a:r>
              <a:rPr lang="en-US" altLang="zh-CN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架构原理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6.3 </a:t>
            </a:r>
            <a:r>
              <a:rPr lang="en-US" dirty="0">
                <a:sym typeface="+mn-ea"/>
              </a:rPr>
              <a:t>Flume</a:t>
            </a:r>
            <a:r>
              <a:rPr lang="zh-CN" altLang="en-US" dirty="0">
                <a:sym typeface="+mn-ea"/>
              </a:rPr>
              <a:t>安装与使用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6.4 </a:t>
            </a:r>
            <a:r>
              <a:rPr lang="zh-CN" altLang="en-US" dirty="0">
                <a:sym typeface="+mn-ea"/>
              </a:rPr>
              <a:t>案例分析：日志监控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6.5 </a:t>
            </a:r>
            <a:r>
              <a:rPr lang="zh-CN" altLang="en-US" dirty="0">
                <a:sym typeface="+mn-ea"/>
              </a:rPr>
              <a:t>拦截器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6.6 </a:t>
            </a:r>
            <a:r>
              <a:rPr lang="zh-CN" altLang="en-US" dirty="0">
                <a:sym typeface="+mn-ea"/>
              </a:rPr>
              <a:t>选择器</a:t>
            </a:r>
            <a:endParaRPr lang="en-US" altLang="zh-CN" dirty="0">
              <a:sym typeface="+mn-ea"/>
            </a:endParaRPr>
          </a:p>
          <a:p>
            <a:pPr marL="0" algn="l">
              <a:buSzTx/>
              <a:buNone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6.7 综合案例分析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55</a:t>
            </a:fld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综合案例分析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en-US" altLang="zh-CN" dirty="0"/>
          </a:p>
          <a:p>
            <a:pPr lvl="1"/>
            <a:r>
              <a:rPr lang="zh-CN" altLang="en-US" dirty="0"/>
              <a:t>拦截器和选择器的应用</a:t>
            </a:r>
            <a:endParaRPr lang="en-US" altLang="zh-CN" dirty="0"/>
          </a:p>
          <a:p>
            <a:pPr lvl="1"/>
            <a:r>
              <a:rPr lang="en-US" altLang="zh-CN" dirty="0"/>
              <a:t>Flume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56</a:t>
            </a:fld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综合案例分析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en-US" altLang="zh-CN" dirty="0"/>
          </a:p>
          <a:p>
            <a:pPr lvl="1"/>
            <a:r>
              <a:rPr lang="zh-CN" altLang="en-US" dirty="0"/>
              <a:t>拦截器和选择器的应用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57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348880"/>
            <a:ext cx="5277735" cy="24482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综合案例分析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en-US" altLang="zh-CN" dirty="0"/>
          </a:p>
          <a:p>
            <a:pPr lvl="1"/>
            <a:r>
              <a:rPr lang="zh-CN" altLang="en-US" dirty="0"/>
              <a:t>拦截器和选择器的应用</a:t>
            </a:r>
            <a:endParaRPr lang="en-US" altLang="zh-CN" dirty="0"/>
          </a:p>
          <a:p>
            <a:pPr lvl="2"/>
            <a:r>
              <a:rPr lang="en-US" altLang="zh-CN" dirty="0" smtClean="0"/>
              <a:t>centos01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58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636912"/>
            <a:ext cx="3600000" cy="342612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综合案例分析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en-US" altLang="zh-CN" dirty="0"/>
          </a:p>
          <a:p>
            <a:pPr lvl="1"/>
            <a:r>
              <a:rPr lang="zh-CN" altLang="en-US" dirty="0"/>
              <a:t>拦截器和选择器的应用</a:t>
            </a:r>
            <a:endParaRPr lang="en-US" altLang="zh-CN" dirty="0"/>
          </a:p>
          <a:p>
            <a:pPr lvl="2"/>
            <a:r>
              <a:rPr lang="en-US" altLang="zh-CN" dirty="0" smtClean="0"/>
              <a:t>centos03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59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708920"/>
            <a:ext cx="3600000" cy="32610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综合案例分析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en-US" altLang="zh-CN" dirty="0"/>
          </a:p>
          <a:p>
            <a:pPr lvl="1"/>
            <a:r>
              <a:rPr lang="zh-CN" altLang="en-US" dirty="0"/>
              <a:t>拦截器和选择器的应用</a:t>
            </a:r>
            <a:endParaRPr lang="en-US" altLang="zh-CN" dirty="0"/>
          </a:p>
          <a:p>
            <a:pPr lvl="2"/>
            <a:r>
              <a:rPr lang="en-US" altLang="zh-CN" dirty="0" smtClean="0"/>
              <a:t>centos02</a:t>
            </a:r>
            <a:r>
              <a:rPr lang="zh-CN" altLang="en-US" dirty="0"/>
              <a:t>配置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60</a:t>
            </a:fld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120" y="1053336"/>
            <a:ext cx="3800455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综合案例分析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en-US" altLang="zh-CN" dirty="0"/>
          </a:p>
          <a:p>
            <a:pPr lvl="1"/>
            <a:r>
              <a:rPr lang="zh-CN" altLang="en-US" dirty="0"/>
              <a:t>拦截器和选择器的应用</a:t>
            </a:r>
            <a:endParaRPr lang="en-US" altLang="zh-CN" dirty="0"/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Flume	</a:t>
            </a:r>
          </a:p>
          <a:p>
            <a:pPr lvl="3"/>
            <a:r>
              <a:rPr lang="zh-CN" altLang="en-US" dirty="0"/>
              <a:t>先启动</a:t>
            </a:r>
            <a:r>
              <a:rPr lang="en-US" altLang="zh-CN" dirty="0"/>
              <a:t>centos02</a:t>
            </a:r>
            <a:r>
              <a:rPr lang="zh-CN" altLang="en-US" dirty="0"/>
              <a:t>，再启动</a:t>
            </a:r>
            <a:r>
              <a:rPr lang="en-US" altLang="zh-CN" dirty="0"/>
              <a:t>centos01</a:t>
            </a:r>
            <a:r>
              <a:rPr lang="zh-CN" altLang="en-US" dirty="0"/>
              <a:t>、</a:t>
            </a:r>
            <a:r>
              <a:rPr lang="en-US" altLang="zh-CN" dirty="0"/>
              <a:t> centos03</a:t>
            </a:r>
          </a:p>
          <a:p>
            <a:pPr lvl="2"/>
            <a:r>
              <a:rPr lang="zh-CN" altLang="en-US" dirty="0"/>
              <a:t>写入测试数据</a:t>
            </a:r>
            <a:endParaRPr lang="en-US" altLang="zh-CN" dirty="0"/>
          </a:p>
          <a:p>
            <a:pPr lvl="3"/>
            <a:r>
              <a:rPr lang="zh-CN" altLang="en-US" dirty="0"/>
              <a:t>分别在</a:t>
            </a:r>
            <a:r>
              <a:rPr lang="en-US" altLang="zh-CN" dirty="0"/>
              <a:t>centos01</a:t>
            </a:r>
            <a:r>
              <a:rPr lang="zh-CN" altLang="en-US" dirty="0"/>
              <a:t>、</a:t>
            </a:r>
            <a:r>
              <a:rPr lang="en-US" altLang="zh-CN" dirty="0"/>
              <a:t> centos03</a:t>
            </a:r>
            <a:r>
              <a:rPr lang="zh-CN" altLang="en-US" dirty="0"/>
              <a:t>测试</a:t>
            </a:r>
            <a:endParaRPr lang="en-US" altLang="zh-CN" dirty="0"/>
          </a:p>
          <a:p>
            <a:pPr lvl="2"/>
            <a:r>
              <a:rPr lang="zh-CN" altLang="en-US" dirty="0"/>
              <a:t>查看日志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61</a:t>
            </a:fld>
            <a:endParaRPr lang="en-US" altLang="zh-C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综合案例分析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en-US" altLang="zh-CN" dirty="0"/>
          </a:p>
          <a:p>
            <a:pPr lvl="1"/>
            <a:r>
              <a:rPr lang="en-US" altLang="zh-CN" dirty="0"/>
              <a:t>Flume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  <a:endParaRPr lang="en-US" altLang="zh-CN" dirty="0"/>
          </a:p>
          <a:p>
            <a:pPr lvl="2"/>
            <a:r>
              <a:rPr lang="en-US" altLang="zh-CN" dirty="0"/>
              <a:t>Kafka</a:t>
            </a:r>
            <a:r>
              <a:rPr lang="zh-CN" altLang="en-US" dirty="0"/>
              <a:t>适合用于对数据存储、吞吐量、实时性要求比较高的场景</a:t>
            </a:r>
            <a:endParaRPr lang="en-US" altLang="zh-CN" dirty="0"/>
          </a:p>
          <a:p>
            <a:pPr lvl="3"/>
            <a:r>
              <a:rPr lang="en-US" altLang="zh-CN" dirty="0"/>
              <a:t>Kafka</a:t>
            </a:r>
            <a:r>
              <a:rPr lang="zh-CN" altLang="en-US" dirty="0"/>
              <a:t>提供了数据存储功能</a:t>
            </a:r>
            <a:endParaRPr lang="en-US" altLang="zh-CN" dirty="0"/>
          </a:p>
          <a:p>
            <a:pPr lvl="2"/>
            <a:r>
              <a:rPr lang="en-US" altLang="zh-CN" dirty="0"/>
              <a:t>Flume</a:t>
            </a:r>
            <a:r>
              <a:rPr lang="zh-CN" altLang="en-US" dirty="0"/>
              <a:t>适用于数据的来源和流向比较多的场景</a:t>
            </a:r>
            <a:endParaRPr lang="en-US" altLang="zh-CN" dirty="0"/>
          </a:p>
          <a:p>
            <a:pPr lvl="3"/>
            <a:r>
              <a:rPr lang="en-US" altLang="zh-CN" dirty="0"/>
              <a:t>Flume</a:t>
            </a:r>
            <a:r>
              <a:rPr lang="zh-CN" altLang="en-US" dirty="0"/>
              <a:t>侧重于数据采集与传输，不提供数据存储功能</a:t>
            </a:r>
            <a:endParaRPr lang="en-US" altLang="zh-CN" dirty="0"/>
          </a:p>
          <a:p>
            <a:pPr lvl="2"/>
            <a:r>
              <a:rPr lang="zh-CN" altLang="en-US" dirty="0"/>
              <a:t>在实际应用中，尝尝将</a:t>
            </a:r>
            <a:r>
              <a:rPr lang="en-US" altLang="zh-CN" dirty="0"/>
              <a:t>Flume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结合使用</a:t>
            </a:r>
            <a:endParaRPr lang="en-US" altLang="zh-CN" dirty="0"/>
          </a:p>
          <a:p>
            <a:pPr lvl="3"/>
            <a:r>
              <a:rPr lang="zh-CN" altLang="en-US" dirty="0"/>
              <a:t>在分布式集群的每个节点都安装一个</a:t>
            </a:r>
            <a:r>
              <a:rPr lang="en-US" altLang="zh-CN" dirty="0"/>
              <a:t>Flume</a:t>
            </a:r>
            <a:r>
              <a:rPr lang="zh-CN" altLang="en-US" dirty="0"/>
              <a:t>，使用</a:t>
            </a:r>
            <a:r>
              <a:rPr lang="en-US" altLang="zh-CN" dirty="0"/>
              <a:t>Flume</a:t>
            </a:r>
            <a:r>
              <a:rPr lang="zh-CN" altLang="en-US" dirty="0"/>
              <a:t>采集各个节点的数据，然后传递给</a:t>
            </a:r>
            <a:r>
              <a:rPr lang="en-US" altLang="zh-CN" dirty="0"/>
              <a:t>Kafka</a:t>
            </a:r>
            <a:r>
              <a:rPr lang="zh-CN" altLang="en-US" dirty="0"/>
              <a:t>进行处理</a:t>
            </a:r>
            <a:endParaRPr lang="en-US" altLang="zh-CN" dirty="0"/>
          </a:p>
          <a:p>
            <a:pPr lvl="3"/>
            <a:r>
              <a:rPr lang="en-US" altLang="zh-CN" dirty="0"/>
              <a:t>Flume</a:t>
            </a:r>
            <a:r>
              <a:rPr lang="zh-CN" altLang="en-US" dirty="0"/>
              <a:t>的</a:t>
            </a:r>
            <a:r>
              <a:rPr lang="en-US" altLang="zh-CN" dirty="0"/>
              <a:t>Sink</a:t>
            </a:r>
            <a:r>
              <a:rPr lang="zh-CN" altLang="en-US" dirty="0"/>
              <a:t>组件</a:t>
            </a:r>
            <a:r>
              <a:rPr lang="zh-CN" altLang="en-US" dirty="0" smtClean="0"/>
              <a:t>包含</a:t>
            </a:r>
            <a:r>
              <a:rPr lang="en-US" altLang="zh-CN" dirty="0" err="1" smtClean="0"/>
              <a:t>KafkaSink</a:t>
            </a:r>
            <a:r>
              <a:rPr lang="zh-CN" altLang="en-US" dirty="0" smtClean="0"/>
              <a:t>，</a:t>
            </a:r>
            <a:r>
              <a:rPr lang="zh-CN" altLang="en-US" dirty="0"/>
              <a:t>可以将数据写入到</a:t>
            </a:r>
            <a:r>
              <a:rPr lang="en-US" altLang="zh-CN" dirty="0"/>
              <a:t>Kafka</a:t>
            </a:r>
            <a:r>
              <a:rPr lang="zh-CN" altLang="en-US" dirty="0"/>
              <a:t>的主题中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62</a:t>
            </a:fld>
            <a:endParaRPr lang="en-US" altLang="zh-CN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综合案例分析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en-US" altLang="zh-CN" dirty="0"/>
          </a:p>
          <a:p>
            <a:pPr lvl="1"/>
            <a:r>
              <a:rPr lang="en-US" altLang="zh-CN" dirty="0"/>
              <a:t>Flume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  <a:endParaRPr lang="en-US" altLang="zh-CN" dirty="0"/>
          </a:p>
          <a:p>
            <a:pPr lvl="2"/>
            <a:r>
              <a:rPr lang="zh-CN" altLang="en-US" dirty="0"/>
              <a:t>配置</a:t>
            </a:r>
            <a:r>
              <a:rPr lang="en-US" altLang="zh-CN" dirty="0"/>
              <a:t>Flume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63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067" y="2719001"/>
            <a:ext cx="5939666" cy="276739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6.7 </a:t>
            </a:r>
            <a:r>
              <a:rPr lang="zh-CN" altLang="en-US" dirty="0"/>
              <a:t>综合案例分析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endParaRPr lang="en-US" altLang="zh-CN" dirty="0"/>
          </a:p>
          <a:p>
            <a:pPr lvl="1"/>
            <a:r>
              <a:rPr lang="en-US" altLang="zh-CN" dirty="0"/>
              <a:t>Flume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  <a:endParaRPr lang="en-US" altLang="zh-CN" dirty="0"/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Kafka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Flume</a:t>
            </a:r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Kafka</a:t>
            </a:r>
            <a:r>
              <a:rPr lang="zh-CN" altLang="en-US" dirty="0"/>
              <a:t>消费者</a:t>
            </a:r>
            <a:endParaRPr lang="en-US" altLang="zh-CN" dirty="0"/>
          </a:p>
          <a:p>
            <a:pPr lvl="2"/>
            <a:r>
              <a:rPr lang="zh-CN" altLang="en-US" dirty="0"/>
              <a:t>生成日志数据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64</a:t>
            </a:fld>
            <a:endParaRPr lang="en-US" altLang="zh-CN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819400" y="4953000"/>
            <a:ext cx="5167313" cy="414338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dist">
              <a:lnSpc>
                <a:spcPct val="80000"/>
              </a:lnSpc>
            </a:pPr>
            <a:r>
              <a:rPr lang="en-US" altLang="zh-CN" sz="18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Click to edit company slogan .</a:t>
            </a:r>
          </a:p>
        </p:txBody>
      </p:sp>
      <p:sp>
        <p:nvSpPr>
          <p:cNvPr id="87045" name="WordArt 5"/>
          <p:cNvSpPr>
            <a:spLocks noChangeArrowheads="1" noChangeShapeType="1" noTextEdit="1"/>
          </p:cNvSpPr>
          <p:nvPr/>
        </p:nvSpPr>
        <p:spPr bwMode="gray">
          <a:xfrm>
            <a:off x="3674864" y="4396333"/>
            <a:ext cx="1728192" cy="587896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谢谢</a:t>
            </a:r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animBg="1"/>
    </p:bldLst>
  </p:timing>
</p:sld>
</file>

<file path=ppt/theme/theme1.xml><?xml version="1.0" encoding="utf-8"?>
<a:theme xmlns:a="http://schemas.openxmlformats.org/drawingml/2006/main" name="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cdb2004c012l</Template>
  <TotalTime>83</TotalTime>
  <Words>2502</Words>
  <Application>Microsoft Office PowerPoint</Application>
  <PresentationFormat>全屏显示(4:3)</PresentationFormat>
  <Paragraphs>493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2" baseType="lpstr">
      <vt:lpstr>宋体</vt:lpstr>
      <vt:lpstr>Arial</vt:lpstr>
      <vt:lpstr>Calibri</vt:lpstr>
      <vt:lpstr>Times New Roman</vt:lpstr>
      <vt:lpstr>Verdana</vt:lpstr>
      <vt:lpstr>Wingdings</vt:lpstr>
      <vt:lpstr>cdb2004c012l</vt:lpstr>
      <vt:lpstr>第6章 日志收集系统Flume</vt:lpstr>
      <vt:lpstr>主要内容</vt:lpstr>
      <vt:lpstr>6.1 什么是Flume</vt:lpstr>
      <vt:lpstr>6.1 什么是Flume</vt:lpstr>
      <vt:lpstr>6.1 什么是Flume</vt:lpstr>
      <vt:lpstr>主要内容</vt:lpstr>
      <vt:lpstr>6.2 Flume架构原理</vt:lpstr>
      <vt:lpstr>6.2 Flume架构原理</vt:lpstr>
      <vt:lpstr>6.2 Flume架构原理</vt:lpstr>
      <vt:lpstr>6.2 Flume架构原理</vt:lpstr>
      <vt:lpstr>6.2 Flume架构原理</vt:lpstr>
      <vt:lpstr>6.2 Flume架构原理</vt:lpstr>
      <vt:lpstr>6.2 Flume架构原理</vt:lpstr>
      <vt:lpstr>6.2 Flume架构原理</vt:lpstr>
      <vt:lpstr>6.2 Flume架构原理</vt:lpstr>
      <vt:lpstr>6.2 Flume架构原理</vt:lpstr>
      <vt:lpstr>6.2 Flume架构原理</vt:lpstr>
      <vt:lpstr>主要内容</vt:lpstr>
      <vt:lpstr>6.3 Flume安装与使用</vt:lpstr>
      <vt:lpstr>6.3 Flume安装与使用</vt:lpstr>
      <vt:lpstr>6.3 Flume安装与使用</vt:lpstr>
      <vt:lpstr>6.3 Flume安装与使用</vt:lpstr>
      <vt:lpstr>6.3 Flume安装与使用</vt:lpstr>
      <vt:lpstr>6.3 Flume安装与使用</vt:lpstr>
      <vt:lpstr>6.3 Flume安装与使用</vt:lpstr>
      <vt:lpstr>6.3 Flume安装与使用</vt:lpstr>
      <vt:lpstr>主要内容</vt:lpstr>
      <vt:lpstr>6.4 案例分析：日志监控</vt:lpstr>
      <vt:lpstr>6.4 案例分析：日志监控</vt:lpstr>
      <vt:lpstr>6.4 案例分析：日志监控</vt:lpstr>
      <vt:lpstr>6.4 案例分析：日志监控</vt:lpstr>
      <vt:lpstr>6.4 案例分析：日志监控</vt:lpstr>
      <vt:lpstr>6.4 案例分析：日志监控</vt:lpstr>
      <vt:lpstr>6.4 案例分析：日志监控</vt:lpstr>
      <vt:lpstr>6.4 案例分析：日志监控</vt:lpstr>
      <vt:lpstr>6.4 案例分析：日志监控</vt:lpstr>
      <vt:lpstr>6.4 案例分析：日志监控</vt:lpstr>
      <vt:lpstr>6.4 案例分析：日志监控</vt:lpstr>
      <vt:lpstr>主要内容</vt:lpstr>
      <vt:lpstr>6.5 拦截器</vt:lpstr>
      <vt:lpstr>6.5 拦截器</vt:lpstr>
      <vt:lpstr>6.5 拦截器</vt:lpstr>
      <vt:lpstr>6.5 拦截器</vt:lpstr>
      <vt:lpstr>6.5 拦截器</vt:lpstr>
      <vt:lpstr>6.5 拦截器</vt:lpstr>
      <vt:lpstr>6.5 拦截器</vt:lpstr>
      <vt:lpstr>6.5 拦截器</vt:lpstr>
      <vt:lpstr>6.5 拦截器</vt:lpstr>
      <vt:lpstr>6.5 拦截器</vt:lpstr>
      <vt:lpstr>6.5 拦截器</vt:lpstr>
      <vt:lpstr>主要内容</vt:lpstr>
      <vt:lpstr>6.6 选择器</vt:lpstr>
      <vt:lpstr>6.6 选择器</vt:lpstr>
      <vt:lpstr>6.6 选择器</vt:lpstr>
      <vt:lpstr>主要内容</vt:lpstr>
      <vt:lpstr>6.7 综合案例分析</vt:lpstr>
      <vt:lpstr>6.7 综合案例分析</vt:lpstr>
      <vt:lpstr>6.7 综合案例分析</vt:lpstr>
      <vt:lpstr>6.7 综合案例分析</vt:lpstr>
      <vt:lpstr>6.7 综合案例分析</vt:lpstr>
      <vt:lpstr>6.7 综合案例分析</vt:lpstr>
      <vt:lpstr>6.7 综合案例分析</vt:lpstr>
      <vt:lpstr>6.7 综合案例分析</vt:lpstr>
      <vt:lpstr>6.7 综合案例分析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hadoop</dc:creator>
  <cp:lastModifiedBy>Chen Hongshun</cp:lastModifiedBy>
  <cp:revision>397</cp:revision>
  <dcterms:created xsi:type="dcterms:W3CDTF">2017-03-03T01:55:00Z</dcterms:created>
  <dcterms:modified xsi:type="dcterms:W3CDTF">2021-04-22T09:39:50Z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