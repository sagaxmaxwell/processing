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handoutMasterIdLst>
    <p:handoutMasterId r:id="rId78"/>
  </p:handoutMasterIdLst>
  <p:sldIdLst>
    <p:sldId id="463" r:id="rId2"/>
    <p:sldId id="763" r:id="rId3"/>
    <p:sldId id="764" r:id="rId4"/>
    <p:sldId id="766" r:id="rId5"/>
    <p:sldId id="768" r:id="rId6"/>
    <p:sldId id="767" r:id="rId7"/>
    <p:sldId id="769" r:id="rId8"/>
    <p:sldId id="783" r:id="rId9"/>
    <p:sldId id="785" r:id="rId10"/>
    <p:sldId id="784" r:id="rId11"/>
    <p:sldId id="786" r:id="rId12"/>
    <p:sldId id="787" r:id="rId13"/>
    <p:sldId id="790" r:id="rId14"/>
    <p:sldId id="791" r:id="rId15"/>
    <p:sldId id="792" r:id="rId16"/>
    <p:sldId id="793" r:id="rId17"/>
    <p:sldId id="796" r:id="rId18"/>
    <p:sldId id="799" r:id="rId19"/>
    <p:sldId id="798" r:id="rId20"/>
    <p:sldId id="800" r:id="rId21"/>
    <p:sldId id="801" r:id="rId22"/>
    <p:sldId id="797" r:id="rId23"/>
    <p:sldId id="803" r:id="rId24"/>
    <p:sldId id="805" r:id="rId25"/>
    <p:sldId id="806" r:id="rId26"/>
    <p:sldId id="807" r:id="rId27"/>
    <p:sldId id="816" r:id="rId28"/>
    <p:sldId id="809" r:id="rId29"/>
    <p:sldId id="804" r:id="rId30"/>
    <p:sldId id="817" r:id="rId31"/>
    <p:sldId id="818" r:id="rId32"/>
    <p:sldId id="829" r:id="rId33"/>
    <p:sldId id="810" r:id="rId34"/>
    <p:sldId id="819" r:id="rId35"/>
    <p:sldId id="830" r:id="rId36"/>
    <p:sldId id="821" r:id="rId37"/>
    <p:sldId id="823" r:id="rId38"/>
    <p:sldId id="826" r:id="rId39"/>
    <p:sldId id="831" r:id="rId40"/>
    <p:sldId id="811" r:id="rId41"/>
    <p:sldId id="812" r:id="rId42"/>
    <p:sldId id="814" r:id="rId43"/>
    <p:sldId id="827" r:id="rId44"/>
    <p:sldId id="828" r:id="rId45"/>
    <p:sldId id="654" r:id="rId46"/>
    <p:sldId id="655" r:id="rId47"/>
    <p:sldId id="656" r:id="rId48"/>
    <p:sldId id="659" r:id="rId49"/>
    <p:sldId id="660" r:id="rId50"/>
    <p:sldId id="661" r:id="rId51"/>
    <p:sldId id="662" r:id="rId52"/>
    <p:sldId id="663" r:id="rId53"/>
    <p:sldId id="664" r:id="rId54"/>
    <p:sldId id="665" r:id="rId55"/>
    <p:sldId id="667" r:id="rId56"/>
    <p:sldId id="832" r:id="rId57"/>
    <p:sldId id="834" r:id="rId58"/>
    <p:sldId id="833" r:id="rId59"/>
    <p:sldId id="835" r:id="rId60"/>
    <p:sldId id="838" r:id="rId61"/>
    <p:sldId id="837" r:id="rId62"/>
    <p:sldId id="839" r:id="rId63"/>
    <p:sldId id="841" r:id="rId64"/>
    <p:sldId id="840" r:id="rId65"/>
    <p:sldId id="842" r:id="rId66"/>
    <p:sldId id="843" r:id="rId67"/>
    <p:sldId id="844" r:id="rId68"/>
    <p:sldId id="847" r:id="rId69"/>
    <p:sldId id="845" r:id="rId70"/>
    <p:sldId id="848" r:id="rId71"/>
    <p:sldId id="850" r:id="rId72"/>
    <p:sldId id="849" r:id="rId73"/>
    <p:sldId id="851" r:id="rId74"/>
    <p:sldId id="853" r:id="rId75"/>
    <p:sldId id="276" r:id="rId76"/>
  </p:sldIdLst>
  <p:sldSz cx="9144000" cy="6858000" type="screen4x3"/>
  <p:notesSz cx="6858000" cy="9144000"/>
  <p:custDataLst>
    <p:tags r:id="rId79"/>
  </p:custDataLst>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58" userDrawn="1">
          <p15:clr>
            <a:srgbClr val="A4A3A4"/>
          </p15:clr>
        </p15:guide>
        <p15:guide id="2" pos="2905" userDrawn="1">
          <p15:clr>
            <a:srgbClr val="A4A3A4"/>
          </p15:clr>
        </p15:guide>
      </p15:sldGuideLst>
    </p:ext>
    <p:ext uri="{2D200454-40CA-4A62-9FC3-DE9A4176ACB9}">
      <p15:notesGuideLst xmlns:p15="http://schemas.microsoft.com/office/powerpoint/2012/main">
        <p15:guide id="1" orient="horz" pos="2877">
          <p15:clr>
            <a:srgbClr val="A4A3A4"/>
          </p15:clr>
        </p15:guide>
        <p15:guide id="2" pos="217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60" autoAdjust="0"/>
  </p:normalViewPr>
  <p:slideViewPr>
    <p:cSldViewPr showGuides="1">
      <p:cViewPr varScale="1">
        <p:scale>
          <a:sx n="99" d="100"/>
          <a:sy n="99" d="100"/>
        </p:scale>
        <p:origin x="1866" y="84"/>
      </p:cViewPr>
      <p:guideLst>
        <p:guide orient="horz" pos="2158"/>
        <p:guide pos="2905"/>
      </p:guideLst>
    </p:cSldViewPr>
  </p:slideViewPr>
  <p:notesTextViewPr>
    <p:cViewPr>
      <p:scale>
        <a:sx n="1" d="1"/>
        <a:sy n="1" d="1"/>
      </p:scale>
      <p:origin x="0" y="0"/>
    </p:cViewPr>
  </p:notesTextViewPr>
  <p:notesViewPr>
    <p:cSldViewPr>
      <p:cViewPr varScale="1">
        <p:scale>
          <a:sx n="54" d="100"/>
          <a:sy n="54" d="100"/>
        </p:scale>
        <p:origin x="-2928" y="-84"/>
      </p:cViewPr>
      <p:guideLst>
        <p:guide orient="horz" pos="2877"/>
        <p:guide pos="2179"/>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63790A-1AF8-41FD-8613-F98BEDF9DBBB}" type="datetimeFigureOut">
              <a:rPr lang="zh-CN" altLang="en-US" smtClean="0"/>
              <a:t>2023/5/17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1B559C9-FBFA-44CB-8D4D-CA6FFD5A7E2C}"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DAADD5-90F8-4BC9-AC30-6195DA8BE947}" type="datetimeFigureOut">
              <a:rPr lang="zh-CN" altLang="en-US" smtClean="0"/>
              <a:t>2023/5/17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4D408B-9088-4E1B-998F-9D60A79664C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089" name="Rectangle 17"/>
          <p:cNvSpPr>
            <a:spLocks noChangeArrowheads="1"/>
          </p:cNvSpPr>
          <p:nvPr/>
        </p:nvSpPr>
        <p:spPr bwMode="gray">
          <a:xfrm>
            <a:off x="0" y="0"/>
            <a:ext cx="9144000" cy="609600"/>
          </a:xfrm>
          <a:prstGeom prst="rect">
            <a:avLst/>
          </a:prstGeom>
          <a:gradFill rotWithShape="1">
            <a:gsLst>
              <a:gs pos="0">
                <a:schemeClr val="tx1"/>
              </a:gs>
              <a:gs pos="100000">
                <a:schemeClr val="tx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 name="Rectangle 2"/>
          <p:cNvSpPr>
            <a:spLocks noGrp="1" noChangeArrowheads="1"/>
          </p:cNvSpPr>
          <p:nvPr>
            <p:ph type="ctrTitle"/>
          </p:nvPr>
        </p:nvSpPr>
        <p:spPr bwMode="gray">
          <a:xfrm>
            <a:off x="381000" y="1981200"/>
            <a:ext cx="8229600" cy="762000"/>
          </a:xfrm>
        </p:spPr>
        <p:txBody>
          <a:bodyPr/>
          <a:lstStyle>
            <a:lvl1pPr algn="ctr">
              <a:defRPr sz="4000">
                <a:solidFill>
                  <a:schemeClr val="tx1"/>
                </a:solidFill>
              </a:defRPr>
            </a:lvl1pPr>
          </a:lstStyle>
          <a:p>
            <a:pPr lvl="0"/>
            <a:r>
              <a:rPr lang="zh-CN" altLang="en-US" noProof="0" dirty="0" smtClean="0"/>
              <a:t>单击此处编辑母版标题样式</a:t>
            </a:r>
            <a:endParaRPr lang="en-US" altLang="zh-CN" noProof="0" dirty="0" smtClean="0"/>
          </a:p>
        </p:txBody>
      </p:sp>
      <p:sp>
        <p:nvSpPr>
          <p:cNvPr id="3075" name="Rectangle 3"/>
          <p:cNvSpPr>
            <a:spLocks noGrp="1" noChangeArrowheads="1"/>
          </p:cNvSpPr>
          <p:nvPr>
            <p:ph type="subTitle" idx="1"/>
          </p:nvPr>
        </p:nvSpPr>
        <p:spPr bwMode="gray">
          <a:xfrm>
            <a:off x="1447800" y="2814638"/>
            <a:ext cx="5943600" cy="609600"/>
          </a:xfrm>
        </p:spPr>
        <p:txBody>
          <a:bodyPr/>
          <a:lstStyle>
            <a:lvl1pPr marL="0" indent="0" algn="ctr">
              <a:buFont typeface="Wingdings" panose="05000000000000000000" pitchFamily="2" charset="2"/>
              <a:buNone/>
              <a:defRPr sz="2000" b="0">
                <a:solidFill>
                  <a:schemeClr val="tx1"/>
                </a:solidFill>
              </a:defRPr>
            </a:lvl1pPr>
          </a:lstStyle>
          <a:p>
            <a:pPr lvl="0"/>
            <a:r>
              <a:rPr lang="zh-CN" altLang="en-US" noProof="0" smtClean="0"/>
              <a:t>单击此处编辑母版副标题样式</a:t>
            </a:r>
            <a:endParaRPr lang="en-US" altLang="zh-CN" noProof="0" smtClean="0"/>
          </a:p>
        </p:txBody>
      </p:sp>
      <p:sp>
        <p:nvSpPr>
          <p:cNvPr id="3076" name="Rectangle 4"/>
          <p:cNvSpPr>
            <a:spLocks noGrp="1" noChangeArrowheads="1"/>
          </p:cNvSpPr>
          <p:nvPr>
            <p:ph type="dt" sz="half" idx="2"/>
          </p:nvPr>
        </p:nvSpPr>
        <p:spPr>
          <a:xfrm>
            <a:off x="457200" y="6553200"/>
            <a:ext cx="2133600" cy="168275"/>
          </a:xfrm>
          <a:prstGeom prst="rect">
            <a:avLst/>
          </a:prstGeom>
        </p:spPr>
        <p:txBody>
          <a:bodyPr/>
          <a:lstStyle>
            <a:lvl1pPr>
              <a:defRPr sz="1400">
                <a:latin typeface="Times New Roman" panose="02020603050405020304" pitchFamily="18" charset="0"/>
              </a:defRPr>
            </a:lvl1pPr>
          </a:lstStyle>
          <a:p>
            <a:endParaRPr lang="en-US" altLang="zh-CN"/>
          </a:p>
        </p:txBody>
      </p:sp>
      <p:sp>
        <p:nvSpPr>
          <p:cNvPr id="3077" name="Rectangle 5"/>
          <p:cNvSpPr>
            <a:spLocks noGrp="1" noChangeArrowheads="1"/>
          </p:cNvSpPr>
          <p:nvPr>
            <p:ph type="ftr" sz="quarter" idx="3"/>
          </p:nvPr>
        </p:nvSpPr>
        <p:spPr>
          <a:xfrm>
            <a:off x="3124200" y="6551613"/>
            <a:ext cx="2895600" cy="169862"/>
          </a:xfrm>
          <a:prstGeom prst="rect">
            <a:avLst/>
          </a:prstGeom>
        </p:spPr>
        <p:txBody>
          <a:bodyPr/>
          <a:lstStyle>
            <a:lvl1pPr algn="ctr">
              <a:defRPr sz="1400">
                <a:latin typeface="Times New Roman" panose="02020603050405020304" pitchFamily="18" charset="0"/>
              </a:defRPr>
            </a:lvl1pPr>
          </a:lstStyle>
          <a:p>
            <a:endParaRPr lang="en-US" altLang="zh-CN"/>
          </a:p>
        </p:txBody>
      </p:sp>
      <p:sp>
        <p:nvSpPr>
          <p:cNvPr id="3078" name="Rectangle 6"/>
          <p:cNvSpPr>
            <a:spLocks noGrp="1" noChangeArrowheads="1"/>
          </p:cNvSpPr>
          <p:nvPr>
            <p:ph type="sldNum" sz="quarter" idx="4"/>
          </p:nvPr>
        </p:nvSpPr>
        <p:spPr>
          <a:xfrm>
            <a:off x="6553200" y="6553200"/>
            <a:ext cx="2133600" cy="168275"/>
          </a:xfrm>
        </p:spPr>
        <p:txBody>
          <a:bodyPr/>
          <a:lstStyle>
            <a:lvl1pPr algn="r">
              <a:defRPr sz="1400">
                <a:latin typeface="Times New Roman" panose="02020603050405020304" pitchFamily="18" charset="0"/>
              </a:defRPr>
            </a:lvl1pPr>
          </a:lstStyle>
          <a:p>
            <a:fld id="{18BA97A7-D52C-4F62-9E2B-2E1482E68D18}" type="slidenum">
              <a:rPr lang="en-US" altLang="zh-CN"/>
              <a:t>‹#›</a:t>
            </a:fld>
            <a:endParaRPr lang="en-US" altLang="zh-CN"/>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2pPr>
              <a:defRPr sz="2400"/>
            </a:lvl2pPr>
            <a:lvl3pPr>
              <a:defRPr sz="2000"/>
            </a:lvl3pPr>
            <a:lvl4pPr>
              <a:defRPr sz="1800"/>
            </a:lvl4pPr>
            <a:lvl5pPr>
              <a:defRPr sz="1600"/>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灯片编号占位符 5"/>
          <p:cNvSpPr>
            <a:spLocks noGrp="1"/>
          </p:cNvSpPr>
          <p:nvPr>
            <p:ph type="sldNum" sz="quarter" idx="12"/>
          </p:nvPr>
        </p:nvSpPr>
        <p:spPr/>
        <p:txBody>
          <a:bodyPr/>
          <a:lstStyle>
            <a:lvl1pPr>
              <a:defRPr/>
            </a:lvl1pPr>
          </a:lstStyle>
          <a:p>
            <a:fld id="{C1C4B0C5-5BE3-40C4-8F17-4C7632BBC37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BC1FD71B-C5BD-44C5-88B5-B9FC0532CD1E}" type="slidenum">
              <a:rPr lang="en-US" altLang="zh-CN"/>
              <a:t>‹#›</a:t>
            </a:fld>
            <a:endParaRPr lang="en-US" altLang="zh-CN"/>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716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6762A2FB-1A22-4885-8807-38E2257E939D}" type="slidenum">
              <a:rPr lang="en-US" altLang="zh-CN"/>
              <a:t>‹#›</a:t>
            </a:fld>
            <a:endParaRPr lang="en-US" altLang="zh-CN"/>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8" name="页脚占位符 7"/>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9" name="灯片编号占位符 8"/>
          <p:cNvSpPr>
            <a:spLocks noGrp="1"/>
          </p:cNvSpPr>
          <p:nvPr>
            <p:ph type="sldNum" sz="quarter" idx="12"/>
          </p:nvPr>
        </p:nvSpPr>
        <p:spPr/>
        <p:txBody>
          <a:bodyPr/>
          <a:lstStyle>
            <a:lvl1pPr>
              <a:defRPr/>
            </a:lvl1pPr>
          </a:lstStyle>
          <a:p>
            <a:fld id="{4C3F31E5-079D-4AFE-8F69-467FDA11ECA6}"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4" name="页脚占位符 3"/>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5" name="灯片编号占位符 4"/>
          <p:cNvSpPr>
            <a:spLocks noGrp="1"/>
          </p:cNvSpPr>
          <p:nvPr>
            <p:ph type="sldNum" sz="quarter" idx="12"/>
          </p:nvPr>
        </p:nvSpPr>
        <p:spPr/>
        <p:txBody>
          <a:bodyPr/>
          <a:lstStyle>
            <a:lvl1pPr>
              <a:defRPr/>
            </a:lvl1pPr>
          </a:lstStyle>
          <a:p>
            <a:fld id="{7AB19AB6-2D3D-436B-9E78-64B2C249B45E}"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3" name="页脚占位符 2"/>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4" name="灯片编号占位符 3"/>
          <p:cNvSpPr>
            <a:spLocks noGrp="1"/>
          </p:cNvSpPr>
          <p:nvPr>
            <p:ph type="sldNum" sz="quarter" idx="12"/>
          </p:nvPr>
        </p:nvSpPr>
        <p:spPr/>
        <p:txBody>
          <a:bodyPr/>
          <a:lstStyle>
            <a:lvl1pPr>
              <a:defRPr/>
            </a:lvl1pPr>
          </a:lstStyle>
          <a:p>
            <a:fld id="{50B39E09-CF7B-4C88-85E0-A8CE0F5F92B0}"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8D1FB353-AD44-4DB0-AD58-7E72BC63F76E}"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6" name="页脚占位符 5"/>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CC2EE334-34F5-4D9E-B1DF-4BE72B082B0C}"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074B2DF3-AE52-4E11-B0CF-C14697DFC2D4}"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19088"/>
            <a:ext cx="2057400" cy="60055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319088"/>
            <a:ext cx="6019800" cy="60055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B4B4B3D2-56CB-4388-9D8C-8B1C0741F73C}"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319088"/>
            <a:ext cx="6172200" cy="563562"/>
          </a:xfrm>
        </p:spPr>
        <p:txBody>
          <a:bodyPr/>
          <a:lstStyle/>
          <a:p>
            <a:r>
              <a:rPr lang="zh-CN" altLang="en-US" smtClean="0"/>
              <a:t>单击此处编辑母版标题样式</a:t>
            </a:r>
            <a:endParaRPr lang="zh-CN" altLang="en-US"/>
          </a:p>
        </p:txBody>
      </p:sp>
      <p:sp>
        <p:nvSpPr>
          <p:cNvPr id="3" name="表格占位符 2"/>
          <p:cNvSpPr>
            <a:spLocks noGrp="1"/>
          </p:cNvSpPr>
          <p:nvPr>
            <p:ph type="tbl" idx="1" hasCustomPrompt="1"/>
          </p:nvPr>
        </p:nvSpPr>
        <p:spPr>
          <a:xfrm>
            <a:off x="457200" y="1371600"/>
            <a:ext cx="8229600" cy="4953000"/>
          </a:xfrm>
        </p:spPr>
        <p:txBody>
          <a:bodyPr/>
          <a:lstStyle/>
          <a:p>
            <a:r>
              <a:rPr lang="zh-CN" altLang="en-US" smtClean="0"/>
              <a:t>单击图标添加表格</a:t>
            </a:r>
            <a:endParaRPr lang="zh-CN" altLang="en-US"/>
          </a:p>
        </p:txBody>
      </p:sp>
      <p:sp>
        <p:nvSpPr>
          <p:cNvPr id="4" name="日期占位符 3"/>
          <p:cNvSpPr>
            <a:spLocks noGrp="1"/>
          </p:cNvSpPr>
          <p:nvPr>
            <p:ph type="dt" sz="half" idx="10"/>
          </p:nvPr>
        </p:nvSpPr>
        <p:spPr>
          <a:xfrm>
            <a:off x="333375" y="6489700"/>
            <a:ext cx="2133600" cy="320675"/>
          </a:xfrm>
          <a:prstGeom prst="rect">
            <a:avLst/>
          </a:prstGeom>
        </p:spPr>
        <p:txBody>
          <a:bodyPr/>
          <a:lstStyle>
            <a:lvl1pPr>
              <a:defRPr/>
            </a:lvl1pPr>
          </a:lstStyle>
          <a:p>
            <a:r>
              <a:rPr lang="en-US" altLang="zh-CN"/>
              <a:t>www.themegallery.com</a:t>
            </a:r>
          </a:p>
          <a:p>
            <a:endParaRPr lang="en-US" altLang="zh-CN"/>
          </a:p>
        </p:txBody>
      </p:sp>
      <p:sp>
        <p:nvSpPr>
          <p:cNvPr id="5" name="页脚占位符 4"/>
          <p:cNvSpPr>
            <a:spLocks noGrp="1"/>
          </p:cNvSpPr>
          <p:nvPr>
            <p:ph type="ftr" sz="quarter" idx="11"/>
          </p:nvPr>
        </p:nvSpPr>
        <p:spPr>
          <a:xfrm>
            <a:off x="5867400" y="6477000"/>
            <a:ext cx="2895600" cy="32067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a:xfrm>
            <a:off x="3200400" y="6480175"/>
            <a:ext cx="2133600" cy="320675"/>
          </a:xfrm>
        </p:spPr>
        <p:txBody>
          <a:bodyPr/>
          <a:lstStyle>
            <a:lvl1pPr>
              <a:defRPr/>
            </a:lvl1pPr>
          </a:lstStyle>
          <a:p>
            <a:fld id="{581F0AB5-730F-41FD-B2B7-C4E08C420F30}"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371600"/>
            <a:ext cx="8153400" cy="4754563"/>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3" name="标题 1"/>
          <p:cNvSpPr>
            <a:spLocks noGrp="1"/>
          </p:cNvSpPr>
          <p:nvPr>
            <p:ph type="title" idx="10"/>
          </p:nvPr>
        </p:nvSpPr>
        <p:spPr>
          <a:xfrm>
            <a:off x="1143000" y="76200"/>
            <a:ext cx="8001000" cy="914400"/>
          </a:xfrm>
        </p:spPr>
        <p:txBody>
          <a:bodyPr/>
          <a:lstStyle/>
          <a:p>
            <a:r>
              <a:rPr lang="zh-CN" altLang="en-US" noProof="1" smtClean="0"/>
              <a:t>单击此处编辑母版标题样式</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8356600" y="981075"/>
            <a:ext cx="787400" cy="587692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21"/>
          <p:cNvSpPr>
            <a:spLocks noChangeShapeType="1"/>
          </p:cNvSpPr>
          <p:nvPr/>
        </p:nvSpPr>
        <p:spPr bwMode="auto">
          <a:xfrm>
            <a:off x="425450" y="6524625"/>
            <a:ext cx="83534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0" name="Rectangle 16"/>
          <p:cNvSpPr>
            <a:spLocks noChangeArrowheads="1"/>
          </p:cNvSpPr>
          <p:nvPr/>
        </p:nvSpPr>
        <p:spPr bwMode="gray">
          <a:xfrm>
            <a:off x="0" y="0"/>
            <a:ext cx="9144000" cy="981075"/>
          </a:xfrm>
          <a:prstGeom prst="rect">
            <a:avLst/>
          </a:prstGeom>
          <a:gradFill rotWithShape="1">
            <a:gsLst>
              <a:gs pos="0">
                <a:schemeClr val="tx1"/>
              </a:gs>
              <a:gs pos="100000">
                <a:schemeClr val="tx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371600"/>
            <a:ext cx="7899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ltLang="zh-CN" smtClean="0"/>
          </a:p>
        </p:txBody>
      </p:sp>
      <p:sp>
        <p:nvSpPr>
          <p:cNvPr id="1030" name="Rectangle 6"/>
          <p:cNvSpPr>
            <a:spLocks noGrp="1" noChangeArrowheads="1"/>
          </p:cNvSpPr>
          <p:nvPr>
            <p:ph type="sldNum" sz="quarter" idx="4"/>
          </p:nvPr>
        </p:nvSpPr>
        <p:spPr bwMode="auto">
          <a:xfrm>
            <a:off x="3200400" y="648017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200">
                <a:effectLst>
                  <a:outerShdw blurRad="38100" dist="38100" dir="2700000" algn="tl">
                    <a:srgbClr val="C0C0C0"/>
                  </a:outerShdw>
                </a:effectLst>
                <a:latin typeface="+mn-lt"/>
                <a:ea typeface="宋体" panose="02010600030101010101" pitchFamily="2" charset="-122"/>
              </a:defRPr>
            </a:lvl1pPr>
          </a:lstStyle>
          <a:p>
            <a:fld id="{F2D526F6-2200-4386-AD27-E628E3B61413}" type="slidenum">
              <a:rPr lang="en-US" altLang="zh-CN"/>
              <a:t>‹#›</a:t>
            </a:fld>
            <a:endParaRPr lang="en-US" altLang="zh-CN"/>
          </a:p>
        </p:txBody>
      </p:sp>
      <p:sp>
        <p:nvSpPr>
          <p:cNvPr id="1026" name="Rectangle 2"/>
          <p:cNvSpPr>
            <a:spLocks noGrp="1" noChangeArrowheads="1"/>
          </p:cNvSpPr>
          <p:nvPr>
            <p:ph type="title"/>
          </p:nvPr>
        </p:nvSpPr>
        <p:spPr bwMode="white">
          <a:xfrm>
            <a:off x="457200" y="319088"/>
            <a:ext cx="78994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dirty="0" smtClean="0"/>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iming>
    <p:tnLst>
      <p:par>
        <p:cTn id="1" dur="indefinite" restart="never" nodeType="tmRoot"/>
      </p:par>
    </p:tnLst>
  </p:timing>
  <p:hf sldNum="0" hdr="0"/>
  <p:txStyles>
    <p:title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noChangeArrowheads="1"/>
          </p:cNvSpPr>
          <p:nvPr>
            <p:ph type="ctrTitle"/>
          </p:nvPr>
        </p:nvSpPr>
        <p:spPr/>
        <p:txBody>
          <a:bodyPr/>
          <a:lstStyle/>
          <a:p>
            <a:r>
              <a:rPr lang="zh-CN" altLang="en-US" dirty="0" smtClean="0">
                <a:solidFill>
                  <a:schemeClr val="tx2"/>
                </a:solidFill>
                <a:ea typeface="宋体" panose="02010600030101010101" pitchFamily="2" charset="-122"/>
                <a:sym typeface="+mn-ea"/>
              </a:rPr>
              <a:t>第</a:t>
            </a:r>
            <a:r>
              <a:rPr lang="en-US" altLang="zh-CN" dirty="0" smtClean="0">
                <a:solidFill>
                  <a:schemeClr val="tx2"/>
                </a:solidFill>
                <a:ea typeface="宋体" panose="02010600030101010101" pitchFamily="2" charset="-122"/>
                <a:sym typeface="+mn-ea"/>
              </a:rPr>
              <a:t>9</a:t>
            </a:r>
            <a:r>
              <a:rPr lang="zh-CN" altLang="en-US" dirty="0" smtClean="0">
                <a:solidFill>
                  <a:schemeClr val="tx2"/>
                </a:solidFill>
                <a:ea typeface="宋体" panose="02010600030101010101" pitchFamily="2" charset="-122"/>
                <a:sym typeface="+mn-ea"/>
              </a:rPr>
              <a:t>章 </a:t>
            </a:r>
            <a:r>
              <a:rPr lang="en-US" altLang="zh-CN" dirty="0" smtClean="0">
                <a:solidFill>
                  <a:schemeClr val="tx2"/>
                </a:solidFill>
                <a:ea typeface="宋体" panose="02010600030101010101" pitchFamily="2" charset="-122"/>
                <a:sym typeface="+mn-ea"/>
              </a:rPr>
              <a:t>Spark</a:t>
            </a:r>
            <a:endParaRPr lang="zh-CN" altLang="en-US" dirty="0"/>
          </a:p>
        </p:txBody>
      </p:sp>
      <p:sp>
        <p:nvSpPr>
          <p:cNvPr id="3" name="副标题 2"/>
          <p:cNvSpPr>
            <a:spLocks noGrp="1" noChangeArrowheads="1"/>
          </p:cNvSpPr>
          <p:nvPr>
            <p:ph type="subTitle" idx="1"/>
          </p:nvPr>
        </p:nvSpPr>
        <p:spPr/>
        <p:txBody>
          <a:bodyPr/>
          <a:lstStyle/>
          <a:p>
            <a:endParaRPr lang="zh-CN" altLang="en-US"/>
          </a:p>
        </p:txBody>
      </p:sp>
      <p:sp>
        <p:nvSpPr>
          <p:cNvPr id="4" name="日期占位符 3"/>
          <p:cNvSpPr>
            <a:spLocks noGrp="1"/>
          </p:cNvSpPr>
          <p:nvPr>
            <p:ph type="dt" sz="half" idx="2"/>
          </p:nvPr>
        </p:nvSpPr>
        <p:spPr/>
        <p:txBody>
          <a:bodyPr/>
          <a:lstStyle/>
          <a:p>
            <a:endParaRPr lang="en-US" altLang="zh-CN"/>
          </a:p>
        </p:txBody>
      </p:sp>
      <p:sp>
        <p:nvSpPr>
          <p:cNvPr id="5" name="页脚占位符 4"/>
          <p:cNvSpPr>
            <a:spLocks noGrp="1"/>
          </p:cNvSpPr>
          <p:nvPr>
            <p:ph type="ftr" sz="quarter" idx="3"/>
          </p:nvPr>
        </p:nvSpPr>
        <p:spPr/>
        <p:txBody>
          <a:bodyPr/>
          <a:lstStyle/>
          <a:p>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pPr marL="0" indent="0">
              <a:buNone/>
            </a:pPr>
            <a:r>
              <a:rPr lang="en-US" altLang="zh-CN" dirty="0" smtClean="0"/>
              <a:t>9.1 </a:t>
            </a:r>
            <a:r>
              <a:rPr lang="en-US" altLang="zh-CN" dirty="0"/>
              <a:t>Spark</a:t>
            </a:r>
            <a:r>
              <a:rPr lang="zh-CN" altLang="en-US" dirty="0"/>
              <a:t>概述</a:t>
            </a:r>
            <a:endParaRPr lang="en-US" altLang="zh-CN" dirty="0"/>
          </a:p>
          <a:p>
            <a:pPr marL="0" indent="0">
              <a:buNone/>
            </a:pPr>
            <a:r>
              <a:rPr lang="en-US" altLang="zh-CN" dirty="0" smtClean="0"/>
              <a:t>9.2 </a:t>
            </a:r>
            <a:r>
              <a:rPr lang="en-US" altLang="zh-CN" dirty="0"/>
              <a:t>Spark</a:t>
            </a:r>
            <a:r>
              <a:rPr lang="zh-CN" altLang="en-US" dirty="0"/>
              <a:t>基础</a:t>
            </a:r>
            <a:endParaRPr lang="en-US" altLang="zh-CN" dirty="0"/>
          </a:p>
          <a:p>
            <a:pPr marL="0" indent="0">
              <a:buNone/>
            </a:pPr>
            <a:r>
              <a:rPr lang="en-US" altLang="zh-CN" dirty="0" smtClean="0"/>
              <a:t>9.3 </a:t>
            </a:r>
            <a:r>
              <a:rPr lang="en-US" altLang="zh-CN" dirty="0"/>
              <a:t>Spark RDD</a:t>
            </a:r>
          </a:p>
          <a:p>
            <a:pPr marL="0" indent="0">
              <a:buNone/>
            </a:pPr>
            <a:r>
              <a:rPr lang="en-US" altLang="zh-CN" dirty="0" smtClean="0"/>
              <a:t>9.4 </a:t>
            </a:r>
            <a:r>
              <a:rPr lang="en-US" altLang="zh-CN" dirty="0"/>
              <a:t>Spark SQL</a:t>
            </a:r>
          </a:p>
          <a:p>
            <a:pPr marL="0" indent="0">
              <a:buNone/>
            </a:pPr>
            <a:r>
              <a:rPr lang="en-US" altLang="zh-CN" dirty="0" smtClean="0">
                <a:solidFill>
                  <a:srgbClr val="FF0000"/>
                </a:solidFill>
              </a:rPr>
              <a:t>9.5 </a:t>
            </a:r>
            <a:r>
              <a:rPr lang="en-US" altLang="zh-CN" dirty="0">
                <a:solidFill>
                  <a:srgbClr val="FF0000"/>
                </a:solidFill>
              </a:rPr>
              <a:t>Spark</a:t>
            </a:r>
            <a:r>
              <a:rPr lang="zh-CN" altLang="en-US" dirty="0">
                <a:solidFill>
                  <a:srgbClr val="FF0000"/>
                </a:solidFill>
              </a:rPr>
              <a:t>流计算</a:t>
            </a:r>
            <a:endParaRPr lang="en-US" altLang="zh-CN" dirty="0">
              <a:solidFill>
                <a:srgbClr val="FF0000"/>
              </a:solidFill>
            </a:endParaRPr>
          </a:p>
          <a:p>
            <a:pPr marL="0" indent="0">
              <a:buNone/>
            </a:pPr>
            <a:r>
              <a:rPr lang="en-US" altLang="zh-CN" dirty="0" smtClean="0"/>
              <a:t>9.6 </a:t>
            </a:r>
            <a:r>
              <a:rPr lang="en-US" altLang="zh-CN" dirty="0" smtClean="0"/>
              <a:t>Spark</a:t>
            </a:r>
            <a:r>
              <a:rPr lang="zh-CN" altLang="en-US" dirty="0" smtClean="0"/>
              <a:t>机器学习</a:t>
            </a:r>
            <a:endParaRPr lang="en-US" altLang="zh-CN" dirty="0"/>
          </a:p>
          <a:p>
            <a:pPr marL="0" indent="0">
              <a:buNone/>
            </a:pPr>
            <a:endParaRPr lang="zh-CN" altLang="en-US" dirty="0"/>
          </a:p>
          <a:p>
            <a:pPr marL="0" indent="0">
              <a:buNone/>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t>2</a:t>
            </a:fld>
            <a:endParaRPr lang="en-US" altLang="zh-CN" dirty="0"/>
          </a:p>
        </p:txBody>
      </p:sp>
    </p:spTree>
    <p:extLst>
      <p:ext uri="{BB962C8B-B14F-4D97-AF65-F5344CB8AC3E}">
        <p14:creationId xmlns:p14="http://schemas.microsoft.com/office/powerpoint/2010/main" val="42570282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 </a:t>
            </a:r>
            <a:r>
              <a:rPr lang="en-US" altLang="zh-CN" dirty="0"/>
              <a:t>Spark</a:t>
            </a:r>
            <a:r>
              <a:rPr lang="zh-CN" altLang="en-US" dirty="0"/>
              <a:t>流</a:t>
            </a:r>
            <a:r>
              <a:rPr lang="zh-CN" altLang="en-US" dirty="0" smtClean="0"/>
              <a:t>计算</a:t>
            </a:r>
            <a:endParaRPr lang="zh-CN" altLang="en-US" dirty="0"/>
          </a:p>
        </p:txBody>
      </p:sp>
      <p:sp>
        <p:nvSpPr>
          <p:cNvPr id="3" name="内容占位符 2"/>
          <p:cNvSpPr>
            <a:spLocks noGrp="1"/>
          </p:cNvSpPr>
          <p:nvPr>
            <p:ph idx="1"/>
          </p:nvPr>
        </p:nvSpPr>
        <p:spPr/>
        <p:txBody>
          <a:bodyPr/>
          <a:lstStyle/>
          <a:p>
            <a:r>
              <a:rPr lang="en-US" altLang="zh-CN" dirty="0" smtClean="0">
                <a:solidFill>
                  <a:srgbClr val="FF0000"/>
                </a:solidFill>
              </a:rPr>
              <a:t>9.5.1 </a:t>
            </a:r>
            <a:r>
              <a:rPr lang="en-US" altLang="zh-CN" dirty="0" smtClean="0">
                <a:solidFill>
                  <a:srgbClr val="FF0000"/>
                </a:solidFill>
              </a:rPr>
              <a:t>Spark Streaming</a:t>
            </a:r>
          </a:p>
          <a:p>
            <a:r>
              <a:rPr lang="en-US" altLang="zh-CN" dirty="0" smtClean="0"/>
              <a:t>9.5.2 </a:t>
            </a:r>
            <a:r>
              <a:rPr lang="en-US" altLang="zh-CN" dirty="0" smtClean="0"/>
              <a:t>Structured Streaming</a:t>
            </a:r>
            <a:endParaRPr lang="zh-CN" altLang="en-US" dirty="0"/>
          </a:p>
        </p:txBody>
      </p:sp>
    </p:spTree>
    <p:extLst>
      <p:ext uri="{BB962C8B-B14F-4D97-AF65-F5344CB8AC3E}">
        <p14:creationId xmlns:p14="http://schemas.microsoft.com/office/powerpoint/2010/main" val="29915318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9.5.1 </a:t>
            </a:r>
            <a:r>
              <a:rPr lang="en-US" altLang="zh-CN" dirty="0"/>
              <a:t>Spark </a:t>
            </a:r>
            <a:r>
              <a:rPr lang="en-US" altLang="zh-CN" dirty="0" smtClean="0"/>
              <a:t>Streaming</a:t>
            </a:r>
            <a:endParaRPr lang="zh-CN" altLang="en-US" dirty="0"/>
          </a:p>
        </p:txBody>
      </p:sp>
      <p:sp>
        <p:nvSpPr>
          <p:cNvPr id="3" name="内容占位符 2"/>
          <p:cNvSpPr>
            <a:spLocks noGrp="1"/>
          </p:cNvSpPr>
          <p:nvPr>
            <p:ph idx="1"/>
          </p:nvPr>
        </p:nvSpPr>
        <p:spPr/>
        <p:txBody>
          <a:bodyPr/>
          <a:lstStyle/>
          <a:p>
            <a:r>
              <a:rPr lang="zh-CN" altLang="en-US" dirty="0" smtClean="0"/>
              <a:t>设计思想</a:t>
            </a:r>
            <a:endParaRPr lang="en-US" altLang="zh-CN" dirty="0" smtClean="0"/>
          </a:p>
          <a:p>
            <a:pPr lvl="1"/>
            <a:r>
              <a:rPr lang="zh-CN" altLang="en-US" dirty="0" smtClean="0"/>
              <a:t>微批处理：</a:t>
            </a:r>
            <a:r>
              <a:rPr lang="en-US" altLang="zh-CN" dirty="0"/>
              <a:t> Spark </a:t>
            </a:r>
            <a:r>
              <a:rPr lang="en-US" altLang="zh-CN" dirty="0" smtClean="0"/>
              <a:t>Streaming</a:t>
            </a:r>
            <a:r>
              <a:rPr lang="zh-CN" altLang="en-US" dirty="0" smtClean="0"/>
              <a:t>接收实时数据流并分成很小的</a:t>
            </a:r>
            <a:r>
              <a:rPr lang="en-US" altLang="zh-CN" dirty="0" smtClean="0"/>
              <a:t>batch</a:t>
            </a:r>
            <a:r>
              <a:rPr lang="zh-CN" altLang="en-US" dirty="0" smtClean="0"/>
              <a:t>，然后将这些</a:t>
            </a:r>
            <a:r>
              <a:rPr lang="en-US" altLang="zh-CN" dirty="0" smtClean="0"/>
              <a:t>batch</a:t>
            </a:r>
            <a:r>
              <a:rPr lang="zh-CN" altLang="en-US" dirty="0" smtClean="0"/>
              <a:t>交给</a:t>
            </a:r>
            <a:r>
              <a:rPr lang="en-US" altLang="zh-CN" dirty="0" smtClean="0"/>
              <a:t>Spark</a:t>
            </a:r>
            <a:r>
              <a:rPr lang="zh-CN" altLang="en-US" dirty="0" smtClean="0"/>
              <a:t>引擎并以微批量数据的形式进行处理</a:t>
            </a:r>
            <a:endParaRPr lang="en-US" altLang="zh-CN" dirty="0" smtClean="0"/>
          </a:p>
          <a:p>
            <a:pPr lvl="2"/>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3212976"/>
            <a:ext cx="6528276" cy="1456824"/>
          </a:xfrm>
          <a:prstGeom prst="rect">
            <a:avLst/>
          </a:prstGeom>
        </p:spPr>
      </p:pic>
    </p:spTree>
    <p:extLst>
      <p:ext uri="{BB962C8B-B14F-4D97-AF65-F5344CB8AC3E}">
        <p14:creationId xmlns:p14="http://schemas.microsoft.com/office/powerpoint/2010/main" val="905053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9.5.1 </a:t>
            </a:r>
            <a:r>
              <a:rPr lang="en-US" altLang="zh-CN" dirty="0"/>
              <a:t>Spark Streaming</a:t>
            </a:r>
            <a:endParaRPr lang="zh-CN" altLang="en-US" dirty="0"/>
          </a:p>
        </p:txBody>
      </p:sp>
      <p:sp>
        <p:nvSpPr>
          <p:cNvPr id="3" name="内容占位符 2"/>
          <p:cNvSpPr>
            <a:spLocks noGrp="1"/>
          </p:cNvSpPr>
          <p:nvPr>
            <p:ph idx="1"/>
          </p:nvPr>
        </p:nvSpPr>
        <p:spPr/>
        <p:txBody>
          <a:bodyPr/>
          <a:lstStyle/>
          <a:p>
            <a:r>
              <a:rPr lang="zh-CN" altLang="en-US" dirty="0" smtClean="0"/>
              <a:t>体系架构</a:t>
            </a:r>
            <a:endParaRPr lang="en-US" altLang="zh-CN" dirty="0" smtClean="0"/>
          </a:p>
          <a:p>
            <a:pPr lvl="1"/>
            <a:r>
              <a:rPr lang="zh-CN" altLang="en-US" dirty="0" smtClean="0"/>
              <a:t>驱动器：对</a:t>
            </a:r>
            <a:r>
              <a:rPr lang="en-US" altLang="zh-CN" dirty="0" err="1" smtClean="0"/>
              <a:t>SparkContext</a:t>
            </a:r>
            <a:r>
              <a:rPr lang="zh-CN" altLang="en-US" dirty="0" smtClean="0"/>
              <a:t>进行了扩充，构造了</a:t>
            </a:r>
            <a:r>
              <a:rPr lang="en-US" altLang="zh-CN" dirty="0" err="1" smtClean="0">
                <a:solidFill>
                  <a:srgbClr val="FF0000"/>
                </a:solidFill>
              </a:rPr>
              <a:t>StreamingContext</a:t>
            </a:r>
            <a:r>
              <a:rPr lang="zh-CN" altLang="en-US" dirty="0" smtClean="0"/>
              <a:t>对象，包含用于管理流计算的元数据</a:t>
            </a:r>
            <a:endParaRPr lang="en-US" altLang="zh-CN" dirty="0" smtClean="0"/>
          </a:p>
          <a:p>
            <a:pPr lvl="1"/>
            <a:r>
              <a:rPr lang="zh-CN" altLang="en-US" dirty="0" smtClean="0"/>
              <a:t>执行器：增加了</a:t>
            </a:r>
            <a:r>
              <a:rPr lang="zh-CN" altLang="en-US" dirty="0" smtClean="0">
                <a:solidFill>
                  <a:srgbClr val="FF0000"/>
                </a:solidFill>
              </a:rPr>
              <a:t>接收者（</a:t>
            </a:r>
            <a:r>
              <a:rPr lang="en-US" altLang="zh-CN" dirty="0" smtClean="0">
                <a:solidFill>
                  <a:srgbClr val="FF0000"/>
                </a:solidFill>
              </a:rPr>
              <a:t>Receiver</a:t>
            </a:r>
            <a:r>
              <a:rPr lang="zh-CN" altLang="en-US" dirty="0" smtClean="0">
                <a:solidFill>
                  <a:srgbClr val="FF0000"/>
                </a:solidFill>
              </a:rPr>
              <a:t>）</a:t>
            </a:r>
            <a:r>
              <a:rPr lang="zh-CN" altLang="en-US" dirty="0" smtClean="0"/>
              <a:t>任务负责从外部数据源持续获取流数据</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6900" y="3933056"/>
            <a:ext cx="5760000" cy="2577213"/>
          </a:xfrm>
          <a:prstGeom prst="rect">
            <a:avLst/>
          </a:prstGeom>
        </p:spPr>
      </p:pic>
    </p:spTree>
    <p:extLst>
      <p:ext uri="{BB962C8B-B14F-4D97-AF65-F5344CB8AC3E}">
        <p14:creationId xmlns:p14="http://schemas.microsoft.com/office/powerpoint/2010/main" val="8175814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9.5.1 </a:t>
            </a:r>
            <a:r>
              <a:rPr lang="en-US" altLang="zh-CN" dirty="0"/>
              <a:t>Spark </a:t>
            </a:r>
            <a:r>
              <a:rPr lang="en-US" altLang="zh-CN" dirty="0" smtClean="0"/>
              <a:t>Streaming</a:t>
            </a:r>
            <a:endParaRPr lang="zh-CN" altLang="en-US" dirty="0"/>
          </a:p>
        </p:txBody>
      </p:sp>
      <p:sp>
        <p:nvSpPr>
          <p:cNvPr id="3" name="内容占位符 2"/>
          <p:cNvSpPr>
            <a:spLocks noGrp="1"/>
          </p:cNvSpPr>
          <p:nvPr>
            <p:ph idx="1"/>
          </p:nvPr>
        </p:nvSpPr>
        <p:spPr/>
        <p:txBody>
          <a:bodyPr/>
          <a:lstStyle/>
          <a:p>
            <a:r>
              <a:rPr lang="zh-CN" altLang="en-US" dirty="0" smtClean="0"/>
              <a:t>数据源</a:t>
            </a:r>
            <a:endParaRPr lang="en-US" altLang="zh-CN" dirty="0" smtClean="0"/>
          </a:p>
          <a:p>
            <a:pPr lvl="1"/>
            <a:r>
              <a:rPr lang="en-US" altLang="zh-CN" dirty="0" smtClean="0"/>
              <a:t>Spark Streaming</a:t>
            </a:r>
            <a:r>
              <a:rPr lang="zh-CN" altLang="en-US" dirty="0" smtClean="0"/>
              <a:t>用</a:t>
            </a:r>
            <a:r>
              <a:rPr lang="en-US" altLang="zh-CN" dirty="0" err="1" smtClean="0"/>
              <a:t>DStream</a:t>
            </a:r>
            <a:r>
              <a:rPr lang="zh-CN" altLang="en-US" dirty="0" smtClean="0"/>
              <a:t>来抽象表示连续的数据流</a:t>
            </a:r>
            <a:endParaRPr lang="en-US" altLang="zh-CN" dirty="0" smtClean="0"/>
          </a:p>
          <a:p>
            <a:pPr lvl="2"/>
            <a:r>
              <a:rPr lang="zh-CN" altLang="en-US" dirty="0" smtClean="0"/>
              <a:t>在</a:t>
            </a:r>
            <a:r>
              <a:rPr lang="en-US" altLang="zh-CN" dirty="0" smtClean="0"/>
              <a:t>Spark</a:t>
            </a:r>
            <a:r>
              <a:rPr lang="zh-CN" altLang="en-US" dirty="0" smtClean="0"/>
              <a:t>内部，</a:t>
            </a:r>
            <a:r>
              <a:rPr lang="en-US" altLang="zh-CN" dirty="0"/>
              <a:t> </a:t>
            </a:r>
            <a:r>
              <a:rPr lang="en-US" altLang="zh-CN" dirty="0" err="1" smtClean="0"/>
              <a:t>DStream</a:t>
            </a:r>
            <a:r>
              <a:rPr lang="zh-CN" altLang="en-US" dirty="0" smtClean="0"/>
              <a:t>表示为一系列</a:t>
            </a:r>
            <a:r>
              <a:rPr lang="en-US" altLang="zh-CN" dirty="0" smtClean="0"/>
              <a:t>RDD</a:t>
            </a:r>
          </a:p>
          <a:p>
            <a:pPr lvl="1"/>
            <a:r>
              <a:rPr lang="en-US" altLang="zh-CN" dirty="0"/>
              <a:t>Spark </a:t>
            </a:r>
            <a:r>
              <a:rPr lang="en-US" altLang="zh-CN" dirty="0" smtClean="0"/>
              <a:t>Streaming</a:t>
            </a:r>
            <a:r>
              <a:rPr lang="zh-CN" altLang="en-US" dirty="0" smtClean="0"/>
              <a:t>提供了两种数据源</a:t>
            </a:r>
            <a:endParaRPr lang="en-US" altLang="zh-CN" dirty="0" smtClean="0"/>
          </a:p>
          <a:p>
            <a:pPr lvl="2"/>
            <a:r>
              <a:rPr lang="zh-CN" altLang="en-US" dirty="0" smtClean="0"/>
              <a:t>基本数据源：</a:t>
            </a:r>
            <a:r>
              <a:rPr lang="en-US" altLang="zh-CN" dirty="0">
                <a:solidFill>
                  <a:srgbClr val="FF0000"/>
                </a:solidFill>
              </a:rPr>
              <a:t> </a:t>
            </a:r>
            <a:r>
              <a:rPr lang="en-US" altLang="zh-CN" dirty="0" err="1" smtClean="0"/>
              <a:t>StreamingContext</a:t>
            </a:r>
            <a:r>
              <a:rPr lang="zh-CN" altLang="en-US" dirty="0"/>
              <a:t> </a:t>
            </a:r>
            <a:r>
              <a:rPr lang="en-US" altLang="zh-CN" dirty="0" smtClean="0"/>
              <a:t>API</a:t>
            </a:r>
            <a:r>
              <a:rPr lang="zh-CN" altLang="en-US" dirty="0" smtClean="0"/>
              <a:t>原生支持的数据源</a:t>
            </a:r>
            <a:endParaRPr lang="en-US" altLang="zh-CN" dirty="0" smtClean="0"/>
          </a:p>
          <a:p>
            <a:pPr lvl="3"/>
            <a:r>
              <a:rPr lang="en-US" altLang="zh-CN" dirty="0" err="1" smtClean="0"/>
              <a:t>socketTextStream</a:t>
            </a:r>
            <a:endParaRPr lang="en-US" altLang="zh-CN" dirty="0" smtClean="0"/>
          </a:p>
          <a:p>
            <a:pPr lvl="3"/>
            <a:r>
              <a:rPr lang="en-US" altLang="zh-CN" dirty="0" err="1" smtClean="0"/>
              <a:t>textFileStream</a:t>
            </a:r>
            <a:endParaRPr lang="en-US" altLang="zh-CN" dirty="0" smtClean="0"/>
          </a:p>
          <a:p>
            <a:pPr lvl="3"/>
            <a:r>
              <a:rPr lang="en-US" altLang="zh-CN" dirty="0" err="1" smtClean="0"/>
              <a:t>fileStream</a:t>
            </a:r>
            <a:endParaRPr lang="en-US" altLang="zh-CN" dirty="0"/>
          </a:p>
          <a:p>
            <a:pPr lvl="3"/>
            <a:r>
              <a:rPr lang="en-US" altLang="zh-CN" dirty="0" err="1" smtClean="0"/>
              <a:t>queueStream</a:t>
            </a:r>
            <a:endParaRPr lang="en-US" altLang="zh-CN" dirty="0" smtClean="0"/>
          </a:p>
          <a:p>
            <a:pPr lvl="2"/>
            <a:r>
              <a:rPr lang="zh-CN" altLang="en-US" dirty="0" smtClean="0"/>
              <a:t>高级数据源：例如</a:t>
            </a:r>
            <a:r>
              <a:rPr lang="en-US" altLang="zh-CN" dirty="0" smtClean="0"/>
              <a:t>Kafka</a:t>
            </a:r>
            <a:r>
              <a:rPr lang="zh-CN" altLang="en-US" dirty="0" smtClean="0"/>
              <a:t>、</a:t>
            </a:r>
            <a:r>
              <a:rPr lang="en-US" altLang="zh-CN" dirty="0" smtClean="0"/>
              <a:t>Flume</a:t>
            </a:r>
            <a:r>
              <a:rPr lang="zh-CN" altLang="en-US" dirty="0" smtClean="0"/>
              <a:t>、</a:t>
            </a:r>
            <a:r>
              <a:rPr lang="en-US" altLang="zh-CN" dirty="0" smtClean="0"/>
              <a:t>Kinesis</a:t>
            </a:r>
            <a:r>
              <a:rPr lang="zh-CN" altLang="en-US" dirty="0" smtClean="0"/>
              <a:t>等数据源，可通过扩展实现其他依赖</a:t>
            </a:r>
            <a:endParaRPr lang="en-US" altLang="zh-CN" dirty="0" smtClean="0"/>
          </a:p>
        </p:txBody>
      </p:sp>
    </p:spTree>
    <p:extLst>
      <p:ext uri="{BB962C8B-B14F-4D97-AF65-F5344CB8AC3E}">
        <p14:creationId xmlns:p14="http://schemas.microsoft.com/office/powerpoint/2010/main" val="41256075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9.5.1 </a:t>
            </a:r>
            <a:r>
              <a:rPr lang="en-US" altLang="zh-CN" dirty="0"/>
              <a:t>Spark Streaming</a:t>
            </a:r>
            <a:endParaRPr lang="zh-CN" altLang="en-US" dirty="0"/>
          </a:p>
        </p:txBody>
      </p:sp>
      <p:sp>
        <p:nvSpPr>
          <p:cNvPr id="3" name="内容占位符 2"/>
          <p:cNvSpPr>
            <a:spLocks noGrp="1"/>
          </p:cNvSpPr>
          <p:nvPr>
            <p:ph idx="1"/>
          </p:nvPr>
        </p:nvSpPr>
        <p:spPr/>
        <p:txBody>
          <a:bodyPr/>
          <a:lstStyle/>
          <a:p>
            <a:r>
              <a:rPr lang="en-US" altLang="zh-CN" dirty="0" err="1" smtClean="0"/>
              <a:t>DStream</a:t>
            </a:r>
            <a:r>
              <a:rPr lang="zh-CN" altLang="en-US" dirty="0" smtClean="0"/>
              <a:t>操作</a:t>
            </a:r>
            <a:endParaRPr lang="en-US" altLang="zh-CN" dirty="0" smtClean="0"/>
          </a:p>
          <a:p>
            <a:pPr lvl="1"/>
            <a:r>
              <a:rPr lang="zh-CN" altLang="en-US" dirty="0" smtClean="0"/>
              <a:t>针对</a:t>
            </a:r>
            <a:r>
              <a:rPr lang="en-US" altLang="zh-CN" dirty="0" err="1" smtClean="0"/>
              <a:t>DStream</a:t>
            </a:r>
            <a:r>
              <a:rPr lang="zh-CN" altLang="en-US" dirty="0" smtClean="0"/>
              <a:t>的任何操作最终都会转换为</a:t>
            </a:r>
            <a:r>
              <a:rPr lang="en-US" altLang="zh-CN" dirty="0" smtClean="0"/>
              <a:t>RDD</a:t>
            </a:r>
            <a:r>
              <a:rPr lang="zh-CN" altLang="en-US" dirty="0" smtClean="0"/>
              <a:t>操作</a:t>
            </a:r>
            <a:endParaRPr lang="en-US" altLang="zh-CN" dirty="0" smtClean="0"/>
          </a:p>
          <a:p>
            <a:pPr lvl="1"/>
            <a:r>
              <a:rPr lang="en-US" altLang="zh-CN" dirty="0" err="1" smtClean="0"/>
              <a:t>DStream</a:t>
            </a:r>
            <a:r>
              <a:rPr lang="zh-CN" altLang="en-US" dirty="0" smtClean="0"/>
              <a:t>操作隐藏了大部分细节，并为开发人员提供了更高级别的</a:t>
            </a:r>
            <a:r>
              <a:rPr lang="en-US" altLang="zh-CN" dirty="0" smtClean="0"/>
              <a:t>API</a:t>
            </a:r>
            <a:r>
              <a:rPr lang="zh-CN" altLang="en-US" dirty="0" smtClean="0"/>
              <a:t>以调用</a:t>
            </a:r>
            <a:endParaRPr lang="en-US" altLang="zh-CN" dirty="0" smtClean="0"/>
          </a:p>
          <a:p>
            <a:pPr lvl="1"/>
            <a:r>
              <a:rPr lang="en-US" altLang="zh-CN" dirty="0" err="1" smtClean="0"/>
              <a:t>DStream</a:t>
            </a:r>
            <a:r>
              <a:rPr lang="zh-CN" altLang="en-US" dirty="0" smtClean="0"/>
              <a:t>既可以从外部数据流接入生成，也可由其他</a:t>
            </a:r>
            <a:r>
              <a:rPr lang="en-US" altLang="zh-CN" dirty="0" err="1" smtClean="0"/>
              <a:t>DStream</a:t>
            </a:r>
            <a:r>
              <a:rPr lang="zh-CN" altLang="en-US" dirty="0" smtClean="0"/>
              <a:t>转换而来</a:t>
            </a:r>
            <a:endParaRPr lang="en-US" altLang="zh-CN" dirty="0" smtClean="0"/>
          </a:p>
        </p:txBody>
      </p:sp>
    </p:spTree>
    <p:extLst>
      <p:ext uri="{BB962C8B-B14F-4D97-AF65-F5344CB8AC3E}">
        <p14:creationId xmlns:p14="http://schemas.microsoft.com/office/powerpoint/2010/main" val="11944958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9.5.1 </a:t>
            </a:r>
            <a:r>
              <a:rPr lang="en-US" altLang="zh-CN" dirty="0"/>
              <a:t>Spark Streaming</a:t>
            </a:r>
            <a:endParaRPr lang="zh-CN" altLang="en-US" dirty="0"/>
          </a:p>
        </p:txBody>
      </p:sp>
      <p:sp>
        <p:nvSpPr>
          <p:cNvPr id="3" name="内容占位符 2"/>
          <p:cNvSpPr>
            <a:spLocks noGrp="1"/>
          </p:cNvSpPr>
          <p:nvPr>
            <p:ph idx="1"/>
          </p:nvPr>
        </p:nvSpPr>
        <p:spPr/>
        <p:txBody>
          <a:bodyPr/>
          <a:lstStyle/>
          <a:p>
            <a:r>
              <a:rPr lang="en-US" altLang="zh-CN" dirty="0" err="1" smtClean="0"/>
              <a:t>DStream</a:t>
            </a:r>
            <a:r>
              <a:rPr lang="zh-CN" altLang="en-US" dirty="0" smtClean="0"/>
              <a:t>操作</a:t>
            </a:r>
            <a:endParaRPr lang="en-US" altLang="zh-CN" dirty="0" smtClean="0"/>
          </a:p>
          <a:p>
            <a:pPr lvl="1"/>
            <a:r>
              <a:rPr lang="en-US" altLang="zh-CN" dirty="0" err="1" smtClean="0"/>
              <a:t>DStream</a:t>
            </a:r>
            <a:r>
              <a:rPr lang="zh-CN" altLang="en-US" dirty="0" smtClean="0"/>
              <a:t>操作可以分为</a:t>
            </a:r>
            <a:endParaRPr lang="en-US" altLang="zh-CN" dirty="0" smtClean="0"/>
          </a:p>
          <a:p>
            <a:pPr lvl="2"/>
            <a:r>
              <a:rPr lang="zh-CN" altLang="en-US" dirty="0" smtClean="0"/>
              <a:t>普通转换操作</a:t>
            </a:r>
            <a:endParaRPr lang="en-US" altLang="zh-CN" dirty="0" smtClean="0"/>
          </a:p>
          <a:p>
            <a:pPr lvl="2"/>
            <a:r>
              <a:rPr lang="zh-CN" altLang="en-US" dirty="0" smtClean="0">
                <a:solidFill>
                  <a:srgbClr val="FF0000"/>
                </a:solidFill>
              </a:rPr>
              <a:t>窗口转换操作</a:t>
            </a:r>
            <a:endParaRPr lang="en-US" altLang="zh-CN" dirty="0" smtClean="0">
              <a:solidFill>
                <a:srgbClr val="FF0000"/>
              </a:solidFill>
            </a:endParaRPr>
          </a:p>
          <a:p>
            <a:pPr lvl="2"/>
            <a:r>
              <a:rPr lang="zh-CN" altLang="en-US" dirty="0" smtClean="0"/>
              <a:t>输出操作</a:t>
            </a:r>
            <a:endParaRPr lang="en-US" altLang="zh-CN" dirty="0" smtClean="0"/>
          </a:p>
          <a:p>
            <a:pPr lvl="1"/>
            <a:endParaRPr lang="en-US" altLang="zh-CN" dirty="0" smtClean="0"/>
          </a:p>
        </p:txBody>
      </p:sp>
    </p:spTree>
    <p:extLst>
      <p:ext uri="{BB962C8B-B14F-4D97-AF65-F5344CB8AC3E}">
        <p14:creationId xmlns:p14="http://schemas.microsoft.com/office/powerpoint/2010/main" val="34170455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普通转换操作</a:t>
            </a:r>
            <a:endParaRPr lang="zh-CN" altLang="en-US" dirty="0"/>
          </a:p>
        </p:txBody>
      </p:sp>
      <p:sp>
        <p:nvSpPr>
          <p:cNvPr id="5" name="内容占位符 4"/>
          <p:cNvSpPr>
            <a:spLocks noGrp="1"/>
          </p:cNvSpPr>
          <p:nvPr>
            <p:ph idx="1"/>
          </p:nvPr>
        </p:nvSpPr>
        <p:spPr/>
        <p:txBody>
          <a:bodyPr/>
          <a:lstStyle/>
          <a:p>
            <a:r>
              <a:rPr lang="zh-CN" altLang="en-US" dirty="0" smtClean="0"/>
              <a:t>程序示例</a:t>
            </a:r>
            <a:endParaRPr lang="en-US" altLang="zh-CN" dirty="0" smtClean="0"/>
          </a:p>
          <a:p>
            <a:pPr lvl="1"/>
            <a:r>
              <a:rPr lang="zh-CN" altLang="en-US" dirty="0" smtClean="0"/>
              <a:t>每</a:t>
            </a:r>
            <a:r>
              <a:rPr lang="en-US" altLang="zh-CN" dirty="0" smtClean="0"/>
              <a:t>9s</a:t>
            </a:r>
            <a:r>
              <a:rPr lang="zh-CN" altLang="en-US" dirty="0" smtClean="0"/>
              <a:t>统计</a:t>
            </a:r>
            <a:r>
              <a:rPr lang="en-US" altLang="zh-CN" dirty="0" smtClean="0"/>
              <a:t>1</a:t>
            </a:r>
            <a:r>
              <a:rPr lang="zh-CN" altLang="en-US" dirty="0" smtClean="0"/>
              <a:t>次各单词出现的次数</a:t>
            </a:r>
            <a:endParaRPr lang="zh-CN" altLang="en-US" dirty="0"/>
          </a:p>
        </p:txBody>
      </p:sp>
      <p:pic>
        <p:nvPicPr>
          <p:cNvPr id="7" name="内容占位符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99592" y="2420888"/>
            <a:ext cx="6408712" cy="4129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70513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窗口转换</a:t>
            </a:r>
            <a:r>
              <a:rPr lang="zh-CN" altLang="en-US" dirty="0" smtClean="0"/>
              <a:t>操作</a:t>
            </a:r>
            <a:endParaRPr lang="zh-CN" altLang="en-US" dirty="0"/>
          </a:p>
        </p:txBody>
      </p:sp>
      <p:sp>
        <p:nvSpPr>
          <p:cNvPr id="3" name="内容占位符 2"/>
          <p:cNvSpPr>
            <a:spLocks noGrp="1"/>
          </p:cNvSpPr>
          <p:nvPr>
            <p:ph idx="1"/>
          </p:nvPr>
        </p:nvSpPr>
        <p:spPr/>
        <p:txBody>
          <a:bodyPr/>
          <a:lstStyle/>
          <a:p>
            <a:r>
              <a:rPr lang="zh-CN" altLang="en-US" dirty="0" smtClean="0"/>
              <a:t>几个基础概念</a:t>
            </a:r>
            <a:endParaRPr lang="en-US" altLang="zh-CN" dirty="0" smtClean="0"/>
          </a:p>
          <a:p>
            <a:pPr lvl="1"/>
            <a:r>
              <a:rPr lang="zh-CN" altLang="en-US" dirty="0" smtClean="0"/>
              <a:t>批处理间隔</a:t>
            </a:r>
            <a:endParaRPr lang="en-US" altLang="zh-CN" dirty="0" smtClean="0"/>
          </a:p>
          <a:p>
            <a:pPr lvl="2"/>
            <a:r>
              <a:rPr lang="en-US" altLang="zh-CN" dirty="0" smtClean="0"/>
              <a:t>Spark</a:t>
            </a:r>
            <a:r>
              <a:rPr lang="zh-CN" altLang="en-US" dirty="0" smtClean="0"/>
              <a:t>定期将批处理时间间隔内接收到的数据收集起来，组成新的微批数据并提交给</a:t>
            </a:r>
            <a:r>
              <a:rPr lang="en-US" altLang="zh-CN" dirty="0" smtClean="0"/>
              <a:t>Spark</a:t>
            </a:r>
            <a:r>
              <a:rPr lang="zh-CN" altLang="en-US" dirty="0" smtClean="0"/>
              <a:t>引擎处理</a:t>
            </a:r>
            <a:endParaRPr lang="en-US" altLang="zh-CN" dirty="0" smtClean="0"/>
          </a:p>
          <a:p>
            <a:pPr lvl="1"/>
            <a:r>
              <a:rPr lang="zh-CN" altLang="en-US" dirty="0" smtClean="0"/>
              <a:t>窗口间隔</a:t>
            </a:r>
            <a:endParaRPr lang="en-US" altLang="zh-CN" dirty="0" smtClean="0"/>
          </a:p>
          <a:p>
            <a:pPr lvl="2"/>
            <a:r>
              <a:rPr lang="zh-CN" altLang="en-US" dirty="0" smtClean="0"/>
              <a:t>窗口的持续时间，只有当窗口时间间隔满足条件时才会触发窗口转换操作</a:t>
            </a:r>
            <a:endParaRPr lang="en-US" altLang="zh-CN" dirty="0" smtClean="0"/>
          </a:p>
          <a:p>
            <a:pPr lvl="1"/>
            <a:r>
              <a:rPr lang="zh-CN" altLang="en-US" dirty="0" smtClean="0"/>
              <a:t>滑动间隔</a:t>
            </a:r>
            <a:endParaRPr lang="en-US" altLang="zh-CN" dirty="0" smtClean="0"/>
          </a:p>
          <a:p>
            <a:pPr lvl="2"/>
            <a:r>
              <a:rPr lang="zh-CN" altLang="en-US" dirty="0" smtClean="0"/>
              <a:t>表示经过多长时间窗口就滑动一次，从而形成新的窗口</a:t>
            </a:r>
            <a:endParaRPr lang="en-US" altLang="zh-CN" dirty="0" smtClean="0"/>
          </a:p>
          <a:p>
            <a:pPr lvl="2"/>
            <a:endParaRPr lang="en-US" altLang="zh-CN" dirty="0"/>
          </a:p>
          <a:p>
            <a:pPr lvl="1"/>
            <a:r>
              <a:rPr lang="zh-CN" altLang="en-US" dirty="0" smtClean="0">
                <a:solidFill>
                  <a:srgbClr val="FF0000"/>
                </a:solidFill>
              </a:rPr>
              <a:t>注意：</a:t>
            </a:r>
            <a:r>
              <a:rPr lang="zh-CN" altLang="en-US" dirty="0" smtClean="0"/>
              <a:t>滑动间隔和窗口间隔的大小需设置为批处理间隔的整数倍</a:t>
            </a:r>
            <a:endParaRPr lang="zh-CN" altLang="en-US" dirty="0"/>
          </a:p>
        </p:txBody>
      </p:sp>
    </p:spTree>
    <p:extLst>
      <p:ext uri="{BB962C8B-B14F-4D97-AF65-F5344CB8AC3E}">
        <p14:creationId xmlns:p14="http://schemas.microsoft.com/office/powerpoint/2010/main" val="41399650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窗口转换</a:t>
            </a:r>
            <a:r>
              <a:rPr lang="zh-CN" altLang="en-US" dirty="0" smtClean="0"/>
              <a:t>操作</a:t>
            </a:r>
            <a:endParaRPr lang="zh-CN" altLang="en-US" dirty="0"/>
          </a:p>
        </p:txBody>
      </p:sp>
      <p:sp>
        <p:nvSpPr>
          <p:cNvPr id="4" name="内容占位符 3"/>
          <p:cNvSpPr>
            <a:spLocks noGrp="1"/>
          </p:cNvSpPr>
          <p:nvPr>
            <p:ph idx="1"/>
          </p:nvPr>
        </p:nvSpPr>
        <p:spPr/>
        <p:txBody>
          <a:bodyPr/>
          <a:lstStyle/>
          <a:p>
            <a:r>
              <a:rPr lang="zh-CN" altLang="en-US" dirty="0" smtClean="0"/>
              <a:t>窗口示例</a:t>
            </a:r>
            <a:endParaRPr lang="en-US" altLang="zh-CN" dirty="0" smtClean="0"/>
          </a:p>
          <a:p>
            <a:pPr lvl="1"/>
            <a:r>
              <a:rPr lang="zh-CN" altLang="en-US" dirty="0" smtClean="0"/>
              <a:t>窗口间隔：</a:t>
            </a:r>
            <a:r>
              <a:rPr lang="en-US" altLang="zh-CN" dirty="0" smtClean="0"/>
              <a:t>3</a:t>
            </a:r>
            <a:r>
              <a:rPr lang="zh-CN" altLang="en-US" dirty="0" smtClean="0"/>
              <a:t>个时间单位</a:t>
            </a:r>
            <a:endParaRPr lang="en-US" altLang="zh-CN" dirty="0" smtClean="0"/>
          </a:p>
          <a:p>
            <a:pPr lvl="1"/>
            <a:r>
              <a:rPr lang="zh-CN" altLang="en-US" dirty="0" smtClean="0"/>
              <a:t>滑动间隔：</a:t>
            </a:r>
            <a:r>
              <a:rPr lang="en-US" altLang="zh-CN" dirty="0" smtClean="0"/>
              <a:t>2</a:t>
            </a:r>
            <a:r>
              <a:rPr lang="zh-CN" altLang="en-US" dirty="0" smtClean="0"/>
              <a:t>个时间单位</a:t>
            </a:r>
            <a:endParaRPr lang="zh-CN" altLang="en-US" dirty="0"/>
          </a:p>
        </p:txBody>
      </p:sp>
      <p:pic>
        <p:nvPicPr>
          <p:cNvPr id="5" name="Picture 2" descr="http://dblab.xmu.edu.cn/blog/wp-content/uploads/2016/11/SparkStreaming%E6%BB%91%E5%8A%A8%E7%AA%97%E5%8F%A3%E8%BD%AC%E6%8D%A2%E6%93%8D%E4%BD%9C.png"/>
          <p:cNvPicPr>
            <a:picLocks noChangeAspect="1"/>
          </p:cNvPicPr>
          <p:nvPr/>
        </p:nvPicPr>
        <p:blipFill>
          <a:blip r:embed="rId2"/>
          <a:stretch>
            <a:fillRect/>
          </a:stretch>
        </p:blipFill>
        <p:spPr>
          <a:xfrm>
            <a:off x="452206" y="2708920"/>
            <a:ext cx="7620000" cy="2974975"/>
          </a:xfrm>
          <a:prstGeom prst="rect">
            <a:avLst/>
          </a:prstGeom>
          <a:noFill/>
          <a:ln w="9525">
            <a:noFill/>
          </a:ln>
        </p:spPr>
      </p:pic>
    </p:spTree>
    <p:extLst>
      <p:ext uri="{BB962C8B-B14F-4D97-AF65-F5344CB8AC3E}">
        <p14:creationId xmlns:p14="http://schemas.microsoft.com/office/powerpoint/2010/main" val="11667575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窗口转换操作</a:t>
            </a:r>
          </a:p>
        </p:txBody>
      </p:sp>
      <p:sp>
        <p:nvSpPr>
          <p:cNvPr id="3" name="内容占位符 2"/>
          <p:cNvSpPr>
            <a:spLocks noGrp="1"/>
          </p:cNvSpPr>
          <p:nvPr>
            <p:ph idx="1"/>
          </p:nvPr>
        </p:nvSpPr>
        <p:spPr/>
        <p:txBody>
          <a:bodyPr>
            <a:normAutofit/>
          </a:bodyPr>
          <a:lstStyle/>
          <a:p>
            <a:r>
              <a:rPr lang="zh-CN" altLang="en-US" dirty="0" smtClean="0"/>
              <a:t>常用的窗口转换操作</a:t>
            </a:r>
            <a:endParaRPr lang="en-US" altLang="zh-CN" dirty="0" smtClean="0"/>
          </a:p>
          <a:p>
            <a:pPr lvl="1"/>
            <a:r>
              <a:rPr lang="en-US" altLang="zh-CN" dirty="0">
                <a:solidFill>
                  <a:srgbClr val="FF0000"/>
                </a:solidFill>
              </a:rPr>
              <a:t>window</a:t>
            </a:r>
            <a:r>
              <a:rPr lang="en-US" altLang="zh-CN" dirty="0"/>
              <a:t>(</a:t>
            </a:r>
            <a:r>
              <a:rPr lang="en-US" altLang="zh-CN" dirty="0" err="1"/>
              <a:t>windowLength</a:t>
            </a:r>
            <a:r>
              <a:rPr lang="en-US" altLang="zh-CN" dirty="0"/>
              <a:t>, </a:t>
            </a:r>
            <a:r>
              <a:rPr lang="en-US" altLang="zh-CN" dirty="0" err="1"/>
              <a:t>slideInterval</a:t>
            </a:r>
            <a:r>
              <a:rPr lang="en-US" altLang="zh-CN" dirty="0" smtClean="0"/>
              <a:t>)</a:t>
            </a:r>
            <a:r>
              <a:rPr lang="zh-CN" altLang="en-US" dirty="0" smtClean="0"/>
              <a:t>：</a:t>
            </a:r>
            <a:r>
              <a:rPr lang="en-US" altLang="zh-CN" dirty="0" smtClean="0"/>
              <a:t> </a:t>
            </a:r>
            <a:r>
              <a:rPr lang="zh-CN" altLang="en-US" dirty="0"/>
              <a:t>基于源</a:t>
            </a:r>
            <a:r>
              <a:rPr lang="en-US" altLang="zh-CN" dirty="0" err="1"/>
              <a:t>DStream</a:t>
            </a:r>
            <a:r>
              <a:rPr lang="zh-CN" altLang="en-US" dirty="0"/>
              <a:t>产生的窗口化的批数据，计算得到一个新的</a:t>
            </a:r>
            <a:r>
              <a:rPr lang="en-US" altLang="zh-CN" dirty="0" err="1" smtClean="0"/>
              <a:t>Dstream</a:t>
            </a:r>
            <a:endParaRPr lang="en-US" altLang="zh-CN" dirty="0" smtClean="0"/>
          </a:p>
          <a:p>
            <a:pPr lvl="1"/>
            <a:r>
              <a:rPr lang="en-US" altLang="zh-CN" dirty="0" err="1">
                <a:solidFill>
                  <a:srgbClr val="FF0000"/>
                </a:solidFill>
              </a:rPr>
              <a:t>countByWindow</a:t>
            </a:r>
            <a:r>
              <a:rPr lang="en-US" altLang="zh-CN" dirty="0"/>
              <a:t>(</a:t>
            </a:r>
            <a:r>
              <a:rPr lang="en-US" altLang="zh-CN" dirty="0" err="1"/>
              <a:t>windowLength</a:t>
            </a:r>
            <a:r>
              <a:rPr lang="en-US" altLang="zh-CN" dirty="0"/>
              <a:t>, </a:t>
            </a:r>
            <a:r>
              <a:rPr lang="en-US" altLang="zh-CN" dirty="0" err="1"/>
              <a:t>slideInterval</a:t>
            </a:r>
            <a:r>
              <a:rPr lang="en-US" altLang="zh-CN" dirty="0"/>
              <a:t>) </a:t>
            </a:r>
            <a:r>
              <a:rPr lang="zh-CN" altLang="en-US" dirty="0" smtClean="0"/>
              <a:t>：统计滑动窗口内</a:t>
            </a:r>
            <a:r>
              <a:rPr lang="en-US" altLang="zh-CN" dirty="0" err="1" smtClean="0"/>
              <a:t>DStream</a:t>
            </a:r>
            <a:r>
              <a:rPr lang="zh-CN" altLang="en-US" dirty="0" smtClean="0"/>
              <a:t>中元素的数量</a:t>
            </a:r>
            <a:endParaRPr lang="en-US" altLang="zh-CN" dirty="0" smtClean="0"/>
          </a:p>
          <a:p>
            <a:pPr lvl="1"/>
            <a:r>
              <a:rPr lang="en-US" altLang="zh-CN" dirty="0" err="1">
                <a:solidFill>
                  <a:srgbClr val="FF0000"/>
                </a:solidFill>
              </a:rPr>
              <a:t>countByValueAndWindow</a:t>
            </a:r>
            <a:r>
              <a:rPr lang="en-US" altLang="zh-CN" dirty="0"/>
              <a:t>(</a:t>
            </a:r>
            <a:r>
              <a:rPr lang="en-US" altLang="zh-CN" dirty="0" err="1"/>
              <a:t>windowLength</a:t>
            </a:r>
            <a:r>
              <a:rPr lang="en-US" altLang="zh-CN" dirty="0"/>
              <a:t>, </a:t>
            </a:r>
            <a:r>
              <a:rPr lang="en-US" altLang="zh-CN" dirty="0" err="1"/>
              <a:t>slideInterval</a:t>
            </a:r>
            <a:r>
              <a:rPr lang="en-US" altLang="zh-CN" dirty="0"/>
              <a:t>, [</a:t>
            </a:r>
            <a:r>
              <a:rPr lang="en-US" altLang="zh-CN" dirty="0" err="1"/>
              <a:t>numTasks</a:t>
            </a:r>
            <a:r>
              <a:rPr lang="en-US" altLang="zh-CN" dirty="0" smtClean="0"/>
              <a:t>])</a:t>
            </a:r>
            <a:r>
              <a:rPr lang="zh-CN" altLang="en-US" dirty="0" smtClean="0"/>
              <a:t>：</a:t>
            </a:r>
            <a:r>
              <a:rPr lang="en-US" altLang="zh-CN" dirty="0" smtClean="0"/>
              <a:t> </a:t>
            </a:r>
            <a:r>
              <a:rPr lang="zh-CN" altLang="en-US" dirty="0"/>
              <a:t>当应用到一个</a:t>
            </a:r>
            <a:r>
              <a:rPr lang="en-US" altLang="zh-CN" dirty="0"/>
              <a:t>(K,V)</a:t>
            </a:r>
            <a:r>
              <a:rPr lang="zh-CN" altLang="en-US" dirty="0"/>
              <a:t>键值对组成的</a:t>
            </a:r>
            <a:r>
              <a:rPr lang="en-US" altLang="zh-CN" dirty="0" err="1"/>
              <a:t>DStream</a:t>
            </a:r>
            <a:r>
              <a:rPr lang="zh-CN" altLang="en-US" dirty="0"/>
              <a:t>上，返回一个由</a:t>
            </a:r>
            <a:r>
              <a:rPr lang="en-US" altLang="zh-CN" dirty="0"/>
              <a:t>(K,V)</a:t>
            </a:r>
            <a:r>
              <a:rPr lang="zh-CN" altLang="en-US" dirty="0"/>
              <a:t>键值对组成的新的</a:t>
            </a:r>
            <a:r>
              <a:rPr lang="en-US" altLang="zh-CN" dirty="0" err="1"/>
              <a:t>DStream</a:t>
            </a:r>
            <a:r>
              <a:rPr lang="zh-CN" altLang="en-US" dirty="0"/>
              <a:t>。</a:t>
            </a:r>
            <a:r>
              <a:rPr lang="zh-CN" altLang="en-US" dirty="0" smtClean="0"/>
              <a:t>每个</a:t>
            </a:r>
            <a:r>
              <a:rPr lang="en-US" altLang="zh-CN" dirty="0" smtClean="0"/>
              <a:t>K</a:t>
            </a:r>
            <a:r>
              <a:rPr lang="zh-CN" altLang="en-US" dirty="0" smtClean="0"/>
              <a:t>对应的</a:t>
            </a:r>
            <a:r>
              <a:rPr lang="en-US" altLang="zh-CN" dirty="0" smtClean="0"/>
              <a:t>V</a:t>
            </a:r>
            <a:r>
              <a:rPr lang="zh-CN" altLang="en-US" dirty="0" smtClean="0"/>
              <a:t>是</a:t>
            </a:r>
            <a:r>
              <a:rPr lang="zh-CN" altLang="en-US" dirty="0"/>
              <a:t>它们在滑动窗口中出现的</a:t>
            </a:r>
            <a:r>
              <a:rPr lang="zh-CN" altLang="en-US" dirty="0" smtClean="0"/>
              <a:t>频率</a:t>
            </a:r>
            <a:endParaRPr lang="en-US" altLang="zh-CN" dirty="0"/>
          </a:p>
          <a:p>
            <a:pPr lvl="1"/>
            <a:endParaRPr lang="en-US" altLang="zh-CN" dirty="0"/>
          </a:p>
          <a:p>
            <a:pPr lvl="1"/>
            <a:endParaRPr lang="en-US" altLang="zh-CN" dirty="0"/>
          </a:p>
          <a:p>
            <a:pPr lvl="1"/>
            <a:endParaRPr lang="zh-CN" altLang="en-US" dirty="0"/>
          </a:p>
        </p:txBody>
      </p:sp>
    </p:spTree>
    <p:extLst>
      <p:ext uri="{BB962C8B-B14F-4D97-AF65-F5344CB8AC3E}">
        <p14:creationId xmlns:p14="http://schemas.microsoft.com/office/powerpoint/2010/main" val="39191214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窗口转换操作</a:t>
            </a:r>
          </a:p>
        </p:txBody>
      </p:sp>
      <p:sp>
        <p:nvSpPr>
          <p:cNvPr id="3" name="内容占位符 2"/>
          <p:cNvSpPr>
            <a:spLocks noGrp="1"/>
          </p:cNvSpPr>
          <p:nvPr>
            <p:ph idx="1"/>
          </p:nvPr>
        </p:nvSpPr>
        <p:spPr/>
        <p:txBody>
          <a:bodyPr>
            <a:normAutofit fontScale="92500" lnSpcReduction="20000"/>
          </a:bodyPr>
          <a:lstStyle/>
          <a:p>
            <a:r>
              <a:rPr lang="zh-CN" altLang="en-US" dirty="0" smtClean="0"/>
              <a:t>常用的窗口转换操作</a:t>
            </a:r>
            <a:endParaRPr lang="en-US" altLang="zh-CN" dirty="0" smtClean="0"/>
          </a:p>
          <a:p>
            <a:pPr lvl="1"/>
            <a:r>
              <a:rPr lang="en-US" altLang="zh-CN" dirty="0" err="1">
                <a:solidFill>
                  <a:srgbClr val="FF0000"/>
                </a:solidFill>
              </a:rPr>
              <a:t>reduceByKeyAndWindow</a:t>
            </a:r>
            <a:r>
              <a:rPr lang="en-US" altLang="zh-CN" dirty="0"/>
              <a:t>(</a:t>
            </a:r>
            <a:r>
              <a:rPr lang="en-US" altLang="zh-CN" dirty="0" err="1"/>
              <a:t>func</a:t>
            </a:r>
            <a:r>
              <a:rPr lang="en-US" altLang="zh-CN" dirty="0"/>
              <a:t>, </a:t>
            </a:r>
            <a:r>
              <a:rPr lang="en-US" altLang="zh-CN" dirty="0" err="1"/>
              <a:t>windowLength</a:t>
            </a:r>
            <a:r>
              <a:rPr lang="en-US" altLang="zh-CN" dirty="0"/>
              <a:t>, </a:t>
            </a:r>
            <a:r>
              <a:rPr lang="en-US" altLang="zh-CN" dirty="0" err="1"/>
              <a:t>slideInterval</a:t>
            </a:r>
            <a:r>
              <a:rPr lang="en-US" altLang="zh-CN" dirty="0"/>
              <a:t>, [</a:t>
            </a:r>
            <a:r>
              <a:rPr lang="en-US" altLang="zh-CN" dirty="0" err="1"/>
              <a:t>numTasks</a:t>
            </a:r>
            <a:r>
              <a:rPr lang="en-US" altLang="zh-CN" dirty="0" smtClean="0"/>
              <a:t>])</a:t>
            </a:r>
            <a:r>
              <a:rPr lang="zh-CN" altLang="en-US" dirty="0" smtClean="0"/>
              <a:t>：</a:t>
            </a:r>
            <a:r>
              <a:rPr lang="en-US" altLang="zh-CN" dirty="0" smtClean="0"/>
              <a:t> </a:t>
            </a:r>
            <a:r>
              <a:rPr lang="zh-CN" altLang="en-US" dirty="0"/>
              <a:t>应用到一个</a:t>
            </a:r>
            <a:r>
              <a:rPr lang="en-US" altLang="zh-CN" dirty="0"/>
              <a:t>(K,V)</a:t>
            </a:r>
            <a:r>
              <a:rPr lang="zh-CN" altLang="en-US" dirty="0"/>
              <a:t>键值对组成的</a:t>
            </a:r>
            <a:r>
              <a:rPr lang="en-US" altLang="zh-CN" dirty="0" err="1"/>
              <a:t>DStream</a:t>
            </a:r>
            <a:r>
              <a:rPr lang="zh-CN" altLang="en-US" dirty="0"/>
              <a:t>上时，会返回一个由</a:t>
            </a:r>
            <a:r>
              <a:rPr lang="en-US" altLang="zh-CN" dirty="0"/>
              <a:t>(K,V)</a:t>
            </a:r>
            <a:r>
              <a:rPr lang="zh-CN" altLang="en-US" dirty="0"/>
              <a:t>键值对组成的新的</a:t>
            </a:r>
            <a:r>
              <a:rPr lang="en-US" altLang="zh-CN" dirty="0" err="1"/>
              <a:t>DStream</a:t>
            </a:r>
            <a:r>
              <a:rPr lang="zh-CN" altLang="en-US" dirty="0"/>
              <a:t>。每一</a:t>
            </a:r>
            <a:r>
              <a:rPr lang="zh-CN" altLang="en-US" dirty="0" smtClean="0"/>
              <a:t>个</a:t>
            </a:r>
            <a:r>
              <a:rPr lang="en-US" altLang="zh-CN" dirty="0" smtClean="0"/>
              <a:t>K</a:t>
            </a:r>
            <a:r>
              <a:rPr lang="zh-CN" altLang="en-US" dirty="0" smtClean="0"/>
              <a:t>对应的</a:t>
            </a:r>
            <a:r>
              <a:rPr lang="en-US" altLang="zh-CN" dirty="0" smtClean="0"/>
              <a:t>V</a:t>
            </a:r>
            <a:r>
              <a:rPr lang="zh-CN" altLang="en-US" dirty="0" smtClean="0"/>
              <a:t>均</a:t>
            </a:r>
            <a:r>
              <a:rPr lang="zh-CN" altLang="en-US" dirty="0"/>
              <a:t>由给定的</a:t>
            </a:r>
            <a:r>
              <a:rPr lang="en-US" altLang="zh-CN" dirty="0"/>
              <a:t>reduce</a:t>
            </a:r>
            <a:r>
              <a:rPr lang="zh-CN" altLang="en-US" dirty="0"/>
              <a:t>函数</a:t>
            </a:r>
            <a:r>
              <a:rPr lang="en-US" altLang="zh-CN" dirty="0"/>
              <a:t>(</a:t>
            </a:r>
            <a:r>
              <a:rPr lang="en-US" altLang="zh-CN" dirty="0" err="1"/>
              <a:t>func</a:t>
            </a:r>
            <a:r>
              <a:rPr lang="zh-CN" altLang="en-US" dirty="0"/>
              <a:t>函数</a:t>
            </a:r>
            <a:r>
              <a:rPr lang="en-US" altLang="zh-CN" dirty="0"/>
              <a:t>)</a:t>
            </a:r>
            <a:r>
              <a:rPr lang="zh-CN" altLang="en-US" dirty="0"/>
              <a:t>进行聚合计算</a:t>
            </a:r>
            <a:r>
              <a:rPr lang="zh-CN" altLang="en-US" dirty="0" smtClean="0"/>
              <a:t>。</a:t>
            </a:r>
            <a:endParaRPr lang="en-US" altLang="zh-CN" dirty="0" smtClean="0"/>
          </a:p>
          <a:p>
            <a:pPr lvl="2"/>
            <a:r>
              <a:rPr lang="zh-CN" altLang="en-US" dirty="0" smtClean="0"/>
              <a:t>注意</a:t>
            </a:r>
            <a:r>
              <a:rPr lang="zh-CN" altLang="en-US" dirty="0"/>
              <a:t>：在默认情况下，这个算子利用了</a:t>
            </a:r>
            <a:r>
              <a:rPr lang="en-US" altLang="zh-CN" dirty="0"/>
              <a:t>Spark</a:t>
            </a:r>
            <a:r>
              <a:rPr lang="zh-CN" altLang="en-US" dirty="0"/>
              <a:t>默认的并发任务数去分组。可以通过</a:t>
            </a:r>
            <a:r>
              <a:rPr lang="en-US" altLang="zh-CN" dirty="0" err="1"/>
              <a:t>numTasks</a:t>
            </a:r>
            <a:r>
              <a:rPr lang="zh-CN" altLang="en-US" dirty="0"/>
              <a:t>参数的设置来指定不同的任务数</a:t>
            </a:r>
          </a:p>
          <a:p>
            <a:pPr lvl="1"/>
            <a:r>
              <a:rPr lang="en-US" altLang="zh-CN" dirty="0" err="1" smtClean="0">
                <a:solidFill>
                  <a:srgbClr val="FF0000"/>
                </a:solidFill>
              </a:rPr>
              <a:t>reduceByKeyAndWindow</a:t>
            </a:r>
            <a:r>
              <a:rPr lang="en-US" altLang="zh-CN" dirty="0" smtClean="0"/>
              <a:t>(</a:t>
            </a:r>
            <a:r>
              <a:rPr lang="en-US" altLang="zh-CN" dirty="0" err="1" smtClean="0"/>
              <a:t>func</a:t>
            </a:r>
            <a:r>
              <a:rPr lang="en-US" altLang="zh-CN" dirty="0"/>
              <a:t>, </a:t>
            </a:r>
            <a:r>
              <a:rPr lang="en-US" altLang="zh-CN" dirty="0" err="1"/>
              <a:t>invFunc</a:t>
            </a:r>
            <a:r>
              <a:rPr lang="en-US" altLang="zh-CN" dirty="0"/>
              <a:t>, </a:t>
            </a:r>
            <a:r>
              <a:rPr lang="en-US" altLang="zh-CN" dirty="0" err="1"/>
              <a:t>windowLength</a:t>
            </a:r>
            <a:r>
              <a:rPr lang="en-US" altLang="zh-CN" dirty="0"/>
              <a:t>, </a:t>
            </a:r>
            <a:r>
              <a:rPr lang="en-US" altLang="zh-CN" dirty="0" err="1"/>
              <a:t>slideInterval</a:t>
            </a:r>
            <a:r>
              <a:rPr lang="en-US" altLang="zh-CN" dirty="0"/>
              <a:t>, [</a:t>
            </a:r>
            <a:r>
              <a:rPr lang="en-US" altLang="zh-CN" dirty="0" err="1"/>
              <a:t>numTasks</a:t>
            </a:r>
            <a:r>
              <a:rPr lang="en-US" altLang="zh-CN" dirty="0" smtClean="0"/>
              <a:t>])</a:t>
            </a:r>
            <a:r>
              <a:rPr lang="zh-CN" altLang="en-US" dirty="0" smtClean="0"/>
              <a:t>：</a:t>
            </a:r>
            <a:r>
              <a:rPr lang="en-US" altLang="zh-CN" dirty="0" smtClean="0"/>
              <a:t> </a:t>
            </a:r>
            <a:r>
              <a:rPr lang="zh-CN" altLang="en-US" dirty="0"/>
              <a:t>更加高效的</a:t>
            </a:r>
            <a:r>
              <a:rPr lang="en-US" altLang="zh-CN" dirty="0" err="1"/>
              <a:t>reduceByKeyAndWindow</a:t>
            </a:r>
            <a:r>
              <a:rPr lang="zh-CN" altLang="en-US" dirty="0"/>
              <a:t>，每个窗口的</a:t>
            </a:r>
            <a:r>
              <a:rPr lang="en-US" altLang="zh-CN" dirty="0"/>
              <a:t>reduce</a:t>
            </a:r>
            <a:r>
              <a:rPr lang="zh-CN" altLang="en-US" dirty="0"/>
              <a:t>值，是基于先前窗口的</a:t>
            </a:r>
            <a:r>
              <a:rPr lang="en-US" altLang="zh-CN" dirty="0"/>
              <a:t>reduce</a:t>
            </a:r>
            <a:r>
              <a:rPr lang="zh-CN" altLang="en-US" dirty="0"/>
              <a:t>值进行增量计算得到的；它会对进入滑动窗口的新数据进行</a:t>
            </a:r>
            <a:r>
              <a:rPr lang="en-US" altLang="zh-CN" dirty="0"/>
              <a:t>reduce</a:t>
            </a:r>
            <a:r>
              <a:rPr lang="zh-CN" altLang="en-US" dirty="0"/>
              <a:t>操作，并对离开窗口的老数据进行“逆向</a:t>
            </a:r>
            <a:r>
              <a:rPr lang="en-US" altLang="zh-CN" dirty="0"/>
              <a:t>reduce”</a:t>
            </a:r>
            <a:r>
              <a:rPr lang="zh-CN" altLang="en-US" dirty="0"/>
              <a:t>操作。但是，只能用于“可逆</a:t>
            </a:r>
            <a:r>
              <a:rPr lang="en-US" altLang="zh-CN" dirty="0"/>
              <a:t>reduce</a:t>
            </a:r>
            <a:r>
              <a:rPr lang="zh-CN" altLang="en-US" dirty="0"/>
              <a:t>函数”，即那些</a:t>
            </a:r>
            <a:r>
              <a:rPr lang="en-US" altLang="zh-CN" dirty="0"/>
              <a:t>reduce</a:t>
            </a:r>
            <a:r>
              <a:rPr lang="zh-CN" altLang="en-US" dirty="0"/>
              <a:t>函数都有一个对应的“逆向</a:t>
            </a:r>
            <a:r>
              <a:rPr lang="en-US" altLang="zh-CN" dirty="0"/>
              <a:t>reduce</a:t>
            </a:r>
            <a:r>
              <a:rPr lang="zh-CN" altLang="en-US" dirty="0"/>
              <a:t>函数”（以</a:t>
            </a:r>
            <a:r>
              <a:rPr lang="en-US" altLang="zh-CN" dirty="0" err="1"/>
              <a:t>InvFunc</a:t>
            </a:r>
            <a:r>
              <a:rPr lang="zh-CN" altLang="en-US" dirty="0"/>
              <a:t>参数传入）</a:t>
            </a:r>
          </a:p>
          <a:p>
            <a:pPr lvl="1"/>
            <a:endParaRPr lang="zh-CN" altLang="en-US" dirty="0"/>
          </a:p>
        </p:txBody>
      </p:sp>
    </p:spTree>
    <p:extLst>
      <p:ext uri="{BB962C8B-B14F-4D97-AF65-F5344CB8AC3E}">
        <p14:creationId xmlns:p14="http://schemas.microsoft.com/office/powerpoint/2010/main" val="27624630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窗口转换操作</a:t>
            </a:r>
            <a:endParaRPr lang="zh-CN" altLang="en-US" dirty="0"/>
          </a:p>
        </p:txBody>
      </p:sp>
      <p:sp>
        <p:nvSpPr>
          <p:cNvPr id="5" name="内容占位符 4"/>
          <p:cNvSpPr>
            <a:spLocks noGrp="1"/>
          </p:cNvSpPr>
          <p:nvPr>
            <p:ph idx="1"/>
          </p:nvPr>
        </p:nvSpPr>
        <p:spPr/>
        <p:txBody>
          <a:bodyPr/>
          <a:lstStyle/>
          <a:p>
            <a:r>
              <a:rPr lang="zh-CN" altLang="en-US" dirty="0" smtClean="0"/>
              <a:t>示例</a:t>
            </a:r>
            <a:endParaRPr lang="en-US" altLang="zh-CN" dirty="0" smtClean="0"/>
          </a:p>
          <a:p>
            <a:pPr lvl="1"/>
            <a:r>
              <a:rPr lang="zh-CN" altLang="en-US" dirty="0" smtClean="0"/>
              <a:t>每</a:t>
            </a:r>
            <a:r>
              <a:rPr lang="en-US" altLang="zh-CN" dirty="0" smtClean="0"/>
              <a:t>20s</a:t>
            </a:r>
            <a:r>
              <a:rPr lang="zh-CN" altLang="en-US" dirty="0" smtClean="0"/>
              <a:t>统计一次近</a:t>
            </a:r>
            <a:r>
              <a:rPr lang="en-US" altLang="zh-CN" dirty="0" smtClean="0"/>
              <a:t>30s</a:t>
            </a:r>
            <a:r>
              <a:rPr lang="zh-CN" altLang="en-US" dirty="0" smtClean="0"/>
              <a:t>内各单词出现的次数</a:t>
            </a:r>
            <a:endParaRPr lang="zh-CN" altLang="en-US" dirty="0"/>
          </a:p>
        </p:txBody>
      </p:sp>
      <p:pic>
        <p:nvPicPr>
          <p:cNvPr id="6" name="内容占位符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971600" y="2348880"/>
            <a:ext cx="7340539" cy="3858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27027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窗口转换操作</a:t>
            </a:r>
          </a:p>
        </p:txBody>
      </p:sp>
      <p:sp>
        <p:nvSpPr>
          <p:cNvPr id="3" name="内容占位符 2"/>
          <p:cNvSpPr>
            <a:spLocks noGrp="1"/>
          </p:cNvSpPr>
          <p:nvPr>
            <p:ph idx="1"/>
          </p:nvPr>
        </p:nvSpPr>
        <p:spPr/>
        <p:txBody>
          <a:bodyPr/>
          <a:lstStyle/>
          <a:p>
            <a:r>
              <a:rPr lang="zh-CN" altLang="en-US" dirty="0">
                <a:latin typeface="Arial" panose="020B0604020202020204" pitchFamily="34" charset="0"/>
              </a:rPr>
              <a:t>需要在跨批次之间维护状态时，就必须使用</a:t>
            </a:r>
            <a:r>
              <a:rPr lang="en-US" altLang="zh-CN" dirty="0" err="1">
                <a:latin typeface="Arial" panose="020B0604020202020204" pitchFamily="34" charset="0"/>
              </a:rPr>
              <a:t>updateStateByKey</a:t>
            </a:r>
            <a:r>
              <a:rPr lang="zh-CN" altLang="en-US" dirty="0" smtClean="0">
                <a:latin typeface="Arial" panose="020B0604020202020204" pitchFamily="34" charset="0"/>
              </a:rPr>
              <a:t>操作</a:t>
            </a:r>
            <a:endParaRPr lang="en-US" altLang="zh-CN" dirty="0" smtClean="0">
              <a:latin typeface="Arial" panose="020B0604020202020204" pitchFamily="34" charset="0"/>
            </a:endParaRPr>
          </a:p>
          <a:p>
            <a:pPr lvl="1"/>
            <a:r>
              <a:rPr lang="zh-CN" altLang="en-US" dirty="0" smtClean="0"/>
              <a:t>以</a:t>
            </a:r>
            <a:r>
              <a:rPr lang="en-US" altLang="zh-CN" dirty="0" err="1" smtClean="0"/>
              <a:t>WordCount</a:t>
            </a:r>
            <a:r>
              <a:rPr lang="zh-CN" altLang="en-US" dirty="0" smtClean="0"/>
              <a:t>为例</a:t>
            </a:r>
            <a:endParaRPr lang="en-US" altLang="zh-CN" dirty="0" smtClean="0"/>
          </a:p>
          <a:p>
            <a:pPr lvl="2"/>
            <a:r>
              <a:rPr lang="zh-CN" altLang="en-US" dirty="0" smtClean="0"/>
              <a:t>对于</a:t>
            </a:r>
            <a:r>
              <a:rPr lang="zh-CN" altLang="en-US" dirty="0"/>
              <a:t>有状态转化操作而言，本批次的词频统计，会在之前批次的词频统计结果的基础上进行不断累加，所以，最终统计得到的词频，是所有批次的单词的总的词频统计结果</a:t>
            </a:r>
          </a:p>
          <a:p>
            <a:pPr lvl="1"/>
            <a:endParaRPr lang="zh-CN" altLang="en-US" dirty="0">
              <a:latin typeface="Arial" panose="020B0604020202020204" pitchFamily="34" charset="0"/>
            </a:endParaRPr>
          </a:p>
          <a:p>
            <a:endParaRPr lang="zh-CN" altLang="en-US" dirty="0"/>
          </a:p>
        </p:txBody>
      </p:sp>
    </p:spTree>
    <p:extLst>
      <p:ext uri="{BB962C8B-B14F-4D97-AF65-F5344CB8AC3E}">
        <p14:creationId xmlns:p14="http://schemas.microsoft.com/office/powerpoint/2010/main" val="31475175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窗口转换操作</a:t>
            </a:r>
          </a:p>
        </p:txBody>
      </p:sp>
      <p:sp>
        <p:nvSpPr>
          <p:cNvPr id="5" name="内容占位符 4"/>
          <p:cNvSpPr>
            <a:spLocks noGrp="1"/>
          </p:cNvSpPr>
          <p:nvPr>
            <p:ph idx="1"/>
          </p:nvPr>
        </p:nvSpPr>
        <p:spPr/>
        <p:txBody>
          <a:bodyPr/>
          <a:lstStyle/>
          <a:p>
            <a:r>
              <a:rPr lang="zh-CN" altLang="en-US" dirty="0" smtClean="0"/>
              <a:t>程序示例</a:t>
            </a:r>
            <a:endParaRPr lang="en-US" altLang="zh-CN" dirty="0" smtClean="0"/>
          </a:p>
          <a:p>
            <a:pPr lvl="1"/>
            <a:r>
              <a:rPr lang="zh-CN" altLang="en-US" dirty="0" smtClean="0"/>
              <a:t>统计自程序运行以来各单词出现的次数</a:t>
            </a:r>
            <a:endParaRPr lang="zh-CN" altLang="en-US" dirty="0"/>
          </a:p>
        </p:txBody>
      </p:sp>
      <p:pic>
        <p:nvPicPr>
          <p:cNvPr id="6" name="内容占位符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55576" y="2348880"/>
            <a:ext cx="6819663" cy="436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33578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2"/>
            <a:r>
              <a:rPr lang="zh-CN" altLang="en-US" dirty="0"/>
              <a:t>输出</a:t>
            </a:r>
            <a:r>
              <a:rPr lang="zh-CN" altLang="en-US" dirty="0" smtClean="0"/>
              <a:t>操作</a:t>
            </a:r>
            <a:endParaRPr lang="zh-CN" altLang="en-US" dirty="0"/>
          </a:p>
        </p:txBody>
      </p:sp>
      <p:sp>
        <p:nvSpPr>
          <p:cNvPr id="3" name="内容占位符 2"/>
          <p:cNvSpPr>
            <a:spLocks noGrp="1"/>
          </p:cNvSpPr>
          <p:nvPr>
            <p:ph idx="1"/>
          </p:nvPr>
        </p:nvSpPr>
        <p:spPr/>
        <p:txBody>
          <a:bodyPr/>
          <a:lstStyle/>
          <a:p>
            <a:r>
              <a:rPr lang="zh-CN" altLang="en-US" dirty="0" smtClean="0"/>
              <a:t>常用的</a:t>
            </a:r>
            <a:r>
              <a:rPr lang="en-US" altLang="zh-CN" dirty="0" err="1" smtClean="0"/>
              <a:t>DStream</a:t>
            </a:r>
            <a:r>
              <a:rPr lang="zh-CN" altLang="en-US" dirty="0" smtClean="0"/>
              <a:t>输出方法</a:t>
            </a:r>
            <a:endParaRPr lang="en-US" altLang="zh-CN" dirty="0" smtClean="0"/>
          </a:p>
          <a:p>
            <a:pPr lvl="1"/>
            <a:r>
              <a:rPr lang="en-US" altLang="zh-CN" dirty="0" smtClean="0">
                <a:solidFill>
                  <a:srgbClr val="FF0000"/>
                </a:solidFill>
              </a:rPr>
              <a:t>print</a:t>
            </a:r>
            <a:r>
              <a:rPr lang="en-US" altLang="zh-CN" dirty="0" smtClean="0"/>
              <a:t>:</a:t>
            </a:r>
            <a:r>
              <a:rPr lang="zh-CN" altLang="en-US" dirty="0" smtClean="0"/>
              <a:t>在驱动器中输出</a:t>
            </a:r>
            <a:r>
              <a:rPr lang="en-US" altLang="zh-CN" dirty="0" err="1" smtClean="0"/>
              <a:t>DStream</a:t>
            </a:r>
            <a:r>
              <a:rPr lang="zh-CN" altLang="en-US" dirty="0" smtClean="0"/>
              <a:t>中数据的</a:t>
            </a:r>
            <a:r>
              <a:rPr lang="zh-CN" altLang="en-US" dirty="0" smtClean="0"/>
              <a:t>前</a:t>
            </a:r>
            <a:r>
              <a:rPr lang="en-US" altLang="zh-CN" dirty="0" smtClean="0"/>
              <a:t>9</a:t>
            </a:r>
            <a:r>
              <a:rPr lang="zh-CN" altLang="en-US" dirty="0" smtClean="0"/>
              <a:t>个</a:t>
            </a:r>
            <a:r>
              <a:rPr lang="zh-CN" altLang="en-US" dirty="0" smtClean="0"/>
              <a:t>元素</a:t>
            </a:r>
            <a:endParaRPr lang="en-US" altLang="zh-CN" dirty="0" smtClean="0"/>
          </a:p>
          <a:p>
            <a:pPr lvl="1"/>
            <a:r>
              <a:rPr lang="en-US" altLang="zh-CN" dirty="0" err="1" smtClean="0">
                <a:solidFill>
                  <a:srgbClr val="FF0000"/>
                </a:solidFill>
              </a:rPr>
              <a:t>saveAsTextFiles</a:t>
            </a:r>
            <a:r>
              <a:rPr lang="zh-CN" altLang="en-US" dirty="0" smtClean="0"/>
              <a:t>：</a:t>
            </a:r>
            <a:r>
              <a:rPr lang="en-US" altLang="zh-CN" dirty="0"/>
              <a:t> </a:t>
            </a:r>
            <a:r>
              <a:rPr lang="zh-CN" altLang="en-US" dirty="0" smtClean="0"/>
              <a:t>将</a:t>
            </a:r>
            <a:r>
              <a:rPr lang="en-US" altLang="zh-CN" dirty="0" err="1" smtClean="0"/>
              <a:t>DStream</a:t>
            </a:r>
            <a:r>
              <a:rPr lang="zh-CN" altLang="en-US" dirty="0" smtClean="0"/>
              <a:t>中的数据以文本格式输出</a:t>
            </a:r>
            <a:endParaRPr lang="en-US" altLang="zh-CN" dirty="0" smtClean="0"/>
          </a:p>
          <a:p>
            <a:pPr lvl="1"/>
            <a:r>
              <a:rPr lang="en-US" altLang="zh-CN" dirty="0" err="1" smtClean="0">
                <a:solidFill>
                  <a:srgbClr val="FF0000"/>
                </a:solidFill>
              </a:rPr>
              <a:t>saveAsObjectFiles</a:t>
            </a:r>
            <a:r>
              <a:rPr lang="zh-CN" altLang="en-US" dirty="0" smtClean="0"/>
              <a:t>：</a:t>
            </a:r>
            <a:r>
              <a:rPr lang="zh-CN" altLang="en-US" dirty="0"/>
              <a:t>将</a:t>
            </a:r>
            <a:r>
              <a:rPr lang="en-US" altLang="zh-CN" dirty="0" err="1"/>
              <a:t>DStream</a:t>
            </a:r>
            <a:r>
              <a:rPr lang="zh-CN" altLang="en-US" dirty="0"/>
              <a:t>中的</a:t>
            </a:r>
            <a:r>
              <a:rPr lang="zh-CN" altLang="en-US" dirty="0" smtClean="0"/>
              <a:t>数据序列化并以序列文件格式保存</a:t>
            </a:r>
            <a:endParaRPr lang="en-US" altLang="zh-CN" dirty="0" smtClean="0"/>
          </a:p>
          <a:p>
            <a:pPr lvl="1"/>
            <a:r>
              <a:rPr lang="en-US" altLang="zh-CN" dirty="0" err="1" smtClean="0">
                <a:solidFill>
                  <a:srgbClr val="FF0000"/>
                </a:solidFill>
              </a:rPr>
              <a:t>saveAsHadoopFiles</a:t>
            </a:r>
            <a:r>
              <a:rPr lang="zh-CN" altLang="en-US" dirty="0" smtClean="0"/>
              <a:t>：将</a:t>
            </a:r>
            <a:r>
              <a:rPr lang="en-US" altLang="zh-CN" dirty="0" err="1"/>
              <a:t>DStream</a:t>
            </a:r>
            <a:r>
              <a:rPr lang="zh-CN" altLang="en-US" dirty="0"/>
              <a:t>中的</a:t>
            </a:r>
            <a:r>
              <a:rPr lang="zh-CN" altLang="en-US" dirty="0" smtClean="0"/>
              <a:t>数据以文本格式保存在</a:t>
            </a:r>
            <a:r>
              <a:rPr lang="en-US" altLang="zh-CN" dirty="0" smtClean="0"/>
              <a:t>Hadoop</a:t>
            </a:r>
            <a:r>
              <a:rPr lang="zh-CN" altLang="en-US" dirty="0" smtClean="0"/>
              <a:t>文件中</a:t>
            </a:r>
            <a:endParaRPr lang="en-US" altLang="zh-CN" dirty="0" smtClean="0"/>
          </a:p>
          <a:p>
            <a:pPr lvl="1"/>
            <a:r>
              <a:rPr lang="en-US" altLang="zh-CN" dirty="0" err="1" smtClean="0">
                <a:solidFill>
                  <a:srgbClr val="FF0000"/>
                </a:solidFill>
              </a:rPr>
              <a:t>foreachRDD</a:t>
            </a:r>
            <a:r>
              <a:rPr lang="en-US" altLang="zh-CN" dirty="0" smtClean="0">
                <a:solidFill>
                  <a:srgbClr val="FF0000"/>
                </a:solidFill>
              </a:rPr>
              <a:t>(</a:t>
            </a:r>
            <a:r>
              <a:rPr lang="en-US" altLang="zh-CN" dirty="0" err="1" smtClean="0">
                <a:solidFill>
                  <a:srgbClr val="FF0000"/>
                </a:solidFill>
              </a:rPr>
              <a:t>func</a:t>
            </a:r>
            <a:r>
              <a:rPr lang="en-US" altLang="zh-CN" dirty="0" smtClean="0">
                <a:solidFill>
                  <a:srgbClr val="FF0000"/>
                </a:solidFill>
              </a:rPr>
              <a:t>)</a:t>
            </a:r>
            <a:r>
              <a:rPr lang="zh-CN" altLang="en-US" dirty="0" smtClean="0"/>
              <a:t>：</a:t>
            </a:r>
            <a:r>
              <a:rPr lang="en-US" altLang="zh-CN" dirty="0"/>
              <a:t> </a:t>
            </a:r>
            <a:r>
              <a:rPr lang="zh-CN" altLang="en-US" dirty="0" smtClean="0"/>
              <a:t>对</a:t>
            </a:r>
            <a:r>
              <a:rPr lang="en-US" altLang="zh-CN" dirty="0" err="1" smtClean="0"/>
              <a:t>DStream</a:t>
            </a:r>
            <a:r>
              <a:rPr lang="zh-CN" altLang="en-US" dirty="0" smtClean="0"/>
              <a:t>中每个</a:t>
            </a:r>
            <a:r>
              <a:rPr lang="en-US" altLang="zh-CN" dirty="0" smtClean="0"/>
              <a:t>RDD</a:t>
            </a:r>
            <a:r>
              <a:rPr lang="zh-CN" altLang="en-US" dirty="0" smtClean="0"/>
              <a:t>的数据调用</a:t>
            </a:r>
            <a:r>
              <a:rPr lang="en-US" altLang="zh-CN" dirty="0" err="1" smtClean="0"/>
              <a:t>func</a:t>
            </a:r>
            <a:r>
              <a:rPr lang="en-US" altLang="zh-CN" dirty="0" smtClean="0"/>
              <a:t>()</a:t>
            </a:r>
            <a:r>
              <a:rPr lang="zh-CN" altLang="en-US" dirty="0" smtClean="0"/>
              <a:t>函数</a:t>
            </a:r>
            <a:endParaRPr lang="en-US" altLang="zh-CN" dirty="0"/>
          </a:p>
          <a:p>
            <a:pPr lvl="1"/>
            <a:endParaRPr lang="en-US" altLang="zh-CN" dirty="0"/>
          </a:p>
          <a:p>
            <a:pPr lvl="1"/>
            <a:endParaRPr lang="zh-CN" altLang="en-US" dirty="0"/>
          </a:p>
        </p:txBody>
      </p:sp>
    </p:spTree>
    <p:extLst>
      <p:ext uri="{BB962C8B-B14F-4D97-AF65-F5344CB8AC3E}">
        <p14:creationId xmlns:p14="http://schemas.microsoft.com/office/powerpoint/2010/main" val="21725539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9.5.1 </a:t>
            </a:r>
            <a:r>
              <a:rPr lang="en-US" altLang="zh-CN" dirty="0"/>
              <a:t>Spark Streaming</a:t>
            </a:r>
            <a:endParaRPr lang="zh-CN" altLang="en-US" dirty="0"/>
          </a:p>
        </p:txBody>
      </p:sp>
      <p:sp>
        <p:nvSpPr>
          <p:cNvPr id="3" name="内容占位符 2"/>
          <p:cNvSpPr>
            <a:spLocks noGrp="1"/>
          </p:cNvSpPr>
          <p:nvPr>
            <p:ph idx="1"/>
          </p:nvPr>
        </p:nvSpPr>
        <p:spPr/>
        <p:txBody>
          <a:bodyPr/>
          <a:lstStyle/>
          <a:p>
            <a:r>
              <a:rPr lang="zh-CN" altLang="en-US" dirty="0" smtClean="0"/>
              <a:t>容错机制</a:t>
            </a:r>
            <a:endParaRPr lang="en-US" altLang="zh-CN" dirty="0" smtClean="0"/>
          </a:p>
          <a:p>
            <a:pPr lvl="1"/>
            <a:r>
              <a:rPr lang="zh-CN" altLang="en-US" dirty="0" smtClean="0"/>
              <a:t>基于</a:t>
            </a:r>
            <a:r>
              <a:rPr lang="en-US" altLang="zh-CN" dirty="0" smtClean="0"/>
              <a:t>RDD Lineage</a:t>
            </a:r>
            <a:r>
              <a:rPr lang="zh-CN" altLang="en-US" dirty="0" smtClean="0"/>
              <a:t>的容错</a:t>
            </a:r>
            <a:endParaRPr lang="en-US" altLang="zh-CN" dirty="0" smtClean="0"/>
          </a:p>
          <a:p>
            <a:pPr lvl="1"/>
            <a:r>
              <a:rPr lang="zh-CN" altLang="en-US" dirty="0" smtClean="0"/>
              <a:t>基于日志的容错</a:t>
            </a:r>
            <a:endParaRPr lang="en-US" altLang="zh-CN" dirty="0" smtClean="0"/>
          </a:p>
          <a:p>
            <a:pPr lvl="1"/>
            <a:r>
              <a:rPr lang="zh-CN" altLang="en-US" dirty="0" smtClean="0"/>
              <a:t>基于检查点的容错</a:t>
            </a:r>
            <a:endParaRPr lang="en-US" altLang="zh-CN" dirty="0" smtClean="0"/>
          </a:p>
          <a:p>
            <a:pPr lvl="1"/>
            <a:r>
              <a:rPr lang="zh-CN" altLang="en-US" dirty="0" smtClean="0"/>
              <a:t>端到端的容错语义</a:t>
            </a:r>
            <a:endParaRPr lang="zh-CN" altLang="en-US" dirty="0"/>
          </a:p>
        </p:txBody>
      </p:sp>
    </p:spTree>
    <p:extLst>
      <p:ext uri="{BB962C8B-B14F-4D97-AF65-F5344CB8AC3E}">
        <p14:creationId xmlns:p14="http://schemas.microsoft.com/office/powerpoint/2010/main" val="33668687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基于</a:t>
            </a:r>
            <a:r>
              <a:rPr lang="en-US" altLang="zh-CN" dirty="0"/>
              <a:t>RDD Lineage</a:t>
            </a:r>
            <a:r>
              <a:rPr lang="zh-CN" altLang="en-US" dirty="0"/>
              <a:t>的容错</a:t>
            </a:r>
            <a:endParaRPr lang="en-US" altLang="zh-CN" dirty="0"/>
          </a:p>
        </p:txBody>
      </p:sp>
      <p:sp>
        <p:nvSpPr>
          <p:cNvPr id="3" name="内容占位符 2"/>
          <p:cNvSpPr>
            <a:spLocks noGrp="1"/>
          </p:cNvSpPr>
          <p:nvPr>
            <p:ph idx="1"/>
          </p:nvPr>
        </p:nvSpPr>
        <p:spPr/>
        <p:txBody>
          <a:bodyPr/>
          <a:lstStyle/>
          <a:p>
            <a:r>
              <a:rPr lang="zh-CN" altLang="en-US" dirty="0" smtClean="0"/>
              <a:t>如果某个执行器发生故障，并且该执行器不含</a:t>
            </a:r>
            <a:r>
              <a:rPr lang="en-US" altLang="zh-CN" dirty="0" smtClean="0"/>
              <a:t>Receiver</a:t>
            </a:r>
            <a:r>
              <a:rPr lang="zh-CN" altLang="en-US" dirty="0" smtClean="0"/>
              <a:t>任务，则表示只有负责数据处理的任务发生了故障</a:t>
            </a:r>
            <a:endParaRPr lang="en-US" altLang="zh-CN" dirty="0" smtClean="0"/>
          </a:p>
          <a:p>
            <a:pPr lvl="1"/>
            <a:r>
              <a:rPr lang="zh-CN" altLang="en-US" dirty="0" smtClean="0"/>
              <a:t>可以利用</a:t>
            </a:r>
            <a:r>
              <a:rPr lang="en-US" altLang="zh-CN" dirty="0" smtClean="0"/>
              <a:t>RDD Lineage</a:t>
            </a:r>
            <a:r>
              <a:rPr lang="zh-CN" altLang="en-US" dirty="0" smtClean="0"/>
              <a:t>机制进行容错</a:t>
            </a:r>
            <a:endParaRPr lang="en-US" altLang="zh-CN" dirty="0" smtClean="0"/>
          </a:p>
        </p:txBody>
      </p:sp>
    </p:spTree>
    <p:extLst>
      <p:ext uri="{BB962C8B-B14F-4D97-AF65-F5344CB8AC3E}">
        <p14:creationId xmlns:p14="http://schemas.microsoft.com/office/powerpoint/2010/main" val="19466030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smtClean="0"/>
              <a:t>基于日志的容错</a:t>
            </a:r>
            <a:endParaRPr lang="en-US" altLang="zh-CN" dirty="0"/>
          </a:p>
        </p:txBody>
      </p:sp>
      <p:sp>
        <p:nvSpPr>
          <p:cNvPr id="3" name="内容占位符 2"/>
          <p:cNvSpPr>
            <a:spLocks noGrp="1"/>
          </p:cNvSpPr>
          <p:nvPr>
            <p:ph idx="1"/>
          </p:nvPr>
        </p:nvSpPr>
        <p:spPr/>
        <p:txBody>
          <a:bodyPr/>
          <a:lstStyle/>
          <a:p>
            <a:r>
              <a:rPr lang="zh-CN" altLang="en-US" dirty="0" smtClean="0"/>
              <a:t>如果含有</a:t>
            </a:r>
            <a:r>
              <a:rPr lang="en-US" altLang="zh-CN" dirty="0" smtClean="0"/>
              <a:t>Receiver</a:t>
            </a:r>
            <a:r>
              <a:rPr lang="zh-CN" altLang="en-US" dirty="0" smtClean="0"/>
              <a:t>的执行器发生故障，则表示接收到的输入数据已丢失</a:t>
            </a:r>
            <a:endParaRPr lang="en-US" altLang="zh-CN" dirty="0" smtClean="0"/>
          </a:p>
          <a:p>
            <a:pPr lvl="1"/>
            <a:r>
              <a:rPr lang="zh-CN" altLang="en-US" dirty="0" smtClean="0"/>
              <a:t>对从外部数据源直接获取的数据，</a:t>
            </a:r>
            <a:r>
              <a:rPr lang="en-US" altLang="zh-CN" dirty="0" smtClean="0"/>
              <a:t>Spark Streaming</a:t>
            </a:r>
            <a:r>
              <a:rPr lang="zh-CN" altLang="en-US" dirty="0" smtClean="0"/>
              <a:t>将其备份在两个工作节点中。如果执行器发生故障，则从备份节点重新获取数据</a:t>
            </a:r>
            <a:endParaRPr lang="en-US" altLang="zh-CN" dirty="0" smtClean="0"/>
          </a:p>
          <a:p>
            <a:pPr lvl="1"/>
            <a:r>
              <a:rPr lang="zh-CN" altLang="en-US" dirty="0" smtClean="0"/>
              <a:t>对从外部存储系统周期地获取的数据，如果执行器发生故障，则直接从外部存储系统重新获取数据</a:t>
            </a:r>
            <a:endParaRPr lang="en-US" altLang="zh-CN" dirty="0" smtClean="0"/>
          </a:p>
          <a:p>
            <a:pPr lvl="1"/>
            <a:endParaRPr lang="en-US" altLang="zh-CN" dirty="0"/>
          </a:p>
          <a:p>
            <a:pPr lvl="1"/>
            <a:r>
              <a:rPr lang="en-US" altLang="zh-CN" dirty="0" smtClean="0"/>
              <a:t>Spark Streaming</a:t>
            </a:r>
            <a:r>
              <a:rPr lang="zh-CN" altLang="en-US" dirty="0" smtClean="0"/>
              <a:t>的</a:t>
            </a:r>
            <a:r>
              <a:rPr lang="en-US" altLang="zh-CN" dirty="0" smtClean="0"/>
              <a:t>Receiver</a:t>
            </a:r>
            <a:r>
              <a:rPr lang="zh-CN" altLang="en-US" dirty="0" smtClean="0"/>
              <a:t>需使用日志记录已经获取的数据</a:t>
            </a:r>
            <a:endParaRPr lang="en-US" altLang="zh-CN" dirty="0" smtClean="0"/>
          </a:p>
          <a:p>
            <a:pPr lvl="2"/>
            <a:r>
              <a:rPr lang="zh-CN" altLang="en-US" dirty="0" smtClean="0"/>
              <a:t>当执行器发生故障重启时，可以根据日志来确定需要重新读取哪些数据</a:t>
            </a:r>
            <a:endParaRPr lang="en-US" altLang="zh-CN" dirty="0" smtClean="0"/>
          </a:p>
        </p:txBody>
      </p:sp>
    </p:spTree>
    <p:extLst>
      <p:ext uri="{BB962C8B-B14F-4D97-AF65-F5344CB8AC3E}">
        <p14:creationId xmlns:p14="http://schemas.microsoft.com/office/powerpoint/2010/main" val="4347750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基于检查点的容错</a:t>
            </a:r>
            <a:endParaRPr lang="zh-CN" altLang="en-US" dirty="0"/>
          </a:p>
        </p:txBody>
      </p:sp>
      <p:sp>
        <p:nvSpPr>
          <p:cNvPr id="3" name="内容占位符 2"/>
          <p:cNvSpPr>
            <a:spLocks noGrp="1"/>
          </p:cNvSpPr>
          <p:nvPr>
            <p:ph idx="1"/>
          </p:nvPr>
        </p:nvSpPr>
        <p:spPr/>
        <p:txBody>
          <a:bodyPr/>
          <a:lstStyle/>
          <a:p>
            <a:r>
              <a:rPr lang="en-US" altLang="zh-CN" dirty="0" smtClean="0"/>
              <a:t>Spark Streaming</a:t>
            </a:r>
            <a:r>
              <a:rPr lang="zh-CN" altLang="en-US" dirty="0" smtClean="0"/>
              <a:t>的检查点包括：</a:t>
            </a:r>
            <a:endParaRPr lang="en-US" altLang="zh-CN" dirty="0" smtClean="0"/>
          </a:p>
          <a:p>
            <a:pPr lvl="1"/>
            <a:r>
              <a:rPr lang="zh-CN" altLang="en-US" dirty="0" smtClean="0"/>
              <a:t>数据检查点</a:t>
            </a:r>
            <a:endParaRPr lang="en-US" altLang="zh-CN" dirty="0" smtClean="0"/>
          </a:p>
          <a:p>
            <a:pPr lvl="2"/>
            <a:r>
              <a:rPr lang="zh-CN" altLang="en-US" dirty="0" smtClean="0"/>
              <a:t>旨在加快执行器发生故障后的恢复过程</a:t>
            </a:r>
            <a:endParaRPr lang="en-US" altLang="zh-CN" dirty="0" smtClean="0"/>
          </a:p>
          <a:p>
            <a:pPr lvl="1"/>
            <a:r>
              <a:rPr lang="zh-CN" altLang="en-US" dirty="0" smtClean="0"/>
              <a:t>元数据检查点</a:t>
            </a:r>
            <a:endParaRPr lang="en-US" altLang="zh-CN" dirty="0" smtClean="0"/>
          </a:p>
          <a:p>
            <a:pPr lvl="2"/>
            <a:r>
              <a:rPr lang="zh-CN" altLang="en-US" dirty="0" smtClean="0"/>
              <a:t>旨在保证驱动器能够从故障中恢复到正常状态</a:t>
            </a:r>
            <a:endParaRPr lang="en-US" altLang="zh-CN" dirty="0" smtClean="0"/>
          </a:p>
          <a:p>
            <a:pPr lvl="2"/>
            <a:r>
              <a:rPr lang="zh-CN" altLang="en-US" dirty="0" smtClean="0"/>
              <a:t>元数据检查点的内容包括：</a:t>
            </a:r>
            <a:endParaRPr lang="en-US" altLang="zh-CN" dirty="0" smtClean="0"/>
          </a:p>
          <a:p>
            <a:pPr lvl="3"/>
            <a:r>
              <a:rPr lang="zh-CN" altLang="en-US" dirty="0" smtClean="0">
                <a:solidFill>
                  <a:srgbClr val="FF0000"/>
                </a:solidFill>
              </a:rPr>
              <a:t>配置信息</a:t>
            </a:r>
            <a:r>
              <a:rPr lang="zh-CN" altLang="en-US" dirty="0" smtClean="0"/>
              <a:t>：创建</a:t>
            </a:r>
            <a:r>
              <a:rPr lang="en-US" altLang="zh-CN" dirty="0"/>
              <a:t>Spark </a:t>
            </a:r>
            <a:r>
              <a:rPr lang="en-US" altLang="zh-CN" dirty="0" smtClean="0"/>
              <a:t>Streaming</a:t>
            </a:r>
            <a:r>
              <a:rPr lang="zh-CN" altLang="en-US" dirty="0" smtClean="0"/>
              <a:t>应用程序的配置信息</a:t>
            </a:r>
            <a:endParaRPr lang="en-US" altLang="zh-CN" dirty="0" smtClean="0"/>
          </a:p>
          <a:p>
            <a:pPr lvl="3"/>
            <a:r>
              <a:rPr lang="en-US" altLang="zh-CN" dirty="0" err="1" smtClean="0">
                <a:solidFill>
                  <a:srgbClr val="FF0000"/>
                </a:solidFill>
              </a:rPr>
              <a:t>DStream</a:t>
            </a:r>
            <a:r>
              <a:rPr lang="zh-CN" altLang="en-US" dirty="0" smtClean="0">
                <a:solidFill>
                  <a:srgbClr val="FF0000"/>
                </a:solidFill>
              </a:rPr>
              <a:t>的操作信息</a:t>
            </a:r>
            <a:r>
              <a:rPr lang="zh-CN" altLang="en-US" dirty="0" smtClean="0"/>
              <a:t>：定义应用程序计算逻辑的</a:t>
            </a:r>
            <a:r>
              <a:rPr lang="en-US" altLang="zh-CN" dirty="0" err="1" smtClean="0"/>
              <a:t>DStream</a:t>
            </a:r>
            <a:r>
              <a:rPr lang="zh-CN" altLang="en-US" dirty="0" smtClean="0"/>
              <a:t>操作的信息</a:t>
            </a:r>
            <a:endParaRPr lang="en-US" altLang="zh-CN" dirty="0" smtClean="0"/>
          </a:p>
          <a:p>
            <a:pPr lvl="3"/>
            <a:r>
              <a:rPr lang="zh-CN" altLang="en-US" dirty="0" smtClean="0">
                <a:solidFill>
                  <a:srgbClr val="FF0000"/>
                </a:solidFill>
              </a:rPr>
              <a:t>未处理的批次数据的信息</a:t>
            </a:r>
            <a:r>
              <a:rPr lang="zh-CN" altLang="en-US" dirty="0" smtClean="0"/>
              <a:t>：正在排队尚未处理的批次数据的信息</a:t>
            </a:r>
            <a:endParaRPr lang="zh-CN" altLang="en-US" dirty="0"/>
          </a:p>
        </p:txBody>
      </p:sp>
    </p:spTree>
    <p:extLst>
      <p:ext uri="{BB962C8B-B14F-4D97-AF65-F5344CB8AC3E}">
        <p14:creationId xmlns:p14="http://schemas.microsoft.com/office/powerpoint/2010/main" val="29334497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端到端的容错语义</a:t>
            </a:r>
          </a:p>
        </p:txBody>
      </p:sp>
      <p:sp>
        <p:nvSpPr>
          <p:cNvPr id="3" name="内容占位符 2"/>
          <p:cNvSpPr>
            <a:spLocks noGrp="1"/>
          </p:cNvSpPr>
          <p:nvPr>
            <p:ph idx="1"/>
          </p:nvPr>
        </p:nvSpPr>
        <p:spPr/>
        <p:txBody>
          <a:bodyPr/>
          <a:lstStyle/>
          <a:p>
            <a:r>
              <a:rPr lang="en-US" altLang="zh-CN" dirty="0" smtClean="0"/>
              <a:t>Spark Streaming</a:t>
            </a:r>
            <a:r>
              <a:rPr lang="zh-CN" altLang="en-US" dirty="0" smtClean="0"/>
              <a:t>的容错机制能够保证</a:t>
            </a:r>
            <a:r>
              <a:rPr lang="en-US" altLang="zh-CN" dirty="0" smtClean="0"/>
              <a:t>“</a:t>
            </a:r>
            <a:r>
              <a:rPr lang="en-US" altLang="zh-CN" dirty="0">
                <a:solidFill>
                  <a:srgbClr val="FF0000"/>
                </a:solidFill>
              </a:rPr>
              <a:t>exactly once</a:t>
            </a:r>
            <a:r>
              <a:rPr lang="en-US" altLang="zh-CN" dirty="0" smtClean="0"/>
              <a:t>” </a:t>
            </a:r>
            <a:r>
              <a:rPr lang="zh-CN" altLang="en-US" dirty="0" smtClean="0"/>
              <a:t>的容错语义</a:t>
            </a:r>
            <a:endParaRPr lang="en-US" altLang="zh-CN" dirty="0" smtClean="0"/>
          </a:p>
          <a:p>
            <a:pPr lvl="1"/>
            <a:r>
              <a:rPr lang="zh-CN" altLang="en-US" dirty="0" smtClean="0"/>
              <a:t>仅针对流计算系统引擎本身而言的</a:t>
            </a:r>
            <a:endParaRPr lang="en-US" altLang="zh-CN" dirty="0" smtClean="0"/>
          </a:p>
          <a:p>
            <a:pPr lvl="1"/>
            <a:r>
              <a:rPr lang="zh-CN" altLang="en-US" dirty="0" smtClean="0"/>
              <a:t>一个完整的流计算处理流程不仅涉及流计算系统本身，还涉及提供数据源和接收处理结果的系统，即端到端的过程</a:t>
            </a:r>
            <a:endParaRPr lang="en-US" altLang="zh-CN" dirty="0" smtClean="0"/>
          </a:p>
          <a:p>
            <a:pPr lvl="2"/>
            <a:r>
              <a:rPr lang="zh-CN" altLang="en-US" dirty="0" smtClean="0"/>
              <a:t>假设提供数据源的系统无法支持数据的重放，或接收处理结果系统并不支持对已有数据的撤销或修改，那么端到端的容错也无法保证</a:t>
            </a:r>
            <a:r>
              <a:rPr lang="en-US" altLang="zh-CN" dirty="0" smtClean="0"/>
              <a:t>“exactly once”</a:t>
            </a:r>
            <a:endParaRPr lang="zh-CN" altLang="en-US" dirty="0"/>
          </a:p>
        </p:txBody>
      </p:sp>
    </p:spTree>
    <p:extLst>
      <p:ext uri="{BB962C8B-B14F-4D97-AF65-F5344CB8AC3E}">
        <p14:creationId xmlns:p14="http://schemas.microsoft.com/office/powerpoint/2010/main" val="8087165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smtClean="0"/>
              <a:t>Structured </a:t>
            </a:r>
            <a:r>
              <a:rPr lang="en-US" altLang="zh-CN" dirty="0"/>
              <a:t>Streaming</a:t>
            </a:r>
            <a:endParaRPr lang="zh-CN" altLang="en-US" dirty="0"/>
          </a:p>
        </p:txBody>
      </p:sp>
      <p:sp>
        <p:nvSpPr>
          <p:cNvPr id="3" name="内容占位符 2"/>
          <p:cNvSpPr>
            <a:spLocks noGrp="1"/>
          </p:cNvSpPr>
          <p:nvPr>
            <p:ph idx="1"/>
          </p:nvPr>
        </p:nvSpPr>
        <p:spPr/>
        <p:txBody>
          <a:bodyPr/>
          <a:lstStyle/>
          <a:p>
            <a:r>
              <a:rPr lang="en-US" altLang="zh-CN" dirty="0" smtClean="0"/>
              <a:t>Spark </a:t>
            </a:r>
            <a:r>
              <a:rPr lang="en-US" altLang="zh-CN" dirty="0"/>
              <a:t>Structured </a:t>
            </a:r>
            <a:r>
              <a:rPr lang="en-US" altLang="zh-CN" dirty="0" smtClean="0"/>
              <a:t>Streaming</a:t>
            </a:r>
            <a:r>
              <a:rPr lang="zh-CN" altLang="en-US" dirty="0" smtClean="0"/>
              <a:t>是全新的流处理引擎</a:t>
            </a:r>
            <a:endParaRPr lang="en-US" altLang="zh-CN" dirty="0" smtClean="0"/>
          </a:p>
          <a:p>
            <a:pPr lvl="1"/>
            <a:r>
              <a:rPr lang="zh-CN" altLang="en-US" dirty="0" smtClean="0"/>
              <a:t>是基于</a:t>
            </a:r>
            <a:r>
              <a:rPr lang="en-US" altLang="zh-CN" dirty="0" smtClean="0"/>
              <a:t>Spark SQL</a:t>
            </a:r>
            <a:r>
              <a:rPr lang="zh-CN" altLang="en-US" dirty="0" smtClean="0"/>
              <a:t>引擎扩展的流处理引擎</a:t>
            </a:r>
            <a:endParaRPr lang="en-US" altLang="zh-CN" dirty="0" smtClean="0"/>
          </a:p>
          <a:p>
            <a:pPr lvl="1"/>
            <a:r>
              <a:rPr lang="zh-CN" altLang="en-US" dirty="0" smtClean="0"/>
              <a:t>致力于实现</a:t>
            </a:r>
            <a:r>
              <a:rPr lang="en-US" altLang="zh-CN" dirty="0" smtClean="0"/>
              <a:t>“</a:t>
            </a:r>
            <a:r>
              <a:rPr lang="zh-CN" altLang="en-US" dirty="0" smtClean="0"/>
              <a:t>批流一体化</a:t>
            </a:r>
            <a:r>
              <a:rPr lang="en-US" altLang="zh-CN" dirty="0" smtClean="0"/>
              <a:t>”</a:t>
            </a:r>
          </a:p>
          <a:p>
            <a:pPr lvl="1"/>
            <a:r>
              <a:rPr lang="zh-CN" altLang="en-US" dirty="0" smtClean="0"/>
              <a:t>用户编写流处理程序的首选</a:t>
            </a:r>
            <a:endParaRPr lang="zh-CN" altLang="en-US" dirty="0"/>
          </a:p>
        </p:txBody>
      </p:sp>
    </p:spTree>
    <p:extLst>
      <p:ext uri="{BB962C8B-B14F-4D97-AF65-F5344CB8AC3E}">
        <p14:creationId xmlns:p14="http://schemas.microsoft.com/office/powerpoint/2010/main" val="10650783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smtClean="0"/>
              <a:t>Structured </a:t>
            </a:r>
            <a:r>
              <a:rPr lang="en-US" altLang="zh-CN" dirty="0"/>
              <a:t>Streaming</a:t>
            </a:r>
            <a:endParaRPr lang="zh-CN" altLang="en-US" dirty="0"/>
          </a:p>
        </p:txBody>
      </p:sp>
      <p:sp>
        <p:nvSpPr>
          <p:cNvPr id="3" name="内容占位符 2"/>
          <p:cNvSpPr>
            <a:spLocks noGrp="1"/>
          </p:cNvSpPr>
          <p:nvPr>
            <p:ph idx="1"/>
          </p:nvPr>
        </p:nvSpPr>
        <p:spPr/>
        <p:txBody>
          <a:bodyPr/>
          <a:lstStyle/>
          <a:p>
            <a:r>
              <a:rPr lang="en-US" altLang="zh-CN" dirty="0" smtClean="0"/>
              <a:t>Structured Streaming</a:t>
            </a:r>
            <a:r>
              <a:rPr lang="zh-CN" altLang="en-US" dirty="0" smtClean="0"/>
              <a:t>的特点</a:t>
            </a:r>
            <a:endParaRPr lang="en-US" altLang="zh-CN" dirty="0" smtClean="0"/>
          </a:p>
          <a:p>
            <a:pPr lvl="1"/>
            <a:r>
              <a:rPr lang="zh-CN" altLang="en-US" dirty="0" smtClean="0"/>
              <a:t>模型简洁</a:t>
            </a:r>
            <a:endParaRPr lang="en-US" altLang="zh-CN" dirty="0" smtClean="0"/>
          </a:p>
          <a:p>
            <a:pPr lvl="2"/>
            <a:r>
              <a:rPr lang="zh-CN" altLang="en-US" dirty="0" smtClean="0"/>
              <a:t>将不断流入的数据抽象为一张</a:t>
            </a:r>
            <a:r>
              <a:rPr lang="en-US" altLang="zh-CN" dirty="0" smtClean="0"/>
              <a:t>“</a:t>
            </a:r>
            <a:r>
              <a:rPr lang="zh-CN" altLang="en-US" dirty="0" smtClean="0"/>
              <a:t>无界表</a:t>
            </a:r>
            <a:r>
              <a:rPr lang="en-US" altLang="zh-CN" dirty="0" smtClean="0"/>
              <a:t>”</a:t>
            </a:r>
          </a:p>
          <a:p>
            <a:pPr lvl="1"/>
            <a:r>
              <a:rPr lang="zh-CN" altLang="en-US" dirty="0" smtClean="0"/>
              <a:t>具有一致的</a:t>
            </a:r>
            <a:r>
              <a:rPr lang="en-US" altLang="zh-CN" dirty="0" smtClean="0"/>
              <a:t>API</a:t>
            </a:r>
            <a:endParaRPr lang="en-US" altLang="zh-CN" dirty="0"/>
          </a:p>
          <a:p>
            <a:pPr lvl="2"/>
            <a:r>
              <a:rPr lang="en-US" altLang="zh-CN" dirty="0"/>
              <a:t>Structured </a:t>
            </a:r>
            <a:r>
              <a:rPr lang="en-US" altLang="zh-CN" dirty="0" smtClean="0"/>
              <a:t>Streaming</a:t>
            </a:r>
            <a:r>
              <a:rPr lang="zh-CN" altLang="en-US" dirty="0" smtClean="0"/>
              <a:t>的</a:t>
            </a:r>
            <a:r>
              <a:rPr lang="en-US" altLang="zh-CN" dirty="0" smtClean="0"/>
              <a:t>SQL</a:t>
            </a:r>
            <a:r>
              <a:rPr lang="zh-CN" altLang="en-US" dirty="0" smtClean="0"/>
              <a:t>操作和</a:t>
            </a:r>
            <a:r>
              <a:rPr lang="en-US" altLang="zh-CN" dirty="0" smtClean="0"/>
              <a:t>Spark SQL</a:t>
            </a:r>
            <a:r>
              <a:rPr lang="zh-CN" altLang="en-US" dirty="0" smtClean="0"/>
              <a:t>共用大部分</a:t>
            </a:r>
            <a:r>
              <a:rPr lang="en-US" altLang="zh-CN" dirty="0" smtClean="0"/>
              <a:t>API</a:t>
            </a:r>
            <a:r>
              <a:rPr lang="zh-CN" altLang="en-US" dirty="0" smtClean="0"/>
              <a:t>，因此使用</a:t>
            </a:r>
            <a:r>
              <a:rPr lang="en-US" altLang="zh-CN" dirty="0" smtClean="0"/>
              <a:t>Spark SQL</a:t>
            </a:r>
            <a:r>
              <a:rPr lang="zh-CN" altLang="en-US" dirty="0" smtClean="0"/>
              <a:t>的进行离线计算的任务可以很快转移到流式计算上</a:t>
            </a:r>
            <a:endParaRPr lang="en-US" altLang="zh-CN" dirty="0" smtClean="0"/>
          </a:p>
          <a:p>
            <a:pPr lvl="1"/>
            <a:r>
              <a:rPr lang="zh-CN" altLang="en-US" dirty="0" smtClean="0"/>
              <a:t>性能卓越</a:t>
            </a:r>
            <a:endParaRPr lang="en-US" altLang="zh-CN" dirty="0" smtClean="0"/>
          </a:p>
          <a:p>
            <a:pPr lvl="2"/>
            <a:r>
              <a:rPr lang="zh-CN" altLang="en-US" dirty="0" smtClean="0"/>
              <a:t>会直接使用</a:t>
            </a:r>
            <a:r>
              <a:rPr lang="en-US" altLang="zh-CN" dirty="0" smtClean="0"/>
              <a:t>Spark SQL</a:t>
            </a:r>
            <a:r>
              <a:rPr lang="zh-CN" altLang="en-US" dirty="0" smtClean="0"/>
              <a:t>的</a:t>
            </a:r>
            <a:r>
              <a:rPr lang="en-US" altLang="zh-CN" dirty="0" smtClean="0"/>
              <a:t>Catalyst</a:t>
            </a:r>
            <a:r>
              <a:rPr lang="zh-CN" altLang="en-US" dirty="0" smtClean="0"/>
              <a:t>优化器和</a:t>
            </a:r>
            <a:r>
              <a:rPr lang="en-US" altLang="zh-CN" dirty="0" smtClean="0"/>
              <a:t>Tungsten</a:t>
            </a:r>
            <a:r>
              <a:rPr lang="zh-CN" altLang="en-US" dirty="0" smtClean="0"/>
              <a:t>，数据处理性能十分出色</a:t>
            </a:r>
            <a:endParaRPr lang="en-US" altLang="zh-CN" dirty="0" smtClean="0"/>
          </a:p>
          <a:p>
            <a:pPr lvl="1"/>
            <a:r>
              <a:rPr lang="zh-CN" altLang="en-US" dirty="0" smtClean="0"/>
              <a:t>支持多种语言</a:t>
            </a:r>
            <a:endParaRPr lang="en-US" altLang="zh-CN" dirty="0" smtClean="0"/>
          </a:p>
          <a:p>
            <a:pPr lvl="2"/>
            <a:r>
              <a:rPr lang="zh-CN" altLang="en-US" dirty="0" smtClean="0"/>
              <a:t>支持</a:t>
            </a:r>
            <a:r>
              <a:rPr lang="en-US" altLang="zh-CN" dirty="0" smtClean="0"/>
              <a:t>Scala</a:t>
            </a:r>
            <a:r>
              <a:rPr lang="zh-CN" altLang="en-US" dirty="0" smtClean="0"/>
              <a:t>、</a:t>
            </a:r>
            <a:r>
              <a:rPr lang="en-US" altLang="zh-CN" dirty="0" smtClean="0"/>
              <a:t>Java</a:t>
            </a:r>
            <a:r>
              <a:rPr lang="zh-CN" altLang="en-US" dirty="0" smtClean="0"/>
              <a:t>、</a:t>
            </a:r>
            <a:r>
              <a:rPr lang="en-US" altLang="zh-CN" dirty="0" smtClean="0"/>
              <a:t>Python</a:t>
            </a:r>
            <a:r>
              <a:rPr lang="zh-CN" altLang="en-US" dirty="0" smtClean="0"/>
              <a:t>和</a:t>
            </a:r>
            <a:r>
              <a:rPr lang="en-US" altLang="zh-CN" dirty="0" smtClean="0"/>
              <a:t>R</a:t>
            </a:r>
            <a:r>
              <a:rPr lang="zh-CN" altLang="en-US" dirty="0" smtClean="0"/>
              <a:t>语言</a:t>
            </a:r>
            <a:endParaRPr lang="en-US" altLang="zh-CN" dirty="0" smtClean="0"/>
          </a:p>
        </p:txBody>
      </p:sp>
    </p:spTree>
    <p:extLst>
      <p:ext uri="{BB962C8B-B14F-4D97-AF65-F5344CB8AC3E}">
        <p14:creationId xmlns:p14="http://schemas.microsoft.com/office/powerpoint/2010/main" val="38959947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smtClean="0"/>
              <a:t>Structured </a:t>
            </a:r>
            <a:r>
              <a:rPr lang="en-US" altLang="zh-CN" dirty="0"/>
              <a:t>Streaming</a:t>
            </a:r>
            <a:endParaRPr lang="zh-CN" altLang="en-US" dirty="0"/>
          </a:p>
        </p:txBody>
      </p:sp>
      <p:sp>
        <p:nvSpPr>
          <p:cNvPr id="3" name="内容占位符 2"/>
          <p:cNvSpPr>
            <a:spLocks noGrp="1"/>
          </p:cNvSpPr>
          <p:nvPr>
            <p:ph idx="1"/>
          </p:nvPr>
        </p:nvSpPr>
        <p:spPr/>
        <p:txBody>
          <a:bodyPr/>
          <a:lstStyle/>
          <a:p>
            <a:r>
              <a:rPr lang="zh-CN" altLang="en-US" dirty="0" smtClean="0"/>
              <a:t>数据模型</a:t>
            </a:r>
            <a:endParaRPr lang="en-US" altLang="zh-CN" dirty="0" smtClean="0"/>
          </a:p>
          <a:p>
            <a:pPr lvl="1"/>
            <a:r>
              <a:rPr lang="zh-CN" altLang="en-US" dirty="0" smtClean="0"/>
              <a:t>将持续不断的数据流看作一张不断追加行的无界表，这样流计算被抽象为基于增量数据表的</a:t>
            </a:r>
            <a:r>
              <a:rPr lang="en-US" altLang="zh-CN" dirty="0" smtClean="0"/>
              <a:t>SQL</a:t>
            </a:r>
            <a:r>
              <a:rPr lang="zh-CN" altLang="en-US" dirty="0" smtClean="0"/>
              <a:t>操作</a:t>
            </a:r>
            <a:endParaRPr lang="en-US" altLang="zh-CN" dirty="0" smtClean="0"/>
          </a:p>
          <a:p>
            <a:pPr lvl="2"/>
            <a:r>
              <a:rPr lang="en-US" altLang="zh-CN" dirty="0" smtClean="0"/>
              <a:t>Structured Streaming</a:t>
            </a:r>
            <a:r>
              <a:rPr lang="zh-CN" altLang="en-US" dirty="0" smtClean="0"/>
              <a:t>在有增量数据时将增量数据收集起来并组成微批数据，然后在微批数据上执行用户定义的</a:t>
            </a:r>
            <a:r>
              <a:rPr lang="en-US" altLang="zh-CN" dirty="0" smtClean="0"/>
              <a:t>SQL</a:t>
            </a:r>
            <a:r>
              <a:rPr lang="zh-CN" altLang="en-US" dirty="0" smtClean="0"/>
              <a:t>操作以完成流计算</a:t>
            </a:r>
            <a:endParaRPr lang="en-US" altLang="zh-CN" dirty="0" smtClean="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3387111"/>
            <a:ext cx="6368331" cy="3426439"/>
          </a:xfrm>
          <a:prstGeom prst="rect">
            <a:avLst/>
          </a:prstGeom>
        </p:spPr>
      </p:pic>
    </p:spTree>
    <p:extLst>
      <p:ext uri="{BB962C8B-B14F-4D97-AF65-F5344CB8AC3E}">
        <p14:creationId xmlns:p14="http://schemas.microsoft.com/office/powerpoint/2010/main" val="27135743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smtClean="0"/>
              <a:t>Structured </a:t>
            </a:r>
            <a:r>
              <a:rPr lang="en-US" altLang="zh-CN" dirty="0"/>
              <a:t>Streaming</a:t>
            </a:r>
            <a:endParaRPr lang="zh-CN" altLang="en-US" dirty="0"/>
          </a:p>
        </p:txBody>
      </p:sp>
      <p:sp>
        <p:nvSpPr>
          <p:cNvPr id="3" name="内容占位符 2"/>
          <p:cNvSpPr>
            <a:spLocks noGrp="1"/>
          </p:cNvSpPr>
          <p:nvPr>
            <p:ph idx="1"/>
          </p:nvPr>
        </p:nvSpPr>
        <p:spPr/>
        <p:txBody>
          <a:bodyPr/>
          <a:lstStyle/>
          <a:p>
            <a:r>
              <a:rPr lang="zh-CN" altLang="en-US" dirty="0" smtClean="0"/>
              <a:t>数据模型</a:t>
            </a:r>
            <a:endParaRPr lang="en-US" altLang="zh-CN" dirty="0" smtClean="0"/>
          </a:p>
          <a:p>
            <a:pPr lvl="1"/>
            <a:r>
              <a:rPr lang="en-US" altLang="zh-CN" dirty="0"/>
              <a:t>Structured </a:t>
            </a:r>
            <a:r>
              <a:rPr lang="en-US" altLang="zh-CN" dirty="0" smtClean="0"/>
              <a:t>Streaming</a:t>
            </a:r>
            <a:r>
              <a:rPr lang="zh-CN" altLang="en-US" dirty="0" smtClean="0"/>
              <a:t>会产生一张结果表</a:t>
            </a:r>
            <a:endParaRPr lang="en-US" altLang="zh-CN" dirty="0" smtClean="0"/>
          </a:p>
          <a:p>
            <a:pPr lvl="1"/>
            <a:r>
              <a:rPr lang="zh-CN" altLang="en-US" dirty="0" smtClean="0"/>
              <a:t>查询输出结果有</a:t>
            </a:r>
            <a:r>
              <a:rPr lang="en-US" altLang="zh-CN" dirty="0" smtClean="0"/>
              <a:t>3</a:t>
            </a:r>
            <a:r>
              <a:rPr lang="zh-CN" altLang="en-US" dirty="0" smtClean="0"/>
              <a:t>种不同模式</a:t>
            </a:r>
            <a:endParaRPr lang="en-US" altLang="zh-CN" dirty="0" smtClean="0"/>
          </a:p>
          <a:p>
            <a:pPr lvl="2"/>
            <a:r>
              <a:rPr lang="zh-CN" altLang="en-US" dirty="0" smtClean="0"/>
              <a:t>完全模式</a:t>
            </a:r>
            <a:endParaRPr lang="en-US" altLang="zh-CN" dirty="0" smtClean="0"/>
          </a:p>
          <a:p>
            <a:pPr lvl="2"/>
            <a:r>
              <a:rPr lang="zh-CN" altLang="en-US" dirty="0" smtClean="0"/>
              <a:t>追加模式</a:t>
            </a:r>
            <a:endParaRPr lang="en-US" altLang="zh-CN" dirty="0" smtClean="0"/>
          </a:p>
          <a:p>
            <a:pPr lvl="2"/>
            <a:r>
              <a:rPr lang="zh-CN" altLang="en-US" dirty="0" smtClean="0"/>
              <a:t>更新模式</a:t>
            </a:r>
            <a:r>
              <a:rPr lang="en-US" altLang="zh-CN" dirty="0" smtClean="0"/>
              <a:t>	</a:t>
            </a:r>
          </a:p>
          <a:p>
            <a:pPr lvl="1"/>
            <a:endParaRPr lang="en-US" altLang="zh-CN" dirty="0" smtClean="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3768" y="2420888"/>
            <a:ext cx="6839744" cy="4233305"/>
          </a:xfrm>
          <a:prstGeom prst="rect">
            <a:avLst/>
          </a:prstGeom>
        </p:spPr>
      </p:pic>
    </p:spTree>
    <p:extLst>
      <p:ext uri="{BB962C8B-B14F-4D97-AF65-F5344CB8AC3E}">
        <p14:creationId xmlns:p14="http://schemas.microsoft.com/office/powerpoint/2010/main" val="9474302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smtClean="0"/>
              <a:t>Structured </a:t>
            </a:r>
            <a:r>
              <a:rPr lang="en-US" altLang="zh-CN" dirty="0"/>
              <a:t>Streaming</a:t>
            </a:r>
            <a:endParaRPr lang="zh-CN" altLang="en-US" dirty="0"/>
          </a:p>
        </p:txBody>
      </p:sp>
      <p:sp>
        <p:nvSpPr>
          <p:cNvPr id="3" name="内容占位符 2"/>
          <p:cNvSpPr>
            <a:spLocks noGrp="1"/>
          </p:cNvSpPr>
          <p:nvPr>
            <p:ph idx="1"/>
          </p:nvPr>
        </p:nvSpPr>
        <p:spPr/>
        <p:txBody>
          <a:bodyPr/>
          <a:lstStyle/>
          <a:p>
            <a:r>
              <a:rPr lang="zh-CN" altLang="en-US" dirty="0" smtClean="0"/>
              <a:t>基本操作</a:t>
            </a:r>
            <a:endParaRPr lang="en-US" altLang="zh-CN" dirty="0" smtClean="0"/>
          </a:p>
          <a:p>
            <a:pPr lvl="1"/>
            <a:r>
              <a:rPr lang="zh-CN" altLang="en-US" dirty="0" smtClean="0"/>
              <a:t>可以对</a:t>
            </a:r>
            <a:r>
              <a:rPr lang="en-US" altLang="zh-CN" dirty="0"/>
              <a:t>Structured </a:t>
            </a:r>
            <a:r>
              <a:rPr lang="en-US" altLang="zh-CN" dirty="0" smtClean="0"/>
              <a:t>Streaming</a:t>
            </a:r>
            <a:r>
              <a:rPr lang="zh-CN" altLang="en-US" dirty="0" smtClean="0"/>
              <a:t>执行各种基本操作</a:t>
            </a:r>
            <a:endParaRPr lang="en-US" altLang="zh-CN" dirty="0" smtClean="0"/>
          </a:p>
          <a:p>
            <a:pPr lvl="2"/>
            <a:r>
              <a:rPr lang="en-US" altLang="zh-CN" dirty="0" smtClean="0"/>
              <a:t>SQL</a:t>
            </a:r>
            <a:r>
              <a:rPr lang="zh-CN" altLang="en-US" dirty="0" smtClean="0"/>
              <a:t>操作（如</a:t>
            </a:r>
            <a:r>
              <a:rPr lang="en-US" altLang="zh-CN" dirty="0" smtClean="0"/>
              <a:t>select</a:t>
            </a:r>
            <a:r>
              <a:rPr lang="zh-CN" altLang="en-US" dirty="0" smtClean="0"/>
              <a:t>、</a:t>
            </a:r>
            <a:r>
              <a:rPr lang="en-US" altLang="zh-CN" dirty="0" smtClean="0"/>
              <a:t>where</a:t>
            </a:r>
            <a:r>
              <a:rPr lang="zh-CN" altLang="en-US" dirty="0" smtClean="0"/>
              <a:t>、</a:t>
            </a:r>
            <a:r>
              <a:rPr lang="en-US" altLang="zh-CN" dirty="0" err="1" smtClean="0"/>
              <a:t>groupBy</a:t>
            </a:r>
            <a:r>
              <a:rPr lang="zh-CN" altLang="en-US" dirty="0" smtClean="0"/>
              <a:t>等）</a:t>
            </a:r>
            <a:endParaRPr lang="en-US" altLang="zh-CN" dirty="0" smtClean="0"/>
          </a:p>
          <a:p>
            <a:pPr lvl="2"/>
            <a:r>
              <a:rPr lang="en-US" altLang="zh-CN" dirty="0" smtClean="0"/>
              <a:t>RDD</a:t>
            </a:r>
            <a:r>
              <a:rPr lang="zh-CN" altLang="en-US" dirty="0" smtClean="0"/>
              <a:t>类操作（如</a:t>
            </a:r>
            <a:r>
              <a:rPr lang="en-US" altLang="zh-CN" dirty="0" smtClean="0"/>
              <a:t>map</a:t>
            </a:r>
            <a:r>
              <a:rPr lang="zh-CN" altLang="en-US" dirty="0" smtClean="0"/>
              <a:t>、</a:t>
            </a:r>
            <a:r>
              <a:rPr lang="en-US" altLang="zh-CN" dirty="0" smtClean="0"/>
              <a:t>filter</a:t>
            </a:r>
            <a:r>
              <a:rPr lang="zh-CN" altLang="en-US" dirty="0" smtClean="0"/>
              <a:t>、</a:t>
            </a:r>
            <a:r>
              <a:rPr lang="en-US" altLang="zh-CN" dirty="0" err="1" smtClean="0"/>
              <a:t>flatMap</a:t>
            </a:r>
            <a:r>
              <a:rPr lang="zh-CN" altLang="en-US" dirty="0" smtClean="0"/>
              <a:t>等）</a:t>
            </a:r>
            <a:endParaRPr lang="en-US" altLang="zh-CN" dirty="0" smtClean="0"/>
          </a:p>
        </p:txBody>
      </p:sp>
    </p:spTree>
    <p:extLst>
      <p:ext uri="{BB962C8B-B14F-4D97-AF65-F5344CB8AC3E}">
        <p14:creationId xmlns:p14="http://schemas.microsoft.com/office/powerpoint/2010/main" val="33977983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en-US" altLang="zh-CN" dirty="0"/>
              <a:t>Structured </a:t>
            </a:r>
            <a:r>
              <a:rPr lang="en-US" altLang="zh-CN" dirty="0" smtClean="0"/>
              <a:t>Streaming</a:t>
            </a:r>
            <a:r>
              <a:rPr lang="zh-CN" altLang="en-US" dirty="0" smtClean="0"/>
              <a:t>程序示例</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1844824"/>
            <a:ext cx="4525360" cy="4861164"/>
          </a:xfrm>
          <a:prstGeom prst="rect">
            <a:avLst/>
          </a:prstGeom>
        </p:spPr>
      </p:pic>
    </p:spTree>
    <p:extLst>
      <p:ext uri="{BB962C8B-B14F-4D97-AF65-F5344CB8AC3E}">
        <p14:creationId xmlns:p14="http://schemas.microsoft.com/office/powerpoint/2010/main" val="26626775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zh-CN" altLang="en-US" dirty="0" smtClean="0"/>
              <a:t>时间概念</a:t>
            </a:r>
            <a:endParaRPr lang="en-US" altLang="zh-CN" dirty="0" smtClean="0"/>
          </a:p>
          <a:p>
            <a:pPr lvl="1"/>
            <a:r>
              <a:rPr lang="zh-CN" altLang="en-US" dirty="0" smtClean="0">
                <a:solidFill>
                  <a:srgbClr val="FF0000"/>
                </a:solidFill>
              </a:rPr>
              <a:t>事件时间</a:t>
            </a:r>
            <a:r>
              <a:rPr lang="en-US" altLang="zh-CN" dirty="0" smtClean="0">
                <a:solidFill>
                  <a:srgbClr val="FF0000"/>
                </a:solidFill>
              </a:rPr>
              <a:t>(event-time)</a:t>
            </a:r>
            <a:r>
              <a:rPr lang="zh-CN" altLang="en-US" dirty="0" smtClean="0"/>
              <a:t>：数据采集的时间</a:t>
            </a:r>
            <a:endParaRPr lang="en-US" altLang="zh-CN" dirty="0" smtClean="0"/>
          </a:p>
          <a:p>
            <a:pPr lvl="2"/>
            <a:r>
              <a:rPr lang="zh-CN" altLang="en-US" dirty="0" smtClean="0"/>
              <a:t>通常是数据中的一列，可以用于聚合计算</a:t>
            </a:r>
            <a:endParaRPr lang="en-US" altLang="zh-CN" dirty="0" smtClean="0"/>
          </a:p>
          <a:p>
            <a:pPr lvl="1"/>
            <a:r>
              <a:rPr lang="zh-CN" altLang="en-US" dirty="0" smtClean="0">
                <a:solidFill>
                  <a:srgbClr val="FF0000"/>
                </a:solidFill>
              </a:rPr>
              <a:t>摄取时间</a:t>
            </a:r>
            <a:r>
              <a:rPr lang="en-US" altLang="zh-CN" dirty="0" smtClean="0">
                <a:solidFill>
                  <a:srgbClr val="FF0000"/>
                </a:solidFill>
              </a:rPr>
              <a:t>(ingestion-time)</a:t>
            </a:r>
            <a:r>
              <a:rPr lang="zh-CN" altLang="en-US" dirty="0" smtClean="0"/>
              <a:t>：数据进入系统的时间</a:t>
            </a:r>
            <a:endParaRPr lang="en-US" altLang="zh-CN" dirty="0" smtClean="0"/>
          </a:p>
          <a:p>
            <a:pPr lvl="1"/>
            <a:r>
              <a:rPr lang="zh-CN" altLang="en-US" dirty="0" smtClean="0">
                <a:solidFill>
                  <a:srgbClr val="FF0000"/>
                </a:solidFill>
              </a:rPr>
              <a:t>计算时间</a:t>
            </a:r>
            <a:r>
              <a:rPr lang="en-US" altLang="zh-CN" dirty="0" smtClean="0">
                <a:solidFill>
                  <a:srgbClr val="FF0000"/>
                </a:solidFill>
              </a:rPr>
              <a:t>(window-processing-time)</a:t>
            </a:r>
            <a:r>
              <a:rPr lang="zh-CN" altLang="en-US" dirty="0" smtClean="0"/>
              <a:t>：数据进入计算节点并开始计算的时间，也就是数据触发窗口计算的时间</a:t>
            </a:r>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99792" y="4086957"/>
            <a:ext cx="4967912" cy="2264933"/>
          </a:xfrm>
          <a:prstGeom prst="rect">
            <a:avLst/>
          </a:prstGeom>
        </p:spPr>
      </p:pic>
    </p:spTree>
    <p:extLst>
      <p:ext uri="{BB962C8B-B14F-4D97-AF65-F5344CB8AC3E}">
        <p14:creationId xmlns:p14="http://schemas.microsoft.com/office/powerpoint/2010/main" val="9309685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zh-CN" altLang="en-US" dirty="0" smtClean="0"/>
              <a:t>时间操作操作</a:t>
            </a:r>
            <a:endParaRPr lang="en-US" altLang="zh-CN" dirty="0"/>
          </a:p>
          <a:p>
            <a:pPr lvl="1"/>
            <a:r>
              <a:rPr lang="en-US" altLang="zh-CN" dirty="0"/>
              <a:t>Structured </a:t>
            </a:r>
            <a:r>
              <a:rPr lang="en-US" altLang="zh-CN" dirty="0" smtClean="0"/>
              <a:t>Streaming</a:t>
            </a:r>
            <a:r>
              <a:rPr lang="zh-CN" altLang="en-US" dirty="0" smtClean="0"/>
              <a:t>提供了基于</a:t>
            </a:r>
            <a:r>
              <a:rPr lang="zh-CN" altLang="en-US" dirty="0" smtClean="0">
                <a:solidFill>
                  <a:srgbClr val="FF0000"/>
                </a:solidFill>
              </a:rPr>
              <a:t>滑动窗口</a:t>
            </a:r>
            <a:r>
              <a:rPr lang="zh-CN" altLang="en-US" dirty="0" smtClean="0"/>
              <a:t>的事件时间聚合操作</a:t>
            </a:r>
            <a:endParaRPr lang="en-US" altLang="zh-CN" dirty="0" smtClean="0"/>
          </a:p>
          <a:p>
            <a:pPr lvl="2"/>
            <a:r>
              <a:rPr lang="zh-CN" altLang="en-US" dirty="0" smtClean="0"/>
              <a:t>过程与分组聚合类似</a:t>
            </a:r>
            <a:endParaRPr lang="en-US" altLang="zh-CN" dirty="0" smtClean="0"/>
          </a:p>
          <a:p>
            <a:pPr lvl="2"/>
            <a:r>
              <a:rPr lang="zh-CN" altLang="en-US" dirty="0" smtClean="0"/>
              <a:t>按照窗口时间对窗口内的数据执行聚合操作</a:t>
            </a:r>
            <a:endParaRPr lang="zh-CN" altLang="en-US" dirty="0"/>
          </a:p>
        </p:txBody>
      </p:sp>
    </p:spTree>
    <p:extLst>
      <p:ext uri="{BB962C8B-B14F-4D97-AF65-F5344CB8AC3E}">
        <p14:creationId xmlns:p14="http://schemas.microsoft.com/office/powerpoint/2010/main" val="42290722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zh-CN" altLang="en-US" dirty="0" smtClean="0"/>
              <a:t>时间窗口操作</a:t>
            </a:r>
            <a:endParaRPr lang="en-US" altLang="zh-CN" dirty="0"/>
          </a:p>
          <a:p>
            <a:pPr lvl="1"/>
            <a:r>
              <a:rPr lang="en-US" altLang="zh-CN" dirty="0"/>
              <a:t>Structured </a:t>
            </a:r>
            <a:r>
              <a:rPr lang="en-US" altLang="zh-CN" dirty="0" smtClean="0"/>
              <a:t>Streaming</a:t>
            </a:r>
            <a:r>
              <a:rPr lang="zh-CN" altLang="en-US" dirty="0" smtClean="0"/>
              <a:t>的</a:t>
            </a:r>
            <a:r>
              <a:rPr lang="zh-CN" altLang="en-US" dirty="0" smtClean="0">
                <a:solidFill>
                  <a:srgbClr val="FF0000"/>
                </a:solidFill>
              </a:rPr>
              <a:t>滑动窗口</a:t>
            </a:r>
            <a:r>
              <a:rPr lang="zh-CN" altLang="en-US" dirty="0" smtClean="0"/>
              <a:t>主要包括</a:t>
            </a:r>
            <a:endParaRPr lang="en-US" altLang="zh-CN" dirty="0" smtClean="0"/>
          </a:p>
          <a:p>
            <a:pPr lvl="2"/>
            <a:r>
              <a:rPr lang="zh-CN" altLang="en-US" dirty="0" smtClean="0"/>
              <a:t>窗口时间：窗口的大小，用于确定数据操作的长度</a:t>
            </a:r>
            <a:endParaRPr lang="en-US" altLang="zh-CN" dirty="0" smtClean="0"/>
          </a:p>
          <a:p>
            <a:pPr lvl="2"/>
            <a:r>
              <a:rPr lang="zh-CN" altLang="en-US" dirty="0" smtClean="0"/>
              <a:t>滑动步长：窗口每次向前移动的时间长度</a:t>
            </a:r>
            <a:endParaRPr lang="en-US" altLang="zh-CN" dirty="0" smtClean="0"/>
          </a:p>
          <a:p>
            <a:pPr lvl="2"/>
            <a:r>
              <a:rPr lang="zh-CN" altLang="en-US" dirty="0" smtClean="0"/>
              <a:t>触发时间：</a:t>
            </a:r>
            <a:r>
              <a:rPr lang="en-US" altLang="zh-CN" dirty="0"/>
              <a:t> Structured </a:t>
            </a:r>
            <a:r>
              <a:rPr lang="en-US" altLang="zh-CN" dirty="0" smtClean="0"/>
              <a:t>Streaming</a:t>
            </a:r>
            <a:r>
              <a:rPr lang="zh-CN" altLang="en-US" dirty="0" smtClean="0"/>
              <a:t>将数据写入外部</a:t>
            </a:r>
            <a:r>
              <a:rPr lang="en-US" altLang="zh-CN" dirty="0" err="1" smtClean="0"/>
              <a:t>DataStreamWriter</a:t>
            </a:r>
            <a:r>
              <a:rPr lang="zh-CN" altLang="en-US" dirty="0" smtClean="0"/>
              <a:t>的时间间隔</a:t>
            </a:r>
            <a:endParaRPr lang="en-US" altLang="zh-CN" dirty="0" smtClean="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3717032"/>
            <a:ext cx="6192688" cy="2743478"/>
          </a:xfrm>
          <a:prstGeom prst="rect">
            <a:avLst/>
          </a:prstGeom>
        </p:spPr>
      </p:pic>
    </p:spTree>
    <p:extLst>
      <p:ext uri="{BB962C8B-B14F-4D97-AF65-F5344CB8AC3E}">
        <p14:creationId xmlns:p14="http://schemas.microsoft.com/office/powerpoint/2010/main" val="25156670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zh-CN" altLang="en-US" dirty="0"/>
              <a:t>时间窗口</a:t>
            </a:r>
            <a:r>
              <a:rPr lang="zh-CN" altLang="en-US" dirty="0" smtClean="0"/>
              <a:t>操作示例代码</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844824"/>
            <a:ext cx="6233460" cy="4611888"/>
          </a:xfrm>
          <a:prstGeom prst="rect">
            <a:avLst/>
          </a:prstGeom>
        </p:spPr>
      </p:pic>
    </p:spTree>
    <p:extLst>
      <p:ext uri="{BB962C8B-B14F-4D97-AF65-F5344CB8AC3E}">
        <p14:creationId xmlns:p14="http://schemas.microsoft.com/office/powerpoint/2010/main" val="21819406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zh-CN" altLang="en-US" dirty="0" smtClean="0"/>
              <a:t>延迟数据处理策略</a:t>
            </a:r>
            <a:endParaRPr lang="en-US" altLang="zh-CN" dirty="0" smtClean="0"/>
          </a:p>
          <a:p>
            <a:pPr lvl="1"/>
            <a:r>
              <a:rPr lang="zh-CN" altLang="en-US" sz="2000" dirty="0" smtClean="0">
                <a:solidFill>
                  <a:srgbClr val="FF0000"/>
                </a:solidFill>
              </a:rPr>
              <a:t>数据延迟</a:t>
            </a:r>
            <a:r>
              <a:rPr lang="zh-CN" altLang="en-US" sz="2000" dirty="0" smtClean="0"/>
              <a:t>指的是先产生的数据后到达，这说明数据并没有严格按照先产生的数据先到达的原则发送到服务器</a:t>
            </a:r>
            <a:endParaRPr lang="en-US" altLang="zh-CN" sz="2000" dirty="0" smtClean="0"/>
          </a:p>
          <a:p>
            <a:pPr lvl="1"/>
            <a:r>
              <a:rPr lang="en-US" altLang="zh-CN" sz="2000" dirty="0"/>
              <a:t>Structured </a:t>
            </a:r>
            <a:r>
              <a:rPr lang="en-US" altLang="zh-CN" sz="2000" dirty="0" smtClean="0"/>
              <a:t>Streaming</a:t>
            </a:r>
            <a:r>
              <a:rPr lang="zh-CN" altLang="en-US" sz="2000" dirty="0" smtClean="0"/>
              <a:t>能够处理迟到的数据，允许将延迟到达的数据添加到它们本来应该在的位置</a:t>
            </a:r>
            <a:endParaRPr lang="en-US" altLang="zh-CN" sz="2000" dirty="0" smtClean="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7663" y="3284984"/>
            <a:ext cx="6306183" cy="2808312"/>
          </a:xfrm>
          <a:prstGeom prst="rect">
            <a:avLst/>
          </a:prstGeom>
        </p:spPr>
      </p:pic>
    </p:spTree>
    <p:extLst>
      <p:ext uri="{BB962C8B-B14F-4D97-AF65-F5344CB8AC3E}">
        <p14:creationId xmlns:p14="http://schemas.microsoft.com/office/powerpoint/2010/main" val="262967713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zh-CN" altLang="en-US" dirty="0" smtClean="0"/>
              <a:t>水印</a:t>
            </a:r>
            <a:endParaRPr lang="en-US" altLang="zh-CN" dirty="0" smtClean="0"/>
          </a:p>
          <a:p>
            <a:pPr lvl="1"/>
            <a:r>
              <a:rPr lang="zh-CN" altLang="en-US" dirty="0" smtClean="0"/>
              <a:t>为了保障有足够的内存资源不断处理到来的数据，</a:t>
            </a:r>
            <a:r>
              <a:rPr lang="en-US" altLang="zh-CN" dirty="0" smtClean="0"/>
              <a:t>Spark</a:t>
            </a:r>
            <a:r>
              <a:rPr lang="zh-CN" altLang="en-US" dirty="0" smtClean="0"/>
              <a:t>必须限制积累到内存中的中间状态的数据量</a:t>
            </a:r>
            <a:endParaRPr lang="en-US" altLang="zh-CN" dirty="0" smtClean="0"/>
          </a:p>
          <a:p>
            <a:pPr lvl="1"/>
            <a:r>
              <a:rPr lang="en-US" altLang="zh-CN" dirty="0" smtClean="0"/>
              <a:t>Spark</a:t>
            </a:r>
            <a:r>
              <a:rPr lang="zh-CN" altLang="en-US" dirty="0" smtClean="0"/>
              <a:t>通过引入水印，可以自动跟踪数据中的当前事件时间，并尝试清除相应的状态数据</a:t>
            </a:r>
            <a:endParaRPr lang="en-US" altLang="zh-CN" dirty="0" smtClean="0"/>
          </a:p>
          <a:p>
            <a:pPr lvl="1"/>
            <a:r>
              <a:rPr lang="zh-CN" altLang="en-US" dirty="0" smtClean="0"/>
              <a:t>可通过指定事件时间列定义查询的水印，并根据时间时间预测数据的延迟时间。</a:t>
            </a:r>
            <a:endParaRPr lang="en-US" altLang="zh-CN" dirty="0" smtClean="0"/>
          </a:p>
          <a:p>
            <a:pPr lvl="2"/>
            <a:r>
              <a:rPr lang="zh-CN" altLang="en-US" dirty="0" smtClean="0"/>
              <a:t>不晚于阈值的滞后数据将被聚合，但晚于阈值的数据将被丢弃</a:t>
            </a:r>
            <a:endParaRPr lang="en-US" altLang="zh-CN" dirty="0" smtClean="0"/>
          </a:p>
          <a:p>
            <a:pPr lvl="1"/>
            <a:r>
              <a:rPr lang="zh-CN" altLang="en-US" dirty="0" smtClean="0"/>
              <a:t>水印的使用可以调用</a:t>
            </a:r>
            <a:r>
              <a:rPr lang="en-US" altLang="zh-CN" dirty="0" err="1" smtClean="0"/>
              <a:t>withWatermark</a:t>
            </a:r>
            <a:r>
              <a:rPr lang="en-US" altLang="zh-CN" dirty="0" smtClean="0"/>
              <a:t>()</a:t>
            </a:r>
            <a:r>
              <a:rPr lang="zh-CN" altLang="en-US" dirty="0" smtClean="0"/>
              <a:t>方法来实现</a:t>
            </a:r>
            <a:endParaRPr lang="en-US" altLang="zh-CN" dirty="0" smtClean="0"/>
          </a:p>
          <a:p>
            <a:pPr lvl="1"/>
            <a:endParaRPr lang="en-US" altLang="zh-CN" dirty="0" smtClean="0"/>
          </a:p>
          <a:p>
            <a:pPr lvl="1"/>
            <a:endParaRPr lang="zh-CN" altLang="en-US" dirty="0"/>
          </a:p>
        </p:txBody>
      </p:sp>
    </p:spTree>
    <p:extLst>
      <p:ext uri="{BB962C8B-B14F-4D97-AF65-F5344CB8AC3E}">
        <p14:creationId xmlns:p14="http://schemas.microsoft.com/office/powerpoint/2010/main" val="36724926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zh-CN" altLang="en-US" dirty="0" smtClean="0"/>
              <a:t>水印代码示例</a:t>
            </a:r>
            <a:endParaRPr lang="en-US" altLang="zh-CN" dirty="0" smtClean="0"/>
          </a:p>
          <a:p>
            <a:pPr lvl="1"/>
            <a:endParaRPr lang="en-US" altLang="zh-CN" dirty="0" smtClean="0"/>
          </a:p>
          <a:p>
            <a:pPr lvl="1"/>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844824"/>
            <a:ext cx="6387000" cy="4727807"/>
          </a:xfrm>
          <a:prstGeom prst="rect">
            <a:avLst/>
          </a:prstGeom>
        </p:spPr>
      </p:pic>
    </p:spTree>
    <p:extLst>
      <p:ext uri="{BB962C8B-B14F-4D97-AF65-F5344CB8AC3E}">
        <p14:creationId xmlns:p14="http://schemas.microsoft.com/office/powerpoint/2010/main" val="315361498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smtClean="0"/>
              <a:t>Structured </a:t>
            </a:r>
            <a:r>
              <a:rPr lang="en-US" altLang="zh-CN" dirty="0"/>
              <a:t>Streaming</a:t>
            </a:r>
            <a:endParaRPr lang="zh-CN" altLang="en-US" dirty="0"/>
          </a:p>
        </p:txBody>
      </p:sp>
      <p:sp>
        <p:nvSpPr>
          <p:cNvPr id="3" name="内容占位符 2"/>
          <p:cNvSpPr>
            <a:spLocks noGrp="1"/>
          </p:cNvSpPr>
          <p:nvPr>
            <p:ph idx="1"/>
          </p:nvPr>
        </p:nvSpPr>
        <p:spPr/>
        <p:txBody>
          <a:bodyPr/>
          <a:lstStyle/>
          <a:p>
            <a:r>
              <a:rPr lang="zh-CN" altLang="en-US" dirty="0" smtClean="0"/>
              <a:t>输出模式</a:t>
            </a:r>
            <a:endParaRPr lang="en-US" altLang="zh-CN" dirty="0" smtClean="0"/>
          </a:p>
          <a:p>
            <a:pPr lvl="1"/>
            <a:r>
              <a:rPr lang="zh-CN" altLang="en-US" dirty="0" smtClean="0"/>
              <a:t>查询输出结果有</a:t>
            </a:r>
            <a:r>
              <a:rPr lang="en-US" altLang="zh-CN" dirty="0" smtClean="0"/>
              <a:t>3</a:t>
            </a:r>
            <a:r>
              <a:rPr lang="zh-CN" altLang="en-US" dirty="0" smtClean="0"/>
              <a:t>种不同模式</a:t>
            </a:r>
            <a:endParaRPr lang="en-US" altLang="zh-CN" dirty="0" smtClean="0"/>
          </a:p>
          <a:p>
            <a:pPr lvl="2"/>
            <a:r>
              <a:rPr lang="zh-CN" altLang="en-US" dirty="0" smtClean="0"/>
              <a:t>完全模式</a:t>
            </a:r>
            <a:endParaRPr lang="en-US" altLang="zh-CN" dirty="0" smtClean="0"/>
          </a:p>
          <a:p>
            <a:pPr lvl="3"/>
            <a:r>
              <a:rPr lang="zh-CN" altLang="en-US" dirty="0" smtClean="0"/>
              <a:t>不删除任何数据，而是在结果表中保留所有数据，每次触发聚合操作时，就输出所有时间窗口中的数据</a:t>
            </a:r>
            <a:endParaRPr lang="en-US" altLang="zh-CN" dirty="0" smtClean="0"/>
          </a:p>
          <a:p>
            <a:pPr lvl="2"/>
            <a:r>
              <a:rPr lang="zh-CN" altLang="en-US" dirty="0" smtClean="0"/>
              <a:t>追加模式</a:t>
            </a:r>
            <a:endParaRPr lang="en-US" altLang="zh-CN" dirty="0" smtClean="0"/>
          </a:p>
          <a:p>
            <a:pPr lvl="3"/>
            <a:r>
              <a:rPr lang="zh-CN" altLang="en-US" dirty="0" smtClean="0"/>
              <a:t>当确定不会更新时间窗口时，就输出时间中的数据并删除，以保证每个时间窗口内的数据只输出一次</a:t>
            </a:r>
            <a:endParaRPr lang="en-US" altLang="zh-CN" dirty="0" smtClean="0"/>
          </a:p>
          <a:p>
            <a:pPr lvl="2"/>
            <a:r>
              <a:rPr lang="zh-CN" altLang="en-US" dirty="0" smtClean="0"/>
              <a:t>更新模式</a:t>
            </a:r>
            <a:r>
              <a:rPr lang="en-US" altLang="zh-CN" dirty="0" smtClean="0"/>
              <a:t>	</a:t>
            </a:r>
          </a:p>
          <a:p>
            <a:pPr lvl="3"/>
            <a:r>
              <a:rPr lang="zh-CN" altLang="en-US" dirty="0" smtClean="0"/>
              <a:t>删除不再更新的时间窗口，每次触发聚合操作时，输出更新的时间窗口</a:t>
            </a:r>
            <a:endParaRPr lang="en-US" altLang="zh-CN" dirty="0" smtClean="0"/>
          </a:p>
        </p:txBody>
      </p:sp>
    </p:spTree>
    <p:extLst>
      <p:ext uri="{BB962C8B-B14F-4D97-AF65-F5344CB8AC3E}">
        <p14:creationId xmlns:p14="http://schemas.microsoft.com/office/powerpoint/2010/main" val="90965509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smtClean="0"/>
              <a:t>Structured </a:t>
            </a:r>
            <a:r>
              <a:rPr lang="en-US" altLang="zh-CN" dirty="0"/>
              <a:t>Streaming</a:t>
            </a:r>
            <a:endParaRPr lang="zh-CN" altLang="en-US" dirty="0"/>
          </a:p>
        </p:txBody>
      </p:sp>
      <p:sp>
        <p:nvSpPr>
          <p:cNvPr id="3" name="内容占位符 2"/>
          <p:cNvSpPr>
            <a:spLocks noGrp="1"/>
          </p:cNvSpPr>
          <p:nvPr>
            <p:ph idx="1"/>
          </p:nvPr>
        </p:nvSpPr>
        <p:spPr/>
        <p:txBody>
          <a:bodyPr/>
          <a:lstStyle/>
          <a:p>
            <a:r>
              <a:rPr lang="zh-CN" altLang="en-US" dirty="0"/>
              <a:t>使用水印清除聚合状态的条件</a:t>
            </a:r>
            <a:endParaRPr lang="en-US" altLang="zh-CN" dirty="0"/>
          </a:p>
          <a:p>
            <a:pPr lvl="1"/>
            <a:r>
              <a:rPr lang="en-US" altLang="zh-CN" dirty="0" smtClean="0"/>
              <a:t>Structured Streaming</a:t>
            </a:r>
            <a:r>
              <a:rPr lang="zh-CN" altLang="en-US" dirty="0" smtClean="0"/>
              <a:t>支持通过水印定期清除中间状态数据</a:t>
            </a:r>
            <a:endParaRPr lang="en-US" altLang="zh-CN" dirty="0" smtClean="0"/>
          </a:p>
          <a:p>
            <a:pPr lvl="1"/>
            <a:r>
              <a:rPr lang="zh-CN" altLang="en-US" dirty="0" smtClean="0"/>
              <a:t>需满足以下条件：</a:t>
            </a:r>
            <a:endParaRPr lang="en-US" altLang="zh-CN" dirty="0" smtClean="0"/>
          </a:p>
          <a:p>
            <a:pPr lvl="2"/>
            <a:r>
              <a:rPr lang="zh-CN" altLang="en-US" dirty="0" smtClean="0"/>
              <a:t>输出模式必须是追加或更新模式</a:t>
            </a:r>
            <a:endParaRPr lang="en-US" altLang="zh-CN" dirty="0" smtClean="0"/>
          </a:p>
          <a:p>
            <a:pPr lvl="3"/>
            <a:r>
              <a:rPr lang="zh-CN" altLang="en-US" dirty="0" smtClean="0"/>
              <a:t>完全模式由于要求保留所有聚合数据，因此不能使用水印中断状态</a:t>
            </a:r>
            <a:endParaRPr lang="en-US" altLang="zh-CN" dirty="0" smtClean="0"/>
          </a:p>
          <a:p>
            <a:pPr lvl="2"/>
            <a:r>
              <a:rPr lang="zh-CN" altLang="en-US" dirty="0" smtClean="0"/>
              <a:t>聚合中必须包含事件时间（</a:t>
            </a:r>
            <a:r>
              <a:rPr lang="en-US" altLang="zh-CN" dirty="0" smtClean="0"/>
              <a:t>event-time</a:t>
            </a:r>
            <a:r>
              <a:rPr lang="zh-CN" altLang="en-US" dirty="0" smtClean="0"/>
              <a:t>）列或窗口事件时间列</a:t>
            </a:r>
            <a:endParaRPr lang="en-US" altLang="zh-CN" dirty="0" smtClean="0"/>
          </a:p>
          <a:p>
            <a:pPr lvl="2"/>
            <a:r>
              <a:rPr lang="en-US" altLang="zh-CN" dirty="0" err="1" smtClean="0"/>
              <a:t>withWaterMark</a:t>
            </a:r>
            <a:r>
              <a:rPr lang="en-US" altLang="zh-CN" dirty="0" smtClean="0"/>
              <a:t>()</a:t>
            </a:r>
            <a:r>
              <a:rPr lang="zh-CN" altLang="en-US" dirty="0" smtClean="0"/>
              <a:t>方法使用的时间戳必须与聚合使用的时间戳列相同</a:t>
            </a:r>
            <a:endParaRPr lang="en-US" altLang="zh-CN" dirty="0" smtClean="0"/>
          </a:p>
          <a:p>
            <a:pPr lvl="2"/>
            <a:r>
              <a:rPr lang="en-US" altLang="zh-CN" dirty="0" err="1"/>
              <a:t>withWaterMark</a:t>
            </a:r>
            <a:r>
              <a:rPr lang="en-US" altLang="zh-CN" dirty="0"/>
              <a:t>()</a:t>
            </a:r>
            <a:r>
              <a:rPr lang="zh-CN" altLang="en-US" dirty="0" smtClean="0"/>
              <a:t>方法必须在聚合之前调用</a:t>
            </a:r>
            <a:endParaRPr lang="en-US" altLang="zh-CN" dirty="0" smtClean="0"/>
          </a:p>
        </p:txBody>
      </p:sp>
    </p:spTree>
    <p:extLst>
      <p:ext uri="{BB962C8B-B14F-4D97-AF65-F5344CB8AC3E}">
        <p14:creationId xmlns:p14="http://schemas.microsoft.com/office/powerpoint/2010/main" val="102372211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触发器</a:t>
            </a:r>
            <a:r>
              <a:rPr lang="en-US" altLang="zh-CN" dirty="0" smtClean="0"/>
              <a:t>(trigger)</a:t>
            </a:r>
          </a:p>
          <a:p>
            <a:pPr lvl="1"/>
            <a:r>
              <a:rPr lang="zh-CN" altLang="en-US" dirty="0" smtClean="0"/>
              <a:t>流式查询的触发器定义了流式数据处理的时间</a:t>
            </a:r>
            <a:endParaRPr lang="en-US" altLang="zh-CN" dirty="0" smtClean="0"/>
          </a:p>
          <a:p>
            <a:pPr lvl="1"/>
            <a:r>
              <a:rPr lang="en-US" altLang="zh-CN" dirty="0"/>
              <a:t>Structured </a:t>
            </a:r>
            <a:r>
              <a:rPr lang="en-US" altLang="zh-CN" dirty="0" smtClean="0"/>
              <a:t>Streaming</a:t>
            </a:r>
            <a:r>
              <a:rPr lang="zh-CN" altLang="en-US" dirty="0" smtClean="0"/>
              <a:t>支持基于</a:t>
            </a:r>
            <a:r>
              <a:rPr lang="en-US" altLang="zh-CN" dirty="0" smtClean="0"/>
              <a:t>4</a:t>
            </a:r>
            <a:r>
              <a:rPr lang="zh-CN" altLang="en-US" dirty="0" smtClean="0"/>
              <a:t>种策略的触发器</a:t>
            </a:r>
            <a:endParaRPr lang="en-US" altLang="zh-CN" dirty="0" smtClean="0"/>
          </a:p>
          <a:p>
            <a:pPr lvl="2"/>
            <a:r>
              <a:rPr lang="zh-CN" altLang="en-US" dirty="0" smtClean="0"/>
              <a:t>未指定（默认）</a:t>
            </a:r>
            <a:endParaRPr lang="en-US" altLang="zh-CN" dirty="0" smtClean="0"/>
          </a:p>
          <a:p>
            <a:pPr lvl="3"/>
            <a:r>
              <a:rPr lang="zh-CN" altLang="en-US" dirty="0" smtClean="0"/>
              <a:t>查询在微批模式下执行。上一次微批处理完成后，就尽可能快执行下一个微批处理</a:t>
            </a:r>
            <a:endParaRPr lang="en-US" altLang="zh-CN" dirty="0" smtClean="0"/>
          </a:p>
          <a:p>
            <a:pPr lvl="2"/>
            <a:r>
              <a:rPr lang="zh-CN" altLang="en-US" dirty="0" smtClean="0"/>
              <a:t>固定时间微批</a:t>
            </a:r>
            <a:endParaRPr lang="en-US" altLang="zh-CN" dirty="0" smtClean="0"/>
          </a:p>
          <a:p>
            <a:pPr lvl="3"/>
            <a:r>
              <a:rPr lang="zh-CN" altLang="en-US" dirty="0" smtClean="0"/>
              <a:t>查询以用户指定的时间间隔启动</a:t>
            </a:r>
            <a:endParaRPr lang="en-US" altLang="zh-CN" dirty="0" smtClean="0"/>
          </a:p>
          <a:p>
            <a:pPr lvl="4"/>
            <a:r>
              <a:rPr lang="zh-CN" altLang="en-US" dirty="0" smtClean="0"/>
              <a:t>上一个微批在指定的时间内完成，</a:t>
            </a:r>
            <a:r>
              <a:rPr lang="en-US" altLang="zh-CN" dirty="0" smtClean="0"/>
              <a:t>Spark</a:t>
            </a:r>
            <a:r>
              <a:rPr lang="zh-CN" altLang="en-US" dirty="0" smtClean="0"/>
              <a:t>将等待间隔结束后启动下一个微批；上</a:t>
            </a:r>
            <a:r>
              <a:rPr lang="zh-CN" altLang="en-US" dirty="0"/>
              <a:t>一个微</a:t>
            </a:r>
            <a:r>
              <a:rPr lang="zh-CN" altLang="en-US" dirty="0" smtClean="0"/>
              <a:t>批没有指定</a:t>
            </a:r>
            <a:r>
              <a:rPr lang="zh-CN" altLang="en-US" dirty="0"/>
              <a:t>的时间内完成</a:t>
            </a:r>
            <a:r>
              <a:rPr lang="zh-CN" altLang="en-US" dirty="0" smtClean="0"/>
              <a:t>，那么下一个微批将在上一个微批完成后立即开始，这种情况下可能存在批处理延迟；如果没有新数据可用，则不会启动微批处理</a:t>
            </a:r>
            <a:endParaRPr lang="en-US" altLang="zh-CN" dirty="0" smtClean="0"/>
          </a:p>
          <a:p>
            <a:pPr lvl="2"/>
            <a:r>
              <a:rPr lang="zh-CN" altLang="en-US" dirty="0" smtClean="0"/>
              <a:t>一次微批执行</a:t>
            </a:r>
            <a:endParaRPr lang="en-US" altLang="zh-CN" dirty="0" smtClean="0"/>
          </a:p>
          <a:p>
            <a:pPr lvl="3"/>
            <a:r>
              <a:rPr lang="zh-CN" altLang="en-US" dirty="0" smtClean="0"/>
              <a:t>只执行一个微批的所有可用数据，然后自行停止</a:t>
            </a:r>
            <a:endParaRPr lang="en-US" altLang="zh-CN" dirty="0" smtClean="0"/>
          </a:p>
          <a:p>
            <a:pPr lvl="2"/>
            <a:r>
              <a:rPr lang="zh-CN" altLang="en-US" dirty="0" smtClean="0"/>
              <a:t>连续的固定检查点间隔</a:t>
            </a:r>
            <a:endParaRPr lang="en-US" altLang="zh-CN" dirty="0" smtClean="0"/>
          </a:p>
          <a:p>
            <a:pPr lvl="3"/>
            <a:r>
              <a:rPr lang="zh-CN" altLang="en-US" dirty="0" smtClean="0"/>
              <a:t>将连续以异步方式处理微批数据</a:t>
            </a:r>
            <a:endParaRPr lang="zh-CN" altLang="en-US" dirty="0"/>
          </a:p>
        </p:txBody>
      </p:sp>
    </p:spTree>
    <p:extLst>
      <p:ext uri="{BB962C8B-B14F-4D97-AF65-F5344CB8AC3E}">
        <p14:creationId xmlns:p14="http://schemas.microsoft.com/office/powerpoint/2010/main" val="142371415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5" name="内容占位符 4"/>
          <p:cNvSpPr>
            <a:spLocks noGrp="1"/>
          </p:cNvSpPr>
          <p:nvPr>
            <p:ph idx="1"/>
          </p:nvPr>
        </p:nvSpPr>
        <p:spPr/>
        <p:txBody>
          <a:bodyPr/>
          <a:lstStyle/>
          <a:p>
            <a:r>
              <a:rPr lang="zh-CN" altLang="en-US" dirty="0" smtClean="0"/>
              <a:t>触发器示例</a:t>
            </a:r>
            <a:endParaRPr lang="en-US" altLang="zh-CN" dirty="0" smtClean="0"/>
          </a:p>
          <a:p>
            <a:pPr lvl="1"/>
            <a:r>
              <a:rPr lang="zh-CN" altLang="en-US" dirty="0" smtClean="0"/>
              <a:t>每</a:t>
            </a:r>
            <a:r>
              <a:rPr lang="en-US" altLang="zh-CN" dirty="0" smtClean="0"/>
              <a:t>5s</a:t>
            </a:r>
            <a:r>
              <a:rPr lang="zh-CN" altLang="en-US" dirty="0" smtClean="0"/>
              <a:t>启动一次微批处理</a:t>
            </a:r>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2268554"/>
            <a:ext cx="6359601" cy="4544995"/>
          </a:xfrm>
          <a:prstGeom prst="rect">
            <a:avLst/>
          </a:prstGeom>
        </p:spPr>
      </p:pic>
    </p:spTree>
    <p:extLst>
      <p:ext uri="{BB962C8B-B14F-4D97-AF65-F5344CB8AC3E}">
        <p14:creationId xmlns:p14="http://schemas.microsoft.com/office/powerpoint/2010/main" val="131026902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en-US" altLang="zh-CN" dirty="0" smtClean="0"/>
              <a:t>exactly once</a:t>
            </a:r>
            <a:r>
              <a:rPr lang="zh-CN" altLang="en-US" dirty="0" smtClean="0"/>
              <a:t>语义的实现</a:t>
            </a:r>
            <a:endParaRPr lang="en-US" altLang="zh-CN" dirty="0" smtClean="0"/>
          </a:p>
          <a:p>
            <a:pPr lvl="1"/>
            <a:r>
              <a:rPr lang="en-US" altLang="zh-CN" dirty="0"/>
              <a:t>Structured </a:t>
            </a:r>
            <a:r>
              <a:rPr lang="en-US" altLang="zh-CN" dirty="0" smtClean="0"/>
              <a:t>Streaming</a:t>
            </a:r>
            <a:r>
              <a:rPr lang="zh-CN" altLang="en-US" dirty="0" smtClean="0"/>
              <a:t>提供了端到端的</a:t>
            </a:r>
            <a:r>
              <a:rPr lang="en-US" altLang="zh-CN" dirty="0"/>
              <a:t>exactly </a:t>
            </a:r>
            <a:r>
              <a:rPr lang="en-US" altLang="zh-CN" dirty="0" smtClean="0"/>
              <a:t>once</a:t>
            </a:r>
            <a:r>
              <a:rPr lang="zh-CN" altLang="en-US" dirty="0" smtClean="0"/>
              <a:t>语义</a:t>
            </a:r>
            <a:endParaRPr lang="en-US" altLang="zh-CN" dirty="0" smtClean="0"/>
          </a:p>
          <a:p>
            <a:pPr lvl="2"/>
            <a:r>
              <a:rPr lang="zh-CN" altLang="en-US" dirty="0" smtClean="0"/>
              <a:t>通过结构化数据源、接收器、执行引擎，</a:t>
            </a:r>
            <a:r>
              <a:rPr lang="en-US" altLang="zh-CN" dirty="0"/>
              <a:t> Structured </a:t>
            </a:r>
            <a:r>
              <a:rPr lang="en-US" altLang="zh-CN" dirty="0" smtClean="0"/>
              <a:t>Streaming</a:t>
            </a:r>
            <a:r>
              <a:rPr lang="zh-CN" altLang="en-US" dirty="0" smtClean="0"/>
              <a:t>能够可靠地跟踪数据处理的确切进展，从而保证在故障中能够快速恢复计算并确保数据的一致性</a:t>
            </a:r>
            <a:endParaRPr lang="en-US" altLang="zh-CN" dirty="0" smtClean="0"/>
          </a:p>
          <a:p>
            <a:pPr lvl="2"/>
            <a:endParaRPr lang="en-US" altLang="zh-CN" dirty="0" smtClean="0"/>
          </a:p>
          <a:p>
            <a:pPr lvl="1"/>
            <a:endParaRPr lang="en-US" altLang="zh-CN" dirty="0" smtClean="0"/>
          </a:p>
          <a:p>
            <a:pPr lvl="1"/>
            <a:endParaRPr lang="zh-CN" altLang="en-US" dirty="0"/>
          </a:p>
        </p:txBody>
      </p:sp>
    </p:spTree>
    <p:extLst>
      <p:ext uri="{BB962C8B-B14F-4D97-AF65-F5344CB8AC3E}">
        <p14:creationId xmlns:p14="http://schemas.microsoft.com/office/powerpoint/2010/main" val="423820476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en-US" altLang="zh-CN" dirty="0" smtClean="0"/>
              <a:t>exactly once</a:t>
            </a:r>
            <a:r>
              <a:rPr lang="zh-CN" altLang="en-US" dirty="0" smtClean="0"/>
              <a:t>语义的实现原理</a:t>
            </a:r>
            <a:endParaRPr lang="en-US" altLang="zh-CN" dirty="0" smtClean="0"/>
          </a:p>
          <a:p>
            <a:pPr lvl="1"/>
            <a:r>
              <a:rPr lang="zh-CN" altLang="en-US" dirty="0" smtClean="0"/>
              <a:t>每个数据流都有一个数据的偏移量用来标识当前处理位置</a:t>
            </a:r>
            <a:endParaRPr lang="en-US" altLang="zh-CN" dirty="0" smtClean="0"/>
          </a:p>
          <a:p>
            <a:pPr lvl="1"/>
            <a:r>
              <a:rPr lang="en-US" altLang="zh-CN" dirty="0"/>
              <a:t>Structured </a:t>
            </a:r>
            <a:r>
              <a:rPr lang="en-US" altLang="zh-CN" dirty="0" smtClean="0"/>
              <a:t>Streaming</a:t>
            </a:r>
            <a:r>
              <a:rPr lang="zh-CN" altLang="en-US" dirty="0" smtClean="0"/>
              <a:t>通过</a:t>
            </a:r>
            <a:r>
              <a:rPr lang="zh-CN" altLang="en-US" dirty="0" smtClean="0">
                <a:solidFill>
                  <a:srgbClr val="FF0000"/>
                </a:solidFill>
              </a:rPr>
              <a:t>检查点</a:t>
            </a:r>
            <a:r>
              <a:rPr lang="zh-CN" altLang="en-US" dirty="0" smtClean="0"/>
              <a:t>和</a:t>
            </a:r>
            <a:r>
              <a:rPr lang="zh-CN" altLang="en-US" dirty="0" smtClean="0">
                <a:solidFill>
                  <a:srgbClr val="FF0000"/>
                </a:solidFill>
              </a:rPr>
              <a:t>预写日志（</a:t>
            </a:r>
            <a:r>
              <a:rPr lang="en-US" altLang="zh-CN" dirty="0" smtClean="0">
                <a:solidFill>
                  <a:srgbClr val="FF0000"/>
                </a:solidFill>
              </a:rPr>
              <a:t>WAL</a:t>
            </a:r>
            <a:r>
              <a:rPr lang="zh-CN" altLang="en-US" dirty="0" smtClean="0">
                <a:solidFill>
                  <a:srgbClr val="FF0000"/>
                </a:solidFill>
              </a:rPr>
              <a:t>）</a:t>
            </a:r>
            <a:r>
              <a:rPr lang="zh-CN" altLang="en-US" dirty="0" smtClean="0"/>
              <a:t>记录每个触发器中正在处理的数据偏移范围，并在数据处理完毕后提交偏移量</a:t>
            </a:r>
            <a:endParaRPr lang="en-US" altLang="zh-CN" dirty="0" smtClean="0"/>
          </a:p>
          <a:p>
            <a:pPr lvl="1"/>
            <a:r>
              <a:rPr lang="en-US" altLang="zh-CN" dirty="0"/>
              <a:t>Structured </a:t>
            </a:r>
            <a:r>
              <a:rPr lang="en-US" altLang="zh-CN" dirty="0" smtClean="0"/>
              <a:t>Streaming</a:t>
            </a:r>
            <a:r>
              <a:rPr lang="zh-CN" altLang="en-US" dirty="0" smtClean="0"/>
              <a:t>的数据接收器具有幂等性</a:t>
            </a:r>
            <a:endParaRPr lang="en-US" altLang="zh-CN" dirty="0" smtClean="0"/>
          </a:p>
          <a:p>
            <a:pPr lvl="1"/>
            <a:r>
              <a:rPr lang="zh-CN" altLang="en-US" dirty="0" smtClean="0"/>
              <a:t>发生故障后，可以利用数据接收器的幂等性，通过数据重放赖确保任何故障下的端到端的</a:t>
            </a:r>
            <a:r>
              <a:rPr lang="en-US" altLang="zh-CN" dirty="0"/>
              <a:t>exactly </a:t>
            </a:r>
            <a:r>
              <a:rPr lang="en-US" altLang="zh-CN" dirty="0" smtClean="0"/>
              <a:t>once</a:t>
            </a:r>
            <a:r>
              <a:rPr lang="zh-CN" altLang="en-US" dirty="0" smtClean="0"/>
              <a:t>语义</a:t>
            </a:r>
            <a:endParaRPr lang="en-US" altLang="zh-CN" dirty="0" smtClean="0"/>
          </a:p>
          <a:p>
            <a:endParaRPr lang="en-US" altLang="zh-CN" dirty="0" smtClean="0"/>
          </a:p>
          <a:p>
            <a:pPr lvl="1"/>
            <a:endParaRPr lang="en-US" altLang="zh-CN" dirty="0" smtClean="0"/>
          </a:p>
          <a:p>
            <a:pPr lvl="1"/>
            <a:endParaRPr lang="zh-CN" altLang="en-US" dirty="0"/>
          </a:p>
        </p:txBody>
      </p:sp>
    </p:spTree>
    <p:extLst>
      <p:ext uri="{BB962C8B-B14F-4D97-AF65-F5344CB8AC3E}">
        <p14:creationId xmlns:p14="http://schemas.microsoft.com/office/powerpoint/2010/main" val="54733324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en-US" altLang="zh-CN" dirty="0" smtClean="0"/>
              <a:t>exactly once</a:t>
            </a:r>
            <a:r>
              <a:rPr lang="zh-CN" altLang="en-US" dirty="0" smtClean="0"/>
              <a:t>语义的实现原理</a:t>
            </a:r>
            <a:endParaRPr lang="en-US" altLang="zh-CN" dirty="0" smtClean="0"/>
          </a:p>
          <a:p>
            <a:pPr lvl="1"/>
            <a:endParaRPr lang="en-US" altLang="zh-CN" dirty="0" smtClean="0"/>
          </a:p>
          <a:p>
            <a:pPr lvl="1"/>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2204864"/>
            <a:ext cx="6403904" cy="3096344"/>
          </a:xfrm>
          <a:prstGeom prst="rect">
            <a:avLst/>
          </a:prstGeom>
        </p:spPr>
      </p:pic>
    </p:spTree>
    <p:extLst>
      <p:ext uri="{BB962C8B-B14F-4D97-AF65-F5344CB8AC3E}">
        <p14:creationId xmlns:p14="http://schemas.microsoft.com/office/powerpoint/2010/main" val="205944693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zh-CN" altLang="en-US" dirty="0" smtClean="0"/>
              <a:t>结果输出</a:t>
            </a:r>
            <a:endParaRPr lang="en-US" altLang="zh-CN" dirty="0" smtClean="0"/>
          </a:p>
          <a:p>
            <a:pPr lvl="1"/>
            <a:r>
              <a:rPr lang="en-US" altLang="zh-CN" dirty="0" smtClean="0"/>
              <a:t>Structured Streaming</a:t>
            </a:r>
            <a:r>
              <a:rPr lang="zh-CN" altLang="en-US" dirty="0" smtClean="0"/>
              <a:t>的输出操作支持</a:t>
            </a:r>
            <a:endParaRPr lang="en-US" altLang="zh-CN" dirty="0" smtClean="0"/>
          </a:p>
          <a:p>
            <a:pPr lvl="1"/>
            <a:endParaRPr lang="en-US" altLang="zh-CN" dirty="0"/>
          </a:p>
          <a:p>
            <a:pPr lvl="1"/>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2587960"/>
            <a:ext cx="6910840" cy="2520280"/>
          </a:xfrm>
          <a:prstGeom prst="rect">
            <a:avLst/>
          </a:prstGeom>
        </p:spPr>
      </p:pic>
    </p:spTree>
    <p:extLst>
      <p:ext uri="{BB962C8B-B14F-4D97-AF65-F5344CB8AC3E}">
        <p14:creationId xmlns:p14="http://schemas.microsoft.com/office/powerpoint/2010/main" val="205984581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9.5.2 </a:t>
            </a:r>
            <a:r>
              <a:rPr lang="en-US" altLang="zh-CN" dirty="0"/>
              <a:t>Structured Streaming</a:t>
            </a:r>
            <a:endParaRPr lang="zh-CN" altLang="en-US" dirty="0"/>
          </a:p>
        </p:txBody>
      </p:sp>
      <p:sp>
        <p:nvSpPr>
          <p:cNvPr id="3" name="内容占位符 2"/>
          <p:cNvSpPr>
            <a:spLocks noGrp="1"/>
          </p:cNvSpPr>
          <p:nvPr>
            <p:ph idx="1"/>
          </p:nvPr>
        </p:nvSpPr>
        <p:spPr/>
        <p:txBody>
          <a:bodyPr/>
          <a:lstStyle/>
          <a:p>
            <a:r>
              <a:rPr lang="zh-CN" altLang="en-US" dirty="0" smtClean="0"/>
              <a:t>结果输出</a:t>
            </a:r>
            <a:endParaRPr lang="en-US" altLang="zh-CN" dirty="0" smtClean="0"/>
          </a:p>
          <a:p>
            <a:pPr lvl="1"/>
            <a:r>
              <a:rPr lang="zh-CN" altLang="en-US" dirty="0" smtClean="0"/>
              <a:t>不同输出支持的输出模式和容错性</a:t>
            </a:r>
            <a:endParaRPr lang="en-US" altLang="zh-CN" dirty="0"/>
          </a:p>
          <a:p>
            <a:pPr lvl="1"/>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693" y="2492896"/>
            <a:ext cx="7442413" cy="1872208"/>
          </a:xfrm>
          <a:prstGeom prst="rect">
            <a:avLst/>
          </a:prstGeom>
        </p:spPr>
      </p:pic>
    </p:spTree>
    <p:extLst>
      <p:ext uri="{BB962C8B-B14F-4D97-AF65-F5344CB8AC3E}">
        <p14:creationId xmlns:p14="http://schemas.microsoft.com/office/powerpoint/2010/main" val="102252499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pPr marL="0" indent="0">
              <a:buNone/>
            </a:pPr>
            <a:r>
              <a:rPr lang="en-US" altLang="zh-CN" dirty="0" smtClean="0"/>
              <a:t>9.1 </a:t>
            </a:r>
            <a:r>
              <a:rPr lang="en-US" altLang="zh-CN" dirty="0"/>
              <a:t>Spark</a:t>
            </a:r>
            <a:r>
              <a:rPr lang="zh-CN" altLang="en-US" dirty="0"/>
              <a:t>概述</a:t>
            </a:r>
            <a:endParaRPr lang="en-US" altLang="zh-CN" dirty="0"/>
          </a:p>
          <a:p>
            <a:pPr marL="0" indent="0">
              <a:buNone/>
            </a:pPr>
            <a:r>
              <a:rPr lang="en-US" altLang="zh-CN" dirty="0" smtClean="0"/>
              <a:t>9.2 </a:t>
            </a:r>
            <a:r>
              <a:rPr lang="en-US" altLang="zh-CN" dirty="0"/>
              <a:t>Spark</a:t>
            </a:r>
            <a:r>
              <a:rPr lang="zh-CN" altLang="en-US" dirty="0"/>
              <a:t>基础</a:t>
            </a:r>
            <a:endParaRPr lang="en-US" altLang="zh-CN" dirty="0"/>
          </a:p>
          <a:p>
            <a:pPr marL="0" indent="0">
              <a:buNone/>
            </a:pPr>
            <a:r>
              <a:rPr lang="en-US" altLang="zh-CN" dirty="0" smtClean="0"/>
              <a:t>9.3 </a:t>
            </a:r>
            <a:r>
              <a:rPr lang="en-US" altLang="zh-CN" dirty="0"/>
              <a:t>Spark RDD</a:t>
            </a:r>
          </a:p>
          <a:p>
            <a:pPr marL="0" indent="0">
              <a:buNone/>
            </a:pPr>
            <a:r>
              <a:rPr lang="en-US" altLang="zh-CN" dirty="0" smtClean="0"/>
              <a:t>9.4 </a:t>
            </a:r>
            <a:r>
              <a:rPr lang="en-US" altLang="zh-CN" dirty="0"/>
              <a:t>Spark SQL</a:t>
            </a:r>
          </a:p>
          <a:p>
            <a:pPr marL="0" indent="0">
              <a:buNone/>
            </a:pPr>
            <a:r>
              <a:rPr lang="en-US" altLang="zh-CN" dirty="0" smtClean="0"/>
              <a:t>9.5 </a:t>
            </a:r>
            <a:r>
              <a:rPr lang="en-US" altLang="zh-CN" dirty="0" smtClean="0"/>
              <a:t>Spark</a:t>
            </a:r>
            <a:r>
              <a:rPr lang="zh-CN" altLang="en-US" dirty="0" smtClean="0"/>
              <a:t>流计算</a:t>
            </a:r>
            <a:endParaRPr lang="en-US" altLang="zh-CN" dirty="0"/>
          </a:p>
          <a:p>
            <a:pPr marL="0" indent="0">
              <a:buNone/>
            </a:pPr>
            <a:r>
              <a:rPr lang="en-US" altLang="zh-CN" dirty="0" smtClean="0">
                <a:solidFill>
                  <a:srgbClr val="FF0000"/>
                </a:solidFill>
              </a:rPr>
              <a:t>9.6 </a:t>
            </a:r>
            <a:r>
              <a:rPr lang="en-US" altLang="zh-CN" dirty="0" smtClean="0">
                <a:solidFill>
                  <a:srgbClr val="FF0000"/>
                </a:solidFill>
              </a:rPr>
              <a:t>Spark</a:t>
            </a:r>
            <a:r>
              <a:rPr lang="zh-CN" altLang="en-US" dirty="0" smtClean="0">
                <a:solidFill>
                  <a:srgbClr val="FF0000"/>
                </a:solidFill>
              </a:rPr>
              <a:t>机器学习</a:t>
            </a:r>
            <a:endParaRPr lang="en-US" altLang="zh-CN" dirty="0">
              <a:solidFill>
                <a:srgbClr val="FF0000"/>
              </a:solidFill>
            </a:endParaRPr>
          </a:p>
          <a:p>
            <a:pPr marL="0" indent="0">
              <a:buNone/>
            </a:pPr>
            <a:endParaRPr lang="zh-CN" altLang="en-US" dirty="0"/>
          </a:p>
          <a:p>
            <a:pPr marL="0" indent="0">
              <a:buNone/>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t>45</a:t>
            </a:fld>
            <a:endParaRPr lang="en-US" altLang="zh-CN" dirty="0"/>
          </a:p>
        </p:txBody>
      </p:sp>
    </p:spTree>
    <p:extLst>
      <p:ext uri="{BB962C8B-B14F-4D97-AF65-F5344CB8AC3E}">
        <p14:creationId xmlns:p14="http://schemas.microsoft.com/office/powerpoint/2010/main" val="15706930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 </a:t>
            </a:r>
            <a:r>
              <a:rPr lang="en-US" altLang="zh-CN" dirty="0" smtClean="0"/>
              <a:t>Spark</a:t>
            </a:r>
            <a:r>
              <a:rPr lang="zh-CN" altLang="en-US" dirty="0" smtClean="0"/>
              <a:t>机器学习</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9.6.1 </a:t>
            </a:r>
            <a:r>
              <a:rPr lang="zh-CN" altLang="en-US" dirty="0" smtClean="0"/>
              <a:t>分布式机器学习简介</a:t>
            </a:r>
            <a:endParaRPr lang="en-US" altLang="zh-CN" dirty="0" smtClean="0"/>
          </a:p>
          <a:p>
            <a:pPr marL="0" indent="0">
              <a:buNone/>
            </a:pPr>
            <a:r>
              <a:rPr lang="en-US" altLang="zh-CN" dirty="0" smtClean="0"/>
              <a:t>9.6.2 </a:t>
            </a:r>
            <a:r>
              <a:rPr lang="en-US" altLang="zh-CN" dirty="0"/>
              <a:t>Spark </a:t>
            </a:r>
            <a:r>
              <a:rPr lang="en-US" altLang="zh-CN" dirty="0" err="1"/>
              <a:t>MLlib</a:t>
            </a:r>
            <a:r>
              <a:rPr lang="zh-CN" altLang="en-US" dirty="0" smtClean="0"/>
              <a:t>简介</a:t>
            </a:r>
            <a:endParaRPr lang="en-US" altLang="zh-CN" dirty="0" smtClean="0"/>
          </a:p>
          <a:p>
            <a:pPr marL="0" indent="0">
              <a:buNone/>
            </a:pPr>
            <a:r>
              <a:rPr lang="en-US" altLang="zh-CN" dirty="0" smtClean="0"/>
              <a:t>9.6.3 </a:t>
            </a:r>
            <a:r>
              <a:rPr lang="en-US" altLang="zh-CN" dirty="0" smtClean="0"/>
              <a:t>ML Pipeline</a:t>
            </a:r>
          </a:p>
          <a:p>
            <a:pPr marL="0" indent="0">
              <a:buNone/>
            </a:pPr>
            <a:r>
              <a:rPr lang="en-US" altLang="zh-CN" dirty="0" smtClean="0"/>
              <a:t>9.6.4 </a:t>
            </a:r>
            <a:r>
              <a:rPr lang="zh-CN" altLang="en-US" dirty="0" smtClean="0"/>
              <a:t>具体示例</a:t>
            </a:r>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t>46</a:t>
            </a:fld>
            <a:endParaRPr lang="en-US" altLang="zh-CN" dirty="0"/>
          </a:p>
        </p:txBody>
      </p:sp>
    </p:spTree>
    <p:extLst>
      <p:ext uri="{BB962C8B-B14F-4D97-AF65-F5344CB8AC3E}">
        <p14:creationId xmlns:p14="http://schemas.microsoft.com/office/powerpoint/2010/main" val="218090304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9.6.1 </a:t>
            </a:r>
            <a:r>
              <a:rPr lang="zh-CN" altLang="en-US" dirty="0" smtClean="0"/>
              <a:t>分布式机器学习</a:t>
            </a:r>
            <a:endParaRPr lang="zh-CN" altLang="en-US" dirty="0"/>
          </a:p>
        </p:txBody>
      </p:sp>
      <p:sp>
        <p:nvSpPr>
          <p:cNvPr id="3" name="内容占位符 2"/>
          <p:cNvSpPr>
            <a:spLocks noGrp="1"/>
          </p:cNvSpPr>
          <p:nvPr>
            <p:ph idx="1"/>
          </p:nvPr>
        </p:nvSpPr>
        <p:spPr/>
        <p:txBody>
          <a:bodyPr/>
          <a:lstStyle/>
          <a:p>
            <a:r>
              <a:rPr lang="zh-CN" altLang="en-US" dirty="0" smtClean="0"/>
              <a:t>什么是机器学习</a:t>
            </a:r>
            <a:endParaRPr lang="en-US" altLang="zh-CN" dirty="0" smtClean="0"/>
          </a:p>
          <a:p>
            <a:pPr lvl="1"/>
            <a:r>
              <a:rPr lang="zh-CN" altLang="en-US" dirty="0" smtClean="0"/>
              <a:t>几种定义</a:t>
            </a:r>
            <a:endParaRPr lang="en-US" altLang="zh-CN" dirty="0" smtClean="0"/>
          </a:p>
          <a:p>
            <a:pPr lvl="2"/>
            <a:r>
              <a:rPr lang="zh-CN" altLang="en-US" dirty="0" smtClean="0"/>
              <a:t>机器学习</a:t>
            </a:r>
            <a:r>
              <a:rPr lang="zh-CN" altLang="en-US" dirty="0"/>
              <a:t>是一门人工智能的科学，该领域的主要研究对象是人工智能，特别是如何在经验学习中改善具体算法的性能。</a:t>
            </a:r>
          </a:p>
          <a:p>
            <a:pPr lvl="2"/>
            <a:r>
              <a:rPr lang="zh-CN" altLang="en-US" dirty="0" smtClean="0"/>
              <a:t>机器学习</a:t>
            </a:r>
            <a:r>
              <a:rPr lang="zh-CN" altLang="en-US" dirty="0"/>
              <a:t>是对能通过经验自动改进的计算机算法的研究。</a:t>
            </a:r>
          </a:p>
          <a:p>
            <a:pPr lvl="2"/>
            <a:r>
              <a:rPr lang="zh-CN" altLang="en-US" dirty="0" smtClean="0"/>
              <a:t>机器学习</a:t>
            </a:r>
            <a:r>
              <a:rPr lang="zh-CN" altLang="en-US" dirty="0"/>
              <a:t>是用数据或以往的经验，以此优化计算机程序的性能标准</a:t>
            </a:r>
            <a:r>
              <a:rPr lang="zh-CN" altLang="en-US" dirty="0" smtClean="0"/>
              <a:t>。</a:t>
            </a:r>
            <a:endParaRPr lang="en-US" altLang="zh-CN" dirty="0" smtClean="0"/>
          </a:p>
          <a:p>
            <a:pPr lvl="2"/>
            <a:endParaRPr lang="en-US" altLang="zh-CN" dirty="0"/>
          </a:p>
          <a:p>
            <a:pPr lvl="2"/>
            <a:r>
              <a:rPr lang="en-US" altLang="zh-CN" dirty="0" smtClean="0">
                <a:solidFill>
                  <a:srgbClr val="FF0000"/>
                </a:solidFill>
              </a:rPr>
              <a:t>T:Task</a:t>
            </a:r>
          </a:p>
          <a:p>
            <a:pPr lvl="2"/>
            <a:r>
              <a:rPr lang="en-US" altLang="zh-CN" dirty="0" smtClean="0">
                <a:solidFill>
                  <a:srgbClr val="FF0000"/>
                </a:solidFill>
              </a:rPr>
              <a:t>E:Experience</a:t>
            </a:r>
          </a:p>
          <a:p>
            <a:pPr lvl="2"/>
            <a:r>
              <a:rPr lang="en-US" altLang="zh-CN" dirty="0" smtClean="0">
                <a:solidFill>
                  <a:srgbClr val="FF0000"/>
                </a:solidFill>
              </a:rPr>
              <a:t>P:Performace</a:t>
            </a:r>
            <a:endParaRPr lang="zh-CN" altLang="en-US" dirty="0">
              <a:solidFill>
                <a:srgbClr val="FF0000"/>
              </a:solidFill>
            </a:endParaRPr>
          </a:p>
        </p:txBody>
      </p:sp>
      <p:sp>
        <p:nvSpPr>
          <p:cNvPr id="4" name="灯片编号占位符 3"/>
          <p:cNvSpPr>
            <a:spLocks noGrp="1"/>
          </p:cNvSpPr>
          <p:nvPr>
            <p:ph type="sldNum" sz="quarter" idx="12"/>
          </p:nvPr>
        </p:nvSpPr>
        <p:spPr/>
        <p:txBody>
          <a:bodyPr/>
          <a:lstStyle/>
          <a:p>
            <a:fld id="{C1C4B0C5-5BE3-40C4-8F17-4C7632BBC379}" type="slidenum">
              <a:rPr lang="en-US" altLang="zh-CN" smtClean="0"/>
              <a:t>47</a:t>
            </a:fld>
            <a:endParaRPr lang="en-US" altLang="zh-CN"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1880" y="4221088"/>
            <a:ext cx="3960440" cy="1887502"/>
          </a:xfrm>
          <a:prstGeom prst="rect">
            <a:avLst/>
          </a:prstGeom>
        </p:spPr>
      </p:pic>
    </p:spTree>
    <p:extLst>
      <p:ext uri="{BB962C8B-B14F-4D97-AF65-F5344CB8AC3E}">
        <p14:creationId xmlns:p14="http://schemas.microsoft.com/office/powerpoint/2010/main" val="219351639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9.6.1 </a:t>
            </a:r>
            <a:r>
              <a:rPr lang="zh-CN" altLang="en-US" dirty="0" smtClean="0"/>
              <a:t>分布式机器学习</a:t>
            </a:r>
            <a:endParaRPr lang="zh-CN" altLang="en-US" dirty="0"/>
          </a:p>
        </p:txBody>
      </p:sp>
      <p:sp>
        <p:nvSpPr>
          <p:cNvPr id="3" name="内容占位符 2"/>
          <p:cNvSpPr>
            <a:spLocks noGrp="1"/>
          </p:cNvSpPr>
          <p:nvPr>
            <p:ph idx="1"/>
          </p:nvPr>
        </p:nvSpPr>
        <p:spPr/>
        <p:txBody>
          <a:bodyPr/>
          <a:lstStyle/>
          <a:p>
            <a:r>
              <a:rPr lang="zh-CN" altLang="en-US" dirty="0" smtClean="0"/>
              <a:t>什么是分布式机器学习</a:t>
            </a:r>
            <a:endParaRPr lang="en-US" altLang="zh-CN" dirty="0"/>
          </a:p>
          <a:p>
            <a:pPr lvl="1"/>
            <a:r>
              <a:rPr lang="zh-CN" altLang="en-US" dirty="0" smtClean="0"/>
              <a:t>背景</a:t>
            </a:r>
            <a:endParaRPr lang="en-US" altLang="zh-CN" dirty="0" smtClean="0"/>
          </a:p>
          <a:p>
            <a:pPr lvl="2"/>
            <a:r>
              <a:rPr lang="zh-CN" altLang="en-US" dirty="0" smtClean="0"/>
              <a:t>大数据：大量有标签的训练数据</a:t>
            </a:r>
            <a:endParaRPr lang="en-US" altLang="zh-CN" dirty="0" smtClean="0"/>
          </a:p>
          <a:p>
            <a:pPr lvl="3"/>
            <a:r>
              <a:rPr lang="en-US" altLang="zh-CN" dirty="0" smtClean="0"/>
              <a:t>ImageNet</a:t>
            </a:r>
            <a:r>
              <a:rPr lang="zh-CN" altLang="en-US" dirty="0" smtClean="0"/>
              <a:t>数据集，包含</a:t>
            </a:r>
            <a:r>
              <a:rPr lang="en-US" altLang="zh-CN" dirty="0"/>
              <a:t>2</a:t>
            </a:r>
            <a:r>
              <a:rPr lang="zh-CN" altLang="en-US" dirty="0"/>
              <a:t>万多个</a:t>
            </a:r>
            <a:r>
              <a:rPr lang="zh-CN" altLang="en-US" dirty="0" smtClean="0"/>
              <a:t>类别、上千万张图片，</a:t>
            </a:r>
            <a:r>
              <a:rPr lang="en-US" altLang="zh-CN" dirty="0" smtClean="0"/>
              <a:t> </a:t>
            </a:r>
            <a:r>
              <a:rPr lang="zh-CN" altLang="en-US" dirty="0" smtClean="0"/>
              <a:t>大小约</a:t>
            </a:r>
            <a:r>
              <a:rPr lang="en-US" altLang="zh-CN" dirty="0" smtClean="0"/>
              <a:t>150G</a:t>
            </a:r>
          </a:p>
          <a:p>
            <a:pPr lvl="2"/>
            <a:r>
              <a:rPr lang="zh-CN" altLang="en-US" dirty="0" smtClean="0"/>
              <a:t>大模型：模型参数巨大</a:t>
            </a:r>
            <a:endParaRPr lang="en-US" altLang="zh-CN" dirty="0" smtClean="0"/>
          </a:p>
          <a:p>
            <a:pPr lvl="3"/>
            <a:r>
              <a:rPr lang="en-US" altLang="zh-CN" dirty="0" smtClean="0"/>
              <a:t>GPT-3</a:t>
            </a:r>
            <a:r>
              <a:rPr lang="zh-CN" altLang="en-US" dirty="0" smtClean="0"/>
              <a:t>：约</a:t>
            </a:r>
            <a:r>
              <a:rPr lang="en-US" altLang="zh-CN" dirty="0"/>
              <a:t>1750 </a:t>
            </a:r>
            <a:r>
              <a:rPr lang="zh-CN" altLang="en-US" dirty="0" smtClean="0"/>
              <a:t>亿个参数，训练数据达</a:t>
            </a:r>
            <a:r>
              <a:rPr lang="en-US" altLang="zh-CN" dirty="0" smtClean="0"/>
              <a:t>45TB</a:t>
            </a:r>
          </a:p>
          <a:p>
            <a:pPr lvl="2"/>
            <a:endParaRPr lang="en-US" altLang="zh-CN" dirty="0"/>
          </a:p>
          <a:p>
            <a:pPr lvl="2"/>
            <a:r>
              <a:rPr lang="zh-CN" altLang="en-US" dirty="0" smtClean="0"/>
              <a:t>带来</a:t>
            </a:r>
            <a:r>
              <a:rPr lang="zh-CN" altLang="en-US" dirty="0"/>
              <a:t>的问题</a:t>
            </a:r>
            <a:r>
              <a:rPr lang="zh-CN" altLang="en-US" dirty="0" smtClean="0"/>
              <a:t>：</a:t>
            </a:r>
            <a:endParaRPr lang="en-US" altLang="zh-CN" dirty="0" smtClean="0"/>
          </a:p>
          <a:p>
            <a:pPr lvl="3"/>
            <a:r>
              <a:rPr lang="zh-CN" altLang="en-US" dirty="0" smtClean="0"/>
              <a:t>单机资源已经无法满足大数据时代机器学习的需要</a:t>
            </a:r>
            <a:endParaRPr lang="en-US" altLang="zh-CN" dirty="0" smtClean="0"/>
          </a:p>
          <a:p>
            <a:pPr marL="914400" lvl="2" indent="0">
              <a:buNone/>
            </a:pPr>
            <a:r>
              <a:rPr lang="en-US" altLang="zh-CN" dirty="0"/>
              <a:t>	</a:t>
            </a:r>
            <a:endParaRPr lang="en-US" altLang="zh-CN" dirty="0" smtClean="0"/>
          </a:p>
          <a:p>
            <a:pPr lvl="2"/>
            <a:endParaRPr lang="en-US" altLang="zh-CN" dirty="0"/>
          </a:p>
          <a:p>
            <a:pPr lvl="2"/>
            <a:endParaRPr lang="en-US" altLang="zh-CN" dirty="0" smtClean="0"/>
          </a:p>
          <a:p>
            <a:pPr lvl="2"/>
            <a:endParaRPr lang="en-US" altLang="zh-CN" dirty="0"/>
          </a:p>
          <a:p>
            <a:pPr lvl="2"/>
            <a:endParaRPr lang="en-US" altLang="zh-CN" dirty="0" smtClean="0"/>
          </a:p>
          <a:p>
            <a:pPr lvl="2"/>
            <a:endParaRPr lang="en-US" altLang="zh-CN"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t>48</a:t>
            </a:fld>
            <a:endParaRPr lang="en-US" altLang="zh-CN" dirty="0"/>
          </a:p>
        </p:txBody>
      </p:sp>
    </p:spTree>
    <p:extLst>
      <p:ext uri="{BB962C8B-B14F-4D97-AF65-F5344CB8AC3E}">
        <p14:creationId xmlns:p14="http://schemas.microsoft.com/office/powerpoint/2010/main" val="359685332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9.6.1 </a:t>
            </a:r>
            <a:r>
              <a:rPr lang="zh-CN" altLang="en-US" dirty="0" smtClean="0"/>
              <a:t>分布式机器学习</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smtClean="0"/>
              <a:t>什么是分布式机器学习</a:t>
            </a:r>
            <a:endParaRPr lang="en-US" altLang="zh-CN" dirty="0" smtClean="0"/>
          </a:p>
          <a:p>
            <a:pPr lvl="1"/>
            <a:r>
              <a:rPr lang="zh-CN" altLang="en-US" dirty="0" smtClean="0"/>
              <a:t>分布式机器学习：通过庞大的计算机集群（尤其是</a:t>
            </a:r>
            <a:r>
              <a:rPr lang="en-US" altLang="zh-CN" dirty="0" smtClean="0"/>
              <a:t>GPU</a:t>
            </a:r>
            <a:r>
              <a:rPr lang="zh-CN" altLang="en-US" dirty="0" smtClean="0"/>
              <a:t>集群），在大规模的数据集上</a:t>
            </a:r>
            <a:r>
              <a:rPr lang="zh-CN" altLang="en-US" dirty="0" smtClean="0">
                <a:solidFill>
                  <a:srgbClr val="FF0000"/>
                </a:solidFill>
              </a:rPr>
              <a:t>并行</a:t>
            </a:r>
            <a:r>
              <a:rPr lang="zh-CN" altLang="en-US" dirty="0" smtClean="0"/>
              <a:t>训练出更加准确的大规模机器学习模型（大模型）。</a:t>
            </a:r>
            <a:endParaRPr lang="en-US" altLang="zh-CN" dirty="0" smtClean="0"/>
          </a:p>
          <a:p>
            <a:pPr lvl="1"/>
            <a:r>
              <a:rPr lang="zh-CN" altLang="en-US" dirty="0" smtClean="0"/>
              <a:t>系统主要</a:t>
            </a:r>
            <a:r>
              <a:rPr lang="zh-CN" altLang="en-US" dirty="0"/>
              <a:t>构成模块：</a:t>
            </a:r>
            <a:endParaRPr lang="en-US" altLang="zh-CN" dirty="0"/>
          </a:p>
          <a:p>
            <a:pPr lvl="2"/>
            <a:r>
              <a:rPr lang="zh-CN" altLang="en-US" dirty="0"/>
              <a:t>数据和模型划分模块</a:t>
            </a:r>
            <a:endParaRPr lang="en-US" altLang="zh-CN" dirty="0"/>
          </a:p>
          <a:p>
            <a:pPr lvl="2"/>
            <a:r>
              <a:rPr lang="zh-CN" altLang="en-US" dirty="0"/>
              <a:t>单机优化模块</a:t>
            </a:r>
            <a:endParaRPr lang="en-US" altLang="zh-CN" dirty="0"/>
          </a:p>
          <a:p>
            <a:pPr lvl="2"/>
            <a:r>
              <a:rPr lang="zh-CN" altLang="en-US" dirty="0"/>
              <a:t>通信模块</a:t>
            </a:r>
            <a:endParaRPr lang="en-US" altLang="zh-CN" dirty="0"/>
          </a:p>
          <a:p>
            <a:pPr lvl="2"/>
            <a:r>
              <a:rPr lang="zh-CN" altLang="en-US" dirty="0"/>
              <a:t>模型和数据聚合模块</a:t>
            </a:r>
            <a:endParaRPr lang="en-US" altLang="zh-CN" dirty="0"/>
          </a:p>
          <a:p>
            <a:pPr lvl="1"/>
            <a:r>
              <a:rPr lang="zh-CN" altLang="en-US" dirty="0" smtClean="0"/>
              <a:t>主要研究问题：</a:t>
            </a:r>
            <a:endParaRPr lang="en-US" altLang="zh-CN" dirty="0" smtClean="0"/>
          </a:p>
          <a:p>
            <a:pPr lvl="2"/>
            <a:r>
              <a:rPr lang="zh-CN" altLang="en-US" dirty="0" smtClean="0"/>
              <a:t>如何分配训练任务</a:t>
            </a:r>
            <a:endParaRPr lang="en-US" altLang="zh-CN" dirty="0" smtClean="0"/>
          </a:p>
          <a:p>
            <a:pPr lvl="2"/>
            <a:r>
              <a:rPr lang="zh-CN" altLang="en-US" dirty="0" smtClean="0"/>
              <a:t>如何调配资源</a:t>
            </a:r>
            <a:endParaRPr lang="en-US" altLang="zh-CN" dirty="0" smtClean="0"/>
          </a:p>
          <a:p>
            <a:pPr lvl="2"/>
            <a:r>
              <a:rPr lang="zh-CN" altLang="en-US" dirty="0" smtClean="0"/>
              <a:t>如何协调各大模块</a:t>
            </a:r>
            <a:endParaRPr lang="en-US" altLang="zh-CN" dirty="0" smtClean="0"/>
          </a:p>
          <a:p>
            <a:pPr lvl="2"/>
            <a:endParaRPr lang="en-US" altLang="zh-CN" dirty="0"/>
          </a:p>
          <a:p>
            <a:pPr marL="914400" lvl="2" indent="0">
              <a:buNone/>
            </a:pPr>
            <a:r>
              <a:rPr lang="zh-CN" altLang="en-US" dirty="0" smtClean="0">
                <a:solidFill>
                  <a:srgbClr val="FF0000"/>
                </a:solidFill>
              </a:rPr>
              <a:t>最终达到训练速度和精度的平衡</a:t>
            </a:r>
            <a:r>
              <a:rPr lang="zh-CN" altLang="en-US" dirty="0" smtClean="0"/>
              <a:t>。</a:t>
            </a:r>
            <a:r>
              <a:rPr lang="en-US" altLang="zh-CN" dirty="0"/>
              <a:t>	</a:t>
            </a:r>
            <a:endParaRPr lang="en-US" altLang="zh-CN" dirty="0" smtClean="0"/>
          </a:p>
          <a:p>
            <a:pPr lvl="2"/>
            <a:endParaRPr lang="en-US" altLang="zh-CN" dirty="0"/>
          </a:p>
          <a:p>
            <a:pPr lvl="2"/>
            <a:endParaRPr lang="en-US" altLang="zh-CN" dirty="0" smtClean="0"/>
          </a:p>
          <a:p>
            <a:pPr lvl="2"/>
            <a:endParaRPr lang="en-US" altLang="zh-CN" dirty="0"/>
          </a:p>
          <a:p>
            <a:pPr lvl="2"/>
            <a:endParaRPr lang="en-US" altLang="zh-CN" dirty="0" smtClean="0"/>
          </a:p>
          <a:p>
            <a:pPr lvl="2"/>
            <a:endParaRPr lang="en-US" altLang="zh-CN"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t>49</a:t>
            </a:fld>
            <a:endParaRPr lang="en-US" altLang="zh-CN" dirty="0"/>
          </a:p>
        </p:txBody>
      </p:sp>
    </p:spTree>
    <p:extLst>
      <p:ext uri="{BB962C8B-B14F-4D97-AF65-F5344CB8AC3E}">
        <p14:creationId xmlns:p14="http://schemas.microsoft.com/office/powerpoint/2010/main" val="416807311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9.6.1 </a:t>
            </a:r>
            <a:r>
              <a:rPr lang="zh-CN" altLang="en-US" dirty="0" smtClean="0"/>
              <a:t>分布式机器学习</a:t>
            </a:r>
            <a:endParaRPr lang="zh-CN" altLang="en-US" dirty="0"/>
          </a:p>
        </p:txBody>
      </p:sp>
      <p:sp>
        <p:nvSpPr>
          <p:cNvPr id="3" name="内容占位符 2"/>
          <p:cNvSpPr>
            <a:spLocks noGrp="1"/>
          </p:cNvSpPr>
          <p:nvPr>
            <p:ph idx="1"/>
          </p:nvPr>
        </p:nvSpPr>
        <p:spPr/>
        <p:txBody>
          <a:bodyPr>
            <a:normAutofit/>
          </a:bodyPr>
          <a:lstStyle/>
          <a:p>
            <a:r>
              <a:rPr lang="zh-CN" altLang="en-US" dirty="0" smtClean="0"/>
              <a:t>分布式机器学习</a:t>
            </a:r>
            <a:endParaRPr lang="en-US" altLang="zh-CN" dirty="0" smtClean="0"/>
          </a:p>
          <a:p>
            <a:pPr lvl="1"/>
            <a:r>
              <a:rPr lang="zh-CN" altLang="en-US" dirty="0" smtClean="0"/>
              <a:t>并行策略</a:t>
            </a:r>
            <a:endParaRPr lang="en-US" altLang="zh-CN" dirty="0" smtClean="0"/>
          </a:p>
          <a:p>
            <a:pPr lvl="2"/>
            <a:r>
              <a:rPr lang="zh-CN" altLang="en-US" dirty="0" smtClean="0"/>
              <a:t>数据并行</a:t>
            </a:r>
            <a:endParaRPr lang="en-US" altLang="zh-CN" dirty="0" smtClean="0"/>
          </a:p>
          <a:p>
            <a:pPr lvl="3"/>
            <a:r>
              <a:rPr lang="zh-CN" altLang="en-US" dirty="0" smtClean="0"/>
              <a:t>随机采样</a:t>
            </a:r>
            <a:endParaRPr lang="en-US" altLang="zh-CN" dirty="0" smtClean="0"/>
          </a:p>
          <a:p>
            <a:pPr lvl="3"/>
            <a:r>
              <a:rPr lang="zh-CN" altLang="en-US" dirty="0" smtClean="0"/>
              <a:t>置乱切分</a:t>
            </a:r>
            <a:endParaRPr lang="en-US" altLang="zh-CN" dirty="0" smtClean="0"/>
          </a:p>
          <a:p>
            <a:pPr lvl="2"/>
            <a:r>
              <a:rPr lang="zh-CN" altLang="en-US" dirty="0" smtClean="0"/>
              <a:t>模型并行</a:t>
            </a:r>
            <a:endParaRPr lang="en-US" altLang="zh-CN" dirty="0" smtClean="0"/>
          </a:p>
          <a:p>
            <a:pPr lvl="3"/>
            <a:r>
              <a:rPr lang="zh-CN" altLang="en-US" dirty="0" smtClean="0"/>
              <a:t>横向按层划分</a:t>
            </a:r>
            <a:endParaRPr lang="en-US" altLang="zh-CN" dirty="0" smtClean="0"/>
          </a:p>
          <a:p>
            <a:pPr lvl="3"/>
            <a:r>
              <a:rPr lang="zh-CN" altLang="en-US" dirty="0" smtClean="0"/>
              <a:t>纵向跨层划分</a:t>
            </a:r>
            <a:endParaRPr lang="en-US" altLang="zh-CN" dirty="0" smtClean="0"/>
          </a:p>
          <a:p>
            <a:pPr lvl="3"/>
            <a:r>
              <a:rPr lang="zh-CN" altLang="en-US" dirty="0" smtClean="0"/>
              <a:t>模型随机并行</a:t>
            </a:r>
            <a:endParaRPr lang="en-US" altLang="zh-CN" dirty="0" smtClean="0"/>
          </a:p>
          <a:p>
            <a:pPr lvl="2"/>
            <a:r>
              <a:rPr lang="zh-CN" altLang="en-US" dirty="0" smtClean="0"/>
              <a:t>混合策略</a:t>
            </a:r>
            <a:r>
              <a:rPr lang="en-US" altLang="zh-CN" dirty="0"/>
              <a:t>	</a:t>
            </a:r>
            <a:endParaRPr lang="en-US" altLang="zh-CN" dirty="0" smtClean="0"/>
          </a:p>
          <a:p>
            <a:pPr lvl="2"/>
            <a:endParaRPr lang="en-US" altLang="zh-CN" dirty="0"/>
          </a:p>
          <a:p>
            <a:pPr lvl="2"/>
            <a:endParaRPr lang="en-US" altLang="zh-CN" dirty="0" smtClean="0"/>
          </a:p>
          <a:p>
            <a:pPr lvl="2"/>
            <a:endParaRPr lang="en-US" altLang="zh-CN" dirty="0"/>
          </a:p>
          <a:p>
            <a:pPr lvl="2"/>
            <a:endParaRPr lang="en-US" altLang="zh-CN" dirty="0" smtClean="0"/>
          </a:p>
          <a:p>
            <a:pPr lvl="2"/>
            <a:endParaRPr lang="en-US" altLang="zh-CN"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t>50</a:t>
            </a:fld>
            <a:endParaRPr lang="en-US" altLang="zh-CN" dirty="0"/>
          </a:p>
        </p:txBody>
      </p:sp>
    </p:spTree>
    <p:extLst>
      <p:ext uri="{BB962C8B-B14F-4D97-AF65-F5344CB8AC3E}">
        <p14:creationId xmlns:p14="http://schemas.microsoft.com/office/powerpoint/2010/main" val="159218456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9.6.1 </a:t>
            </a:r>
            <a:r>
              <a:rPr lang="zh-CN" altLang="en-US" dirty="0" smtClean="0"/>
              <a:t>分布式机器学习</a:t>
            </a:r>
            <a:endParaRPr lang="zh-CN" altLang="en-US" dirty="0"/>
          </a:p>
        </p:txBody>
      </p:sp>
      <p:sp>
        <p:nvSpPr>
          <p:cNvPr id="3" name="内容占位符 2"/>
          <p:cNvSpPr>
            <a:spLocks noGrp="1"/>
          </p:cNvSpPr>
          <p:nvPr>
            <p:ph idx="1"/>
          </p:nvPr>
        </p:nvSpPr>
        <p:spPr/>
        <p:txBody>
          <a:bodyPr>
            <a:normAutofit/>
          </a:bodyPr>
          <a:lstStyle/>
          <a:p>
            <a:r>
              <a:rPr lang="zh-CN" altLang="en-US" dirty="0" smtClean="0"/>
              <a:t>分布式机器学习</a:t>
            </a:r>
            <a:endParaRPr lang="en-US" altLang="zh-CN" dirty="0" smtClean="0"/>
          </a:p>
          <a:p>
            <a:pPr lvl="1"/>
            <a:r>
              <a:rPr lang="zh-CN" altLang="en-US" dirty="0" smtClean="0"/>
              <a:t>通信架构</a:t>
            </a:r>
            <a:endParaRPr lang="en-US" altLang="zh-CN" dirty="0" smtClean="0"/>
          </a:p>
          <a:p>
            <a:pPr lvl="2"/>
            <a:r>
              <a:rPr lang="zh-CN" altLang="en-US" dirty="0" smtClean="0"/>
              <a:t>迭代式</a:t>
            </a:r>
            <a:r>
              <a:rPr lang="en-US" altLang="zh-CN" dirty="0" err="1" smtClean="0"/>
              <a:t>MapReduce</a:t>
            </a:r>
            <a:r>
              <a:rPr lang="en-US" altLang="zh-CN" dirty="0" smtClean="0"/>
              <a:t>/All Reduce</a:t>
            </a:r>
          </a:p>
          <a:p>
            <a:pPr lvl="2"/>
            <a:r>
              <a:rPr lang="zh-CN" altLang="en-US" dirty="0" smtClean="0"/>
              <a:t>参数服务器</a:t>
            </a:r>
            <a:endParaRPr lang="en-US" altLang="zh-CN" dirty="0" smtClean="0"/>
          </a:p>
          <a:p>
            <a:pPr lvl="2"/>
            <a:r>
              <a:rPr lang="zh-CN" altLang="en-US" dirty="0" smtClean="0"/>
              <a:t>数据流</a:t>
            </a:r>
            <a:endParaRPr lang="en-US" altLang="zh-CN" dirty="0" smtClean="0"/>
          </a:p>
          <a:p>
            <a:pPr lvl="2"/>
            <a:endParaRPr lang="en-US" altLang="zh-CN" dirty="0"/>
          </a:p>
          <a:p>
            <a:pPr lvl="2"/>
            <a:endParaRPr lang="en-US" altLang="zh-CN" dirty="0" smtClean="0"/>
          </a:p>
          <a:p>
            <a:pPr lvl="2"/>
            <a:endParaRPr lang="en-US" altLang="zh-CN" dirty="0"/>
          </a:p>
          <a:p>
            <a:pPr lvl="2"/>
            <a:endParaRPr lang="en-US" altLang="zh-CN" dirty="0" smtClean="0"/>
          </a:p>
          <a:p>
            <a:pPr lvl="2"/>
            <a:endParaRPr lang="en-US" altLang="zh-CN"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t>51</a:t>
            </a:fld>
            <a:endParaRPr lang="en-US" altLang="zh-CN" dirty="0"/>
          </a:p>
        </p:txBody>
      </p:sp>
    </p:spTree>
    <p:extLst>
      <p:ext uri="{BB962C8B-B14F-4D97-AF65-F5344CB8AC3E}">
        <p14:creationId xmlns:p14="http://schemas.microsoft.com/office/powerpoint/2010/main" val="311167165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9.6.1 </a:t>
            </a:r>
            <a:r>
              <a:rPr lang="zh-CN" altLang="en-US" dirty="0" smtClean="0"/>
              <a:t>分布式机器学习</a:t>
            </a:r>
            <a:endParaRPr lang="zh-CN" altLang="en-US" dirty="0"/>
          </a:p>
        </p:txBody>
      </p:sp>
      <p:sp>
        <p:nvSpPr>
          <p:cNvPr id="3" name="内容占位符 2"/>
          <p:cNvSpPr>
            <a:spLocks noGrp="1"/>
          </p:cNvSpPr>
          <p:nvPr>
            <p:ph idx="1"/>
          </p:nvPr>
        </p:nvSpPr>
        <p:spPr/>
        <p:txBody>
          <a:bodyPr>
            <a:normAutofit/>
          </a:bodyPr>
          <a:lstStyle/>
          <a:p>
            <a:r>
              <a:rPr lang="zh-CN" altLang="en-US" dirty="0" smtClean="0"/>
              <a:t>分布式机器学习</a:t>
            </a:r>
            <a:endParaRPr lang="en-US" altLang="zh-CN" dirty="0" smtClean="0"/>
          </a:p>
          <a:p>
            <a:pPr lvl="1"/>
            <a:r>
              <a:rPr lang="zh-CN" altLang="en-US" dirty="0" smtClean="0"/>
              <a:t>通信架构</a:t>
            </a:r>
            <a:endParaRPr lang="en-US" altLang="zh-CN" dirty="0" smtClean="0"/>
          </a:p>
          <a:p>
            <a:pPr lvl="2"/>
            <a:r>
              <a:rPr lang="zh-CN" altLang="en-US" dirty="0" smtClean="0"/>
              <a:t>迭代式</a:t>
            </a:r>
            <a:r>
              <a:rPr lang="en-US" altLang="zh-CN" dirty="0" err="1" smtClean="0"/>
              <a:t>MapReduce</a:t>
            </a:r>
            <a:r>
              <a:rPr lang="en-US" altLang="zh-CN" dirty="0" smtClean="0"/>
              <a:t>/All Reduce</a:t>
            </a:r>
          </a:p>
          <a:p>
            <a:pPr lvl="3"/>
            <a:r>
              <a:rPr lang="zh-CN" altLang="en-US" dirty="0" smtClean="0"/>
              <a:t>典型系统：</a:t>
            </a:r>
            <a:r>
              <a:rPr lang="en-US" altLang="zh-CN" dirty="0" smtClean="0"/>
              <a:t>Spark</a:t>
            </a:r>
            <a:r>
              <a:rPr lang="zh-CN" altLang="en-US" dirty="0" smtClean="0"/>
              <a:t> </a:t>
            </a:r>
            <a:r>
              <a:rPr lang="en-US" altLang="zh-CN" dirty="0" err="1" smtClean="0"/>
              <a:t>MLlib</a:t>
            </a:r>
            <a:r>
              <a:rPr lang="zh-CN" altLang="en-US" dirty="0" smtClean="0"/>
              <a:t>、</a:t>
            </a:r>
            <a:r>
              <a:rPr lang="en-US" altLang="zh-CN" dirty="0" err="1" smtClean="0"/>
              <a:t>SystemML</a:t>
            </a:r>
            <a:r>
              <a:rPr lang="zh-CN" altLang="en-US" dirty="0" smtClean="0"/>
              <a:t>、</a:t>
            </a:r>
            <a:r>
              <a:rPr lang="en-US" altLang="zh-CN" dirty="0" smtClean="0"/>
              <a:t>REEF</a:t>
            </a:r>
          </a:p>
          <a:p>
            <a:pPr lvl="2"/>
            <a:endParaRPr lang="en-US" altLang="zh-CN" dirty="0"/>
          </a:p>
          <a:p>
            <a:pPr lvl="2"/>
            <a:endParaRPr lang="en-US" altLang="zh-CN" dirty="0" smtClean="0"/>
          </a:p>
          <a:p>
            <a:pPr lvl="2"/>
            <a:endParaRPr lang="en-US" altLang="zh-CN" dirty="0"/>
          </a:p>
          <a:p>
            <a:pPr lvl="2"/>
            <a:endParaRPr lang="en-US" altLang="zh-CN" dirty="0" smtClean="0"/>
          </a:p>
          <a:p>
            <a:pPr lvl="2"/>
            <a:endParaRPr lang="en-US" altLang="zh-CN"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t>52</a:t>
            </a:fld>
            <a:endParaRPr lang="en-US" altLang="zh-CN"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5696" y="3140968"/>
            <a:ext cx="3643567" cy="2996952"/>
          </a:xfrm>
          <a:prstGeom prst="rect">
            <a:avLst/>
          </a:prstGeom>
        </p:spPr>
      </p:pic>
    </p:spTree>
    <p:extLst>
      <p:ext uri="{BB962C8B-B14F-4D97-AF65-F5344CB8AC3E}">
        <p14:creationId xmlns:p14="http://schemas.microsoft.com/office/powerpoint/2010/main" val="180952252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9.6.1 </a:t>
            </a:r>
            <a:r>
              <a:rPr lang="zh-CN" altLang="en-US" dirty="0" smtClean="0"/>
              <a:t>分布式机器学习</a:t>
            </a:r>
            <a:endParaRPr lang="zh-CN" altLang="en-US" dirty="0"/>
          </a:p>
        </p:txBody>
      </p:sp>
      <p:sp>
        <p:nvSpPr>
          <p:cNvPr id="3" name="内容占位符 2"/>
          <p:cNvSpPr>
            <a:spLocks noGrp="1"/>
          </p:cNvSpPr>
          <p:nvPr>
            <p:ph idx="1"/>
          </p:nvPr>
        </p:nvSpPr>
        <p:spPr/>
        <p:txBody>
          <a:bodyPr>
            <a:normAutofit/>
          </a:bodyPr>
          <a:lstStyle/>
          <a:p>
            <a:r>
              <a:rPr lang="zh-CN" altLang="en-US" dirty="0" smtClean="0"/>
              <a:t>分布式机器学习</a:t>
            </a:r>
            <a:endParaRPr lang="en-US" altLang="zh-CN" dirty="0" smtClean="0"/>
          </a:p>
          <a:p>
            <a:pPr lvl="1"/>
            <a:r>
              <a:rPr lang="zh-CN" altLang="en-US" dirty="0" smtClean="0"/>
              <a:t>通信架构</a:t>
            </a:r>
            <a:endParaRPr lang="en-US" altLang="zh-CN" dirty="0" smtClean="0"/>
          </a:p>
          <a:p>
            <a:pPr lvl="2"/>
            <a:r>
              <a:rPr lang="zh-CN" altLang="en-US" dirty="0" smtClean="0"/>
              <a:t>参数服务器</a:t>
            </a:r>
            <a:endParaRPr lang="en-US" altLang="zh-CN" dirty="0" smtClean="0"/>
          </a:p>
          <a:p>
            <a:pPr lvl="3"/>
            <a:r>
              <a:rPr lang="zh-CN" altLang="en-US" dirty="0" smtClean="0"/>
              <a:t>典型框架：</a:t>
            </a:r>
            <a:r>
              <a:rPr lang="en-US" altLang="zh-CN" dirty="0" smtClean="0"/>
              <a:t>CMU Parameter Server</a:t>
            </a:r>
            <a:r>
              <a:rPr lang="zh-CN" altLang="en-US" dirty="0" smtClean="0"/>
              <a:t>、</a:t>
            </a:r>
            <a:r>
              <a:rPr lang="en-US" altLang="zh-CN" dirty="0" err="1" smtClean="0"/>
              <a:t>DistBelief</a:t>
            </a:r>
            <a:r>
              <a:rPr lang="zh-CN" altLang="en-US" dirty="0" smtClean="0"/>
              <a:t>、</a:t>
            </a:r>
            <a:r>
              <a:rPr lang="en-US" altLang="zh-CN" dirty="0" err="1" smtClean="0"/>
              <a:t>Multiverso</a:t>
            </a:r>
            <a:endParaRPr lang="en-US" altLang="zh-CN" dirty="0" smtClean="0"/>
          </a:p>
          <a:p>
            <a:pPr lvl="3"/>
            <a:r>
              <a:rPr lang="zh-CN" altLang="en-US" dirty="0" smtClean="0"/>
              <a:t>典型系统：</a:t>
            </a:r>
            <a:r>
              <a:rPr lang="en-US" altLang="zh-CN" dirty="0" err="1" smtClean="0"/>
              <a:t>MxNet</a:t>
            </a:r>
            <a:r>
              <a:rPr lang="zh-CN" altLang="en-US" dirty="0" smtClean="0"/>
              <a:t>、</a:t>
            </a:r>
            <a:r>
              <a:rPr lang="en-US" altLang="zh-CN" dirty="0" smtClean="0"/>
              <a:t>Paddle</a:t>
            </a:r>
            <a:r>
              <a:rPr lang="zh-CN" altLang="en-US" dirty="0" smtClean="0"/>
              <a:t>、</a:t>
            </a:r>
            <a:r>
              <a:rPr lang="en-US" altLang="zh-CN" dirty="0" smtClean="0"/>
              <a:t>DMTK</a:t>
            </a:r>
            <a:r>
              <a:rPr lang="zh-CN" altLang="en-US" dirty="0" smtClean="0"/>
              <a:t>、</a:t>
            </a:r>
            <a:r>
              <a:rPr lang="en-US" altLang="zh-CN" dirty="0" err="1" smtClean="0"/>
              <a:t>Petumm</a:t>
            </a:r>
            <a:endParaRPr lang="en-US" altLang="zh-CN" dirty="0"/>
          </a:p>
          <a:p>
            <a:pPr lvl="2"/>
            <a:endParaRPr lang="en-US" altLang="zh-CN" dirty="0" smtClean="0"/>
          </a:p>
          <a:p>
            <a:pPr lvl="2"/>
            <a:endParaRPr lang="en-US" altLang="zh-CN"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t>53</a:t>
            </a:fld>
            <a:endParaRPr lang="en-US" altLang="zh-CN"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5776" y="3429000"/>
            <a:ext cx="3601020" cy="2599927"/>
          </a:xfrm>
          <a:prstGeom prst="rect">
            <a:avLst/>
          </a:prstGeom>
        </p:spPr>
      </p:pic>
    </p:spTree>
    <p:extLst>
      <p:ext uri="{BB962C8B-B14F-4D97-AF65-F5344CB8AC3E}">
        <p14:creationId xmlns:p14="http://schemas.microsoft.com/office/powerpoint/2010/main" val="272676424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9.6.1 </a:t>
            </a:r>
            <a:r>
              <a:rPr lang="zh-CN" altLang="en-US" dirty="0" smtClean="0"/>
              <a:t>分布式机器学习</a:t>
            </a:r>
            <a:endParaRPr lang="zh-CN" altLang="en-US" dirty="0"/>
          </a:p>
        </p:txBody>
      </p:sp>
      <p:sp>
        <p:nvSpPr>
          <p:cNvPr id="3" name="内容占位符 2"/>
          <p:cNvSpPr>
            <a:spLocks noGrp="1"/>
          </p:cNvSpPr>
          <p:nvPr>
            <p:ph idx="1"/>
          </p:nvPr>
        </p:nvSpPr>
        <p:spPr/>
        <p:txBody>
          <a:bodyPr>
            <a:normAutofit/>
          </a:bodyPr>
          <a:lstStyle/>
          <a:p>
            <a:r>
              <a:rPr lang="zh-CN" altLang="en-US" dirty="0" smtClean="0"/>
              <a:t>分布式机器学习</a:t>
            </a:r>
            <a:endParaRPr lang="en-US" altLang="zh-CN" dirty="0" smtClean="0"/>
          </a:p>
          <a:p>
            <a:pPr lvl="1"/>
            <a:r>
              <a:rPr lang="zh-CN" altLang="en-US" dirty="0" smtClean="0"/>
              <a:t>通信架构</a:t>
            </a:r>
            <a:endParaRPr lang="en-US" altLang="zh-CN" dirty="0" smtClean="0"/>
          </a:p>
          <a:p>
            <a:pPr lvl="2"/>
            <a:r>
              <a:rPr lang="zh-CN" altLang="en-US" dirty="0" smtClean="0"/>
              <a:t>数据流</a:t>
            </a:r>
            <a:endParaRPr lang="en-US" altLang="zh-CN" dirty="0" smtClean="0"/>
          </a:p>
          <a:p>
            <a:pPr lvl="3"/>
            <a:r>
              <a:rPr lang="zh-CN" altLang="en-US" dirty="0" smtClean="0"/>
              <a:t>典型系统：</a:t>
            </a:r>
            <a:r>
              <a:rPr lang="en-US" altLang="zh-CN" dirty="0" err="1" smtClean="0"/>
              <a:t>TensorFlow</a:t>
            </a:r>
            <a:endParaRPr lang="en-US" altLang="zh-CN" dirty="0" smtClean="0"/>
          </a:p>
          <a:p>
            <a:pPr lvl="2"/>
            <a:endParaRPr lang="en-US" altLang="zh-CN" dirty="0"/>
          </a:p>
          <a:p>
            <a:pPr lvl="2"/>
            <a:endParaRPr lang="en-US" altLang="zh-CN" dirty="0" smtClean="0"/>
          </a:p>
          <a:p>
            <a:pPr lvl="2"/>
            <a:endParaRPr lang="en-US" altLang="zh-CN" dirty="0"/>
          </a:p>
          <a:p>
            <a:pPr lvl="2"/>
            <a:endParaRPr lang="en-US" altLang="zh-CN" dirty="0" smtClean="0"/>
          </a:p>
          <a:p>
            <a:pPr lvl="2"/>
            <a:endParaRPr lang="en-US" altLang="zh-CN"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t>54</a:t>
            </a:fld>
            <a:endParaRPr lang="en-US" altLang="zh-CN"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3284984"/>
            <a:ext cx="6068755" cy="1459821"/>
          </a:xfrm>
          <a:prstGeom prst="rect">
            <a:avLst/>
          </a:prstGeom>
        </p:spPr>
      </p:pic>
    </p:spTree>
    <p:extLst>
      <p:ext uri="{BB962C8B-B14F-4D97-AF65-F5344CB8AC3E}">
        <p14:creationId xmlns:p14="http://schemas.microsoft.com/office/powerpoint/2010/main" val="84221000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9.6.2 </a:t>
            </a:r>
            <a:r>
              <a:rPr lang="en-US" altLang="zh-CN" dirty="0"/>
              <a:t>Spark </a:t>
            </a:r>
            <a:r>
              <a:rPr lang="en-US" altLang="zh-CN" dirty="0" err="1"/>
              <a:t>MLlib</a:t>
            </a:r>
            <a:r>
              <a:rPr lang="zh-CN" altLang="en-US" dirty="0" smtClean="0"/>
              <a:t>简介</a:t>
            </a:r>
            <a:endParaRPr lang="zh-CN" altLang="en-US" dirty="0"/>
          </a:p>
        </p:txBody>
      </p:sp>
      <p:sp>
        <p:nvSpPr>
          <p:cNvPr id="3" name="内容占位符 2"/>
          <p:cNvSpPr>
            <a:spLocks noGrp="1"/>
          </p:cNvSpPr>
          <p:nvPr>
            <p:ph idx="1"/>
          </p:nvPr>
        </p:nvSpPr>
        <p:spPr/>
        <p:txBody>
          <a:bodyPr/>
          <a:lstStyle/>
          <a:p>
            <a:r>
              <a:rPr lang="en-US" altLang="zh-CN" dirty="0">
                <a:latin typeface="Arial" panose="020B0604020202020204" pitchFamily="34" charset="0"/>
              </a:rPr>
              <a:t>Spark</a:t>
            </a:r>
            <a:r>
              <a:rPr lang="zh-CN" altLang="en-US" dirty="0">
                <a:latin typeface="Arial" panose="020B0604020202020204" pitchFamily="34" charset="0"/>
              </a:rPr>
              <a:t>提供了一个基于海量数据的</a:t>
            </a:r>
            <a:r>
              <a:rPr lang="zh-CN" altLang="en-US" dirty="0">
                <a:solidFill>
                  <a:srgbClr val="FF0000"/>
                </a:solidFill>
                <a:latin typeface="Arial" panose="020B0604020202020204" pitchFamily="34" charset="0"/>
              </a:rPr>
              <a:t>机器学习库</a:t>
            </a:r>
            <a:r>
              <a:rPr lang="zh-CN" altLang="en-US" dirty="0">
                <a:latin typeface="Arial" panose="020B0604020202020204" pitchFamily="34" charset="0"/>
              </a:rPr>
              <a:t>，它提供了常用机器学习算法的分布式</a:t>
            </a:r>
            <a:r>
              <a:rPr lang="zh-CN" altLang="en-US" dirty="0" smtClean="0">
                <a:latin typeface="Arial" panose="020B0604020202020204" pitchFamily="34" charset="0"/>
              </a:rPr>
              <a:t>实现</a:t>
            </a:r>
            <a:endParaRPr lang="en-US" altLang="zh-CN" dirty="0" smtClean="0">
              <a:latin typeface="Arial" panose="020B0604020202020204" pitchFamily="34" charset="0"/>
            </a:endParaRPr>
          </a:p>
          <a:p>
            <a:r>
              <a:rPr lang="zh-CN" altLang="en-US" dirty="0">
                <a:latin typeface="Arial" panose="020B0604020202020204" pitchFamily="34" charset="0"/>
              </a:rPr>
              <a:t>开发者只需要有 </a:t>
            </a:r>
            <a:r>
              <a:rPr lang="en-US" altLang="zh-CN" dirty="0">
                <a:latin typeface="Arial" panose="020B0604020202020204" pitchFamily="34" charset="0"/>
              </a:rPr>
              <a:t>Spark </a:t>
            </a:r>
            <a:r>
              <a:rPr lang="zh-CN" altLang="en-US" dirty="0">
                <a:latin typeface="Arial" panose="020B0604020202020204" pitchFamily="34" charset="0"/>
              </a:rPr>
              <a:t>基础并且了解机器学习算法的原理，以及方法相关参数的含义，就可以轻松的通过调用相应的 </a:t>
            </a:r>
            <a:r>
              <a:rPr lang="en-US" altLang="zh-CN" dirty="0">
                <a:latin typeface="Arial" panose="020B0604020202020204" pitchFamily="34" charset="0"/>
              </a:rPr>
              <a:t>API </a:t>
            </a:r>
            <a:r>
              <a:rPr lang="zh-CN" altLang="en-US" dirty="0">
                <a:latin typeface="Arial" panose="020B0604020202020204" pitchFamily="34" charset="0"/>
              </a:rPr>
              <a:t>来实现基于海量数据的机器学习</a:t>
            </a:r>
            <a:r>
              <a:rPr lang="zh-CN" altLang="en-US" dirty="0" smtClean="0">
                <a:latin typeface="Arial" panose="020B0604020202020204" pitchFamily="34" charset="0"/>
              </a:rPr>
              <a:t>过程</a:t>
            </a:r>
            <a:endParaRPr lang="en-US" altLang="zh-CN" dirty="0" smtClean="0">
              <a:latin typeface="Arial" panose="020B0604020202020204" pitchFamily="34" charset="0"/>
            </a:endParaRPr>
          </a:p>
          <a:p>
            <a:r>
              <a:rPr lang="en-US" altLang="zh-CN" dirty="0">
                <a:latin typeface="Arial" panose="020B0604020202020204" pitchFamily="34" charset="0"/>
              </a:rPr>
              <a:t>Spark-Shell</a:t>
            </a:r>
            <a:r>
              <a:rPr lang="zh-CN" altLang="en-US" dirty="0">
                <a:latin typeface="Arial" panose="020B0604020202020204" pitchFamily="34" charset="0"/>
              </a:rPr>
              <a:t>的</a:t>
            </a:r>
            <a:r>
              <a:rPr lang="zh-CN" altLang="en-US" dirty="0">
                <a:solidFill>
                  <a:srgbClr val="FF0000"/>
                </a:solidFill>
                <a:latin typeface="Arial" panose="020B0604020202020204" pitchFamily="34" charset="0"/>
              </a:rPr>
              <a:t>即席查询</a:t>
            </a:r>
            <a:r>
              <a:rPr lang="zh-CN" altLang="en-US" dirty="0">
                <a:latin typeface="Arial" panose="020B0604020202020204" pitchFamily="34" charset="0"/>
              </a:rPr>
              <a:t>也是一个关键。算法工程师可以边写代码边运行，边看结果</a:t>
            </a:r>
          </a:p>
          <a:p>
            <a:endParaRPr lang="en-US" altLang="zh-CN" dirty="0">
              <a:latin typeface="Arial" panose="020B0604020202020204" pitchFamily="34" charset="0"/>
            </a:endParaRPr>
          </a:p>
          <a:p>
            <a:endParaRPr lang="en-US" altLang="zh-CN" dirty="0">
              <a:latin typeface="Arial" panose="020B0604020202020204" pitchFamily="34" charset="0"/>
            </a:endParaRPr>
          </a:p>
          <a:p>
            <a:endParaRPr lang="zh-CN" altLang="en-US" dirty="0"/>
          </a:p>
        </p:txBody>
      </p:sp>
      <p:sp>
        <p:nvSpPr>
          <p:cNvPr id="4" name="灯片编号占位符 3"/>
          <p:cNvSpPr>
            <a:spLocks noGrp="1"/>
          </p:cNvSpPr>
          <p:nvPr>
            <p:ph type="sldNum" sz="quarter" idx="12"/>
          </p:nvPr>
        </p:nvSpPr>
        <p:spPr/>
        <p:txBody>
          <a:bodyPr/>
          <a:lstStyle/>
          <a:p>
            <a:fld id="{C1C4B0C5-5BE3-40C4-8F17-4C7632BBC379}" type="slidenum">
              <a:rPr lang="en-US" altLang="zh-CN" smtClean="0"/>
              <a:t>55</a:t>
            </a:fld>
            <a:endParaRPr lang="en-US" altLang="zh-CN" dirty="0"/>
          </a:p>
        </p:txBody>
      </p:sp>
    </p:spTree>
    <p:extLst>
      <p:ext uri="{BB962C8B-B14F-4D97-AF65-F5344CB8AC3E}">
        <p14:creationId xmlns:p14="http://schemas.microsoft.com/office/powerpoint/2010/main" val="62682248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9.6.2 </a:t>
            </a:r>
            <a:r>
              <a:rPr lang="en-US" altLang="zh-CN" dirty="0"/>
              <a:t>Spark </a:t>
            </a:r>
            <a:r>
              <a:rPr lang="en-US" altLang="zh-CN" dirty="0" err="1"/>
              <a:t>MLlib</a:t>
            </a:r>
            <a:r>
              <a:rPr lang="zh-CN" altLang="en-US" dirty="0"/>
              <a:t>简介</a:t>
            </a:r>
          </a:p>
        </p:txBody>
      </p:sp>
      <p:sp>
        <p:nvSpPr>
          <p:cNvPr id="3" name="内容占位符 2"/>
          <p:cNvSpPr>
            <a:spLocks noGrp="1"/>
          </p:cNvSpPr>
          <p:nvPr>
            <p:ph idx="1"/>
          </p:nvPr>
        </p:nvSpPr>
        <p:spPr/>
        <p:txBody>
          <a:bodyPr/>
          <a:lstStyle/>
          <a:p>
            <a:r>
              <a:rPr lang="en-US" altLang="zh-CN" dirty="0" err="1">
                <a:latin typeface="Arial" panose="020B0604020202020204" pitchFamily="34" charset="0"/>
              </a:rPr>
              <a:t>MLlib</a:t>
            </a:r>
            <a:r>
              <a:rPr lang="zh-CN" altLang="en-US" dirty="0">
                <a:latin typeface="Arial" panose="020B0604020202020204" pitchFamily="34" charset="0"/>
              </a:rPr>
              <a:t>是</a:t>
            </a:r>
            <a:r>
              <a:rPr lang="en-US" altLang="zh-CN" dirty="0">
                <a:latin typeface="Arial" panose="020B0604020202020204" pitchFamily="34" charset="0"/>
              </a:rPr>
              <a:t>Spark</a:t>
            </a:r>
            <a:r>
              <a:rPr lang="zh-CN" altLang="en-US" dirty="0">
                <a:latin typeface="Arial" panose="020B0604020202020204" pitchFamily="34" charset="0"/>
              </a:rPr>
              <a:t>的机器学习（</a:t>
            </a:r>
            <a:r>
              <a:rPr lang="en-US" altLang="zh-CN" dirty="0">
                <a:latin typeface="Arial" panose="020B0604020202020204" pitchFamily="34" charset="0"/>
              </a:rPr>
              <a:t>Machine Learning）</a:t>
            </a:r>
            <a:r>
              <a:rPr lang="zh-CN" altLang="en-US" dirty="0">
                <a:latin typeface="Arial" panose="020B0604020202020204" pitchFamily="34" charset="0"/>
              </a:rPr>
              <a:t>库，旨在</a:t>
            </a:r>
            <a:r>
              <a:rPr lang="zh-CN" altLang="en-US" dirty="0" smtClean="0">
                <a:latin typeface="Arial" panose="020B0604020202020204" pitchFamily="34" charset="0"/>
              </a:rPr>
              <a:t>简化分布式机器学习</a:t>
            </a:r>
            <a:r>
              <a:rPr lang="zh-CN" altLang="en-US" dirty="0">
                <a:latin typeface="Arial" panose="020B0604020202020204" pitchFamily="34" charset="0"/>
              </a:rPr>
              <a:t>的工程实践</a:t>
            </a:r>
            <a:r>
              <a:rPr lang="zh-CN" altLang="en-US" dirty="0" smtClean="0">
                <a:latin typeface="Arial" panose="020B0604020202020204" pitchFamily="34" charset="0"/>
              </a:rPr>
              <a:t>工作</a:t>
            </a:r>
            <a:endParaRPr lang="en-US" altLang="zh-CN" dirty="0" smtClean="0">
              <a:latin typeface="Arial" panose="020B0604020202020204" pitchFamily="34" charset="0"/>
            </a:endParaRPr>
          </a:p>
          <a:p>
            <a:r>
              <a:rPr lang="en-US" altLang="zh-CN" dirty="0" err="1">
                <a:latin typeface="Arial" panose="020B0604020202020204" pitchFamily="34" charset="0"/>
              </a:rPr>
              <a:t>MLlib</a:t>
            </a:r>
            <a:r>
              <a:rPr lang="zh-CN" altLang="en-US" dirty="0">
                <a:latin typeface="Arial" panose="020B0604020202020204" pitchFamily="34" charset="0"/>
              </a:rPr>
              <a:t>由一些通用的学习算法和工具组成，包括</a:t>
            </a:r>
            <a:r>
              <a:rPr lang="zh-CN" altLang="en-US" dirty="0">
                <a:solidFill>
                  <a:srgbClr val="FF0000"/>
                </a:solidFill>
                <a:latin typeface="Arial" panose="020B0604020202020204" pitchFamily="34" charset="0"/>
              </a:rPr>
              <a:t>分类、回归、聚类、协同过滤、降维</a:t>
            </a:r>
            <a:r>
              <a:rPr lang="zh-CN" altLang="en-US" dirty="0">
                <a:latin typeface="Arial" panose="020B0604020202020204" pitchFamily="34" charset="0"/>
              </a:rPr>
              <a:t>等，同时还包括底层的优化原语和高层的流水线（</a:t>
            </a:r>
            <a:r>
              <a:rPr lang="en-US" altLang="zh-CN" dirty="0">
                <a:latin typeface="Arial" panose="020B0604020202020204" pitchFamily="34" charset="0"/>
              </a:rPr>
              <a:t>Pipeline</a:t>
            </a:r>
            <a:r>
              <a:rPr lang="zh-CN" altLang="en-US" dirty="0">
                <a:latin typeface="Arial" panose="020B0604020202020204" pitchFamily="34" charset="0"/>
              </a:rPr>
              <a:t>）</a:t>
            </a:r>
            <a:r>
              <a:rPr lang="en-US" altLang="zh-CN" dirty="0">
                <a:latin typeface="Arial" panose="020B0604020202020204" pitchFamily="34" charset="0"/>
              </a:rPr>
              <a:t>API</a:t>
            </a:r>
          </a:p>
          <a:p>
            <a:endParaRPr lang="zh-CN" altLang="en-US" dirty="0"/>
          </a:p>
        </p:txBody>
      </p:sp>
    </p:spTree>
    <p:extLst>
      <p:ext uri="{BB962C8B-B14F-4D97-AF65-F5344CB8AC3E}">
        <p14:creationId xmlns:p14="http://schemas.microsoft.com/office/powerpoint/2010/main" val="84437635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9.6.2 </a:t>
            </a:r>
            <a:r>
              <a:rPr lang="en-US" altLang="zh-CN" dirty="0"/>
              <a:t>Spark </a:t>
            </a:r>
            <a:r>
              <a:rPr lang="en-US" altLang="zh-CN" dirty="0" err="1"/>
              <a:t>MLlib</a:t>
            </a:r>
            <a:r>
              <a:rPr lang="zh-CN" altLang="en-US" dirty="0"/>
              <a:t>简介</a:t>
            </a:r>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1700808"/>
            <a:ext cx="5809864" cy="4059961"/>
          </a:xfrm>
          <a:prstGeom prst="rect">
            <a:avLst/>
          </a:prstGeom>
        </p:spPr>
      </p:pic>
    </p:spTree>
    <p:extLst>
      <p:ext uri="{BB962C8B-B14F-4D97-AF65-F5344CB8AC3E}">
        <p14:creationId xmlns:p14="http://schemas.microsoft.com/office/powerpoint/2010/main" val="73978287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9.6.2 </a:t>
            </a:r>
            <a:r>
              <a:rPr lang="en-US" altLang="zh-CN" dirty="0"/>
              <a:t>Spark </a:t>
            </a:r>
            <a:r>
              <a:rPr lang="en-US" altLang="zh-CN" dirty="0" err="1"/>
              <a:t>MLlib</a:t>
            </a:r>
            <a:r>
              <a:rPr lang="zh-CN" altLang="en-US" dirty="0"/>
              <a:t>简介</a:t>
            </a:r>
          </a:p>
        </p:txBody>
      </p:sp>
      <p:sp>
        <p:nvSpPr>
          <p:cNvPr id="3" name="内容占位符 2"/>
          <p:cNvSpPr>
            <a:spLocks noGrp="1"/>
          </p:cNvSpPr>
          <p:nvPr>
            <p:ph idx="1"/>
          </p:nvPr>
        </p:nvSpPr>
        <p:spPr/>
        <p:txBody>
          <a:bodyPr/>
          <a:lstStyle/>
          <a:p>
            <a:r>
              <a:rPr lang="en-US" altLang="zh-CN" dirty="0">
                <a:latin typeface="Arial" panose="020B0604020202020204" pitchFamily="34" charset="0"/>
              </a:rPr>
              <a:t>Spark </a:t>
            </a:r>
            <a:r>
              <a:rPr lang="en-US" altLang="zh-CN" dirty="0" err="1">
                <a:latin typeface="Arial" panose="020B0604020202020204" pitchFamily="34" charset="0"/>
              </a:rPr>
              <a:t>MLlib</a:t>
            </a:r>
            <a:r>
              <a:rPr lang="zh-CN" altLang="en-US" dirty="0">
                <a:latin typeface="Arial" panose="020B0604020202020204" pitchFamily="34" charset="0"/>
              </a:rPr>
              <a:t>分为两个</a:t>
            </a:r>
            <a:r>
              <a:rPr lang="zh-CN" altLang="en-US" dirty="0" smtClean="0">
                <a:latin typeface="Arial" panose="020B0604020202020204" pitchFamily="34" charset="0"/>
              </a:rPr>
              <a:t>包</a:t>
            </a:r>
            <a:endParaRPr lang="en-US" altLang="zh-CN" dirty="0" smtClean="0">
              <a:latin typeface="Arial" panose="020B0604020202020204" pitchFamily="34" charset="0"/>
            </a:endParaRPr>
          </a:p>
          <a:p>
            <a:pPr lvl="1"/>
            <a:r>
              <a:rPr lang="en-US" altLang="zh-CN" dirty="0" err="1" smtClean="0"/>
              <a:t>spark.mllib</a:t>
            </a:r>
            <a:r>
              <a:rPr lang="zh-CN" altLang="en-US" dirty="0" smtClean="0"/>
              <a:t>：</a:t>
            </a:r>
            <a:r>
              <a:rPr lang="en-US" altLang="zh-CN" dirty="0" smtClean="0"/>
              <a:t> </a:t>
            </a:r>
            <a:r>
              <a:rPr lang="zh-CN" altLang="en-US" dirty="0"/>
              <a:t>包含基于</a:t>
            </a:r>
            <a:r>
              <a:rPr lang="en-US" altLang="zh-CN" dirty="0"/>
              <a:t>RDD</a:t>
            </a:r>
            <a:r>
              <a:rPr lang="zh-CN" altLang="en-US" dirty="0"/>
              <a:t>的原始算法</a:t>
            </a:r>
            <a:r>
              <a:rPr lang="en-US" altLang="zh-CN" dirty="0"/>
              <a:t>API</a:t>
            </a:r>
            <a:r>
              <a:rPr lang="zh-CN" altLang="en-US" dirty="0"/>
              <a:t>。</a:t>
            </a:r>
            <a:r>
              <a:rPr lang="en-US" altLang="zh-CN" dirty="0"/>
              <a:t>Spark </a:t>
            </a:r>
            <a:r>
              <a:rPr lang="en-US" altLang="zh-CN" dirty="0" err="1"/>
              <a:t>MLlib</a:t>
            </a:r>
            <a:r>
              <a:rPr lang="en-US" altLang="zh-CN" dirty="0"/>
              <a:t> </a:t>
            </a:r>
            <a:r>
              <a:rPr lang="zh-CN" altLang="en-US" dirty="0"/>
              <a:t>历史比较长，在</a:t>
            </a:r>
            <a:r>
              <a:rPr lang="en-US" altLang="zh-CN" dirty="0"/>
              <a:t>1.0 </a:t>
            </a:r>
            <a:r>
              <a:rPr lang="zh-CN" altLang="en-US" dirty="0"/>
              <a:t>以前的版本即已经包含了，提供的算法实现都是基于原始的 </a:t>
            </a:r>
            <a:r>
              <a:rPr lang="en-US" altLang="zh-CN" dirty="0"/>
              <a:t>RDD</a:t>
            </a:r>
            <a:r>
              <a:rPr lang="zh-CN" altLang="en-US" dirty="0"/>
              <a:t>。</a:t>
            </a:r>
            <a:r>
              <a:rPr lang="en-US" altLang="zh-CN" dirty="0"/>
              <a:t>Spark 2.0</a:t>
            </a:r>
            <a:r>
              <a:rPr lang="zh-CN" altLang="en-US" dirty="0"/>
              <a:t>开始进入维护模式</a:t>
            </a:r>
            <a:r>
              <a:rPr lang="zh-CN" altLang="en-US" dirty="0" smtClean="0"/>
              <a:t>。</a:t>
            </a:r>
            <a:endParaRPr lang="en-US" altLang="zh-CN" dirty="0" smtClean="0"/>
          </a:p>
          <a:p>
            <a:pPr lvl="1"/>
            <a:r>
              <a:rPr lang="en-US" altLang="zh-CN" b="1" dirty="0" smtClean="0">
                <a:solidFill>
                  <a:srgbClr val="FF0000"/>
                </a:solidFill>
              </a:rPr>
              <a:t>spark.ml</a:t>
            </a:r>
            <a:r>
              <a:rPr lang="zh-CN" altLang="en-US" b="1" dirty="0" smtClean="0">
                <a:solidFill>
                  <a:srgbClr val="FF0000"/>
                </a:solidFill>
              </a:rPr>
              <a:t>：</a:t>
            </a:r>
            <a:r>
              <a:rPr lang="zh-CN" altLang="en-US" dirty="0" smtClean="0"/>
              <a:t>则</a:t>
            </a:r>
            <a:r>
              <a:rPr lang="zh-CN" altLang="en-US" dirty="0"/>
              <a:t>提供了基于</a:t>
            </a:r>
            <a:r>
              <a:rPr lang="en-US" altLang="zh-CN" dirty="0" err="1"/>
              <a:t>DataFrames</a:t>
            </a:r>
            <a:r>
              <a:rPr lang="en-US" altLang="zh-CN" dirty="0"/>
              <a:t> </a:t>
            </a:r>
            <a:r>
              <a:rPr lang="zh-CN" altLang="en-US" dirty="0"/>
              <a:t>高层次的</a:t>
            </a:r>
            <a:r>
              <a:rPr lang="en-US" altLang="zh-CN" dirty="0"/>
              <a:t>API</a:t>
            </a:r>
            <a:r>
              <a:rPr lang="zh-CN" altLang="en-US" dirty="0"/>
              <a:t>，可以用来构建机器学习工作流（</a:t>
            </a:r>
            <a:r>
              <a:rPr lang="en-US" altLang="zh-CN" dirty="0" err="1"/>
              <a:t>PipeLine</a:t>
            </a:r>
            <a:r>
              <a:rPr lang="zh-CN" altLang="en-US" dirty="0"/>
              <a:t>）。</a:t>
            </a:r>
            <a:r>
              <a:rPr lang="en-US" altLang="zh-CN" dirty="0"/>
              <a:t>ML Pipeline </a:t>
            </a:r>
            <a:r>
              <a:rPr lang="zh-CN" altLang="en-US" dirty="0"/>
              <a:t>弥补了原始 </a:t>
            </a:r>
            <a:r>
              <a:rPr lang="en-US" altLang="zh-CN" dirty="0" err="1"/>
              <a:t>MLlib</a:t>
            </a:r>
            <a:r>
              <a:rPr lang="en-US" altLang="zh-CN" dirty="0"/>
              <a:t> </a:t>
            </a:r>
            <a:r>
              <a:rPr lang="zh-CN" altLang="en-US" dirty="0"/>
              <a:t>库的不足，向用户提供了一个基于 </a:t>
            </a:r>
            <a:r>
              <a:rPr lang="en-US" altLang="zh-CN" dirty="0" err="1"/>
              <a:t>DataFrame</a:t>
            </a:r>
            <a:r>
              <a:rPr lang="en-US" altLang="zh-CN" dirty="0"/>
              <a:t> </a:t>
            </a:r>
            <a:r>
              <a:rPr lang="zh-CN" altLang="en-US" dirty="0"/>
              <a:t>的机器学习工作流式 </a:t>
            </a:r>
            <a:r>
              <a:rPr lang="en-US" altLang="zh-CN" dirty="0"/>
              <a:t>API </a:t>
            </a:r>
            <a:r>
              <a:rPr lang="zh-CN" altLang="en-US" dirty="0"/>
              <a:t>套件</a:t>
            </a:r>
          </a:p>
          <a:p>
            <a:pPr lvl="1"/>
            <a:endParaRPr lang="zh-CN" altLang="en-US" dirty="0"/>
          </a:p>
          <a:p>
            <a:pPr lvl="1"/>
            <a:endParaRPr lang="en-US" altLang="zh-CN" dirty="0" smtClean="0">
              <a:latin typeface="Arial" panose="020B0604020202020204" pitchFamily="34" charset="0"/>
            </a:endParaRPr>
          </a:p>
          <a:p>
            <a:endParaRPr lang="zh-CN" altLang="en-US" dirty="0"/>
          </a:p>
        </p:txBody>
      </p:sp>
    </p:spTree>
    <p:extLst>
      <p:ext uri="{BB962C8B-B14F-4D97-AF65-F5344CB8AC3E}">
        <p14:creationId xmlns:p14="http://schemas.microsoft.com/office/powerpoint/2010/main" val="235536880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9.6.3 </a:t>
            </a:r>
            <a:r>
              <a:rPr lang="en-US" altLang="zh-CN" dirty="0"/>
              <a:t>ML Pipeline</a:t>
            </a:r>
            <a:endParaRPr lang="zh-CN" altLang="en-US" dirty="0"/>
          </a:p>
        </p:txBody>
      </p:sp>
      <p:sp>
        <p:nvSpPr>
          <p:cNvPr id="3" name="内容占位符 2"/>
          <p:cNvSpPr>
            <a:spLocks noGrp="1"/>
          </p:cNvSpPr>
          <p:nvPr>
            <p:ph idx="1"/>
          </p:nvPr>
        </p:nvSpPr>
        <p:spPr/>
        <p:txBody>
          <a:bodyPr/>
          <a:lstStyle/>
          <a:p>
            <a:r>
              <a:rPr lang="zh-CN" altLang="en-US" dirty="0">
                <a:latin typeface="Arial" panose="020B0604020202020204" pitchFamily="34" charset="0"/>
              </a:rPr>
              <a:t>几个重要</a:t>
            </a:r>
            <a:r>
              <a:rPr lang="zh-CN" altLang="en-US" dirty="0" smtClean="0">
                <a:latin typeface="Arial" panose="020B0604020202020204" pitchFamily="34" charset="0"/>
              </a:rPr>
              <a:t>概念</a:t>
            </a:r>
            <a:endParaRPr lang="en-US" altLang="zh-CN" dirty="0" smtClean="0">
              <a:latin typeface="Arial" panose="020B0604020202020204" pitchFamily="34" charset="0"/>
            </a:endParaRPr>
          </a:p>
          <a:p>
            <a:pPr lvl="1"/>
            <a:r>
              <a:rPr lang="en-US" altLang="zh-CN" dirty="0" err="1" smtClean="0"/>
              <a:t>DataFrame</a:t>
            </a:r>
            <a:endParaRPr lang="en-US" altLang="zh-CN" dirty="0" smtClean="0"/>
          </a:p>
          <a:p>
            <a:pPr lvl="1"/>
            <a:r>
              <a:rPr lang="en-US" altLang="zh-CN" dirty="0" smtClean="0"/>
              <a:t>Transformer</a:t>
            </a:r>
          </a:p>
          <a:p>
            <a:pPr lvl="1"/>
            <a:r>
              <a:rPr lang="en-US" altLang="zh-CN" dirty="0" smtClean="0"/>
              <a:t>Estimator</a:t>
            </a:r>
          </a:p>
          <a:p>
            <a:pPr lvl="1"/>
            <a:r>
              <a:rPr lang="en-US" altLang="zh-CN" dirty="0" smtClean="0"/>
              <a:t>Pipeline</a:t>
            </a:r>
          </a:p>
          <a:p>
            <a:pPr lvl="1"/>
            <a:r>
              <a:rPr lang="en-US" altLang="zh-CN" dirty="0" smtClean="0"/>
              <a:t>Parameter</a:t>
            </a:r>
            <a:endParaRPr lang="en-US" altLang="zh-CN" dirty="0"/>
          </a:p>
          <a:p>
            <a:pPr lvl="1"/>
            <a:endParaRPr lang="en-US" altLang="zh-CN" dirty="0"/>
          </a:p>
          <a:p>
            <a:pPr lvl="1"/>
            <a:endParaRPr lang="en-US" altLang="zh-CN" dirty="0"/>
          </a:p>
          <a:p>
            <a:pPr lvl="1"/>
            <a:endParaRPr lang="en-US" altLang="zh-CN" dirty="0" smtClean="0"/>
          </a:p>
          <a:p>
            <a:pPr lvl="1"/>
            <a:endParaRPr lang="en-US" altLang="zh-CN" dirty="0" smtClean="0">
              <a:latin typeface="Arial" panose="020B0604020202020204" pitchFamily="34" charset="0"/>
            </a:endParaRPr>
          </a:p>
          <a:p>
            <a:pPr lvl="1"/>
            <a:endParaRPr lang="en-US" altLang="zh-CN" dirty="0" smtClean="0">
              <a:latin typeface="Arial" panose="020B0604020202020204" pitchFamily="34" charset="0"/>
            </a:endParaRPr>
          </a:p>
          <a:p>
            <a:endParaRPr lang="zh-CN" altLang="en-US" dirty="0"/>
          </a:p>
        </p:txBody>
      </p:sp>
    </p:spTree>
    <p:extLst>
      <p:ext uri="{BB962C8B-B14F-4D97-AF65-F5344CB8AC3E}">
        <p14:creationId xmlns:p14="http://schemas.microsoft.com/office/powerpoint/2010/main" val="83228385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9.6.3 </a:t>
            </a:r>
            <a:r>
              <a:rPr lang="en-US" altLang="zh-CN" dirty="0"/>
              <a:t>ML Pipeline</a:t>
            </a:r>
            <a:endParaRPr lang="zh-CN" altLang="en-US" dirty="0"/>
          </a:p>
        </p:txBody>
      </p:sp>
      <p:sp>
        <p:nvSpPr>
          <p:cNvPr id="3" name="内容占位符 2"/>
          <p:cNvSpPr>
            <a:spLocks noGrp="1"/>
          </p:cNvSpPr>
          <p:nvPr>
            <p:ph idx="1"/>
          </p:nvPr>
        </p:nvSpPr>
        <p:spPr/>
        <p:txBody>
          <a:bodyPr/>
          <a:lstStyle/>
          <a:p>
            <a:r>
              <a:rPr lang="en-US" altLang="zh-CN" dirty="0" err="1" smtClean="0"/>
              <a:t>DataFrame</a:t>
            </a:r>
            <a:endParaRPr lang="en-US" altLang="zh-CN" dirty="0" smtClean="0"/>
          </a:p>
          <a:p>
            <a:pPr lvl="1"/>
            <a:r>
              <a:rPr lang="zh-CN" altLang="en-US" dirty="0" smtClean="0"/>
              <a:t>使用</a:t>
            </a:r>
            <a:r>
              <a:rPr lang="en-US" altLang="zh-CN" dirty="0"/>
              <a:t>Spark SQL</a:t>
            </a:r>
            <a:r>
              <a:rPr lang="zh-CN" altLang="en-US" dirty="0"/>
              <a:t>中的</a:t>
            </a:r>
            <a:r>
              <a:rPr lang="en-US" altLang="zh-CN" dirty="0" err="1"/>
              <a:t>DataFrame</a:t>
            </a:r>
            <a:r>
              <a:rPr lang="zh-CN" altLang="en-US" dirty="0"/>
              <a:t>作为数据集，它可以容纳各种数据类型</a:t>
            </a:r>
            <a:r>
              <a:rPr lang="zh-CN" altLang="en-US" dirty="0" smtClean="0"/>
              <a:t>。</a:t>
            </a:r>
            <a:endParaRPr lang="en-US" altLang="zh-CN" dirty="0" smtClean="0"/>
          </a:p>
          <a:p>
            <a:pPr lvl="1"/>
            <a:r>
              <a:rPr lang="zh-CN" altLang="en-US" dirty="0" smtClean="0"/>
              <a:t>较之</a:t>
            </a:r>
            <a:r>
              <a:rPr lang="en-US" altLang="zh-CN" dirty="0"/>
              <a:t>RDD</a:t>
            </a:r>
            <a:r>
              <a:rPr lang="zh-CN" altLang="en-US" dirty="0"/>
              <a:t>，</a:t>
            </a:r>
            <a:r>
              <a:rPr lang="en-US" altLang="zh-CN" dirty="0" err="1"/>
              <a:t>DataFrame</a:t>
            </a:r>
            <a:r>
              <a:rPr lang="zh-CN" altLang="en-US" dirty="0"/>
              <a:t>包含了</a:t>
            </a:r>
            <a:r>
              <a:rPr lang="en-US" altLang="zh-CN" dirty="0"/>
              <a:t>schema </a:t>
            </a:r>
            <a:r>
              <a:rPr lang="zh-CN" altLang="en-US" dirty="0"/>
              <a:t>信息，更类似传统数据库中的二维表格</a:t>
            </a:r>
            <a:r>
              <a:rPr lang="zh-CN" altLang="en-US" dirty="0" smtClean="0"/>
              <a:t>。 </a:t>
            </a:r>
            <a:endParaRPr lang="en-US" altLang="zh-CN" dirty="0" smtClean="0"/>
          </a:p>
          <a:p>
            <a:pPr lvl="1"/>
            <a:r>
              <a:rPr lang="zh-CN" altLang="en-US" dirty="0" smtClean="0"/>
              <a:t>它</a:t>
            </a:r>
            <a:r>
              <a:rPr lang="zh-CN" altLang="en-US" dirty="0"/>
              <a:t>被</a:t>
            </a:r>
            <a:r>
              <a:rPr lang="en-US" altLang="zh-CN" dirty="0"/>
              <a:t>ML Pipeline</a:t>
            </a:r>
            <a:r>
              <a:rPr lang="zh-CN" altLang="en-US" dirty="0"/>
              <a:t>用来存储源数据</a:t>
            </a:r>
            <a:r>
              <a:rPr lang="zh-CN" altLang="en-US" dirty="0" smtClean="0"/>
              <a:t>。例如</a:t>
            </a:r>
            <a:r>
              <a:rPr lang="zh-CN" altLang="en-US" dirty="0"/>
              <a:t>，</a:t>
            </a:r>
            <a:r>
              <a:rPr lang="en-US" altLang="zh-CN" dirty="0" err="1"/>
              <a:t>DataFrame</a:t>
            </a:r>
            <a:r>
              <a:rPr lang="zh-CN" altLang="en-US" dirty="0"/>
              <a:t>中的列可以是存储的文本、特征向量、真实标签和预测的标签等</a:t>
            </a:r>
          </a:p>
          <a:p>
            <a:pPr lvl="1"/>
            <a:endParaRPr lang="en-US" altLang="zh-CN" dirty="0" smtClean="0">
              <a:latin typeface="Arial" panose="020B0604020202020204" pitchFamily="34" charset="0"/>
            </a:endParaRPr>
          </a:p>
          <a:p>
            <a:pPr lvl="1"/>
            <a:endParaRPr lang="en-US" altLang="zh-CN" dirty="0" smtClean="0">
              <a:latin typeface="Arial" panose="020B0604020202020204" pitchFamily="34" charset="0"/>
            </a:endParaRPr>
          </a:p>
          <a:p>
            <a:endParaRPr lang="zh-CN" altLang="en-US" dirty="0"/>
          </a:p>
        </p:txBody>
      </p:sp>
    </p:spTree>
    <p:extLst>
      <p:ext uri="{BB962C8B-B14F-4D97-AF65-F5344CB8AC3E}">
        <p14:creationId xmlns:p14="http://schemas.microsoft.com/office/powerpoint/2010/main" val="6504556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9.6.3 </a:t>
            </a:r>
            <a:r>
              <a:rPr lang="en-US" altLang="zh-CN" dirty="0"/>
              <a:t>ML Pipeline</a:t>
            </a:r>
            <a:endParaRPr lang="zh-CN" altLang="en-US" dirty="0"/>
          </a:p>
        </p:txBody>
      </p:sp>
      <p:sp>
        <p:nvSpPr>
          <p:cNvPr id="3" name="内容占位符 2"/>
          <p:cNvSpPr>
            <a:spLocks noGrp="1"/>
          </p:cNvSpPr>
          <p:nvPr>
            <p:ph idx="1"/>
          </p:nvPr>
        </p:nvSpPr>
        <p:spPr/>
        <p:txBody>
          <a:bodyPr/>
          <a:lstStyle/>
          <a:p>
            <a:r>
              <a:rPr lang="en-US" altLang="zh-CN" dirty="0" smtClean="0"/>
              <a:t>Transformer</a:t>
            </a:r>
          </a:p>
          <a:p>
            <a:pPr lvl="1"/>
            <a:r>
              <a:rPr lang="zh-CN" altLang="en-US" dirty="0" smtClean="0"/>
              <a:t>是</a:t>
            </a:r>
            <a:r>
              <a:rPr lang="zh-CN" altLang="en-US" dirty="0"/>
              <a:t>一种可以将一个</a:t>
            </a:r>
            <a:r>
              <a:rPr lang="en-US" altLang="zh-CN" dirty="0" err="1"/>
              <a:t>DataFrame</a:t>
            </a:r>
            <a:r>
              <a:rPr lang="zh-CN" altLang="en-US" dirty="0"/>
              <a:t>转化为另一个</a:t>
            </a:r>
            <a:r>
              <a:rPr lang="en-US" altLang="zh-CN" dirty="0" err="1"/>
              <a:t>DataFrame</a:t>
            </a:r>
            <a:r>
              <a:rPr lang="zh-CN" altLang="en-US" dirty="0"/>
              <a:t>的算法。比如一个模型就是一个 </a:t>
            </a:r>
            <a:r>
              <a:rPr lang="en-US" altLang="zh-CN" dirty="0"/>
              <a:t>Transformer</a:t>
            </a:r>
            <a:r>
              <a:rPr lang="zh-CN" altLang="en-US" dirty="0"/>
              <a:t>。它可以把一个不包含预测标签的测试数据集 </a:t>
            </a:r>
            <a:r>
              <a:rPr lang="en-US" altLang="zh-CN" dirty="0" err="1"/>
              <a:t>DataFrame</a:t>
            </a:r>
            <a:r>
              <a:rPr lang="en-US" altLang="zh-CN" dirty="0"/>
              <a:t> </a:t>
            </a:r>
            <a:r>
              <a:rPr lang="zh-CN" altLang="en-US" dirty="0"/>
              <a:t>打上标签，转化成另一个包含预测标签的 </a:t>
            </a:r>
            <a:r>
              <a:rPr lang="en-US" altLang="zh-CN" dirty="0" err="1"/>
              <a:t>DataFrame</a:t>
            </a:r>
            <a:r>
              <a:rPr lang="zh-CN" altLang="en-US" dirty="0" smtClean="0"/>
              <a:t>。</a:t>
            </a:r>
            <a:endParaRPr lang="en-US" altLang="zh-CN" dirty="0" smtClean="0"/>
          </a:p>
          <a:p>
            <a:pPr lvl="1"/>
            <a:r>
              <a:rPr lang="en-US" altLang="zh-CN" dirty="0" smtClean="0"/>
              <a:t>Transformer</a:t>
            </a:r>
            <a:r>
              <a:rPr lang="zh-CN" altLang="en-US" dirty="0"/>
              <a:t>实现了一个方法</a:t>
            </a:r>
            <a:r>
              <a:rPr lang="en-US" altLang="zh-CN" dirty="0"/>
              <a:t>transform()</a:t>
            </a:r>
            <a:r>
              <a:rPr lang="zh-CN" altLang="en-US" dirty="0"/>
              <a:t>，它通过附加一个或多个列将一个</a:t>
            </a:r>
            <a:r>
              <a:rPr lang="en-US" altLang="zh-CN" dirty="0" err="1"/>
              <a:t>DataFrame</a:t>
            </a:r>
            <a:r>
              <a:rPr lang="zh-CN" altLang="en-US" dirty="0"/>
              <a:t>转化为另一个</a:t>
            </a:r>
            <a:r>
              <a:rPr lang="en-US" altLang="zh-CN" dirty="0" err="1"/>
              <a:t>DataFrame</a:t>
            </a:r>
            <a:endParaRPr lang="en-US" altLang="zh-CN" dirty="0"/>
          </a:p>
          <a:p>
            <a:pPr lvl="1"/>
            <a:endParaRPr lang="en-US" altLang="zh-CN" dirty="0" smtClean="0">
              <a:latin typeface="Arial" panose="020B0604020202020204" pitchFamily="34" charset="0"/>
            </a:endParaRPr>
          </a:p>
          <a:p>
            <a:pPr lvl="1"/>
            <a:endParaRPr lang="en-US" altLang="zh-CN" dirty="0" smtClean="0">
              <a:latin typeface="Arial" panose="020B0604020202020204" pitchFamily="34" charset="0"/>
            </a:endParaRPr>
          </a:p>
          <a:p>
            <a:endParaRPr lang="zh-CN" altLang="en-US" dirty="0"/>
          </a:p>
        </p:txBody>
      </p:sp>
    </p:spTree>
    <p:extLst>
      <p:ext uri="{BB962C8B-B14F-4D97-AF65-F5344CB8AC3E}">
        <p14:creationId xmlns:p14="http://schemas.microsoft.com/office/powerpoint/2010/main" val="273156688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9.6.3 </a:t>
            </a:r>
            <a:r>
              <a:rPr lang="en-US" altLang="zh-CN" dirty="0"/>
              <a:t>ML Pipeline</a:t>
            </a:r>
            <a:endParaRPr lang="zh-CN" altLang="en-US" dirty="0"/>
          </a:p>
        </p:txBody>
      </p:sp>
      <p:sp>
        <p:nvSpPr>
          <p:cNvPr id="3" name="内容占位符 2"/>
          <p:cNvSpPr>
            <a:spLocks noGrp="1"/>
          </p:cNvSpPr>
          <p:nvPr>
            <p:ph idx="1"/>
          </p:nvPr>
        </p:nvSpPr>
        <p:spPr/>
        <p:txBody>
          <a:bodyPr/>
          <a:lstStyle/>
          <a:p>
            <a:r>
              <a:rPr lang="en-US" altLang="zh-CN" dirty="0" smtClean="0"/>
              <a:t>Estimator</a:t>
            </a:r>
          </a:p>
          <a:p>
            <a:pPr lvl="1"/>
            <a:r>
              <a:rPr lang="zh-CN" altLang="en-US" dirty="0" smtClean="0"/>
              <a:t>是</a:t>
            </a:r>
            <a:r>
              <a:rPr lang="zh-CN" altLang="en-US" dirty="0"/>
              <a:t>学习算法或在训练数据上的训练方法的概念抽象。在 </a:t>
            </a:r>
            <a:r>
              <a:rPr lang="en-US" altLang="zh-CN" dirty="0"/>
              <a:t>Pipeline </a:t>
            </a:r>
            <a:r>
              <a:rPr lang="zh-CN" altLang="en-US" dirty="0"/>
              <a:t>里通常是被用来操作 </a:t>
            </a:r>
            <a:r>
              <a:rPr lang="en-US" altLang="zh-CN" dirty="0" err="1"/>
              <a:t>DataFrame</a:t>
            </a:r>
            <a:r>
              <a:rPr lang="en-US" altLang="zh-CN" dirty="0"/>
              <a:t> </a:t>
            </a:r>
            <a:r>
              <a:rPr lang="zh-CN" altLang="en-US" dirty="0"/>
              <a:t>数据并生成一个 </a:t>
            </a:r>
            <a:r>
              <a:rPr lang="en-US" altLang="zh-CN" dirty="0"/>
              <a:t>Transformer</a:t>
            </a:r>
            <a:r>
              <a:rPr lang="zh-CN" altLang="en-US" dirty="0" smtClean="0"/>
              <a:t>。</a:t>
            </a:r>
            <a:endParaRPr lang="en-US" altLang="zh-CN" dirty="0" smtClean="0"/>
          </a:p>
          <a:p>
            <a:pPr lvl="1"/>
            <a:r>
              <a:rPr lang="en-US" altLang="zh-CN" dirty="0" smtClean="0"/>
              <a:t>Estimator</a:t>
            </a:r>
            <a:r>
              <a:rPr lang="zh-CN" altLang="en-US" dirty="0"/>
              <a:t>实现了一个方法</a:t>
            </a:r>
            <a:r>
              <a:rPr lang="en-US" altLang="zh-CN" dirty="0"/>
              <a:t>fit()</a:t>
            </a:r>
            <a:r>
              <a:rPr lang="zh-CN" altLang="en-US" dirty="0"/>
              <a:t>，它接受一个</a:t>
            </a:r>
            <a:r>
              <a:rPr lang="en-US" altLang="zh-CN" dirty="0" err="1"/>
              <a:t>DataFrame</a:t>
            </a:r>
            <a:r>
              <a:rPr lang="zh-CN" altLang="en-US" dirty="0"/>
              <a:t>并产生一个</a:t>
            </a:r>
            <a:r>
              <a:rPr lang="en-US" altLang="zh-CN" dirty="0"/>
              <a:t>Transformer</a:t>
            </a:r>
            <a:r>
              <a:rPr lang="zh-CN" altLang="en-US" dirty="0" smtClean="0"/>
              <a:t>。</a:t>
            </a:r>
            <a:endParaRPr lang="en-US" altLang="zh-CN" dirty="0" smtClean="0"/>
          </a:p>
          <a:p>
            <a:pPr lvl="2"/>
            <a:r>
              <a:rPr lang="zh-CN" altLang="en-US" dirty="0" smtClean="0"/>
              <a:t>比如</a:t>
            </a:r>
            <a:r>
              <a:rPr lang="zh-CN" altLang="en-US" dirty="0"/>
              <a:t>，一个随机森林算法就是一个 </a:t>
            </a:r>
            <a:r>
              <a:rPr lang="en-US" altLang="zh-CN" dirty="0"/>
              <a:t>Estimator</a:t>
            </a:r>
            <a:r>
              <a:rPr lang="zh-CN" altLang="en-US" dirty="0"/>
              <a:t>，它可以调用</a:t>
            </a:r>
            <a:r>
              <a:rPr lang="en-US" altLang="zh-CN" dirty="0"/>
              <a:t>fit()</a:t>
            </a:r>
            <a:r>
              <a:rPr lang="zh-CN" altLang="en-US" dirty="0"/>
              <a:t>，通过训练特征数据而得到一个随机森林模型。</a:t>
            </a:r>
          </a:p>
          <a:p>
            <a:pPr lvl="1"/>
            <a:endParaRPr lang="en-US" altLang="zh-CN" dirty="0" smtClean="0">
              <a:latin typeface="Arial" panose="020B0604020202020204" pitchFamily="34" charset="0"/>
            </a:endParaRPr>
          </a:p>
          <a:p>
            <a:pPr lvl="1"/>
            <a:endParaRPr lang="en-US" altLang="zh-CN" dirty="0" smtClean="0">
              <a:latin typeface="Arial" panose="020B0604020202020204" pitchFamily="34" charset="0"/>
            </a:endParaRPr>
          </a:p>
          <a:p>
            <a:endParaRPr lang="zh-CN" altLang="en-US" dirty="0"/>
          </a:p>
        </p:txBody>
      </p:sp>
    </p:spTree>
    <p:extLst>
      <p:ext uri="{BB962C8B-B14F-4D97-AF65-F5344CB8AC3E}">
        <p14:creationId xmlns:p14="http://schemas.microsoft.com/office/powerpoint/2010/main" val="372434971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9.6.3 </a:t>
            </a:r>
            <a:r>
              <a:rPr lang="en-US" altLang="zh-CN" dirty="0"/>
              <a:t>ML Pipeline</a:t>
            </a:r>
            <a:endParaRPr lang="zh-CN" altLang="en-US" dirty="0"/>
          </a:p>
        </p:txBody>
      </p:sp>
      <p:sp>
        <p:nvSpPr>
          <p:cNvPr id="3" name="内容占位符 2"/>
          <p:cNvSpPr>
            <a:spLocks noGrp="1"/>
          </p:cNvSpPr>
          <p:nvPr>
            <p:ph idx="1"/>
          </p:nvPr>
        </p:nvSpPr>
        <p:spPr/>
        <p:txBody>
          <a:bodyPr/>
          <a:lstStyle/>
          <a:p>
            <a:r>
              <a:rPr lang="en-US" altLang="zh-CN" dirty="0" smtClean="0"/>
              <a:t>Pipeline</a:t>
            </a:r>
            <a:endParaRPr lang="en-US" altLang="zh-CN" dirty="0"/>
          </a:p>
          <a:p>
            <a:pPr lvl="1"/>
            <a:r>
              <a:rPr lang="zh-CN" altLang="en-US" dirty="0" smtClean="0">
                <a:latin typeface="Arial" panose="020B0604020202020204" pitchFamily="34" charset="0"/>
              </a:rPr>
              <a:t>将</a:t>
            </a:r>
            <a:r>
              <a:rPr lang="zh-CN" altLang="en-US" dirty="0">
                <a:latin typeface="Arial" panose="020B0604020202020204" pitchFamily="34" charset="0"/>
              </a:rPr>
              <a:t>多个工作流阶段（</a:t>
            </a:r>
            <a:r>
              <a:rPr lang="en-US" altLang="zh-CN" dirty="0">
                <a:solidFill>
                  <a:srgbClr val="FF0000"/>
                </a:solidFill>
              </a:rPr>
              <a:t> Transformer</a:t>
            </a:r>
            <a:r>
              <a:rPr lang="zh-CN" altLang="en-US" dirty="0">
                <a:latin typeface="Arial" panose="020B0604020202020204" pitchFamily="34" charset="0"/>
              </a:rPr>
              <a:t>和</a:t>
            </a:r>
            <a:r>
              <a:rPr lang="en-US" altLang="zh-CN" dirty="0">
                <a:solidFill>
                  <a:srgbClr val="FF0000"/>
                </a:solidFill>
              </a:rPr>
              <a:t>Estimator </a:t>
            </a:r>
            <a:r>
              <a:rPr lang="zh-CN" altLang="en-US" dirty="0">
                <a:latin typeface="Arial" panose="020B0604020202020204" pitchFamily="34" charset="0"/>
              </a:rPr>
              <a:t>）连接在一起，形成机器学习的工作流，并获得结果输出。</a:t>
            </a:r>
          </a:p>
          <a:p>
            <a:endParaRPr lang="zh-CN" altLang="en-US" dirty="0"/>
          </a:p>
        </p:txBody>
      </p:sp>
    </p:spTree>
    <p:extLst>
      <p:ext uri="{BB962C8B-B14F-4D97-AF65-F5344CB8AC3E}">
        <p14:creationId xmlns:p14="http://schemas.microsoft.com/office/powerpoint/2010/main" val="388293921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9.6.3 </a:t>
            </a:r>
            <a:r>
              <a:rPr lang="en-US" altLang="zh-CN" dirty="0"/>
              <a:t>ML Pipeline</a:t>
            </a:r>
            <a:endParaRPr lang="zh-CN" altLang="en-US" dirty="0"/>
          </a:p>
        </p:txBody>
      </p:sp>
      <p:sp>
        <p:nvSpPr>
          <p:cNvPr id="3" name="内容占位符 2"/>
          <p:cNvSpPr>
            <a:spLocks noGrp="1"/>
          </p:cNvSpPr>
          <p:nvPr>
            <p:ph idx="1"/>
          </p:nvPr>
        </p:nvSpPr>
        <p:spPr/>
        <p:txBody>
          <a:bodyPr/>
          <a:lstStyle/>
          <a:p>
            <a:r>
              <a:rPr lang="en-US" altLang="zh-CN" dirty="0"/>
              <a:t>Parameter</a:t>
            </a:r>
          </a:p>
          <a:p>
            <a:pPr lvl="1"/>
            <a:r>
              <a:rPr lang="en-US" altLang="zh-CN" dirty="0"/>
              <a:t>Parameter </a:t>
            </a:r>
            <a:r>
              <a:rPr lang="zh-CN" altLang="en-US" dirty="0">
                <a:latin typeface="Arial" panose="020B0604020202020204" pitchFamily="34" charset="0"/>
              </a:rPr>
              <a:t>被用来设置 </a:t>
            </a:r>
            <a:r>
              <a:rPr lang="en-US" altLang="zh-CN" dirty="0">
                <a:latin typeface="Arial" panose="020B0604020202020204" pitchFamily="34" charset="0"/>
              </a:rPr>
              <a:t>Transformer </a:t>
            </a:r>
            <a:r>
              <a:rPr lang="zh-CN" altLang="en-US" dirty="0">
                <a:latin typeface="Arial" panose="020B0604020202020204" pitchFamily="34" charset="0"/>
              </a:rPr>
              <a:t>或者 </a:t>
            </a:r>
            <a:r>
              <a:rPr lang="en-US" altLang="zh-CN" dirty="0">
                <a:latin typeface="Arial" panose="020B0604020202020204" pitchFamily="34" charset="0"/>
              </a:rPr>
              <a:t>Estimator </a:t>
            </a:r>
            <a:r>
              <a:rPr lang="zh-CN" altLang="en-US" dirty="0">
                <a:latin typeface="Arial" panose="020B0604020202020204" pitchFamily="34" charset="0"/>
              </a:rPr>
              <a:t>的参数</a:t>
            </a:r>
            <a:r>
              <a:rPr lang="zh-CN" altLang="en-US" dirty="0" smtClean="0">
                <a:latin typeface="Arial" panose="020B0604020202020204" pitchFamily="34" charset="0"/>
              </a:rPr>
              <a:t>。所有</a:t>
            </a:r>
            <a:r>
              <a:rPr lang="en-US" altLang="zh-CN" dirty="0">
                <a:solidFill>
                  <a:srgbClr val="FF0000"/>
                </a:solidFill>
              </a:rPr>
              <a:t>Transformer</a:t>
            </a:r>
            <a:r>
              <a:rPr lang="zh-CN" altLang="en-US" dirty="0">
                <a:latin typeface="Arial" panose="020B0604020202020204" pitchFamily="34" charset="0"/>
              </a:rPr>
              <a:t>和</a:t>
            </a:r>
            <a:r>
              <a:rPr lang="en-US" altLang="zh-CN" dirty="0">
                <a:solidFill>
                  <a:srgbClr val="FF0000"/>
                </a:solidFill>
              </a:rPr>
              <a:t>Estimator</a:t>
            </a:r>
            <a:r>
              <a:rPr lang="zh-CN" altLang="en-US" dirty="0">
                <a:latin typeface="Arial" panose="020B0604020202020204" pitchFamily="34" charset="0"/>
              </a:rPr>
              <a:t>可共享用于指定参数的公共</a:t>
            </a:r>
            <a:r>
              <a:rPr lang="en-US" altLang="zh-CN" dirty="0">
                <a:latin typeface="Arial" panose="020B0604020202020204" pitchFamily="34" charset="0"/>
              </a:rPr>
              <a:t>API</a:t>
            </a:r>
            <a:r>
              <a:rPr lang="zh-CN" altLang="en-US" dirty="0">
                <a:latin typeface="Arial" panose="020B0604020202020204" pitchFamily="34" charset="0"/>
              </a:rPr>
              <a:t>。</a:t>
            </a:r>
            <a:r>
              <a:rPr lang="en-US" altLang="zh-CN" dirty="0" err="1">
                <a:latin typeface="Arial" panose="020B0604020202020204" pitchFamily="34" charset="0"/>
              </a:rPr>
              <a:t>ParamMap</a:t>
            </a:r>
            <a:r>
              <a:rPr lang="zh-CN" altLang="en-US" dirty="0">
                <a:latin typeface="Arial" panose="020B0604020202020204" pitchFamily="34" charset="0"/>
              </a:rPr>
              <a:t>是一组（参数，值）对</a:t>
            </a:r>
            <a:endParaRPr lang="en-US" altLang="zh-CN" dirty="0">
              <a:latin typeface="Arial" panose="020B0604020202020204" pitchFamily="34" charset="0"/>
            </a:endParaRPr>
          </a:p>
          <a:p>
            <a:endParaRPr lang="zh-CN" altLang="en-US" dirty="0"/>
          </a:p>
        </p:txBody>
      </p:sp>
    </p:spTree>
    <p:extLst>
      <p:ext uri="{BB962C8B-B14F-4D97-AF65-F5344CB8AC3E}">
        <p14:creationId xmlns:p14="http://schemas.microsoft.com/office/powerpoint/2010/main" val="205137991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vert="horz" wrap="square" lIns="91440" tIns="45720" rIns="91440" bIns="45720" anchor="ctr"/>
          <a:lstStyle/>
          <a:p>
            <a:r>
              <a:rPr lang="en-US" altLang="zh-CN" dirty="0" smtClean="0"/>
              <a:t>9.6.3 </a:t>
            </a:r>
            <a:r>
              <a:rPr lang="en-US" altLang="zh-CN" dirty="0"/>
              <a:t>ML Pipeline</a:t>
            </a:r>
            <a:endParaRPr lang="zh-CN" altLang="en-US" dirty="0"/>
          </a:p>
        </p:txBody>
      </p:sp>
      <p:sp>
        <p:nvSpPr>
          <p:cNvPr id="2" name="内容占位符 1"/>
          <p:cNvSpPr>
            <a:spLocks noGrp="1"/>
          </p:cNvSpPr>
          <p:nvPr>
            <p:ph idx="1"/>
          </p:nvPr>
        </p:nvSpPr>
        <p:spPr/>
        <p:txBody>
          <a:bodyPr/>
          <a:lstStyle/>
          <a:p>
            <a:r>
              <a:rPr lang="zh-CN" altLang="en-US" dirty="0">
                <a:latin typeface="Arial" panose="020B0604020202020204" pitchFamily="34" charset="0"/>
              </a:rPr>
              <a:t>要构建一个 </a:t>
            </a:r>
            <a:r>
              <a:rPr lang="en-US" altLang="zh-CN" dirty="0">
                <a:latin typeface="Arial" panose="020B0604020202020204" pitchFamily="34" charset="0"/>
              </a:rPr>
              <a:t>Pipeline</a:t>
            </a:r>
            <a:r>
              <a:rPr lang="zh-CN" altLang="en-US" dirty="0">
                <a:latin typeface="Arial" panose="020B0604020202020204" pitchFamily="34" charset="0"/>
              </a:rPr>
              <a:t>，首先需要定义 </a:t>
            </a:r>
            <a:r>
              <a:rPr lang="en-US" altLang="zh-CN" dirty="0">
                <a:latin typeface="Arial" panose="020B0604020202020204" pitchFamily="34" charset="0"/>
              </a:rPr>
              <a:t>Pipeline </a:t>
            </a:r>
            <a:r>
              <a:rPr lang="zh-CN" altLang="en-US" dirty="0">
                <a:latin typeface="Arial" panose="020B0604020202020204" pitchFamily="34" charset="0"/>
              </a:rPr>
              <a:t>中的各个</a:t>
            </a:r>
            <a:r>
              <a:rPr lang="en-US" altLang="zh-CN" dirty="0" err="1">
                <a:solidFill>
                  <a:srgbClr val="FF0000"/>
                </a:solidFill>
                <a:latin typeface="Arial" panose="020B0604020202020204" pitchFamily="34" charset="0"/>
              </a:rPr>
              <a:t>PipelineStage</a:t>
            </a:r>
            <a:r>
              <a:rPr lang="zh-CN" altLang="en-US" dirty="0">
                <a:latin typeface="Arial" panose="020B0604020202020204" pitchFamily="34" charset="0"/>
              </a:rPr>
              <a:t>，按照具体的处理逻辑有序地组织</a:t>
            </a:r>
            <a:r>
              <a:rPr lang="en-US" altLang="zh-CN" dirty="0" err="1">
                <a:latin typeface="Arial" panose="020B0604020202020204" pitchFamily="34" charset="0"/>
              </a:rPr>
              <a:t>PipelineStages</a:t>
            </a:r>
            <a:r>
              <a:rPr lang="en-US" altLang="zh-CN" dirty="0">
                <a:latin typeface="Arial" panose="020B0604020202020204" pitchFamily="34" charset="0"/>
              </a:rPr>
              <a:t> </a:t>
            </a:r>
            <a:r>
              <a:rPr lang="zh-CN" altLang="en-US" dirty="0">
                <a:latin typeface="Arial" panose="020B0604020202020204" pitchFamily="34" charset="0"/>
              </a:rPr>
              <a:t>并创建一个</a:t>
            </a:r>
            <a:r>
              <a:rPr lang="en-US" altLang="zh-CN" dirty="0" smtClean="0">
                <a:latin typeface="Arial" panose="020B0604020202020204" pitchFamily="34" charset="0"/>
              </a:rPr>
              <a:t>Pipeline</a:t>
            </a:r>
          </a:p>
          <a:p>
            <a:endParaRPr lang="en-US" altLang="zh-CN" dirty="0">
              <a:latin typeface="Arial" panose="020B0604020202020204" pitchFamily="34" charset="0"/>
            </a:endParaRPr>
          </a:p>
          <a:p>
            <a:r>
              <a:rPr lang="zh-CN" altLang="en-US" dirty="0">
                <a:latin typeface="Arial" panose="020B0604020202020204" pitchFamily="34" charset="0"/>
              </a:rPr>
              <a:t>然后就可以把训练数据集作为输入参数，调用 </a:t>
            </a:r>
            <a:r>
              <a:rPr lang="en-US" altLang="zh-CN" dirty="0">
                <a:latin typeface="Arial" panose="020B0604020202020204" pitchFamily="34" charset="0"/>
              </a:rPr>
              <a:t>Pipeline </a:t>
            </a:r>
            <a:r>
              <a:rPr lang="zh-CN" altLang="en-US" dirty="0">
                <a:latin typeface="Arial" panose="020B0604020202020204" pitchFamily="34" charset="0"/>
              </a:rPr>
              <a:t>实例的 </a:t>
            </a:r>
            <a:r>
              <a:rPr lang="en-US" altLang="zh-CN" dirty="0">
                <a:latin typeface="Arial" panose="020B0604020202020204" pitchFamily="34" charset="0"/>
              </a:rPr>
              <a:t>fit </a:t>
            </a:r>
            <a:r>
              <a:rPr lang="zh-CN" altLang="en-US" dirty="0">
                <a:latin typeface="Arial" panose="020B0604020202020204" pitchFamily="34" charset="0"/>
              </a:rPr>
              <a:t>方法来开始以流的方式来处理源训练数据。这个调用会返回一个 </a:t>
            </a:r>
            <a:r>
              <a:rPr lang="en-US" altLang="zh-CN" dirty="0" err="1">
                <a:latin typeface="Arial" panose="020B0604020202020204" pitchFamily="34" charset="0"/>
              </a:rPr>
              <a:t>PipelineModel</a:t>
            </a:r>
            <a:r>
              <a:rPr lang="en-US" altLang="zh-CN" dirty="0">
                <a:latin typeface="Arial" panose="020B0604020202020204" pitchFamily="34" charset="0"/>
              </a:rPr>
              <a:t> </a:t>
            </a:r>
            <a:r>
              <a:rPr lang="zh-CN" altLang="en-US" dirty="0">
                <a:latin typeface="Arial" panose="020B0604020202020204" pitchFamily="34" charset="0"/>
              </a:rPr>
              <a:t>类实例，进而被用来预测测试数据的标签</a:t>
            </a:r>
          </a:p>
          <a:p>
            <a:endParaRPr lang="zh-CN" altLang="en-US" dirty="0">
              <a:latin typeface="Arial" panose="020B0604020202020204" pitchFamily="34" charset="0"/>
            </a:endParaRPr>
          </a:p>
          <a:p>
            <a:endParaRPr lang="zh-CN" altLang="en-US" dirty="0"/>
          </a:p>
        </p:txBody>
      </p:sp>
      <p:sp>
        <p:nvSpPr>
          <p:cNvPr id="16388" name="矩形 3"/>
          <p:cNvSpPr/>
          <p:nvPr/>
        </p:nvSpPr>
        <p:spPr>
          <a:xfrm>
            <a:off x="827584" y="3212976"/>
            <a:ext cx="7422976" cy="369888"/>
          </a:xfrm>
          <a:prstGeom prst="rect">
            <a:avLst/>
          </a:prstGeom>
          <a:solidFill>
            <a:schemeClr val="tx1"/>
          </a:solidFill>
          <a:ln w="9525">
            <a:noFill/>
          </a:ln>
        </p:spPr>
        <p:txBody>
          <a:bodyPr wrap="square">
            <a:spAutoFit/>
          </a:bodyPr>
          <a:lstStyle/>
          <a:p>
            <a:r>
              <a:rPr lang="en-US" altLang="zh-CN" dirty="0">
                <a:solidFill>
                  <a:schemeClr val="bg1"/>
                </a:solidFill>
                <a:latin typeface="Arial" panose="020B0604020202020204" pitchFamily="34" charset="0"/>
              </a:rPr>
              <a:t>val pipeline = new Pipeline().setStages(Array(stage1,stage2,stage3,…))</a:t>
            </a:r>
          </a:p>
        </p:txBody>
      </p:sp>
    </p:spTree>
    <p:extLst>
      <p:ext uri="{BB962C8B-B14F-4D97-AF65-F5344CB8AC3E}">
        <p14:creationId xmlns:p14="http://schemas.microsoft.com/office/powerpoint/2010/main" val="3099531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blinds(horizontal)">
                                      <p:cBhvr>
                                        <p:cTn id="7" dur="500"/>
                                        <p:tgtEl>
                                          <p:spTgt spid="16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9.6.3 </a:t>
            </a:r>
            <a:r>
              <a:rPr lang="en-US" altLang="zh-CN" dirty="0"/>
              <a:t>ML Pipeline</a:t>
            </a:r>
            <a:endParaRPr lang="zh-CN" altLang="en-US" dirty="0"/>
          </a:p>
        </p:txBody>
      </p:sp>
      <p:sp>
        <p:nvSpPr>
          <p:cNvPr id="3" name="内容占位符 2"/>
          <p:cNvSpPr>
            <a:spLocks noGrp="1"/>
          </p:cNvSpPr>
          <p:nvPr>
            <p:ph idx="1"/>
          </p:nvPr>
        </p:nvSpPr>
        <p:spPr/>
        <p:txBody>
          <a:bodyPr/>
          <a:lstStyle/>
          <a:p>
            <a:r>
              <a:rPr lang="en-US" altLang="zh-CN" dirty="0">
                <a:solidFill>
                  <a:srgbClr val="FF0000"/>
                </a:solidFill>
              </a:rPr>
              <a:t>Pipeline</a:t>
            </a:r>
            <a:r>
              <a:rPr lang="zh-CN" altLang="en-US" dirty="0">
                <a:latin typeface="Arial" panose="020B0604020202020204" pitchFamily="34" charset="0"/>
              </a:rPr>
              <a:t>的各个阶段按顺序运行，输入的</a:t>
            </a:r>
            <a:r>
              <a:rPr lang="en-US" altLang="zh-CN" dirty="0" err="1">
                <a:latin typeface="Arial" panose="020B0604020202020204" pitchFamily="34" charset="0"/>
              </a:rPr>
              <a:t>DataFrame</a:t>
            </a:r>
            <a:r>
              <a:rPr lang="zh-CN" altLang="en-US" dirty="0">
                <a:latin typeface="Arial" panose="020B0604020202020204" pitchFamily="34" charset="0"/>
              </a:rPr>
              <a:t>在它通过每个阶段时被</a:t>
            </a:r>
            <a:r>
              <a:rPr lang="zh-CN" altLang="en-US" dirty="0">
                <a:solidFill>
                  <a:srgbClr val="FF0000"/>
                </a:solidFill>
                <a:latin typeface="Arial" panose="020B0604020202020204" pitchFamily="34" charset="0"/>
              </a:rPr>
              <a:t>转化</a:t>
            </a:r>
          </a:p>
          <a:p>
            <a:endParaRPr lang="zh-CN" altLang="en-US" dirty="0"/>
          </a:p>
        </p:txBody>
      </p:sp>
      <p:pic>
        <p:nvPicPr>
          <p:cNvPr id="4" name="Picture 2" descr="http://dblab.xmu.edu.cn/blog/wp-content/uploads/2016/12/ml-Pipeline.png"/>
          <p:cNvPicPr>
            <a:picLocks noChangeAspect="1"/>
          </p:cNvPicPr>
          <p:nvPr/>
        </p:nvPicPr>
        <p:blipFill>
          <a:blip r:embed="rId2"/>
          <a:stretch>
            <a:fillRect/>
          </a:stretch>
        </p:blipFill>
        <p:spPr>
          <a:xfrm>
            <a:off x="754128" y="2420888"/>
            <a:ext cx="7305544" cy="1865007"/>
          </a:xfrm>
          <a:prstGeom prst="rect">
            <a:avLst/>
          </a:prstGeom>
          <a:noFill/>
          <a:ln w="9525">
            <a:noFill/>
          </a:ln>
        </p:spPr>
      </p:pic>
    </p:spTree>
    <p:extLst>
      <p:ext uri="{BB962C8B-B14F-4D97-AF65-F5344CB8AC3E}">
        <p14:creationId xmlns:p14="http://schemas.microsoft.com/office/powerpoint/2010/main" val="203986422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9.6.3 </a:t>
            </a:r>
            <a:r>
              <a:rPr lang="en-US" altLang="zh-CN" dirty="0"/>
              <a:t>ML Pipeline</a:t>
            </a:r>
            <a:endParaRPr lang="zh-CN" altLang="en-US" dirty="0"/>
          </a:p>
        </p:txBody>
      </p:sp>
      <p:sp>
        <p:nvSpPr>
          <p:cNvPr id="3" name="内容占位符 2"/>
          <p:cNvSpPr>
            <a:spLocks noGrp="1"/>
          </p:cNvSpPr>
          <p:nvPr>
            <p:ph idx="1"/>
          </p:nvPr>
        </p:nvSpPr>
        <p:spPr/>
        <p:txBody>
          <a:bodyPr/>
          <a:lstStyle/>
          <a:p>
            <a:r>
              <a:rPr lang="en-US" altLang="zh-CN" dirty="0">
                <a:solidFill>
                  <a:srgbClr val="FF0000"/>
                </a:solidFill>
              </a:rPr>
              <a:t>Pipeline</a:t>
            </a:r>
            <a:r>
              <a:rPr lang="zh-CN" altLang="en-US" dirty="0">
                <a:latin typeface="Arial" panose="020B0604020202020204" pitchFamily="34" charset="0"/>
              </a:rPr>
              <a:t>本身也可以看做是一个</a:t>
            </a:r>
            <a:r>
              <a:rPr lang="en-US" altLang="zh-CN" dirty="0">
                <a:solidFill>
                  <a:srgbClr val="FF0000"/>
                </a:solidFill>
              </a:rPr>
              <a:t>Estimator </a:t>
            </a:r>
            <a:r>
              <a:rPr lang="zh-CN" altLang="en-US" dirty="0"/>
              <a:t>，在运行</a:t>
            </a:r>
            <a:r>
              <a:rPr lang="en-US" altLang="zh-CN" dirty="0">
                <a:solidFill>
                  <a:srgbClr val="FF0000"/>
                </a:solidFill>
                <a:latin typeface="Arial" panose="020B0604020202020204" pitchFamily="34" charset="0"/>
              </a:rPr>
              <a:t>fit()</a:t>
            </a:r>
            <a:r>
              <a:rPr lang="zh-CN" altLang="en-US" dirty="0">
                <a:latin typeface="Arial" panose="020B0604020202020204" pitchFamily="34" charset="0"/>
              </a:rPr>
              <a:t>方法之后，它产生一个</a:t>
            </a:r>
            <a:r>
              <a:rPr lang="en-US" altLang="zh-CN" dirty="0" err="1">
                <a:latin typeface="Arial" panose="020B0604020202020204" pitchFamily="34" charset="0"/>
              </a:rPr>
              <a:t>PipelineModel</a:t>
            </a:r>
            <a:r>
              <a:rPr lang="zh-CN" altLang="en-US" dirty="0">
                <a:latin typeface="Arial" panose="020B0604020202020204" pitchFamily="34" charset="0"/>
              </a:rPr>
              <a:t>，它是一个</a:t>
            </a:r>
            <a:r>
              <a:rPr lang="en-US" altLang="zh-CN" dirty="0">
                <a:latin typeface="Arial" panose="020B0604020202020204" pitchFamily="34" charset="0"/>
              </a:rPr>
              <a:t>Transformer</a:t>
            </a:r>
            <a:r>
              <a:rPr lang="zh-CN" altLang="en-US" dirty="0">
                <a:latin typeface="Arial" panose="020B0604020202020204" pitchFamily="34" charset="0"/>
              </a:rPr>
              <a:t>，可以在测试数据的时候使用。</a:t>
            </a:r>
          </a:p>
          <a:p>
            <a:endParaRPr lang="zh-CN" altLang="en-US" dirty="0"/>
          </a:p>
        </p:txBody>
      </p:sp>
      <p:pic>
        <p:nvPicPr>
          <p:cNvPr id="4" name="Picture 2" descr="http://dblab.xmu.edu.cn/blog/wp-content/uploads/2016/12/ml-PipelineModel.png"/>
          <p:cNvPicPr>
            <a:picLocks noChangeAspect="1"/>
          </p:cNvPicPr>
          <p:nvPr/>
        </p:nvPicPr>
        <p:blipFill>
          <a:blip r:embed="rId2"/>
          <a:stretch>
            <a:fillRect/>
          </a:stretch>
        </p:blipFill>
        <p:spPr>
          <a:xfrm>
            <a:off x="621308" y="3501008"/>
            <a:ext cx="7571184" cy="2131086"/>
          </a:xfrm>
          <a:prstGeom prst="rect">
            <a:avLst/>
          </a:prstGeom>
          <a:noFill/>
          <a:ln w="9525">
            <a:noFill/>
          </a:ln>
        </p:spPr>
      </p:pic>
    </p:spTree>
    <p:extLst>
      <p:ext uri="{BB962C8B-B14F-4D97-AF65-F5344CB8AC3E}">
        <p14:creationId xmlns:p14="http://schemas.microsoft.com/office/powerpoint/2010/main" val="405687754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9.6.4 </a:t>
            </a:r>
            <a:r>
              <a:rPr lang="zh-CN" altLang="en-US" dirty="0" smtClean="0"/>
              <a:t>具体示例</a:t>
            </a:r>
            <a:endParaRPr lang="zh-CN" altLang="en-US" dirty="0"/>
          </a:p>
        </p:txBody>
      </p:sp>
      <p:sp>
        <p:nvSpPr>
          <p:cNvPr id="3" name="内容占位符 2"/>
          <p:cNvSpPr>
            <a:spLocks noGrp="1"/>
          </p:cNvSpPr>
          <p:nvPr>
            <p:ph idx="1"/>
          </p:nvPr>
        </p:nvSpPr>
        <p:spPr/>
        <p:txBody>
          <a:bodyPr/>
          <a:lstStyle/>
          <a:p>
            <a:r>
              <a:rPr lang="zh-CN" altLang="en-US" dirty="0">
                <a:latin typeface="Arial" panose="020B0604020202020204" pitchFamily="34" charset="0"/>
              </a:rPr>
              <a:t>以</a:t>
            </a:r>
            <a:r>
              <a:rPr lang="en-US" altLang="zh-CN" dirty="0">
                <a:solidFill>
                  <a:srgbClr val="FF0000"/>
                </a:solidFill>
              </a:rPr>
              <a:t>Logistic Regression</a:t>
            </a:r>
            <a:r>
              <a:rPr lang="zh-CN" altLang="en-US" dirty="0">
                <a:latin typeface="Arial" panose="020B0604020202020204" pitchFamily="34" charset="0"/>
              </a:rPr>
              <a:t>为例，构建一个典型的机器学习</a:t>
            </a:r>
            <a:r>
              <a:rPr lang="zh-CN" altLang="en-US" dirty="0" smtClean="0">
                <a:latin typeface="Arial" panose="020B0604020202020204" pitchFamily="34" charset="0"/>
              </a:rPr>
              <a:t>过程</a:t>
            </a:r>
            <a:endParaRPr lang="en-US" altLang="zh-CN" dirty="0" smtClean="0">
              <a:latin typeface="Arial" panose="020B0604020202020204" pitchFamily="34" charset="0"/>
            </a:endParaRPr>
          </a:p>
          <a:p>
            <a:pPr lvl="1"/>
            <a:r>
              <a:rPr lang="zh-CN" altLang="en-US" dirty="0"/>
              <a:t>查找出所有包含</a:t>
            </a:r>
            <a:r>
              <a:rPr lang="en-US" altLang="zh-CN" dirty="0"/>
              <a:t>"spark"</a:t>
            </a:r>
            <a:r>
              <a:rPr lang="zh-CN" altLang="en-US" dirty="0"/>
              <a:t>的句子，即将包含</a:t>
            </a:r>
            <a:r>
              <a:rPr lang="en-US" altLang="zh-CN" dirty="0"/>
              <a:t>"spark"</a:t>
            </a:r>
            <a:r>
              <a:rPr lang="zh-CN" altLang="en-US" dirty="0"/>
              <a:t>的句子的标签设为</a:t>
            </a:r>
            <a:r>
              <a:rPr lang="en-US" altLang="zh-CN" dirty="0"/>
              <a:t>1</a:t>
            </a:r>
            <a:r>
              <a:rPr lang="zh-CN" altLang="en-US" dirty="0"/>
              <a:t>，没有</a:t>
            </a:r>
            <a:r>
              <a:rPr lang="en-US" altLang="zh-CN" dirty="0"/>
              <a:t>"spark"</a:t>
            </a:r>
            <a:r>
              <a:rPr lang="zh-CN" altLang="en-US" dirty="0"/>
              <a:t>的句子的标签设为</a:t>
            </a:r>
            <a:r>
              <a:rPr lang="en-US" altLang="zh-CN" dirty="0"/>
              <a:t>0</a:t>
            </a:r>
            <a:r>
              <a:rPr lang="zh-CN" altLang="en-US" dirty="0"/>
              <a:t>。</a:t>
            </a:r>
          </a:p>
          <a:p>
            <a:pPr lvl="1"/>
            <a:endParaRPr lang="en-US" altLang="zh-CN" dirty="0" smtClean="0">
              <a:latin typeface="Arial" panose="020B0604020202020204" pitchFamily="34" charset="0"/>
            </a:endParaRPr>
          </a:p>
          <a:p>
            <a:endParaRPr lang="en-US" altLang="zh-CN" dirty="0">
              <a:latin typeface="Arial" panose="020B0604020202020204" pitchFamily="34" charset="0"/>
            </a:endParaRPr>
          </a:p>
          <a:p>
            <a:endParaRPr lang="zh-CN" altLang="en-US" dirty="0"/>
          </a:p>
        </p:txBody>
      </p:sp>
    </p:spTree>
    <p:extLst>
      <p:ext uri="{BB962C8B-B14F-4D97-AF65-F5344CB8AC3E}">
        <p14:creationId xmlns:p14="http://schemas.microsoft.com/office/powerpoint/2010/main" val="354141124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9.6.4 </a:t>
            </a:r>
            <a:r>
              <a:rPr lang="zh-CN" altLang="en-US" dirty="0" smtClean="0"/>
              <a:t>具体示例</a:t>
            </a:r>
            <a:endParaRPr lang="zh-CN" altLang="en-US" dirty="0"/>
          </a:p>
        </p:txBody>
      </p:sp>
      <p:sp>
        <p:nvSpPr>
          <p:cNvPr id="3" name="内容占位符 2"/>
          <p:cNvSpPr>
            <a:spLocks noGrp="1"/>
          </p:cNvSpPr>
          <p:nvPr>
            <p:ph idx="1"/>
          </p:nvPr>
        </p:nvSpPr>
        <p:spPr/>
        <p:txBody>
          <a:bodyPr/>
          <a:lstStyle/>
          <a:p>
            <a:r>
              <a:rPr lang="zh-CN" altLang="en-US" dirty="0" smtClean="0"/>
              <a:t>具体步骤</a:t>
            </a:r>
            <a:endParaRPr lang="en-US" altLang="zh-CN" dirty="0" smtClean="0"/>
          </a:p>
          <a:p>
            <a:pPr lvl="1"/>
            <a:r>
              <a:rPr lang="zh-CN" altLang="en-US" dirty="0" smtClean="0"/>
              <a:t>（</a:t>
            </a:r>
            <a:r>
              <a:rPr lang="en-US" altLang="zh-CN" dirty="0" smtClean="0"/>
              <a:t>1</a:t>
            </a:r>
            <a:r>
              <a:rPr lang="zh-CN" altLang="en-US" dirty="0" smtClean="0"/>
              <a:t>）引入必要包，构建</a:t>
            </a:r>
            <a:r>
              <a:rPr lang="en-US" altLang="zh-CN" dirty="0" err="1" smtClean="0"/>
              <a:t>SparkSession</a:t>
            </a:r>
            <a:r>
              <a:rPr lang="zh-CN" altLang="en-US" dirty="0" smtClean="0"/>
              <a:t>对象</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40" y="2466782"/>
            <a:ext cx="5544324" cy="2762636"/>
          </a:xfrm>
          <a:prstGeom prst="rect">
            <a:avLst/>
          </a:prstGeom>
        </p:spPr>
      </p:pic>
    </p:spTree>
    <p:extLst>
      <p:ext uri="{BB962C8B-B14F-4D97-AF65-F5344CB8AC3E}">
        <p14:creationId xmlns:p14="http://schemas.microsoft.com/office/powerpoint/2010/main" val="133282322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9.6.4 </a:t>
            </a:r>
            <a:r>
              <a:rPr lang="zh-CN" altLang="en-US" dirty="0" smtClean="0"/>
              <a:t>具体示例</a:t>
            </a:r>
            <a:endParaRPr lang="zh-CN" altLang="en-US" dirty="0"/>
          </a:p>
        </p:txBody>
      </p:sp>
      <p:sp>
        <p:nvSpPr>
          <p:cNvPr id="3" name="内容占位符 2"/>
          <p:cNvSpPr>
            <a:spLocks noGrp="1"/>
          </p:cNvSpPr>
          <p:nvPr>
            <p:ph idx="1"/>
          </p:nvPr>
        </p:nvSpPr>
        <p:spPr/>
        <p:txBody>
          <a:bodyPr/>
          <a:lstStyle/>
          <a:p>
            <a:r>
              <a:rPr lang="zh-CN" altLang="en-US" dirty="0" smtClean="0"/>
              <a:t>具体步骤</a:t>
            </a:r>
            <a:endParaRPr lang="en-US" altLang="zh-CN" dirty="0" smtClean="0"/>
          </a:p>
          <a:p>
            <a:pPr lvl="1"/>
            <a:r>
              <a:rPr lang="zh-CN" altLang="en-US" dirty="0" smtClean="0"/>
              <a:t>（</a:t>
            </a:r>
            <a:r>
              <a:rPr lang="en-US" altLang="zh-CN" dirty="0" smtClean="0"/>
              <a:t>2</a:t>
            </a:r>
            <a:r>
              <a:rPr lang="zh-CN" altLang="en-US" dirty="0" smtClean="0"/>
              <a:t>）</a:t>
            </a:r>
            <a:r>
              <a:rPr lang="zh-CN" altLang="en-US" dirty="0"/>
              <a:t>构建训练数据集</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2492896"/>
            <a:ext cx="5772956" cy="952633"/>
          </a:xfrm>
          <a:prstGeom prst="rect">
            <a:avLst/>
          </a:prstGeom>
        </p:spPr>
      </p:pic>
    </p:spTree>
    <p:extLst>
      <p:ext uri="{BB962C8B-B14F-4D97-AF65-F5344CB8AC3E}">
        <p14:creationId xmlns:p14="http://schemas.microsoft.com/office/powerpoint/2010/main" val="360163608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9.6.4 </a:t>
            </a:r>
            <a:r>
              <a:rPr lang="zh-CN" altLang="en-US" dirty="0" smtClean="0"/>
              <a:t>具体示例</a:t>
            </a:r>
            <a:endParaRPr lang="zh-CN" altLang="en-US" dirty="0"/>
          </a:p>
        </p:txBody>
      </p:sp>
      <p:sp>
        <p:nvSpPr>
          <p:cNvPr id="3" name="内容占位符 2"/>
          <p:cNvSpPr>
            <a:spLocks noGrp="1"/>
          </p:cNvSpPr>
          <p:nvPr>
            <p:ph idx="1"/>
          </p:nvPr>
        </p:nvSpPr>
        <p:spPr/>
        <p:txBody>
          <a:bodyPr/>
          <a:lstStyle/>
          <a:p>
            <a:r>
              <a:rPr lang="zh-CN" altLang="en-US" dirty="0" smtClean="0"/>
              <a:t>具体步骤</a:t>
            </a:r>
            <a:endParaRPr lang="en-US" altLang="zh-CN" dirty="0" smtClean="0"/>
          </a:p>
          <a:p>
            <a:pPr lvl="1"/>
            <a:r>
              <a:rPr lang="zh-CN" altLang="en-US" dirty="0" smtClean="0"/>
              <a:t>（</a:t>
            </a:r>
            <a:r>
              <a:rPr lang="en-US" altLang="zh-CN" dirty="0" smtClean="0"/>
              <a:t>3</a:t>
            </a:r>
            <a:r>
              <a:rPr lang="zh-CN" altLang="en-US" dirty="0" smtClean="0"/>
              <a:t>）定义</a:t>
            </a:r>
            <a:r>
              <a:rPr lang="en-US" altLang="zh-CN" dirty="0" smtClean="0"/>
              <a:t>Pipeline</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2420888"/>
            <a:ext cx="6354062" cy="2086266"/>
          </a:xfrm>
          <a:prstGeom prst="rect">
            <a:avLst/>
          </a:prstGeom>
        </p:spPr>
      </p:pic>
    </p:spTree>
    <p:extLst>
      <p:ext uri="{BB962C8B-B14F-4D97-AF65-F5344CB8AC3E}">
        <p14:creationId xmlns:p14="http://schemas.microsoft.com/office/powerpoint/2010/main" val="323883625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9.6.4 </a:t>
            </a:r>
            <a:r>
              <a:rPr lang="zh-CN" altLang="en-US" dirty="0" smtClean="0"/>
              <a:t>具体示例</a:t>
            </a:r>
            <a:endParaRPr lang="zh-CN" altLang="en-US" dirty="0"/>
          </a:p>
        </p:txBody>
      </p:sp>
      <p:sp>
        <p:nvSpPr>
          <p:cNvPr id="3" name="内容占位符 2"/>
          <p:cNvSpPr>
            <a:spLocks noGrp="1"/>
          </p:cNvSpPr>
          <p:nvPr>
            <p:ph idx="1"/>
          </p:nvPr>
        </p:nvSpPr>
        <p:spPr/>
        <p:txBody>
          <a:bodyPr/>
          <a:lstStyle/>
          <a:p>
            <a:r>
              <a:rPr lang="zh-CN" altLang="en-US" dirty="0" smtClean="0"/>
              <a:t>具体步骤</a:t>
            </a:r>
            <a:endParaRPr lang="en-US" altLang="zh-CN" dirty="0" smtClean="0"/>
          </a:p>
          <a:p>
            <a:pPr lvl="1"/>
            <a:r>
              <a:rPr lang="zh-CN" altLang="en-US" dirty="0" smtClean="0"/>
              <a:t>（</a:t>
            </a:r>
            <a:r>
              <a:rPr lang="en-US" altLang="zh-CN" dirty="0" smtClean="0"/>
              <a:t>4</a:t>
            </a:r>
            <a:r>
              <a:rPr lang="zh-CN" altLang="en-US" dirty="0" smtClean="0"/>
              <a:t>）训练模型</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2492896"/>
            <a:ext cx="6344535" cy="266737"/>
          </a:xfrm>
          <a:prstGeom prst="rect">
            <a:avLst/>
          </a:prstGeom>
        </p:spPr>
      </p:pic>
    </p:spTree>
    <p:extLst>
      <p:ext uri="{BB962C8B-B14F-4D97-AF65-F5344CB8AC3E}">
        <p14:creationId xmlns:p14="http://schemas.microsoft.com/office/powerpoint/2010/main" val="41146204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9.6.4 </a:t>
            </a:r>
            <a:r>
              <a:rPr lang="zh-CN" altLang="en-US" dirty="0" smtClean="0"/>
              <a:t>具体示例</a:t>
            </a:r>
            <a:endParaRPr lang="zh-CN" altLang="en-US" dirty="0"/>
          </a:p>
        </p:txBody>
      </p:sp>
      <p:sp>
        <p:nvSpPr>
          <p:cNvPr id="3" name="内容占位符 2"/>
          <p:cNvSpPr>
            <a:spLocks noGrp="1"/>
          </p:cNvSpPr>
          <p:nvPr>
            <p:ph idx="1"/>
          </p:nvPr>
        </p:nvSpPr>
        <p:spPr/>
        <p:txBody>
          <a:bodyPr/>
          <a:lstStyle/>
          <a:p>
            <a:r>
              <a:rPr lang="zh-CN" altLang="en-US" dirty="0" smtClean="0"/>
              <a:t>具体步骤</a:t>
            </a:r>
            <a:endParaRPr lang="en-US" altLang="zh-CN" dirty="0" smtClean="0"/>
          </a:p>
          <a:p>
            <a:pPr lvl="1"/>
            <a:r>
              <a:rPr lang="zh-CN" altLang="en-US" dirty="0" smtClean="0"/>
              <a:t>（</a:t>
            </a:r>
            <a:r>
              <a:rPr lang="en-US" altLang="zh-CN" dirty="0" smtClean="0"/>
              <a:t>5</a:t>
            </a:r>
            <a:r>
              <a:rPr lang="zh-CN" altLang="en-US" dirty="0" smtClean="0"/>
              <a:t>）构建测试数据集</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2420888"/>
            <a:ext cx="6335009" cy="847843"/>
          </a:xfrm>
          <a:prstGeom prst="rect">
            <a:avLst/>
          </a:prstGeom>
        </p:spPr>
      </p:pic>
    </p:spTree>
    <p:extLst>
      <p:ext uri="{BB962C8B-B14F-4D97-AF65-F5344CB8AC3E}">
        <p14:creationId xmlns:p14="http://schemas.microsoft.com/office/powerpoint/2010/main" val="132386587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9.6.4 </a:t>
            </a:r>
            <a:r>
              <a:rPr lang="zh-CN" altLang="en-US" dirty="0" smtClean="0"/>
              <a:t>具体示例</a:t>
            </a:r>
            <a:endParaRPr lang="zh-CN" altLang="en-US" dirty="0"/>
          </a:p>
        </p:txBody>
      </p:sp>
      <p:sp>
        <p:nvSpPr>
          <p:cNvPr id="3" name="内容占位符 2"/>
          <p:cNvSpPr>
            <a:spLocks noGrp="1"/>
          </p:cNvSpPr>
          <p:nvPr>
            <p:ph idx="1"/>
          </p:nvPr>
        </p:nvSpPr>
        <p:spPr/>
        <p:txBody>
          <a:bodyPr/>
          <a:lstStyle/>
          <a:p>
            <a:r>
              <a:rPr lang="zh-CN" altLang="en-US" dirty="0" smtClean="0"/>
              <a:t>具体步骤</a:t>
            </a:r>
            <a:endParaRPr lang="en-US" altLang="zh-CN" dirty="0" smtClean="0"/>
          </a:p>
          <a:p>
            <a:pPr lvl="1"/>
            <a:r>
              <a:rPr lang="zh-CN" altLang="en-US" dirty="0" smtClean="0"/>
              <a:t>（</a:t>
            </a:r>
            <a:r>
              <a:rPr lang="en-US" altLang="zh-CN" dirty="0" smtClean="0"/>
              <a:t>6</a:t>
            </a:r>
            <a:r>
              <a:rPr lang="zh-CN" altLang="en-US" dirty="0" smtClean="0"/>
              <a:t>）对测试数据进行预测，并输出结果</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7974" y="2420888"/>
            <a:ext cx="6277851" cy="857370"/>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960" y="4005064"/>
            <a:ext cx="8135888" cy="1158645"/>
          </a:xfrm>
          <a:prstGeom prst="rect">
            <a:avLst/>
          </a:prstGeom>
        </p:spPr>
      </p:pic>
    </p:spTree>
    <p:extLst>
      <p:ext uri="{BB962C8B-B14F-4D97-AF65-F5344CB8AC3E}">
        <p14:creationId xmlns:p14="http://schemas.microsoft.com/office/powerpoint/2010/main" val="249725927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subTitle" idx="1"/>
          </p:nvPr>
        </p:nvSpPr>
        <p:spPr bwMode="white">
          <a:xfrm>
            <a:off x="2819400" y="4953000"/>
            <a:ext cx="5167313" cy="414338"/>
          </a:xfrm>
          <a:extLst>
            <a:ext uri="{91240B29-F687-4F45-9708-019B960494DF}">
              <a14:hiddenLine xmlns:a14="http://schemas.microsoft.com/office/drawing/2010/main" w="9525">
                <a:solidFill>
                  <a:schemeClr val="bg1"/>
                </a:solidFill>
                <a:miter lim="800000"/>
                <a:headEnd/>
                <a:tailEnd/>
              </a14:hiddenLine>
            </a:ext>
          </a:extLst>
        </p:spPr>
        <p:txBody>
          <a:bodyPr/>
          <a:lstStyle/>
          <a:p>
            <a:pPr algn="dist">
              <a:lnSpc>
                <a:spcPct val="80000"/>
              </a:lnSpc>
            </a:pPr>
            <a:r>
              <a:rPr lang="en-US" altLang="zh-CN" sz="1800" b="1">
                <a:solidFill>
                  <a:schemeClr val="bg1"/>
                </a:solidFill>
                <a:latin typeface="Arial" panose="020B0604020202020204" pitchFamily="34" charset="0"/>
                <a:ea typeface="宋体" panose="02010600030101010101" pitchFamily="2" charset="-122"/>
              </a:rPr>
              <a:t>Click to edit company slogan .</a:t>
            </a:r>
          </a:p>
        </p:txBody>
      </p:sp>
      <p:sp>
        <p:nvSpPr>
          <p:cNvPr id="87045" name="WordArt 5"/>
          <p:cNvSpPr>
            <a:spLocks noChangeArrowheads="1" noChangeShapeType="1" noTextEdit="1"/>
          </p:cNvSpPr>
          <p:nvPr/>
        </p:nvSpPr>
        <p:spPr bwMode="gray">
          <a:xfrm>
            <a:off x="2556024" y="2637269"/>
            <a:ext cx="2951733" cy="863600"/>
          </a:xfrm>
          <a:prstGeom prst="rect">
            <a:avLst/>
          </a:prstGeom>
        </p:spPr>
        <p:txBody>
          <a:bodyPr wrap="none" fromWordArt="1">
            <a:prstTxWarp prst="textDeflate">
              <a:avLst>
                <a:gd name="adj" fmla="val 0"/>
              </a:avLst>
            </a:prstTxWarp>
          </a:bodyPr>
          <a:lstStyle/>
          <a:p>
            <a:pPr algn="ctr"/>
            <a:r>
              <a:rPr lang="zh-CN" altLang="en-US" sz="3600" b="1" kern="10" dirty="0" smtClean="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rPr>
              <a:t>谢谢</a:t>
            </a:r>
            <a:r>
              <a:rPr lang="en-US" altLang="zh-CN" sz="3600" b="1" kern="10" dirty="0" smtClean="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rPr>
              <a:t>!</a:t>
            </a:r>
            <a:endParaRPr lang="zh-CN" altLang="en-US" sz="3600" b="1" kern="10" dirty="0">
              <a:ln w="19050">
                <a:solidFill>
                  <a:schemeClr val="bg1"/>
                </a:solidFill>
                <a:round/>
              </a:ln>
              <a:gradFill rotWithShape="1">
                <a:gsLst>
                  <a:gs pos="0">
                    <a:schemeClr val="accent1">
                      <a:gamma/>
                      <a:shade val="46275"/>
                      <a:invGamma/>
                    </a:schemeClr>
                  </a:gs>
                  <a:gs pos="100000">
                    <a:schemeClr val="accent1"/>
                  </a:gs>
                </a:gsLst>
                <a:lin ang="0" scaled="1"/>
              </a:gradFill>
              <a:effectLst>
                <a:outerShdw dist="63500" dir="2212194" algn="ctr" rotWithShape="0">
                  <a:srgbClr val="868686">
                    <a:alpha val="50000"/>
                  </a:srgbClr>
                </a:outerShdw>
              </a:effectLst>
              <a:latin typeface="Arial" panose="020B0604020202020204"/>
              <a:cs typeface="Arial" panose="020B0604020202020204"/>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52388df7-7180-4c67-8389-e38ca09b715e"/>
  <p:tag name="COMMONDATA" val="eyJoZGlkIjoiNjYzYmQ4MGM5NjVhYzM2OThiNDcwNmI4ODhhMWFmMzcifQ=="/>
</p:tagLst>
</file>

<file path=ppt/theme/theme1.xml><?xml version="1.0" encoding="utf-8"?>
<a:theme xmlns:a="http://schemas.openxmlformats.org/drawingml/2006/main" name="cdb2004c012l">
  <a:themeElements>
    <a:clrScheme name="sample 1">
      <a:dk1>
        <a:srgbClr val="2B166E"/>
      </a:dk1>
      <a:lt1>
        <a:srgbClr val="FFFFFF"/>
      </a:lt1>
      <a:dk2>
        <a:srgbClr val="336699"/>
      </a:dk2>
      <a:lt2>
        <a:srgbClr val="C0C0C0"/>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2B166E"/>
        </a:dk1>
        <a:lt1>
          <a:srgbClr val="FFFFFF"/>
        </a:lt1>
        <a:dk2>
          <a:srgbClr val="336699"/>
        </a:dk2>
        <a:lt2>
          <a:srgbClr val="C0C0C0"/>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clrMap bg1="lt1" tx1="dk1" bg2="lt2" tx2="dk2" accent1="accent1" accent2="accent2" accent3="accent3" accent4="accent4" accent5="accent5" accent6="accent6" hlink="hlink" folHlink="folHlink"/>
    </a:extraClrScheme>
    <a:extraClrScheme>
      <a:clrScheme name="sample 2">
        <a:dk1>
          <a:srgbClr val="1D528D"/>
        </a:dk1>
        <a:lt1>
          <a:srgbClr val="FFFFFF"/>
        </a:lt1>
        <a:dk2>
          <a:srgbClr val="000000"/>
        </a:dk2>
        <a:lt2>
          <a:srgbClr val="C0C0C0"/>
        </a:lt2>
        <a:accent1>
          <a:srgbClr val="2CA3C8"/>
        </a:accent1>
        <a:accent2>
          <a:srgbClr val="FF9900"/>
        </a:accent2>
        <a:accent3>
          <a:srgbClr val="FFFFFF"/>
        </a:accent3>
        <a:accent4>
          <a:srgbClr val="174578"/>
        </a:accent4>
        <a:accent5>
          <a:srgbClr val="ACCE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sample 3">
        <a:dk1>
          <a:srgbClr val="666633"/>
        </a:dk1>
        <a:lt1>
          <a:srgbClr val="FFFFFF"/>
        </a:lt1>
        <a:dk2>
          <a:srgbClr val="000000"/>
        </a:dk2>
        <a:lt2>
          <a:srgbClr val="D1C68D"/>
        </a:lt2>
        <a:accent1>
          <a:srgbClr val="C86C62"/>
        </a:accent1>
        <a:accent2>
          <a:srgbClr val="C78DD7"/>
        </a:accent2>
        <a:accent3>
          <a:srgbClr val="FFFFFF"/>
        </a:accent3>
        <a:accent4>
          <a:srgbClr val="56562A"/>
        </a:accent4>
        <a:accent5>
          <a:srgbClr val="E0BAB7"/>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cdb2004c012l</Template>
  <TotalTime>12773</TotalTime>
  <Words>3484</Words>
  <Application>Microsoft Office PowerPoint</Application>
  <PresentationFormat>全屏显示(4:3)</PresentationFormat>
  <Paragraphs>428</Paragraphs>
  <Slides>75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75</vt:i4>
      </vt:variant>
    </vt:vector>
  </HeadingPairs>
  <TitlesOfParts>
    <vt:vector size="82" baseType="lpstr">
      <vt:lpstr>宋体</vt:lpstr>
      <vt:lpstr>Arial</vt:lpstr>
      <vt:lpstr>Calibri</vt:lpstr>
      <vt:lpstr>Times New Roman</vt:lpstr>
      <vt:lpstr>Verdana</vt:lpstr>
      <vt:lpstr>Wingdings</vt:lpstr>
      <vt:lpstr>cdb2004c012l</vt:lpstr>
      <vt:lpstr>第9章 Spark</vt:lpstr>
      <vt:lpstr>主要内容</vt:lpstr>
      <vt:lpstr>9.5 Spark流计算</vt:lpstr>
      <vt:lpstr>9.5.1 Spark Streaming</vt:lpstr>
      <vt:lpstr>9.5.1 Spark Streaming</vt:lpstr>
      <vt:lpstr>9.5.1 Spark Streaming</vt:lpstr>
      <vt:lpstr>9.5.1 Spark Streaming</vt:lpstr>
      <vt:lpstr>9.5.1 Spark Streaming</vt:lpstr>
      <vt:lpstr>普通转换操作</vt:lpstr>
      <vt:lpstr>窗口转换操作</vt:lpstr>
      <vt:lpstr>窗口转换操作</vt:lpstr>
      <vt:lpstr>窗口转换操作</vt:lpstr>
      <vt:lpstr>窗口转换操作</vt:lpstr>
      <vt:lpstr>窗口转换操作</vt:lpstr>
      <vt:lpstr>窗口转换操作</vt:lpstr>
      <vt:lpstr>窗口转换操作</vt:lpstr>
      <vt:lpstr>输出操作</vt:lpstr>
      <vt:lpstr>9.5.1 Spark Streaming</vt:lpstr>
      <vt:lpstr>基于RDD Lineage的容错</vt:lpstr>
      <vt:lpstr>基于日志的容错</vt:lpstr>
      <vt:lpstr>基于检查点的容错</vt:lpstr>
      <vt:lpstr>端到端的容错语义</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9.5.2 Structured Streaming</vt:lpstr>
      <vt:lpstr>主要内容</vt:lpstr>
      <vt:lpstr>9.6 Spark机器学习</vt:lpstr>
      <vt:lpstr>9.6.1 分布式机器学习</vt:lpstr>
      <vt:lpstr>9.6.1 分布式机器学习</vt:lpstr>
      <vt:lpstr>9.6.1 分布式机器学习</vt:lpstr>
      <vt:lpstr>9.6.1 分布式机器学习</vt:lpstr>
      <vt:lpstr>9.6.1 分布式机器学习</vt:lpstr>
      <vt:lpstr>9.6.1 分布式机器学习</vt:lpstr>
      <vt:lpstr>9.6.1 分布式机器学习</vt:lpstr>
      <vt:lpstr>9.6.1 分布式机器学习</vt:lpstr>
      <vt:lpstr>9.6.2 Spark MLlib简介</vt:lpstr>
      <vt:lpstr>9.6.2 Spark MLlib简介</vt:lpstr>
      <vt:lpstr>9.6.2 Spark MLlib简介</vt:lpstr>
      <vt:lpstr>9.6.2 Spark MLlib简介</vt:lpstr>
      <vt:lpstr>9.6.3 ML Pipeline</vt:lpstr>
      <vt:lpstr>9.6.3 ML Pipeline</vt:lpstr>
      <vt:lpstr>9.6.3 ML Pipeline</vt:lpstr>
      <vt:lpstr>9.6.3 ML Pipeline</vt:lpstr>
      <vt:lpstr>9.6.3 ML Pipeline</vt:lpstr>
      <vt:lpstr>9.6.3 ML Pipeline</vt:lpstr>
      <vt:lpstr>9.6.3 ML Pipeline</vt:lpstr>
      <vt:lpstr>9.6.3 ML Pipeline</vt:lpstr>
      <vt:lpstr>9.6.3 ML Pipeline</vt:lpstr>
      <vt:lpstr>9.6.4 具体示例</vt:lpstr>
      <vt:lpstr>9.6.4 具体示例</vt:lpstr>
      <vt:lpstr>9.6.4 具体示例</vt:lpstr>
      <vt:lpstr>9.6.4 具体示例</vt:lpstr>
      <vt:lpstr>9.6.4 具体示例</vt:lpstr>
      <vt:lpstr>9.6.4 具体示例</vt:lpstr>
      <vt:lpstr>9.6.4 具体示例</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hadoop</dc:creator>
  <cp:lastModifiedBy>Chen Hongshun</cp:lastModifiedBy>
  <cp:revision>256</cp:revision>
  <dcterms:created xsi:type="dcterms:W3CDTF">2017-03-03T01:55:00Z</dcterms:created>
  <dcterms:modified xsi:type="dcterms:W3CDTF">2023-05-17T02:13:22Z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3F921E874E14469CA1E45869E12C93BF</vt:lpwstr>
  </property>
</Properties>
</file>